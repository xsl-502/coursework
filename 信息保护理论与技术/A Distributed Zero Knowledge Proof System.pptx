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12192000" cy="6858000"/>
  <p:embeddedFontLst>
    <p:embeddedFont>
      <p:font typeface="Noto Sans SC" panose="020B0200000000000000" charset="-122"/>
      <p:regular r:id="rId25"/>
      <p:bold r:id="rId26"/>
    </p:embeddedFont>
    <p:embeddedFont>
      <p:font typeface="微软雅黑" panose="020B0503020204020204" charset="-122"/>
      <p:regular r:id="rId27"/>
      <p:bold r:id="rId28"/>
    </p:embeddedFont>
    <p:embeddedFont>
      <p:font typeface="MiSans" charset="0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最大支持实例规模</c:v>
                </c:pt>
              </c:strCache>
            </c:strRef>
          </c:tx>
          <c:spPr>
            <a:solidFill>
              <a:srgbClr val="0F294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 noProof="1">
                    <a:solidFill>
                      <a:srgbClr val="0F294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单机串行实现</c:v>
                </c:pt>
                <c:pt idx="1">
                  <c:v>DIZK 集群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8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9525" cap="flat" cmpd="sng" algn="ctr">
            <a:solidFill>
              <a:srgbClr val="E2E8F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 noProof="1">
                <a:solidFill>
                  <a:srgbClr val="1A202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5"/>
          <c:min val="0"/>
        </c:scaling>
        <c:delete val="0"/>
        <c:axPos val="l"/>
        <c:majorGridlines>
          <c:spPr>
            <a:ln w="9525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525" cap="flat" cmpd="sng" algn="ctr">
            <a:solidFill>
              <a:srgbClr val="E2E8F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 noProof="1">
                <a:solidFill>
                  <a:srgbClr val="1A202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d924fcd0-9f97-4151-9ae9-dce8d7bda5ca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Prover 单位成本</c:v>
                </c:pt>
              </c:strCache>
            </c:strRef>
          </c:tx>
          <c:spPr>
            <a:solidFill>
              <a:srgbClr val="0D9488"/>
            </a:solidFill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单机 prior art</c:v>
                </c:pt>
                <c:pt idx="1">
                  <c:v>DIZK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</c:v>
                </c:pt>
                <c:pt idx="1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9525" cap="flat" cmpd="sng" algn="ctr">
            <a:solidFill>
              <a:srgbClr val="E2E8F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 noProof="1">
                <a:solidFill>
                  <a:srgbClr val="1A202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200"/>
          <c:min val="0"/>
        </c:scaling>
        <c:delete val="0"/>
        <c:axPos val="l"/>
        <c:majorGridlines>
          <c:spPr>
            <a:ln w="9525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9525" cap="flat" cmpd="sng" algn="ctr">
            <a:solidFill>
              <a:srgbClr val="E2E8F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 noProof="1">
                <a:solidFill>
                  <a:srgbClr val="1A202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10641cea-5016-48e0-a1ae-ca17546fb80c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各位老师、同学好。今天汇报的是 2018 年 USENIX Security 上的论文 DIZK，</a:t>
            </a:r>
            <a:endParaRPr lang="en-US" sz="1200" noProof="1"/>
          </a:p>
          <a:p>
            <a:r>
              <a:rPr lang="en-US" sz="1200" noProof="1"/>
              <a:t>作者是 UC Berkeley 的 Howard Wu 等人。这篇论文要解决的问题很具体：</a:t>
            </a:r>
            <a:endParaRPr lang="en-US" sz="1200" noProof="1"/>
          </a:p>
          <a:p>
            <a:r>
              <a:rPr lang="en-US" sz="1200" noProof="1"/>
              <a:t>零知识证明的验证很便宜，但生成证明的那一步在单机上会先把内存撑爆。</a:t>
            </a:r>
            <a:endParaRPr lang="en-US" sz="1200" noProof="1"/>
          </a:p>
          <a:p>
            <a:r>
              <a:rPr lang="en-US" sz="1200" noProof="1"/>
              <a:t>DIZK 的思路是把证明生成搬到集群上，而验证端完全不改。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先用一句话建立直觉：零知识证明要解决的是「我要你相信我说的是真的，</a:t>
            </a:r>
            <a:endParaRPr lang="en-US" sz="1200" noProof="1"/>
          </a:p>
          <a:p>
            <a:r>
              <a:rPr lang="en-US" sz="1200" noProof="1"/>
              <a:t>但我不告诉你我凭什么知道」。形式化地说，给定公开谓词 F 和公开输入 x，</a:t>
            </a:r>
            <a:endParaRPr lang="en-US" sz="1200" noProof="1"/>
          </a:p>
          <a:p>
            <a:r>
              <a:rPr lang="en-US" sz="1200" noProof="1"/>
              <a:t>证明者知道一个秘密 w，使得 F(x,w) 成立。</a:t>
            </a:r>
            <a:endParaRPr lang="en-US" sz="1200" noProof="1"/>
          </a:p>
          <a:p>
            <a:r>
              <a:rPr lang="en-US" sz="1200" noProof="1"/>
              <a:t>它有两个性质：零知识性保证 w 不被泄露；简洁性保证证明很小、验证很快。</a:t>
            </a:r>
            <a:endParaRPr lang="en-US" sz="1200" noProof="1"/>
          </a:p>
          <a:p>
            <a:r>
              <a:rPr lang="en-US" sz="1200" noProof="1"/>
              <a:t>这里要强调，这两点是 zkSNARK 的通用概念，不是 DIZK 的贡献。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zkSNARK 分三个阶段：Setup、Prover、Verifier。Setup 针对一个固定的约束系统</a:t>
            </a:r>
            <a:endParaRPr lang="en-US" sz="1200" noProof="1"/>
          </a:p>
          <a:p>
            <a:r>
              <a:rPr lang="en-US" sz="1200" noProof="1"/>
              <a:t>运行一次，产出证明密钥 pk 和验证密钥 vk，之后可以服务任意多次证明。</a:t>
            </a:r>
            <a:endParaRPr lang="en-US" sz="1200" noProof="1"/>
          </a:p>
          <a:p>
            <a:r>
              <a:rPr lang="en-US" sz="1200" noProof="1"/>
              <a:t>Prover 拿着 pk、公开输入 x 和秘密 w 生成证明 π；Verifier 只做少量配对运算</a:t>
            </a:r>
            <a:endParaRPr lang="en-US" sz="1200" noProof="1"/>
          </a:p>
          <a:p>
            <a:r>
              <a:rPr lang="en-US" sz="1200" noProof="1"/>
              <a:t>就能判定接受或拒绝。关键的不对称在于：Verifier 的开销只和公开输入规模有关，</a:t>
            </a:r>
            <a:endParaRPr lang="en-US" sz="1200" noProof="1"/>
          </a:p>
          <a:p>
            <a:r>
              <a:rPr lang="en-US" sz="1200" noProof="1"/>
              <a:t>而 Setup 与 Prover 的时间和空间都正比于电路规模。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这一页说明为什么必须分布式化。现实协议的电路规模动辄数千万到数十亿门，</a:t>
            </a:r>
            <a:endParaRPr lang="en-US" sz="1200" noProof="1"/>
          </a:p>
          <a:p>
            <a:r>
              <a:rPr lang="en-US" sz="1200" noProof="1"/>
              <a:t>而此前最好的单机系统只能支持大约 1000 万到 2000 万门，单位成本超过 1 毫秒每门。</a:t>
            </a:r>
            <a:endParaRPr lang="en-US" sz="1200" noProof="1"/>
          </a:p>
          <a:p>
            <a:r>
              <a:rPr lang="en-US" sz="1200" noProof="1"/>
              <a:t>论文给了一个很直观的换算：单次 SHA-256 压缩超过 25000 门，所以 1000 万门的电路</a:t>
            </a:r>
            <a:endParaRPr lang="en-US" sz="1200" noProof="1"/>
          </a:p>
          <a:p>
            <a:r>
              <a:rPr lang="en-US" sz="1200" noProof="1"/>
              <a:t>只够做大约 400 次压缩，能哈希的文件只有约 13 kB。</a:t>
            </a:r>
            <a:endParaRPr lang="en-US" sz="1200" noProof="1"/>
          </a:p>
          <a:p>
            <a:r>
              <a:rPr lang="en-US" sz="1200" noProof="1"/>
              <a:t>结论是：先撞墙的不是算力，是内存——多项式和拉格朗日基向量必须全部常驻内存。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到这里研究问题就很清楚了：能不能用一整个集群来生成超大电路的证明？</a:t>
            </a:r>
            <a:endParaRPr lang="en-US" sz="1200" noProof="1"/>
          </a:p>
          <a:p>
            <a:r>
              <a:rPr lang="en-US" sz="1200" noProof="1"/>
              <a:t>  左边是两个标志性指标：DIZK 能支持超过十亿条约束，Prover 的单位成本约每门 10 微秒。</a:t>
            </a:r>
            <a:endParaRPr lang="en-US" sz="1200" noProof="1"/>
          </a:p>
          <a:p>
            <a:r>
              <a:rPr lang="en-US" sz="1200" noProof="1"/>
              <a:t>  DIZK 的答案由右边三条贡献组成。第一，把 Groth 2016 协议的 Setup 和 Prover</a:t>
            </a:r>
            <a:endParaRPr lang="en-US" sz="1200" noProof="1"/>
          </a:p>
          <a:p>
            <a:r>
              <a:rPr lang="en-US" sz="1200" noProof="1"/>
              <a:t>  改造成分布式任务，验证者完全不动。第二，重新设计多项式运算、多标量乘和</a:t>
            </a:r>
            <a:endParaRPr lang="en-US" sz="1200" noProof="1"/>
          </a:p>
          <a:p>
            <a:r>
              <a:rPr lang="en-US" sz="1200" noProof="1"/>
              <a:t>  QAP 归约的分布式算子，专门削减 shuffle 和拖尾任务。第三，用 Spark 和大约</a:t>
            </a:r>
            <a:endParaRPr lang="en-US" sz="1200" noProof="1"/>
          </a:p>
          <a:p>
            <a:r>
              <a:rPr lang="en-US" sz="1200" noProof="1"/>
              <a:t>  一万行 Java 实现，扩展到十亿级约束，并在照片编辑和机器学习两个场景上验证。</a:t>
            </a:r>
            <a:endParaRPr lang="en-US" sz="1200" noProof="1"/>
          </a:p>
          <a:p>
            <a:r>
              <a:rPr lang="en-US" sz="1200" noProof="1"/>
              <a:t>  要强调一点：DIZK 没有提出新的密码学协议，它的贡献在系统层。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这一页把数据通路串起来。程序先编译成 R1CS 约束系统，也就是 N 个变量、M 个约束</a:t>
            </a:r>
            <a:endParaRPr lang="en-US" sz="1200" noProof="1"/>
          </a:p>
          <a:p>
            <a:r>
              <a:rPr lang="en-US" sz="1200" noProof="1"/>
              <a:t>和三个稀疏矩阵 a、b、c。接着通过拉格朗日插值把 M 个约束捆成一条低度多项式关系，</a:t>
            </a:r>
            <a:endParaRPr lang="en-US" sz="1200" noProof="1"/>
          </a:p>
          <a:p>
            <a:r>
              <a:rPr lang="en-US" sz="1200" noProof="1"/>
              <a:t>这一步叫 QAP 归约。</a:t>
            </a:r>
            <a:endParaRPr lang="en-US" sz="1200" noProof="1"/>
          </a:p>
          <a:p>
            <a:r>
              <a:rPr lang="en-US" sz="1200" noProof="1"/>
              <a:t>约束式的读法是：每一列是一个 constraint，每一行是一个 variable。</a:t>
            </a:r>
            <a:endParaRPr lang="en-US" sz="1200" noProof="1"/>
          </a:p>
          <a:p>
            <a:r>
              <a:rPr lang="en-US" sz="1200" noProof="1"/>
              <a:t>DIZK 没有任何密码学上的改动，它分布式化的就是这两步归约和随后的多项式与群运算。</a:t>
            </a:r>
            <a:endParaRPr lang="en-US" sz="1200" noProof="1"/>
          </a:p>
          <a:p>
            <a:r>
              <a:rPr lang="en-US" sz="1200" noProof="1"/>
              <a:t>提醒一句：论文实验里的 instance size 严格指约束数 M。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这张图是全篇的骨架。上半部分是集群：Setup 侧走 QAP 实例归约、Lag 求值和 fixMSM，</a:t>
            </a:r>
            <a:endParaRPr lang="en-US" sz="1200" noProof="1"/>
          </a:p>
          <a:p>
            <a:r>
              <a:rPr lang="en-US" sz="1200" noProof="1"/>
              <a:t>产出分布式的 pk 和很短的 vk；Prover 侧走 QAP 证人归约、FFT 和 varMSM，最后聚合出</a:t>
            </a:r>
            <a:endParaRPr lang="en-US" sz="1200" noProof="1"/>
          </a:p>
          <a:p>
            <a:r>
              <a:rPr lang="en-US" sz="1200" noProof="1"/>
              <a:t>128 字节的证明。</a:t>
            </a:r>
            <a:endParaRPr lang="en-US" sz="1200" noProof="1"/>
          </a:p>
          <a:p>
            <a:r>
              <a:rPr lang="en-US" sz="1200" noProof="1"/>
              <a:t>大对象——R1CS 矩阵、pk、witness——全部以 RDD 形式分片存在各节点内存里，</a:t>
            </a:r>
            <a:endParaRPr lang="en-US" sz="1200" noProof="1"/>
          </a:p>
          <a:p>
            <a:r>
              <a:rPr lang="en-US" sz="1200" noProof="1"/>
              <a:t>只有公开输入 x 是小数组直接广播。</a:t>
            </a:r>
            <a:endParaRPr lang="en-US" sz="1200" noProof="1"/>
          </a:p>
          <a:p>
            <a:r>
              <a:rPr lang="en-US" sz="1200" noProof="1"/>
              <a:t>重点看下半部分：验证者完全没有改，还是单机上几次配对运算，所以现有实现可以直接用。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先说要解决的问题：朴素的多项式求值和插值是平方复杂度，直接排除。</a:t>
            </a:r>
            <a:endParaRPr lang="en-US" sz="1200" noProof="1"/>
          </a:p>
          <a:p>
            <a:r>
              <a:rPr lang="en-US" sz="1200" noProof="1"/>
              <a:t>串行的 Cooley-Tukey 虽然是 n log n，但蝶形网络每一层都要重排整个数组，</a:t>
            </a:r>
            <a:endParaRPr lang="en-US" sz="1200" noProof="1"/>
          </a:p>
          <a:p>
            <a:r>
              <a:rPr lang="en-US" sz="1200" noProof="1"/>
              <a:t>放到集群上就是每一层一次全局 shuffle，而且每层都有一半 executor 闲着。</a:t>
            </a:r>
            <a:endParaRPr lang="en-US" sz="1200" noProof="1"/>
          </a:p>
          <a:p>
            <a:r>
              <a:rPr lang="en-US" sz="1200" noProof="1"/>
              <a:t>DIZK 借用 Sze 在 MapReduce 上算大整数乘法的思路：把 n 点 FFT 拆成两批，</a:t>
            </a:r>
            <a:endParaRPr lang="en-US" sz="1200" noProof="1"/>
          </a:p>
          <a:p>
            <a:r>
              <a:rPr lang="en-US" sz="1200" noProof="1"/>
              <a:t>每批是根号 n 个根号 n 点的 FFT，第一批在 mapper 端算，shuffle 一次，</a:t>
            </a:r>
            <a:endParaRPr lang="en-US" sz="1200" noProof="1"/>
          </a:p>
          <a:p>
            <a:r>
              <a:rPr lang="en-US" sz="1200" noProof="1"/>
              <a:t>第二批在 reducer 端算。</a:t>
            </a:r>
            <a:endParaRPr lang="en-US" sz="1200" noProof="1"/>
          </a:p>
          <a:p>
            <a:r>
              <a:rPr lang="en-US" sz="1200" noProof="1"/>
              <a:t>右边的 Lag 用在 Setup 侧，利用乘法子群结构，每个 executor 独立算自己那段索引，</a:t>
            </a:r>
            <a:endParaRPr lang="en-US" sz="1200" noProof="1"/>
          </a:p>
          <a:p>
            <a:r>
              <a:rPr lang="en-US" sz="1200" noProof="1"/>
              <a:t>不需要任何跨机通信。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群运算是 Setup 和 Prover 的另一半开销。论文把问题拆成两个。</a:t>
            </a:r>
            <a:endParaRPr lang="en-US" sz="1200" noProof="1"/>
          </a:p>
          <a:p>
            <a:r>
              <a:rPr lang="en-US" sz="1200" noProof="1"/>
              <a:t>fixMSM 的基点是固定的，最自然的做法是每个 executor 自己建一张查找表，</a:t>
            </a:r>
            <a:endParaRPr lang="en-US" sz="1200" noProof="1"/>
          </a:p>
          <a:p>
            <a:r>
              <a:rPr lang="en-US" sz="1200" noProof="1"/>
              <a:t>但 Spark 的分区之间没法共享本地计算结果，所以 DIZK 让 driver 建表再广播出去，</a:t>
            </a:r>
            <a:endParaRPr lang="en-US" sz="1200" noProof="1"/>
          </a:p>
          <a:p>
            <a:r>
              <a:rPr lang="en-US" sz="1200" noProof="1"/>
              <a:t>用很小的广播代价换本地计算。</a:t>
            </a:r>
            <a:endParaRPr lang="en-US" sz="1200" noProof="1"/>
          </a:p>
          <a:p>
            <a:r>
              <a:rPr lang="en-US" sz="1200" noProof="1"/>
              <a:t>varMSM 的基点和标量都是变量。按标量桶做全局分区看起来很自然，</a:t>
            </a:r>
            <a:endParaRPr lang="en-US" sz="1200" noProof="1"/>
          </a:p>
          <a:p>
            <a:r>
              <a:rPr lang="en-US" sz="1200" noProof="1"/>
              <a:t>但实测 shuffle 代价太高，所以 DIZK 改成均匀切分、每个节点本地跑 Pippenger，</a:t>
            </a:r>
            <a:endParaRPr lang="en-US" sz="1200" noProof="1"/>
          </a:p>
          <a:p>
            <a:r>
              <a:rPr lang="en-US" sz="1200" noProof="1"/>
              <a:t>最后只把局部和汇总。一句话：按通信代价倒推算法结构。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前面说矩阵是稀疏的，但这里要补一句：它是“几乎稀疏”。</a:t>
            </a:r>
            <a:endParaRPr lang="en-US" sz="1200" noProof="1"/>
          </a:p>
          <a:p>
            <a:r>
              <a:rPr lang="en-US" sz="1200" noProof="1"/>
              <a:t>大多数行和列确实很空，但总有少数行和列是稠密的。</a:t>
            </a:r>
            <a:endParaRPr lang="en-US" sz="1200" noProof="1"/>
          </a:p>
          <a:p>
            <a:r>
              <a:rPr lang="en-US" sz="1200" noProof="1"/>
              <a:t>Setup 侧的 QAP 实例归约按列使用稀疏性，某些约束会接触成千上万个变量，</a:t>
            </a:r>
            <a:endParaRPr lang="en-US" sz="1200" noProof="1"/>
          </a:p>
          <a:p>
            <a:r>
              <a:rPr lang="en-US" sz="1200" noProof="1"/>
              <a:t>这一列就是稠密列，负责它的 executor 内存会爆。</a:t>
            </a:r>
            <a:endParaRPr lang="en-US" sz="1200" noProof="1"/>
          </a:p>
          <a:p>
            <a:r>
              <a:rPr lang="en-US" sz="1200" noProof="1"/>
              <a:t>Prover 侧的证人归约按行使用稀疏性，某些变量出现在大量约束里——最典型的就是常数 1——</a:t>
            </a:r>
            <a:endParaRPr lang="en-US" sz="1200" noProof="1"/>
          </a:p>
          <a:p>
            <a:r>
              <a:rPr lang="en-US" sz="1200" noProof="1"/>
              <a:t>这一行就是稠密行，对应任务变成拖尾。</a:t>
            </a:r>
            <a:endParaRPr lang="en-US" sz="1200" noProof="1"/>
          </a:p>
          <a:p>
            <a:r>
              <a:rPr lang="en-US" sz="1200" noProof="1"/>
              <a:t>打个比方：食堂大多数窗口排三个人，某个窗口排三千人。平均很空，不代表没人被卡死。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DIZK 的解法分两步。第一步很轻：每个 executor 先数自己分区里每列有多少非零元，</a:t>
            </a:r>
            <a:endParaRPr lang="en-US" sz="1200" noProof="1"/>
          </a:p>
          <a:p>
            <a:r>
              <a:rPr lang="en-US" sz="1200" noProof="1"/>
              <a:t>shuffle 一次汇总，然后按“非零元数是否超过根号 M”这个启发式阈值标出稠密列。</a:t>
            </a:r>
            <a:endParaRPr lang="en-US" sz="1200" noProof="1"/>
          </a:p>
          <a:p>
            <a:r>
              <a:rPr lang="en-US" sz="1200" noProof="1"/>
              <a:t>关键是这个统计本身不会产生拖尾，因为每列最多汇总分区数个值。</a:t>
            </a:r>
            <a:endParaRPr lang="en-US" sz="1200" noProof="1"/>
          </a:p>
          <a:p>
            <a:r>
              <a:rPr lang="en-US" sz="1200" noProof="1"/>
              <a:t>第二步是双轨：绝大多数稀疏列走常规 join 和 reduce，不做重键也不复制；</a:t>
            </a:r>
            <a:endParaRPr lang="en-US" sz="1200" noProof="1"/>
          </a:p>
          <a:p>
            <a:r>
              <a:rPr lang="en-US" sz="1200" noProof="1"/>
              <a:t>少数稠密列被拆成多个分片分别算，最后 union 再 reduce 汇合。</a:t>
            </a:r>
            <a:endParaRPr lang="en-US" sz="1200" noProof="1"/>
          </a:p>
          <a:p>
            <a:r>
              <a:rPr lang="en-US" sz="1200" noProof="1"/>
              <a:t>还有一个细节值得记：稠密行只取决于约束结构，跟具体输入无关，所以 Setup 时标一次，</a:t>
            </a:r>
            <a:endParaRPr lang="en-US" sz="1200" noProof="1"/>
          </a:p>
          <a:p>
            <a:r>
              <a:rPr lang="en-US" sz="1200" noProof="1"/>
              <a:t>后面不同输入的 Prover 直接复用。</a:t>
            </a:r>
            <a:endParaRPr lang="en-US" sz="1200" noProof="1"/>
          </a:p>
          <a:p>
            <a:r>
              <a:rPr lang="en-US" sz="1200" noProof="1"/>
              <a:t>论文的原话是“显著缓解”，不是消除所有拖尾。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这一页交代评测条件，因为后面所有数字都依赖它。</a:t>
            </a:r>
            <a:endParaRPr lang="en-US" sz="1200" noProof="1"/>
          </a:p>
          <a:p>
            <a:r>
              <a:rPr lang="en-US" sz="1200" noProof="1"/>
              <a:t>DIZK 是 Apache Spark 上的实现，核心逻辑用 Java 写，大约一万行。</a:t>
            </a:r>
            <a:endParaRPr lang="en-US" sz="1200" noProof="1"/>
          </a:p>
          <a:p>
            <a:r>
              <a:rPr lang="en-US" sz="1200" noProof="1"/>
              <a:t>单机基线是一台 r3.large，只有 2 个 vCPU 和 15 GiB 内存；</a:t>
            </a:r>
            <a:endParaRPr lang="en-US" sz="1200" noProof="1"/>
          </a:p>
          <a:p>
            <a:r>
              <a:rPr lang="en-US" sz="1200" noProof="1"/>
              <a:t>分布式用 10 台 r3.8xlarge 支持到 128 个 executor，20 台支持 256 个。</a:t>
            </a:r>
            <a:endParaRPr lang="en-US" sz="1200" noProof="1"/>
          </a:p>
          <a:p>
            <a:r>
              <a:rPr lang="en-US" sz="1200" noProof="1"/>
              <a:t>曲线是 256 位的 Barreto-Naehrig 曲线，而且为了支持十亿级实例，</a:t>
            </a:r>
            <a:endParaRPr lang="en-US" sz="1200" noProof="1"/>
          </a:p>
          <a:p>
            <a:r>
              <a:rPr lang="en-US" sz="1200" noProof="1"/>
              <a:t>作者专门生成了 p 减一能被 2 的 50 次方整除的参数——这一点很关键，</a:t>
            </a:r>
            <a:endParaRPr lang="en-US" sz="1200" noProof="1"/>
          </a:p>
          <a:p>
            <a:r>
              <a:rPr lang="en-US" sz="1200" noProof="1"/>
              <a:t>因为商用曲线根本支持不了这么大的实例。</a:t>
            </a:r>
            <a:endParaRPr lang="en-US" sz="1200" noProof="1"/>
          </a:p>
          <a:p>
            <a:r>
              <a:rPr lang="en-US" sz="1200" noProof="1"/>
              <a:t>最后统一口径：论文说的 instance size 指 R1CS 约束数 M，实验里变量数 N 和 M 近似相等。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这是全篇最核心的一张结果。左边是论文的图 4：横轴是 executor 数量，纵轴是对数坐标的实例规模。</a:t>
            </a:r>
            <a:endParaRPr lang="en-US" sz="1200" noProof="1"/>
          </a:p>
          <a:p>
            <a:r>
              <a:rPr lang="en-US" sz="1200" noProof="1"/>
              <a:t>最上面两条是 libsnark 的串行实现，它们到大约一千六百万约束就因为内存耗尽退出了。</a:t>
            </a:r>
            <a:endParaRPr lang="en-US" sz="1200" noProof="1"/>
          </a:p>
          <a:p>
            <a:r>
              <a:rPr lang="en-US" sz="1200" noProof="1"/>
              <a:t>下面是 DIZK，executor 越多能支持的规模越大，到 256 个 executor 时达到 2 的 31 次方，</a:t>
            </a:r>
            <a:endParaRPr lang="en-US" sz="1200" noProof="1"/>
          </a:p>
          <a:p>
            <a:r>
              <a:rPr lang="en-US" sz="1200" noProof="1"/>
              <a:t>也就是超过 20 亿约束。</a:t>
            </a:r>
            <a:endParaRPr lang="en-US" sz="1200" noProof="1"/>
          </a:p>
          <a:p>
            <a:r>
              <a:rPr lang="en-US" sz="1200" noProof="1"/>
              <a:t>论文把这个差距概括成大约 100 倍。</a:t>
            </a:r>
            <a:endParaRPr lang="en-US" sz="1200" noProof="1"/>
          </a:p>
          <a:p>
            <a:r>
              <a:rPr lang="en-US" sz="1200" noProof="1"/>
              <a:t>两点提醒：第一，纵轴是对数的，不是线性柱子；第二，图 4 的严格横轴是约束数，</a:t>
            </a:r>
            <a:endParaRPr lang="en-US" sz="1200" noProof="1"/>
          </a:p>
          <a:p>
            <a:r>
              <a:rPr lang="en-US" sz="1200" noProof="1"/>
              <a:t>而论文摘要里习惯用 gates 描述，两者在论文叙述中近似对应。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这一页看扩展性。论文图 5 有四张子图，分别对应两种扩展方向。</a:t>
            </a:r>
            <a:endParaRPr lang="en-US" sz="1200" noProof="1"/>
          </a:p>
          <a:p>
            <a:r>
              <a:rPr lang="en-US" sz="1200" noProof="1"/>
              <a:t>  上面两张是弱扩展：固定 executor 数量，让实例规模从几百万涨到十亿以上，</a:t>
            </a:r>
            <a:endParaRPr lang="en-US" sz="1200" noProof="1"/>
          </a:p>
          <a:p>
            <a:r>
              <a:rPr lang="en-US" sz="1200" noProof="1"/>
              <a:t>  Setup 和 Prover 的耗时在对数坐标上基本是一条斜率接近 1 的直线。</a:t>
            </a:r>
            <a:endParaRPr lang="en-US" sz="1200" noProof="1"/>
          </a:p>
          <a:p>
            <a:r>
              <a:rPr lang="en-US" sz="1200" noProof="1"/>
              <a:t>  下面两张是强扩展：固定实例规模、增加 executor，耗时接近线性下降，</a:t>
            </a:r>
            <a:endParaRPr lang="en-US" sz="1200" noProof="1"/>
          </a:p>
          <a:p>
            <a:r>
              <a:rPr lang="en-US" sz="1200" noProof="1"/>
              <a:t>  末端趋平是因为固定开销开始占主导。</a:t>
            </a:r>
            <a:endParaRPr lang="en-US" sz="1200" noProof="1"/>
          </a:p>
          <a:p>
            <a:r>
              <a:rPr lang="en-US" sz="1200" noProof="1"/>
              <a:t>  右边把单位成本单独拎出来：DIZK 的 Prover 大约是每门 10 微秒，</a:t>
            </a:r>
            <a:endParaRPr lang="en-US" sz="1200" noProof="1"/>
          </a:p>
          <a:p>
            <a:r>
              <a:rPr lang="en-US" sz="1200" noProof="1"/>
              <a:t>  此前单机系统超过每门 1 毫秒，论文把差距总结为约 100 倍。</a:t>
            </a:r>
            <a:endParaRPr lang="en-US" sz="1200" noProof="1"/>
          </a:p>
          <a:p>
            <a:r>
              <a:rPr lang="en-US" sz="1200" noProof="1"/>
              <a:t>  注意这是单位成本的对比，不是说所有端到端任务都稳定快 100 倍。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这一页回答一个问题：这些算法重构到底值不值。</a:t>
            </a:r>
            <a:endParaRPr lang="en-US" sz="1200" noProof="1"/>
          </a:p>
          <a:p>
            <a:r>
              <a:rPr lang="en-US" sz="1200" noProof="1"/>
              <a:t>上半部分是论文图 6 和图 7，分别评测 Setup 侧的 Lag 和 Prover 侧的 FFT，</a:t>
            </a:r>
            <a:endParaRPr lang="en-US" sz="1200" noProof="1"/>
          </a:p>
          <a:p>
            <a:r>
              <a:rPr lang="en-US" sz="1200" noProof="1"/>
              <a:t>以及群运算里的 fixMSM 和 varMSM。四组曲线都表现出同样的形状：</a:t>
            </a:r>
            <a:endParaRPr lang="en-US" sz="1200" noProof="1"/>
          </a:p>
          <a:p>
            <a:r>
              <a:rPr lang="en-US" sz="1200" noProof="1"/>
              <a:t>固定 executor 时随规模近线性上升，固定规模时随 executor 增加而下降。</a:t>
            </a:r>
            <a:endParaRPr lang="en-US" sz="1200" noProof="1"/>
          </a:p>
          <a:p>
            <a:r>
              <a:rPr lang="en-US" sz="1200" noProof="1"/>
              <a:t>下半部分是论文第十点三节的系统级对照，用 32 和 64 个 executor 跑可行的实例。</a:t>
            </a:r>
            <a:endParaRPr lang="en-US" sz="1200" noProof="1"/>
          </a:p>
          <a:p>
            <a:r>
              <a:rPr lang="en-US" sz="1200" noProof="1"/>
              <a:t>完整优化版相对一个不做这些优化的版本，能处理的规模大 10 倍，速度快 2 到 4 倍。</a:t>
            </a:r>
            <a:endParaRPr lang="en-US" sz="1200" noProof="1"/>
          </a:p>
          <a:p>
            <a:r>
              <a:rPr lang="en-US" sz="1200" noProof="1"/>
              <a:t>需要说明的是，论文比较的是整套优化组合和基线组合，没有做单个模块的孤立消融。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PhotoProof 这个应用是为了保证新闻和刑侦照片的可信度。</a:t>
            </a:r>
            <a:endParaRPr lang="en-US" sz="1200" noProof="1"/>
          </a:p>
          <a:p>
            <a:r>
              <a:rPr lang="en-US" sz="1200" noProof="1"/>
              <a:t>相机在拍摄时对原图的承诺做硬件签名；编辑者只能做一组被允许的操作，</a:t>
            </a:r>
            <a:endParaRPr lang="en-US" sz="1200" noProof="1"/>
          </a:p>
          <a:p>
            <a:r>
              <a:rPr lang="en-US" sz="1200" noProof="1"/>
              <a:t>比如裁剪、旋转、模糊；出来的编辑图会带着原图的承诺、签名和一张零知识证明。</a:t>
            </a:r>
            <a:endParaRPr lang="en-US" sz="1200" noProof="1"/>
          </a:p>
          <a:p>
            <a:r>
              <a:rPr lang="en-US" sz="1200" noProof="1"/>
              <a:t>第三方不需要拿到原图，就能验证这张图确实是从签名过的原图按允许操作得到的。</a:t>
            </a:r>
            <a:endParaRPr lang="en-US" sz="1200" noProof="1"/>
          </a:p>
          <a:p>
            <a:r>
              <a:rPr lang="en-US" sz="1200" noProof="1"/>
              <a:t>DIZK 把约束生成和证人生成也分布式化了，所以能支持更大的图，</a:t>
            </a:r>
            <a:endParaRPr lang="en-US" sz="1200" noProof="1"/>
          </a:p>
          <a:p>
            <a:r>
              <a:rPr lang="en-US" sz="1200" noProof="1"/>
              <a:t>论文测到 2048 乘 2048。这里必须说清口径：表格里的秒数只是约束生成和证人生成的耗时，</a:t>
            </a:r>
            <a:endParaRPr lang="en-US" sz="1200" noProof="1"/>
          </a:p>
          <a:p>
            <a:r>
              <a:rPr lang="en-US" sz="1200" noProof="1"/>
              <a:t>不是 SNARK 的 Setup 和 Prover 时间。而且论文实现的是黑白图，彩色只是设想。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第二个应用是机器学习模型的完整性。场景是：医院掌握敏感数据，法律上不能公开；</a:t>
            </a:r>
            <a:endParaRPr lang="en-US" sz="1200" noProof="1"/>
          </a:p>
          <a:p>
            <a:r>
              <a:rPr lang="en-US" sz="1200" noProof="1"/>
              <a:t>研究者想用这些数据训练一个公开模型，但公众凭什么相信这个模型没被篡改？</a:t>
            </a:r>
            <a:endParaRPr lang="en-US" sz="1200" noProof="1"/>
          </a:p>
          <a:p>
            <a:r>
              <a:rPr lang="en-US" sz="1200" noProof="1"/>
              <a:t>做法是把训练和检查的关系编码成约束，对正确执行出一张零知识证明。</a:t>
            </a:r>
            <a:endParaRPr lang="en-US" sz="1200" noProof="1"/>
          </a:p>
          <a:p>
            <a:r>
              <a:rPr lang="en-US" sz="1200" noProof="1"/>
              <a:t>论文实现了线性回归和协方差矩阵。线性回归有个技巧值得注意：</a:t>
            </a:r>
            <a:endParaRPr lang="en-US" sz="1200" noProof="1"/>
          </a:p>
          <a:p>
            <a:r>
              <a:rPr lang="en-US" sz="1200" noProof="1"/>
              <a:t>电路里不做矩阵求逆，而是验证法方程 X 转置乘 X 乘 w 等于 X 转置乘 y，</a:t>
            </a:r>
            <a:endParaRPr lang="en-US" sz="1200" noProof="1"/>
          </a:p>
          <a:p>
            <a:r>
              <a:rPr lang="en-US" sz="1200" noProof="1"/>
              <a:t>这样就把问题化归成矩阵乘法。</a:t>
            </a:r>
            <a:endParaRPr lang="en-US" sz="1200" noProof="1"/>
          </a:p>
          <a:p>
            <a:r>
              <a:rPr lang="en-US" sz="1200" noProof="1"/>
              <a:t>表格里的秒数仍然只是约束生成和证人生成的耗时，不是 SNARK 的时间。</a:t>
            </a:r>
            <a:endParaRPr lang="en-US" sz="1200" noProof="1"/>
          </a:p>
          <a:p>
            <a:r>
              <a:rPr lang="en-US" sz="1200" noProof="1"/>
              <a:t>最后是一条必须说的边界：论文没有研究“输入数据是否与某个可信承诺一致”的哈希证明，</a:t>
            </a:r>
            <a:endParaRPr lang="en-US" sz="1200" noProof="1"/>
          </a:p>
          <a:p>
            <a:r>
              <a:rPr lang="en-US" sz="1200" noProof="1"/>
              <a:t>真实部署得自己补上。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讲完成绩，必须讲讲边界，这四点都是论文自己承认的。</a:t>
            </a:r>
            <a:endParaRPr lang="en-US" sz="1200" noProof="1"/>
          </a:p>
          <a:p>
            <a:r>
              <a:rPr lang="en-US" sz="1200" noProof="1"/>
              <a:t>  第一，绝对开销依然很贵。就算摊到每门 10 微秒，几十亿门的电路还是要让整个集群</a:t>
            </a:r>
            <a:endParaRPr lang="en-US" sz="1200" noProof="1"/>
          </a:p>
          <a:p>
            <a:r>
              <a:rPr lang="en-US" sz="1200" noProof="1"/>
              <a:t>  跑上很长时间，机器和电费都是真实成本。</a:t>
            </a:r>
            <a:endParaRPr lang="en-US" sz="1200" noProof="1"/>
          </a:p>
          <a:p>
            <a:r>
              <a:rPr lang="en-US" sz="1200" noProof="1"/>
              <a:t>  第二，它是预处理型系统，需要电路特定的 trusted setup，电路一改就得重跑一次仪式。</a:t>
            </a:r>
            <a:endParaRPr lang="en-US" sz="1200" noProof="1"/>
          </a:p>
          <a:p>
            <a:r>
              <a:rPr lang="en-US" sz="1200" noProof="1"/>
              <a:t>  第三，也是最棘手的一点：在几十台多租户节点上安全销毁 setup 产生的秘密随机数，</a:t>
            </a:r>
            <a:endParaRPr lang="en-US" sz="1200" noProof="1"/>
          </a:p>
          <a:p>
            <a:r>
              <a:rPr lang="en-US" sz="1200" noProof="1"/>
              <a:t>  比在单机上保护内存困难得多，论文没有解决分布式 MPC 仪式的问题。</a:t>
            </a:r>
            <a:endParaRPr lang="en-US" sz="1200" noProof="1"/>
          </a:p>
          <a:p>
            <a:r>
              <a:rPr lang="en-US" sz="1200" noProof="1"/>
              <a:t>  第四，应用评测还在原型阶段：照片只有黑白图，机器学习只覆盖线性回归和协方差，</a:t>
            </a:r>
            <a:endParaRPr lang="en-US" sz="1200" noProof="1"/>
          </a:p>
          <a:p>
            <a:r>
              <a:rPr lang="en-US" sz="1200" noProof="1"/>
              <a:t>  不能外推到深度学习。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8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sha-2"/>
          <p:cNvSpPr/>
          <p:nvPr/>
        </p:nvSpPr>
        <p:spPr>
          <a:xfrm>
            <a:off x="52070" y="2491740"/>
            <a:ext cx="2387600" cy="3826510"/>
          </a:xfrm>
          <a:custGeom>
            <a:avLst/>
            <a:gdLst/>
            <a:ahLst/>
            <a:cxnLst/>
            <a:rect l="l" t="t" r="r" b="b"/>
            <a:pathLst>
              <a:path w="626" h="1000">
                <a:moveTo>
                  <a:pt x="0" y="0"/>
                </a:moveTo>
                <a:lnTo>
                  <a:pt x="626" y="355"/>
                </a:lnTo>
                <a:lnTo>
                  <a:pt x="0" y="355"/>
                </a:lnTo>
                <a:lnTo>
                  <a:pt x="0" y="0"/>
                </a:lnTo>
                <a:close/>
              </a:path>
              <a:path w="626" h="1000">
                <a:moveTo>
                  <a:pt x="626" y="361"/>
                </a:moveTo>
                <a:lnTo>
                  <a:pt x="0" y="716"/>
                </a:lnTo>
                <a:lnTo>
                  <a:pt x="0" y="361"/>
                </a:lnTo>
                <a:lnTo>
                  <a:pt x="626" y="361"/>
                </a:lnTo>
                <a:close/>
              </a:path>
              <a:path w="626" h="1000">
                <a:moveTo>
                  <a:pt x="240" y="843"/>
                </a:moveTo>
                <a:cubicBezTo>
                  <a:pt x="213" y="951"/>
                  <a:pt x="61" y="993"/>
                  <a:pt x="0" y="1000"/>
                </a:cubicBezTo>
                <a:lnTo>
                  <a:pt x="0" y="1000"/>
                </a:lnTo>
                <a:lnTo>
                  <a:pt x="0" y="738"/>
                </a:lnTo>
                <a:lnTo>
                  <a:pt x="240" y="599"/>
                </a:lnTo>
                <a:lnTo>
                  <a:pt x="240" y="843"/>
                </a:lnTo>
                <a:close/>
              </a:path>
            </a:pathLst>
          </a:custGeom>
          <a:solidFill>
            <a:srgbClr val="071F65"/>
          </a:solidFill>
          <a:ln w="12700">
            <a:solidFill>
              <a:srgbClr val="24211D"/>
            </a:solidFill>
          </a:ln>
        </p:spPr>
      </p:sp>
      <p:sp>
        <p:nvSpPr>
          <p:cNvPr id="3" name="tpl-sha-5"/>
          <p:cNvSpPr/>
          <p:nvPr/>
        </p:nvSpPr>
        <p:spPr>
          <a:xfrm>
            <a:off x="2348230" y="3823970"/>
            <a:ext cx="182880" cy="2259330"/>
          </a:xfrm>
          <a:custGeom>
            <a:avLst/>
            <a:gdLst/>
            <a:ahLst/>
            <a:cxnLst/>
            <a:rect l="l" t="t" r="r" b="b"/>
            <a:pathLst>
              <a:path w="81" h="1000">
                <a:moveTo>
                  <a:pt x="35" y="0"/>
                </a:moveTo>
                <a:lnTo>
                  <a:pt x="35" y="386"/>
                </a:lnTo>
                <a:cubicBezTo>
                  <a:pt x="29" y="389"/>
                  <a:pt x="25" y="394"/>
                  <a:pt x="25" y="401"/>
                </a:cubicBezTo>
                <a:cubicBezTo>
                  <a:pt x="25" y="409"/>
                  <a:pt x="32" y="416"/>
                  <a:pt x="41" y="416"/>
                </a:cubicBezTo>
                <a:cubicBezTo>
                  <a:pt x="49" y="416"/>
                  <a:pt x="56" y="409"/>
                  <a:pt x="56" y="401"/>
                </a:cubicBezTo>
                <a:cubicBezTo>
                  <a:pt x="56" y="394"/>
                  <a:pt x="52" y="389"/>
                  <a:pt x="46" y="386"/>
                </a:cubicBezTo>
                <a:lnTo>
                  <a:pt x="46" y="0"/>
                </a:lnTo>
                <a:lnTo>
                  <a:pt x="35" y="0"/>
                </a:lnTo>
                <a:close/>
              </a:path>
              <a:path w="81" h="1000">
                <a:moveTo>
                  <a:pt x="0" y="533"/>
                </a:moveTo>
                <a:lnTo>
                  <a:pt x="81" y="533"/>
                </a:lnTo>
                <a:lnTo>
                  <a:pt x="81" y="539"/>
                </a:lnTo>
                <a:lnTo>
                  <a:pt x="0" y="539"/>
                </a:lnTo>
                <a:lnTo>
                  <a:pt x="0" y="533"/>
                </a:lnTo>
                <a:close/>
              </a:path>
              <a:path w="81" h="1000">
                <a:moveTo>
                  <a:pt x="0" y="473"/>
                </a:moveTo>
                <a:lnTo>
                  <a:pt x="0" y="473"/>
                </a:lnTo>
                <a:lnTo>
                  <a:pt x="0" y="473"/>
                </a:lnTo>
                <a:cubicBezTo>
                  <a:pt x="0" y="450"/>
                  <a:pt x="18" y="432"/>
                  <a:pt x="41" y="432"/>
                </a:cubicBezTo>
                <a:cubicBezTo>
                  <a:pt x="63" y="432"/>
                  <a:pt x="81" y="450"/>
                  <a:pt x="81" y="473"/>
                </a:cubicBezTo>
                <a:lnTo>
                  <a:pt x="81" y="473"/>
                </a:lnTo>
                <a:lnTo>
                  <a:pt x="81" y="473"/>
                </a:lnTo>
                <a:lnTo>
                  <a:pt x="81" y="524"/>
                </a:lnTo>
                <a:lnTo>
                  <a:pt x="0" y="524"/>
                </a:lnTo>
                <a:lnTo>
                  <a:pt x="0" y="473"/>
                </a:lnTo>
                <a:close/>
              </a:path>
              <a:path w="81" h="1000">
                <a:moveTo>
                  <a:pt x="5" y="553"/>
                </a:moveTo>
                <a:lnTo>
                  <a:pt x="0" y="553"/>
                </a:lnTo>
                <a:lnTo>
                  <a:pt x="0" y="1000"/>
                </a:lnTo>
                <a:lnTo>
                  <a:pt x="5" y="1000"/>
                </a:lnTo>
                <a:lnTo>
                  <a:pt x="5" y="553"/>
                </a:lnTo>
                <a:close/>
              </a:path>
              <a:path w="81" h="1000">
                <a:moveTo>
                  <a:pt x="18" y="553"/>
                </a:moveTo>
                <a:lnTo>
                  <a:pt x="13" y="553"/>
                </a:lnTo>
                <a:lnTo>
                  <a:pt x="13" y="1000"/>
                </a:lnTo>
                <a:lnTo>
                  <a:pt x="18" y="1000"/>
                </a:lnTo>
                <a:lnTo>
                  <a:pt x="18" y="553"/>
                </a:lnTo>
                <a:close/>
              </a:path>
              <a:path w="81" h="1000">
                <a:moveTo>
                  <a:pt x="31" y="553"/>
                </a:moveTo>
                <a:lnTo>
                  <a:pt x="25" y="553"/>
                </a:lnTo>
                <a:lnTo>
                  <a:pt x="25" y="1000"/>
                </a:lnTo>
                <a:lnTo>
                  <a:pt x="31" y="1000"/>
                </a:lnTo>
                <a:lnTo>
                  <a:pt x="31" y="553"/>
                </a:lnTo>
                <a:close/>
              </a:path>
              <a:path w="81" h="1000">
                <a:moveTo>
                  <a:pt x="43" y="553"/>
                </a:moveTo>
                <a:lnTo>
                  <a:pt x="38" y="553"/>
                </a:lnTo>
                <a:lnTo>
                  <a:pt x="38" y="1000"/>
                </a:lnTo>
                <a:lnTo>
                  <a:pt x="43" y="1000"/>
                </a:lnTo>
                <a:lnTo>
                  <a:pt x="43" y="553"/>
                </a:lnTo>
                <a:close/>
              </a:path>
              <a:path w="81" h="1000">
                <a:moveTo>
                  <a:pt x="56" y="553"/>
                </a:moveTo>
                <a:lnTo>
                  <a:pt x="51" y="553"/>
                </a:lnTo>
                <a:lnTo>
                  <a:pt x="51" y="1000"/>
                </a:lnTo>
                <a:lnTo>
                  <a:pt x="56" y="1000"/>
                </a:lnTo>
                <a:lnTo>
                  <a:pt x="56" y="553"/>
                </a:lnTo>
                <a:close/>
              </a:path>
              <a:path w="81" h="1000">
                <a:moveTo>
                  <a:pt x="69" y="553"/>
                </a:moveTo>
                <a:lnTo>
                  <a:pt x="63" y="553"/>
                </a:lnTo>
                <a:lnTo>
                  <a:pt x="63" y="1000"/>
                </a:lnTo>
                <a:lnTo>
                  <a:pt x="69" y="1000"/>
                </a:lnTo>
                <a:lnTo>
                  <a:pt x="69" y="553"/>
                </a:lnTo>
                <a:close/>
              </a:path>
              <a:path w="81" h="1000">
                <a:moveTo>
                  <a:pt x="81" y="553"/>
                </a:moveTo>
                <a:lnTo>
                  <a:pt x="76" y="553"/>
                </a:lnTo>
                <a:lnTo>
                  <a:pt x="76" y="1000"/>
                </a:lnTo>
                <a:lnTo>
                  <a:pt x="81" y="1000"/>
                </a:lnTo>
                <a:lnTo>
                  <a:pt x="81" y="553"/>
                </a:lnTo>
                <a:close/>
              </a:path>
            </a:pathLst>
          </a:custGeom>
          <a:solidFill>
            <a:srgbClr val="071F65"/>
          </a:solidFill>
          <a:ln>
            <a:noFill/>
          </a:ln>
        </p:spPr>
      </p:sp>
      <p:sp>
        <p:nvSpPr>
          <p:cNvPr id="4" name="cover-mark"/>
          <p:cNvSpPr txBox="1"/>
          <p:nvPr/>
        </p:nvSpPr>
        <p:spPr>
          <a:xfrm>
            <a:off x="508000" y="1778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27th USENIX Security Symposium ｜ Baltimore, 2018</a:t>
            </a:r>
            <a:endParaRPr lang="en-US" sz="1000" noProof="1"/>
          </a:p>
        </p:txBody>
      </p:sp>
      <p:sp>
        <p:nvSpPr>
          <p:cNvPr id="5" name="tpl-tex-1"/>
          <p:cNvSpPr txBox="1"/>
          <p:nvPr/>
        </p:nvSpPr>
        <p:spPr>
          <a:xfrm>
            <a:off x="1931670" y="1524000"/>
            <a:ext cx="5080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44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DIZK</a:t>
            </a:r>
            <a:endParaRPr lang="en-US" sz="4400" noProof="1"/>
          </a:p>
        </p:txBody>
      </p:sp>
      <p:sp>
        <p:nvSpPr>
          <p:cNvPr id="6" name="tpl-tex-1b"/>
          <p:cNvSpPr txBox="1"/>
          <p:nvPr/>
        </p:nvSpPr>
        <p:spPr>
          <a:xfrm>
            <a:off x="1931670" y="2489200"/>
            <a:ext cx="895096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5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A Distributed Zero Knowledge Proof System</a:t>
            </a:r>
            <a:endParaRPr lang="en-US" sz="2500" noProof="1"/>
          </a:p>
        </p:txBody>
      </p:sp>
      <p:sp>
        <p:nvSpPr>
          <p:cNvPr id="7" name="cover-sub"/>
          <p:cNvSpPr txBox="1"/>
          <p:nvPr/>
        </p:nvSpPr>
        <p:spPr>
          <a:xfrm>
            <a:off x="1931670" y="2997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分布式 zkSNARK 的系统设计、关键算法与实验评估</a:t>
            </a:r>
            <a:endParaRPr lang="en-US" sz="2000" noProof="1"/>
          </a:p>
        </p:txBody>
      </p:sp>
      <p:sp>
        <p:nvSpPr>
          <p:cNvPr id="8" name="cover-authors"/>
          <p:cNvSpPr txBox="1"/>
          <p:nvPr/>
        </p:nvSpPr>
        <p:spPr>
          <a:xfrm>
            <a:off x="2743200" y="3454400"/>
            <a:ext cx="838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Howard Wu · Wenting Zheng · Alessandro Chiesa · Raluca Ada Popa · Ion Stoica　—　UC Berkeley</a:t>
            </a:r>
            <a:endParaRPr lang="en-US" sz="1200" noProof="1"/>
          </a:p>
        </p:txBody>
      </p:sp>
      <p:sp>
        <p:nvSpPr>
          <p:cNvPr id="10" name="dv-mem-bg"/>
          <p:cNvSpPr/>
          <p:nvPr/>
        </p:nvSpPr>
        <p:spPr>
          <a:xfrm>
            <a:off x="2819400" y="5257800"/>
            <a:ext cx="1270000" cy="127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1" name="dv-mem-full"/>
          <p:cNvSpPr/>
          <p:nvPr/>
        </p:nvSpPr>
        <p:spPr>
          <a:xfrm>
            <a:off x="2819400" y="5257800"/>
            <a:ext cx="1270000" cy="127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2" name="dv-machine"/>
          <p:cNvSpPr/>
          <p:nvPr/>
        </p:nvSpPr>
        <p:spPr>
          <a:xfrm>
            <a:off x="2743200" y="4927600"/>
            <a:ext cx="14224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3" name="dv-machine-label"/>
          <p:cNvSpPr txBox="1"/>
          <p:nvPr/>
        </p:nvSpPr>
        <p:spPr>
          <a:xfrm>
            <a:off x="2819400" y="49784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100" b="1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单机 Prover</a:t>
            </a:r>
            <a:endParaRPr lang="en-US" sz="1100" noProof="1"/>
          </a:p>
        </p:txBody>
      </p:sp>
      <p:sp>
        <p:nvSpPr>
          <p:cNvPr id="14" name="dv-machine-note"/>
          <p:cNvSpPr txBox="1"/>
          <p:nvPr/>
        </p:nvSpPr>
        <p:spPr>
          <a:xfrm>
            <a:off x="2819400" y="54610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9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内存爆满 / OOM</a:t>
            </a:r>
            <a:endParaRPr lang="en-US" sz="900" noProof="1"/>
          </a:p>
        </p:txBody>
      </p:sp>
      <p:sp>
        <p:nvSpPr>
          <p:cNvPr id="15" name="dv-arrow-1"/>
          <p:cNvSpPr/>
          <p:nvPr/>
        </p:nvSpPr>
        <p:spPr>
          <a:xfrm>
            <a:off x="4216400" y="5232400"/>
            <a:ext cx="558800" cy="127000"/>
          </a:xfrm>
          <a:custGeom>
            <a:avLst/>
            <a:gdLst/>
            <a:ahLst/>
            <a:cxnLst/>
            <a:rect l="l" t="t" r="r" b="b"/>
            <a:pathLst>
              <a:path w="44" h="10">
                <a:moveTo>
                  <a:pt x="0" y="5"/>
                </a:moveTo>
                <a:lnTo>
                  <a:pt x="44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sp>
        <p:nvSpPr>
          <p:cNvPr id="16" name="dv-cluster"/>
          <p:cNvSpPr/>
          <p:nvPr/>
        </p:nvSpPr>
        <p:spPr>
          <a:xfrm>
            <a:off x="4826000" y="4953000"/>
            <a:ext cx="1066800" cy="7874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7" name="dv-node-1"/>
          <p:cNvSpPr/>
          <p:nvPr/>
        </p:nvSpPr>
        <p:spPr>
          <a:xfrm>
            <a:off x="4902200" y="50292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18" name="dv-node-2"/>
          <p:cNvSpPr/>
          <p:nvPr/>
        </p:nvSpPr>
        <p:spPr>
          <a:xfrm>
            <a:off x="5232400" y="50292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19" name="dv-node-3"/>
          <p:cNvSpPr/>
          <p:nvPr/>
        </p:nvSpPr>
        <p:spPr>
          <a:xfrm>
            <a:off x="5562600" y="50292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0" name="dv-node-4"/>
          <p:cNvSpPr/>
          <p:nvPr/>
        </p:nvSpPr>
        <p:spPr>
          <a:xfrm>
            <a:off x="4902200" y="52578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1" name="dv-node-5"/>
          <p:cNvSpPr/>
          <p:nvPr/>
        </p:nvSpPr>
        <p:spPr>
          <a:xfrm>
            <a:off x="5232400" y="52578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2" name="dv-node-6"/>
          <p:cNvSpPr/>
          <p:nvPr/>
        </p:nvSpPr>
        <p:spPr>
          <a:xfrm>
            <a:off x="5562600" y="52578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3" name="dv-node-7"/>
          <p:cNvSpPr/>
          <p:nvPr/>
        </p:nvSpPr>
        <p:spPr>
          <a:xfrm>
            <a:off x="4902200" y="54864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4" name="dv-node-8"/>
          <p:cNvSpPr/>
          <p:nvPr/>
        </p:nvSpPr>
        <p:spPr>
          <a:xfrm>
            <a:off x="5232400" y="54864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5" name="dv-node-9"/>
          <p:cNvSpPr/>
          <p:nvPr/>
        </p:nvSpPr>
        <p:spPr>
          <a:xfrm>
            <a:off x="5562600" y="54864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6" name="dv-cluster-label"/>
          <p:cNvSpPr txBox="1"/>
          <p:nvPr/>
        </p:nvSpPr>
        <p:spPr>
          <a:xfrm>
            <a:off x="4826000" y="47244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集群：N 个 executor</a:t>
            </a:r>
            <a:endParaRPr lang="en-US" sz="1000" noProof="1"/>
          </a:p>
        </p:txBody>
      </p:sp>
      <p:sp>
        <p:nvSpPr>
          <p:cNvPr id="27" name="dv-arrow-2"/>
          <p:cNvSpPr/>
          <p:nvPr/>
        </p:nvSpPr>
        <p:spPr>
          <a:xfrm>
            <a:off x="5943600" y="5232400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48" h="10">
                <a:moveTo>
                  <a:pt x="0" y="5"/>
                </a:moveTo>
                <a:lnTo>
                  <a:pt x="48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sp>
        <p:nvSpPr>
          <p:cNvPr id="28" name="dv-proof"/>
          <p:cNvSpPr/>
          <p:nvPr/>
        </p:nvSpPr>
        <p:spPr>
          <a:xfrm>
            <a:off x="6604000" y="5029200"/>
            <a:ext cx="1270000" cy="457200"/>
          </a:xfrm>
          <a:prstGeom prst="rect">
            <a:avLst/>
          </a:prstGeom>
          <a:solidFill>
            <a:srgbClr val="071F65"/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dv-proof-text"/>
              <p:cNvSpPr txBox="1"/>
              <p:nvPr/>
            </p:nvSpPr>
            <p:spPr>
              <a:xfrm>
                <a:off x="6604000" y="5105400"/>
                <a:ext cx="1270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noProof="1">
                          <a:solidFill>
                            <a:srgbClr val="FFFFFF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𝛑</m:t>
                      </m:r>
                      <m:r>
                        <a:rPr lang="en-US" sz="1400" b="1" noProof="1">
                          <a:solidFill>
                            <a:srgbClr val="FFFFFF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 = </m:t>
                      </m:r>
                      <m:r>
                        <a:rPr lang="en-US" sz="1400" b="1" noProof="1">
                          <a:solidFill>
                            <a:srgbClr val="FFFFFF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𝟏𝟐𝟖</m:t>
                      </m:r>
                      <m:r>
                        <a:rPr lang="en-US" sz="1400" b="1" noProof="1">
                          <a:solidFill>
                            <a:srgbClr val="FFFFFF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 </m:t>
                      </m:r>
                      <m:r>
                        <a:rPr lang="en-US" sz="1400" b="1" noProof="1">
                          <a:solidFill>
                            <a:srgbClr val="FFFFFF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𝐁</m:t>
                      </m:r>
                    </m:oMath>
                  </m:oMathPara>
                </a14:m>
                <a:endParaRPr lang="en-US" sz="1400" noProof="1"/>
              </a:p>
            </p:txBody>
          </p:sp>
        </mc:Choice>
        <mc:Fallback>
          <p:sp>
            <p:nvSpPr>
              <p:cNvPr id="29" name="dv-proof-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5105400"/>
                <a:ext cx="1270000" cy="304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pl-tex-4"/>
          <p:cNvSpPr txBox="1"/>
          <p:nvPr/>
        </p:nvSpPr>
        <p:spPr>
          <a:xfrm>
            <a:off x="8352790" y="4826000"/>
            <a:ext cx="313436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集群生成证明，验证端一行不改</a:t>
            </a:r>
            <a:endParaRPr lang="en-US" sz="1600" noProof="1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证明“我做对了”，不必把秘密交出来</a:t>
            </a:r>
            <a:endParaRPr lang="en-US" sz="2800" b="1" noProof="1">
              <a:solidFill>
                <a:srgbClr val="0F294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USENIX Security '18 · DIZK</a:t>
            </a:r>
            <a:endParaRPr lang="en-US" sz="1000" noProof="1">
              <a:solidFill>
                <a:srgbClr val="0F294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第 2 页 / 19</a:t>
            </a:r>
            <a:endParaRPr lang="en-US" sz="1000" noProof="1">
              <a:solidFill>
                <a:srgbClr val="0F294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foot-source"/>
          <p:cNvSpPr txBox="1"/>
          <p:nvPr/>
        </p:nvSpPr>
        <p:spPr>
          <a:xfrm>
            <a:off x="312420" y="6464935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Source: Wu et al., DIZK, 27th USENIX Security Symposium, 2018</a:t>
            </a:r>
            <a:endParaRPr lang="en-US" sz="1000" noProof="1">
              <a:solidFill>
                <a:srgbClr val="0F294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1" name="c-lead"/>
          <p:cNvSpPr txBox="1"/>
          <p:nvPr/>
        </p:nvSpPr>
        <p:spPr>
          <a:xfrm>
            <a:off x="4673600" y="1168400"/>
            <a:ext cx="70104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noProof="1">
                <a:solidFill>
                  <a:srgbClr val="071F65"/>
                </a:solidFill>
                <a:latin typeface="Times New Roman" panose="02020603050405020304" charset="0"/>
                <a:ea typeface="微软雅黑" panose="020B0503020204020204" charset="-122"/>
              </a:rPr>
              <a:t>让别人相信你的陈述为真，却不泄露你凭什么知道</a:t>
            </a:r>
            <a:endParaRPr lang="en-US" sz="2000" b="1" noProof="1">
              <a:solidFill>
                <a:srgbClr val="071F65"/>
              </a:solidFill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22" name="c-def-band"/>
          <p:cNvSpPr/>
          <p:nvPr/>
        </p:nvSpPr>
        <p:spPr>
          <a:xfrm>
            <a:off x="4673600" y="1676400"/>
            <a:ext cx="7010400" cy="99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" name="c-def-label"/>
          <p:cNvSpPr txBox="1"/>
          <p:nvPr/>
        </p:nvSpPr>
        <p:spPr>
          <a:xfrm>
            <a:off x="4902200" y="1778000"/>
            <a:ext cx="6553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D948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形式化定义 ｜ zkSNARK（零知识简洁非交互式知识论证）</a:t>
            </a:r>
            <a:endParaRPr lang="en-US" sz="1600" b="1" noProof="1">
              <a:solidFill>
                <a:srgbClr val="0D948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-def-text"/>
              <p:cNvSpPr txBox="1"/>
              <p:nvPr/>
            </p:nvSpPr>
            <p:spPr>
              <a:xfrm>
                <a:off x="4902200" y="2057400"/>
                <a:ext cx="6553200" cy="58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15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给定公开谓词 F 与公开输入 x，证明者知道秘密证人 w，使得</a:t>
                </a:r>
                <a14:m>
                  <m:oMath xmlns:m="http://schemas.openxmlformats.org/officeDocument/2006/math">
                    <m: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F</m:t>
                    </m:r>
                    <m: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x</m:t>
                    </m:r>
                    <m: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, 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w</m:t>
                    </m:r>
                    <m: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 = 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true</m:t>
                    </m:r>
                  </m:oMath>
                </a14:m>
                <a:r>
                  <a:rPr lang="zh-CN" altLang="en-US" sz="1600" noProof="1">
                    <a:solidFill>
                      <a:srgbClr val="1A202C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。</a:t>
                </a:r>
                <a:endParaRPr lang="zh-CN" altLang="en-US" sz="1600" noProof="1">
                  <a:solidFill>
                    <a:srgbClr val="1A202C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4" name="c-def-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200" y="2057400"/>
                <a:ext cx="6553200" cy="5842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-zk-label"/>
          <p:cNvSpPr txBox="1"/>
          <p:nvPr/>
        </p:nvSpPr>
        <p:spPr>
          <a:xfrm>
            <a:off x="4673600" y="2819400"/>
            <a:ext cx="7010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noProof="1">
                <a:solidFill>
                  <a:srgbClr val="071F6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零知识性 Zero Knowledge</a:t>
            </a:r>
            <a:endParaRPr lang="en-US" sz="1600" b="1" noProof="1">
              <a:solidFill>
                <a:srgbClr val="071F6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-zk-text"/>
              <p:cNvSpPr txBox="1"/>
              <p:nvPr/>
            </p:nvSpPr>
            <p:spPr>
              <a:xfrm>
                <a:off x="4673600" y="3200400"/>
                <a:ext cx="70104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30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证明过程与 </a:t>
                </a:r>
                <a14:m>
                  <m:oMath xmlns:m="http://schemas.openxmlformats.org/officeDocument/2006/math">
                    <m:r>
                      <a:rPr lang="en-US" altLang="zh-CN" sz="1600" i="1" noProof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不向验证者泄露任何关于 w 的额外信息</a:t>
                </a:r>
                <a:endParaRPr lang="en-US" sz="1600" noProof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6" name="c-zk-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3200400"/>
                <a:ext cx="7010400" cy="3302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-su-label"/>
          <p:cNvSpPr txBox="1"/>
          <p:nvPr/>
        </p:nvSpPr>
        <p:spPr>
          <a:xfrm>
            <a:off x="4673600" y="3621405"/>
            <a:ext cx="7010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noProof="1">
                <a:solidFill>
                  <a:srgbClr val="0D948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简洁性 Succinctness</a:t>
            </a:r>
            <a:endParaRPr lang="en-US" sz="1600" b="1" noProof="1">
              <a:solidFill>
                <a:srgbClr val="0D948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-su-text"/>
              <p:cNvSpPr txBox="1"/>
              <p:nvPr/>
            </p:nvSpPr>
            <p:spPr>
              <a:xfrm>
                <a:off x="4673600" y="4002405"/>
                <a:ext cx="70104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noProof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仅 128 B 且与计算量解耦，验证只需数毫秒</a:t>
                </a:r>
                <a:endParaRPr lang="en-US" sz="1600" noProof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8" name="c-su-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4002405"/>
                <a:ext cx="7010400" cy="3302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-su-label"/>
          <p:cNvSpPr txBox="1"/>
          <p:nvPr/>
        </p:nvSpPr>
        <p:spPr>
          <a:xfrm>
            <a:off x="4678680" y="4462780"/>
            <a:ext cx="7010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zh-CN" altLang="en-US" sz="1600" b="1" noProof="1">
                <a:solidFill>
                  <a:srgbClr val="0D948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完备性 </a:t>
            </a:r>
            <a:r>
              <a:rPr lang="en-US" altLang="zh-CN" sz="1600" b="1" noProof="1">
                <a:solidFill>
                  <a:srgbClr val="0D948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Completeness</a:t>
            </a:r>
            <a:endParaRPr lang="en-US" altLang="zh-CN" sz="1600" b="1" noProof="1">
              <a:solidFill>
                <a:srgbClr val="0D948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-su-text"/>
              <p:cNvSpPr txBox="1"/>
              <p:nvPr/>
            </p:nvSpPr>
            <p:spPr>
              <a:xfrm>
                <a:off x="4678680" y="4843780"/>
                <a:ext cx="70104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30000"/>
                  </a:lnSpc>
                </a:pPr>
                <a:r>
                  <a:rPr lang="zh-CN" altLang="en-US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若陈述为真，且证明者知道见证 </a:t>
                </a:r>
                <a14:m>
                  <m:oMath xmlns:m="http://schemas.openxmlformats.org/officeDocument/2006/math">
                    <m:r>
                      <a:rPr lang="en-US" altLang="zh-CN" sz="1600" i="1" noProof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𝑤</m:t>
                    </m:r>
                  </m:oMath>
                </a14:m>
                <a:r>
                  <a:rPr lang="en-US" altLang="zh-CN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，</a:t>
                </a:r>
                <a:r>
                  <a:rPr lang="zh-CN" altLang="en-US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诚实生成的证明</a:t>
                </a:r>
                <a14:m>
                  <m:oMath xmlns:m="http://schemas.openxmlformats.org/officeDocument/2006/math">
                    <m:r>
                      <a:rPr lang="en-US" altLang="zh-CN" sz="1600" i="1" noProof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sz="1600" i="1" noProof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en-US" altLang="zh-CN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必定能通过验证。</a:t>
                </a:r>
                <a:endParaRPr lang="zh-CN" altLang="en-US" sz="1600" noProof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2" name="c-su-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680" y="4843780"/>
                <a:ext cx="7010400" cy="3302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-su-label"/>
          <p:cNvSpPr txBox="1"/>
          <p:nvPr/>
        </p:nvSpPr>
        <p:spPr>
          <a:xfrm>
            <a:off x="4673600" y="5303520"/>
            <a:ext cx="7010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zh-CN" altLang="en-US" sz="1600" b="1" noProof="1">
                <a:solidFill>
                  <a:srgbClr val="0D948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可靠性 </a:t>
            </a:r>
            <a:r>
              <a:rPr lang="en-US" altLang="zh-CN" sz="1600" b="1" noProof="1">
                <a:solidFill>
                  <a:srgbClr val="0D948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Soundness</a:t>
            </a:r>
            <a:endParaRPr lang="en-US" altLang="zh-CN" sz="1600" b="1" noProof="1">
              <a:solidFill>
                <a:srgbClr val="0D948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-su-text"/>
              <p:cNvSpPr txBox="1"/>
              <p:nvPr/>
            </p:nvSpPr>
            <p:spPr>
              <a:xfrm>
                <a:off x="4673600" y="5684520"/>
                <a:ext cx="70104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30000"/>
                  </a:lnSpc>
                </a:pPr>
                <a:r>
                  <a:rPr lang="zh-CN" altLang="en-US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若陈述为假，攻击者即使试图伪造，也几乎不可能构造出能通过验证的证明 </a:t>
                </a:r>
                <a14:m>
                  <m:oMath xmlns:m="http://schemas.openxmlformats.org/officeDocument/2006/math">
                    <m:r>
                      <a:rPr lang="en-US" altLang="zh-CN" sz="1600" i="1" noProof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en-US" altLang="zh-CN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。</a:t>
                </a:r>
                <a:endParaRPr lang="en-US" altLang="zh-CN" sz="1600" noProof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5" name="c-su-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5684520"/>
                <a:ext cx="7010400" cy="330200"/>
              </a:xfrm>
              <a:prstGeom prst="rect">
                <a:avLst/>
              </a:prstGeom>
              <a:blipFill rotWithShape="1">
                <a:blip r:embed="rId5"/>
                <a:stretch>
                  <a:fillRect r="-18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图片 35" descr="d34eac6d-0fe2-4734-9391-70d5f6263b1b"/>
          <p:cNvPicPr>
            <a:picLocks noChangeAspect="1"/>
          </p:cNvPicPr>
          <p:nvPr/>
        </p:nvPicPr>
        <p:blipFill>
          <a:blip r:embed="rId6">
            <a:clrChange>
              <a:clrFrom>
                <a:srgbClr val="FDFCFD">
                  <a:alpha val="100000"/>
                </a:srgbClr>
              </a:clrFrom>
              <a:clrTo>
                <a:srgbClr val="FDFCF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1775" y="998855"/>
            <a:ext cx="4225290" cy="5280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zkSNARK 的三阶段：</a:t>
            </a:r>
            <a:r>
              <a:rPr lang="zh-CN" alt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验证很简洁，而</a:t>
            </a: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 Setup 与 Prover </a:t>
            </a:r>
            <a:r>
              <a:rPr lang="zh-CN" alt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复杂</a:t>
            </a:r>
            <a:endParaRPr lang="zh-CN" altLang="en-US" sz="2800" b="1" noProof="1">
              <a:solidFill>
                <a:srgbClr val="0F2942"/>
              </a:solidFill>
              <a:latin typeface="Arial" panose="020B0604020202020204"/>
              <a:ea typeface="Noto Sans SC" panose="020B0200000000000000" charset="-122"/>
            </a:endParaRPr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3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s3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同一个 F 的 pk / vk 只需生成一次，之后可服务任意多次证明</a:t>
            </a:r>
            <a:endParaRPr lang="en-US" sz="2000" noProof="1"/>
          </a:p>
        </p:txBody>
      </p:sp>
      <p:sp>
        <p:nvSpPr>
          <p:cNvPr id="9" name="st1-band"/>
          <p:cNvSpPr/>
          <p:nvPr/>
        </p:nvSpPr>
        <p:spPr>
          <a:xfrm>
            <a:off x="508000" y="1600200"/>
            <a:ext cx="3454400" cy="431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0" name="st1-head"/>
          <p:cNvSpPr txBox="1"/>
          <p:nvPr/>
        </p:nvSpPr>
        <p:spPr>
          <a:xfrm>
            <a:off x="711200" y="1676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Setup（设置）</a:t>
            </a:r>
            <a:endParaRPr lang="en-US" sz="1600" noProof="1"/>
          </a:p>
        </p:txBody>
      </p:sp>
      <p:sp>
        <p:nvSpPr>
          <p:cNvPr id="11" name="st1-b1"/>
          <p:cNvSpPr txBox="1"/>
          <p:nvPr/>
        </p:nvSpPr>
        <p:spPr>
          <a:xfrm>
            <a:off x="711200" y="22352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输入：谓词 F（R1CS/QAP 约束系统）</a:t>
            </a:r>
            <a:endParaRPr lang="en-US" sz="16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t1-b2"/>
              <p:cNvSpPr txBox="1"/>
              <p:nvPr/>
            </p:nvSpPr>
            <p:spPr>
              <a:xfrm>
                <a:off x="711200" y="2895600"/>
                <a:ext cx="30480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输出：证明密钥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pk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 与验证密钥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vk</m:t>
                    </m:r>
                  </m:oMath>
                </a14:m>
                <a:endParaRPr lang="en-US" sz="1600" noProof="1"/>
              </a:p>
            </p:txBody>
          </p:sp>
        </mc:Choice>
        <mc:Fallback>
          <p:sp>
            <p:nvSpPr>
              <p:cNvPr id="12" name="st1-b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2895600"/>
                <a:ext cx="3048000" cy="558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t1-note"/>
              <p:cNvSpPr txBox="1"/>
              <p:nvPr/>
            </p:nvSpPr>
            <p:spPr>
              <a:xfrm>
                <a:off x="711200" y="3581400"/>
                <a:ext cx="3048000" cy="40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Setup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F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;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ρ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)→(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pk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vk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sz="1000" noProof="1">
                    <a:solidFill>
                      <a:srgbClr val="0F2942"/>
                    </a:solidFill>
                    <a:latin typeface="Arial" panose="020B0604020202020204"/>
                    <a:ea typeface="Noto Sans SC" panose="020B0200000000000000" charset="-122"/>
                  </a:rPr>
                  <a:t>每个固定的 F 只运行一次，中间涉及保密的随机数</a:t>
                </a:r>
                <a:endParaRPr lang="en-US" sz="1000" noProof="1"/>
              </a:p>
            </p:txBody>
          </p:sp>
        </mc:Choice>
        <mc:Fallback>
          <p:sp>
            <p:nvSpPr>
              <p:cNvPr id="13" name="st1-no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3581400"/>
                <a:ext cx="3048000" cy="4064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2-band"/>
          <p:cNvSpPr/>
          <p:nvPr/>
        </p:nvSpPr>
        <p:spPr>
          <a:xfrm>
            <a:off x="4470400" y="1600200"/>
            <a:ext cx="3454400" cy="431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5" name="st2-head"/>
          <p:cNvSpPr txBox="1"/>
          <p:nvPr/>
        </p:nvSpPr>
        <p:spPr>
          <a:xfrm>
            <a:off x="4673600" y="1676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Prover（证明者）</a:t>
            </a:r>
            <a:endParaRPr lang="en-US" sz="16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st2-b1"/>
              <p:cNvSpPr txBox="1"/>
              <p:nvPr/>
            </p:nvSpPr>
            <p:spPr>
              <a:xfrm>
                <a:off x="4673600" y="2235200"/>
                <a:ext cx="30480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输入：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pk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、公开输入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x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、秘密</a:t>
                </a:r>
                <a14:m>
                  <m:oMath xmlns:m="http://schemas.openxmlformats.org/officeDocument/2006/math">
                    <m: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 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w</m:t>
                    </m:r>
                  </m:oMath>
                </a14:m>
                <a:endParaRPr lang="en-US" sz="1600" noProof="1"/>
              </a:p>
            </p:txBody>
          </p:sp>
        </mc:Choice>
        <mc:Fallback>
          <p:sp>
            <p:nvSpPr>
              <p:cNvPr id="16" name="st2-b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2235200"/>
                <a:ext cx="3048000" cy="5588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t2-b2"/>
              <p:cNvSpPr txBox="1"/>
              <p:nvPr/>
            </p:nvSpPr>
            <p:spPr>
              <a:xfrm>
                <a:off x="4673600" y="2895600"/>
                <a:ext cx="3048000" cy="5568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输出：常数大小的证明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π</m:t>
                    </m:r>
                  </m:oMath>
                </a14:m>
                <a:endParaRPr lang="en-US" sz="1600" noProof="1"/>
              </a:p>
            </p:txBody>
          </p:sp>
        </mc:Choice>
        <mc:Fallback>
          <p:sp>
            <p:nvSpPr>
              <p:cNvPr id="17" name="st2-b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2895600"/>
                <a:ext cx="3048000" cy="5568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st2-note"/>
              <p:cNvSpPr txBox="1"/>
              <p:nvPr/>
            </p:nvSpPr>
            <p:spPr>
              <a:xfrm>
                <a:off x="4673600" y="3581400"/>
                <a:ext cx="3048000" cy="40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π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Prove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pk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x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w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sz="1000" noProof="1">
                    <a:solidFill>
                      <a:srgbClr val="0F2942"/>
                    </a:solidFill>
                    <a:latin typeface="Arial" panose="020B0604020202020204"/>
                    <a:ea typeface="Noto Sans SC" panose="020B0200000000000000" charset="-122"/>
                  </a:rPr>
                  <a:t>群标量乘与多项式运算，开销最重的部分</a:t>
                </a:r>
                <a:endParaRPr lang="en-US" sz="1000" noProof="1"/>
              </a:p>
            </p:txBody>
          </p:sp>
        </mc:Choice>
        <mc:Fallback>
          <p:sp>
            <p:nvSpPr>
              <p:cNvPr id="18" name="st2-no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3581400"/>
                <a:ext cx="3048000" cy="4064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t3-band"/>
          <p:cNvSpPr/>
          <p:nvPr/>
        </p:nvSpPr>
        <p:spPr>
          <a:xfrm>
            <a:off x="8432800" y="1600200"/>
            <a:ext cx="3454400" cy="431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20" name="st3-head"/>
          <p:cNvSpPr txBox="1"/>
          <p:nvPr/>
        </p:nvSpPr>
        <p:spPr>
          <a:xfrm>
            <a:off x="8636000" y="1676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Verifier（验证者）</a:t>
            </a:r>
            <a:endParaRPr lang="en-US" sz="16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st3-b1"/>
              <p:cNvSpPr txBox="1"/>
              <p:nvPr/>
            </p:nvSpPr>
            <p:spPr>
              <a:xfrm>
                <a:off x="8636000" y="2235200"/>
                <a:ext cx="30480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输入：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vk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、公开输入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x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、证明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π</m:t>
                    </m:r>
                  </m:oMath>
                </a14:m>
                <a:endParaRPr lang="en-US" sz="1600" noProof="1"/>
              </a:p>
            </p:txBody>
          </p:sp>
        </mc:Choice>
        <mc:Fallback>
          <p:sp>
            <p:nvSpPr>
              <p:cNvPr id="21" name="st3-b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2235200"/>
                <a:ext cx="3048000" cy="5588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t3-b2"/>
          <p:cNvSpPr txBox="1"/>
          <p:nvPr/>
        </p:nvSpPr>
        <p:spPr>
          <a:xfrm>
            <a:off x="8636000" y="28956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输出：accept 或 reject</a:t>
            </a:r>
            <a:endParaRPr lang="en-US" sz="16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st3-note"/>
              <p:cNvSpPr txBox="1"/>
              <p:nvPr/>
            </p:nvSpPr>
            <p:spPr>
              <a:xfrm>
                <a:off x="8636000" y="3581400"/>
                <a:ext cx="3048000" cy="40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Verify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vk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x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π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)→{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accept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reject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en-US" sz="1000" noProof="1">
                    <a:solidFill>
                      <a:srgbClr val="0F2942"/>
                    </a:solidFill>
                    <a:latin typeface="Arial" panose="020B0604020202020204"/>
                    <a:ea typeface="Noto Sans SC" panose="020B0200000000000000" charset="-122"/>
                  </a:rPr>
                  <a:t>仅少量配对运算，与电路规模无关</a:t>
                </a:r>
                <a:endParaRPr lang="en-US" sz="1000" noProof="1"/>
              </a:p>
            </p:txBody>
          </p:sp>
        </mc:Choice>
        <mc:Fallback>
          <p:sp>
            <p:nvSpPr>
              <p:cNvPr id="23" name="st3-no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3581400"/>
                <a:ext cx="3048000" cy="40640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t-arrow-1"/>
          <p:cNvSpPr/>
          <p:nvPr/>
        </p:nvSpPr>
        <p:spPr>
          <a:xfrm>
            <a:off x="3987800" y="2768600"/>
            <a:ext cx="457200" cy="127000"/>
          </a:xfrm>
          <a:custGeom>
            <a:avLst/>
            <a:gdLst/>
            <a:ahLst/>
            <a:cxnLst/>
            <a:rect l="l" t="t" r="r" b="b"/>
            <a:pathLst>
              <a:path w="36" h="10">
                <a:moveTo>
                  <a:pt x="0" y="5"/>
                </a:moveTo>
                <a:lnTo>
                  <a:pt x="36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sp>
        <p:nvSpPr>
          <p:cNvPr id="25" name="st-arrow-2"/>
          <p:cNvSpPr/>
          <p:nvPr/>
        </p:nvSpPr>
        <p:spPr>
          <a:xfrm>
            <a:off x="7950200" y="2768600"/>
            <a:ext cx="457200" cy="127000"/>
          </a:xfrm>
          <a:custGeom>
            <a:avLst/>
            <a:gdLst/>
            <a:ahLst/>
            <a:cxnLst/>
            <a:rect l="l" t="t" r="r" b="b"/>
            <a:pathLst>
              <a:path w="36" h="10">
                <a:moveTo>
                  <a:pt x="0" y="5"/>
                </a:moveTo>
                <a:lnTo>
                  <a:pt x="36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sp>
        <p:nvSpPr>
          <p:cNvPr id="26" name="st-m1"/>
          <p:cNvSpPr txBox="1"/>
          <p:nvPr/>
        </p:nvSpPr>
        <p:spPr>
          <a:xfrm>
            <a:off x="812800" y="44831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128 B</a:t>
            </a:r>
            <a:endParaRPr lang="en-US" sz="2000" noProof="1"/>
          </a:p>
        </p:txBody>
      </p:sp>
      <p:sp>
        <p:nvSpPr>
          <p:cNvPr id="27" name="st-m1l"/>
          <p:cNvSpPr txBox="1"/>
          <p:nvPr/>
        </p:nvSpPr>
        <p:spPr>
          <a:xfrm>
            <a:off x="2413000" y="4508500"/>
            <a:ext cx="1168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proof 恒定</a:t>
            </a:r>
            <a:endParaRPr lang="en-US" sz="1000" noProof="1"/>
          </a:p>
        </p:txBody>
      </p:sp>
      <p:sp>
        <p:nvSpPr>
          <p:cNvPr id="28" name="st-m2"/>
          <p:cNvSpPr txBox="1"/>
          <p:nvPr/>
        </p:nvSpPr>
        <p:spPr>
          <a:xfrm>
            <a:off x="4592320" y="44831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≈2 ms + 0.5 μs·k</a:t>
            </a:r>
            <a:endParaRPr lang="en-US" sz="2000" noProof="1"/>
          </a:p>
        </p:txBody>
      </p:sp>
      <p:sp>
        <p:nvSpPr>
          <p:cNvPr id="29" name="st-m2l"/>
          <p:cNvSpPr txBox="1"/>
          <p:nvPr/>
        </p:nvSpPr>
        <p:spPr>
          <a:xfrm>
            <a:off x="7015480" y="4508500"/>
            <a:ext cx="1168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Verifier 验证</a:t>
            </a:r>
            <a:endParaRPr lang="en-US" sz="1000" noProof="1"/>
          </a:p>
        </p:txBody>
      </p:sp>
      <p:sp>
        <p:nvSpPr>
          <p:cNvPr id="30" name="st-m3"/>
          <p:cNvSpPr txBox="1"/>
          <p:nvPr/>
        </p:nvSpPr>
        <p:spPr>
          <a:xfrm>
            <a:off x="8432800" y="44831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随规模增长</a:t>
            </a:r>
            <a:endParaRPr lang="en-US" sz="2000" noProof="1"/>
          </a:p>
        </p:txBody>
      </p:sp>
      <p:sp>
        <p:nvSpPr>
          <p:cNvPr id="31" name="st-m3l"/>
          <p:cNvSpPr txBox="1"/>
          <p:nvPr/>
        </p:nvSpPr>
        <p:spPr>
          <a:xfrm>
            <a:off x="10144125" y="45085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Setup / Prover</a:t>
            </a:r>
            <a:endParaRPr lang="en-US" sz="1000" noProof="1"/>
          </a:p>
        </p:txBody>
      </p:sp>
      <p:sp>
        <p:nvSpPr>
          <p:cNvPr id="32" name="st-note"/>
          <p:cNvSpPr txBox="1"/>
          <p:nvPr/>
        </p:nvSpPr>
        <p:spPr>
          <a:xfrm>
            <a:off x="508000" y="493776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Verifier 的开销只取决于公开输入 x 的规模 k，而 Setup 与 Prover 正比于电路规模。</a:t>
            </a:r>
            <a:endParaRPr lang="en-US" sz="1600" noProof="1"/>
          </a:p>
        </p:txBody>
      </p:sp>
      <p:pic>
        <p:nvPicPr>
          <p:cNvPr id="33" name="图片 32" descr="exec-d0ef3abc-52b5-49de-9fc4-e12c9c9cef08"/>
          <p:cNvPicPr>
            <a:picLocks noChangeAspect="1"/>
          </p:cNvPicPr>
          <p:nvPr/>
        </p:nvPicPr>
        <p:blipFill>
          <a:blip r:embed="rId8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11140" y="4655820"/>
            <a:ext cx="6372860" cy="22752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真正的瓶颈不是验证，而是单机内存装不下证明过程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7874000" y="228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9906000" y="6383020"/>
            <a:ext cx="1783080" cy="3695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4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4516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b4-lead"/>
          <p:cNvSpPr txBox="1"/>
          <p:nvPr/>
        </p:nvSpPr>
        <p:spPr>
          <a:xfrm>
            <a:off x="508000" y="10668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证明越复杂，单机内存越先成为硬边界</a:t>
            </a:r>
            <a:endParaRPr lang="en-US" sz="2000" noProof="1"/>
          </a:p>
        </p:txBody>
      </p:sp>
      <p:sp>
        <p:nvSpPr>
          <p:cNvPr id="9" name="cs1-band"/>
          <p:cNvSpPr/>
          <p:nvPr/>
        </p:nvSpPr>
        <p:spPr>
          <a:xfrm>
            <a:off x="508000" y="1422400"/>
            <a:ext cx="43180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cs1-text"/>
          <p:cNvSpPr txBox="1"/>
          <p:nvPr/>
        </p:nvSpPr>
        <p:spPr>
          <a:xfrm>
            <a:off x="711200" y="1524000"/>
            <a:ext cx="3962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现实协议需要数千万乃至数十亿门电路</a:t>
            </a:r>
            <a:endParaRPr lang="en-US" sz="1600" noProof="1"/>
          </a:p>
        </p:txBody>
      </p:sp>
      <p:sp>
        <p:nvSpPr>
          <p:cNvPr id="11" name="cs2-band"/>
          <p:cNvSpPr/>
          <p:nvPr/>
        </p:nvSpPr>
        <p:spPr>
          <a:xfrm>
            <a:off x="1168400" y="2108200"/>
            <a:ext cx="43180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cs2-text"/>
          <p:cNvSpPr txBox="1"/>
          <p:nvPr/>
        </p:nvSpPr>
        <p:spPr>
          <a:xfrm>
            <a:off x="1371600" y="2209800"/>
            <a:ext cx="3962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门数暴涨，多项式与基向量体积膨胀</a:t>
            </a:r>
            <a:endParaRPr lang="en-US" sz="1600" noProof="1"/>
          </a:p>
        </p:txBody>
      </p:sp>
      <p:sp>
        <p:nvSpPr>
          <p:cNvPr id="13" name="cs3-band"/>
          <p:cNvSpPr/>
          <p:nvPr/>
        </p:nvSpPr>
        <p:spPr>
          <a:xfrm>
            <a:off x="1828800" y="2794000"/>
            <a:ext cx="43180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cs3-text"/>
          <p:cNvSpPr txBox="1"/>
          <p:nvPr/>
        </p:nvSpPr>
        <p:spPr>
          <a:xfrm>
            <a:off x="2032000" y="2895600"/>
            <a:ext cx="3962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所有中间量必须常驻内存，无法换出</a:t>
            </a:r>
            <a:endParaRPr lang="en-US" sz="1600" noProof="1"/>
          </a:p>
        </p:txBody>
      </p:sp>
      <p:sp>
        <p:nvSpPr>
          <p:cNvPr id="15" name="cs4-band"/>
          <p:cNvSpPr/>
          <p:nvPr/>
        </p:nvSpPr>
        <p:spPr>
          <a:xfrm>
            <a:off x="2489200" y="3479800"/>
            <a:ext cx="4318000" cy="7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cs4-warn"/>
          <p:cNvSpPr/>
          <p:nvPr/>
        </p:nvSpPr>
        <p:spPr>
          <a:xfrm>
            <a:off x="2489200" y="3479800"/>
            <a:ext cx="38100" cy="7366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cs4-text"/>
          <p:cNvSpPr txBox="1"/>
          <p:nvPr/>
        </p:nvSpPr>
        <p:spPr>
          <a:xfrm>
            <a:off x="2692400" y="358140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约 1000 万–2000 万 gates 即触发 OOM</a:t>
            </a:r>
            <a:endParaRPr lang="en-US" sz="1600" noProof="1"/>
          </a:p>
        </p:txBody>
      </p:sp>
      <p:sp>
        <p:nvSpPr>
          <p:cNvPr id="18" name="cs-link-1"/>
          <p:cNvSpPr/>
          <p:nvPr/>
        </p:nvSpPr>
        <p:spPr>
          <a:xfrm>
            <a:off x="1092200" y="1930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0" y="0"/>
                </a:moveTo>
                <a:lnTo>
                  <a:pt x="14" y="14"/>
                </a:lnTo>
              </a:path>
            </a:pathLst>
          </a:custGeom>
          <a:noFill/>
          <a:ln w="15875">
            <a:solidFill>
              <a:srgbClr val="0F2942"/>
            </a:solidFill>
            <a:tailEnd type="arrow"/>
          </a:ln>
        </p:spPr>
      </p:sp>
      <p:sp>
        <p:nvSpPr>
          <p:cNvPr id="19" name="cs-link-2"/>
          <p:cNvSpPr/>
          <p:nvPr/>
        </p:nvSpPr>
        <p:spPr>
          <a:xfrm>
            <a:off x="1752600" y="2616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0" y="0"/>
                </a:moveTo>
                <a:lnTo>
                  <a:pt x="14" y="14"/>
                </a:lnTo>
              </a:path>
            </a:pathLst>
          </a:custGeom>
          <a:noFill/>
          <a:ln w="15875">
            <a:solidFill>
              <a:srgbClr val="0F2942"/>
            </a:solidFill>
            <a:tailEnd type="arrow"/>
          </a:ln>
        </p:spPr>
      </p:sp>
      <p:sp>
        <p:nvSpPr>
          <p:cNvPr id="20" name="cs-link-3"/>
          <p:cNvSpPr/>
          <p:nvPr/>
        </p:nvSpPr>
        <p:spPr>
          <a:xfrm>
            <a:off x="2413000" y="3302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0" y="0"/>
                </a:moveTo>
                <a:lnTo>
                  <a:pt x="14" y="14"/>
                </a:lnTo>
              </a:path>
            </a:pathLst>
          </a:custGeom>
          <a:noFill/>
          <a:ln w="15875">
            <a:solidFill>
              <a:srgbClr val="0F2942"/>
            </a:solidFill>
            <a:tailEnd type="arrow"/>
          </a:ln>
        </p:spPr>
      </p:sp>
      <p:sp>
        <p:nvSpPr>
          <p:cNvPr id="21" name="f1-num"/>
          <p:cNvSpPr txBox="1"/>
          <p:nvPr/>
        </p:nvSpPr>
        <p:spPr>
          <a:xfrm>
            <a:off x="7620000" y="14224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2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超过 1 ms / gate</a:t>
            </a:r>
            <a:endParaRPr lang="en-US" sz="3200" noProof="1"/>
          </a:p>
        </p:txBody>
      </p:sp>
      <p:sp>
        <p:nvSpPr>
          <p:cNvPr id="22" name="f1-cap"/>
          <p:cNvSpPr txBox="1"/>
          <p:nvPr/>
        </p:nvSpPr>
        <p:spPr>
          <a:xfrm>
            <a:off x="7620000" y="20066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此前单机 zkSNARK 系统的 Prover 单位成本</a:t>
            </a:r>
            <a:endParaRPr lang="en-US" sz="1000" noProof="1"/>
          </a:p>
        </p:txBody>
      </p:sp>
      <p:sp>
        <p:nvSpPr>
          <p:cNvPr id="23" name="f2-num"/>
          <p:cNvSpPr txBox="1"/>
          <p:nvPr/>
        </p:nvSpPr>
        <p:spPr>
          <a:xfrm>
            <a:off x="7620000" y="26162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2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25,000+ gates</a:t>
            </a:r>
            <a:endParaRPr lang="en-US" sz="3200" noProof="1"/>
          </a:p>
        </p:txBody>
      </p:sp>
      <p:sp>
        <p:nvSpPr>
          <p:cNvPr id="24" name="f2-cap"/>
          <p:cNvSpPr txBox="1"/>
          <p:nvPr/>
        </p:nvSpPr>
        <p:spPr>
          <a:xfrm>
            <a:off x="7620000" y="32004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单次 SHA-256 compression 的电路规模</a:t>
            </a:r>
            <a:endParaRPr lang="en-US" sz="1000" noProof="1"/>
          </a:p>
        </p:txBody>
      </p:sp>
      <p:sp>
        <p:nvSpPr>
          <p:cNvPr id="25" name="f3-num"/>
          <p:cNvSpPr txBox="1"/>
          <p:nvPr/>
        </p:nvSpPr>
        <p:spPr>
          <a:xfrm>
            <a:off x="7620000" y="38100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2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约 400 次 / 13 kB</a:t>
            </a:r>
            <a:endParaRPr lang="en-US" sz="3200" noProof="1"/>
          </a:p>
        </p:txBody>
      </p:sp>
      <p:sp>
        <p:nvSpPr>
          <p:cNvPr id="26" name="f3-cap"/>
          <p:cNvSpPr txBox="1"/>
          <p:nvPr/>
        </p:nvSpPr>
        <p:spPr>
          <a:xfrm>
            <a:off x="7620000" y="43942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1000 万门电路能容纳的压缩次数，及可哈希的文件大小</a:t>
            </a:r>
            <a:endParaRPr lang="en-US" sz="1000" noProof="1"/>
          </a:p>
        </p:txBody>
      </p:sp>
      <p:sp>
        <p:nvSpPr>
          <p:cNvPr id="27" name="b4-warn-band"/>
          <p:cNvSpPr/>
          <p:nvPr/>
        </p:nvSpPr>
        <p:spPr>
          <a:xfrm>
            <a:off x="508000" y="4927600"/>
            <a:ext cx="11176000" cy="116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" name="b4-warn-bar"/>
          <p:cNvSpPr/>
          <p:nvPr/>
        </p:nvSpPr>
        <p:spPr>
          <a:xfrm>
            <a:off x="508000" y="4927600"/>
            <a:ext cx="38100" cy="11684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9" name="b4-warn-title"/>
          <p:cNvSpPr txBox="1"/>
          <p:nvPr/>
        </p:nvSpPr>
        <p:spPr>
          <a:xfrm>
            <a:off x="812800" y="5080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先撞墙的是内存，不是时间</a:t>
            </a:r>
            <a:endParaRPr lang="en-US" sz="1600" noProof="1"/>
          </a:p>
        </p:txBody>
      </p:sp>
      <p:sp>
        <p:nvSpPr>
          <p:cNvPr id="30" name="b4-warn-text"/>
          <p:cNvSpPr txBox="1"/>
          <p:nvPr/>
        </p:nvSpPr>
        <p:spPr>
          <a:xfrm>
            <a:off x="812800" y="5461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多项式与拉格朗日基向量必须全部常驻内存；计算规模一上去，单机物理内存就是不可逾越的硬边界。</a:t>
            </a:r>
            <a:endParaRPr lang="en-US" sz="1600" noProof="1">
              <a:solidFill>
                <a:srgbClr val="1A202C"/>
              </a:solidFill>
              <a:latin typeface="Arial" panose="020B0604020202020204"/>
              <a:ea typeface="Noto Sans SC" panose="020B0200000000000000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因此 </a:t>
            </a:r>
            <a:r>
              <a:rPr lang="en-US" altLang="zh-CN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DIZK </a:t>
            </a:r>
            <a:r>
              <a:rPr lang="zh-CN" alt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选择将 </a:t>
            </a:r>
            <a:r>
              <a:rPr lang="en-US" altLang="zh-CN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Setup </a:t>
            </a:r>
            <a:r>
              <a:rPr lang="zh-CN" alt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与 </a:t>
            </a:r>
            <a:r>
              <a:rPr lang="en-US" altLang="zh-CN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Prover </a:t>
            </a:r>
            <a:r>
              <a:rPr lang="zh-CN" alt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过程分布到计算集群</a:t>
            </a:r>
            <a:endParaRPr lang="zh-CN" altLang="en-US" sz="1600" noProof="1">
              <a:solidFill>
                <a:srgbClr val="1A202C"/>
              </a:solidFill>
              <a:latin typeface="Arial" panose="020B0604020202020204"/>
              <a:ea typeface="Noto Sans SC" panose="020B0200000000000000" charset="-122"/>
            </a:endParaRPr>
          </a:p>
        </p:txBody>
      </p:sp>
      <p:sp>
        <p:nvSpPr>
          <p:cNvPr id="31" name="b4-src"/>
          <p:cNvSpPr txBox="1"/>
          <p:nvPr/>
        </p:nvSpPr>
        <p:spPr>
          <a:xfrm>
            <a:off x="508000" y="622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数据来源：DIZK §1 与 §14（10–20 million gates、1 ms per gate、SHA-256 compression 超过 25,000 gates、13 kB）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DIZK 的研究问题：集群能否生成超大电路的 zkSNARK？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｜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5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26505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q5-lead"/>
          <p:cNvSpPr txBox="1"/>
          <p:nvPr/>
        </p:nvSpPr>
        <p:spPr>
          <a:xfrm>
            <a:off x="508000" y="10287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如何</a:t>
            </a: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把 zkSNARK 的证明生成，从一台机器搬到一整个集群？</a:t>
            </a:r>
            <a:endParaRPr lang="en-US" sz="2000" noProof="1"/>
          </a:p>
        </p:txBody>
      </p:sp>
      <p:sp>
        <p:nvSpPr>
          <p:cNvPr id="9" name="q5-lh"/>
          <p:cNvSpPr txBox="1"/>
          <p:nvPr/>
        </p:nvSpPr>
        <p:spPr>
          <a:xfrm>
            <a:off x="508000" y="14224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核心指标（论文报告值）</a:t>
            </a:r>
            <a:endParaRPr lang="en-US" sz="1600" noProof="1"/>
          </a:p>
        </p:txBody>
      </p:sp>
      <p:sp>
        <p:nvSpPr>
          <p:cNvPr id="10" name="q5-n1"/>
          <p:cNvSpPr txBox="1"/>
          <p:nvPr/>
        </p:nvSpPr>
        <p:spPr>
          <a:xfrm>
            <a:off x="508000" y="1879600"/>
            <a:ext cx="2609215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超过 10 亿</a:t>
            </a:r>
            <a:endParaRPr lang="en-US" sz="3400" noProof="1"/>
          </a:p>
        </p:txBody>
      </p:sp>
      <p:sp>
        <p:nvSpPr>
          <p:cNvPr id="11" name="q5-n1c"/>
          <p:cNvSpPr txBox="1"/>
          <p:nvPr/>
        </p:nvSpPr>
        <p:spPr>
          <a:xfrm>
            <a:off x="508000" y="2514600"/>
            <a:ext cx="214122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可支持的约束规模（constraints）</a:t>
            </a:r>
            <a:endParaRPr lang="en-US" sz="1000" noProof="1"/>
          </a:p>
        </p:txBody>
      </p:sp>
      <p:sp>
        <p:nvSpPr>
          <p:cNvPr id="12" name="q5-n2"/>
          <p:cNvSpPr txBox="1"/>
          <p:nvPr/>
        </p:nvSpPr>
        <p:spPr>
          <a:xfrm>
            <a:off x="2649220" y="1894840"/>
            <a:ext cx="3245485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约 10 μs / gate</a:t>
            </a:r>
            <a:endParaRPr lang="en-US" sz="3400" noProof="1"/>
          </a:p>
        </p:txBody>
      </p:sp>
      <p:sp>
        <p:nvSpPr>
          <p:cNvPr id="13" name="q5-n2c"/>
          <p:cNvSpPr txBox="1"/>
          <p:nvPr/>
        </p:nvSpPr>
        <p:spPr>
          <a:xfrm>
            <a:off x="2649220" y="2519680"/>
            <a:ext cx="1656715" cy="19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Prover 的单位门摊销成本</a:t>
            </a:r>
            <a:endParaRPr lang="en-US" sz="1000" noProof="1"/>
          </a:p>
        </p:txBody>
      </p:sp>
      <p:sp>
        <p:nvSpPr>
          <p:cNvPr id="14" name="q5-rh"/>
          <p:cNvSpPr txBox="1"/>
          <p:nvPr/>
        </p:nvSpPr>
        <p:spPr>
          <a:xfrm>
            <a:off x="5842000" y="1422400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三项系统贡献</a:t>
            </a:r>
            <a:endParaRPr lang="en-US" sz="1600" noProof="1"/>
          </a:p>
        </p:txBody>
      </p:sp>
      <p:sp>
        <p:nvSpPr>
          <p:cNvPr id="15" name="q5-c1"/>
          <p:cNvSpPr txBox="1"/>
          <p:nvPr/>
        </p:nvSpPr>
        <p:spPr>
          <a:xfrm>
            <a:off x="5842000" y="1803400"/>
            <a:ext cx="558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① 把 Groth 2016 zkSNARK 的 Setup 与 Prover </a:t>
            </a:r>
            <a:r>
              <a:rPr lang="zh-CN" alt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通过</a:t>
            </a:r>
            <a:r>
              <a:rPr lang="en-US" altLang="zh-CN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 spark </a:t>
            </a: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改造成分布式任务，Verifier 保持不变</a:t>
            </a:r>
            <a:endParaRPr lang="en-US" sz="1600" noProof="1"/>
          </a:p>
        </p:txBody>
      </p:sp>
      <p:sp>
        <p:nvSpPr>
          <p:cNvPr id="16" name="q5-c2"/>
          <p:cNvSpPr txBox="1"/>
          <p:nvPr/>
        </p:nvSpPr>
        <p:spPr>
          <a:xfrm>
            <a:off x="5842000" y="3027045"/>
            <a:ext cx="558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② 重构多项式运算、多标量乘与 QAP 归约的分布式算子，削减 shuffle 与 straggler</a:t>
            </a:r>
            <a:endParaRPr lang="en-US" sz="1600" noProof="1"/>
          </a:p>
        </p:txBody>
      </p:sp>
      <p:sp>
        <p:nvSpPr>
          <p:cNvPr id="17" name="q5-c3"/>
          <p:cNvSpPr txBox="1"/>
          <p:nvPr/>
        </p:nvSpPr>
        <p:spPr>
          <a:xfrm>
            <a:off x="5842000" y="4320540"/>
            <a:ext cx="558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③ 在 Apache Spark 上以约 10K 行 Java 实现，扩展到十亿级约束并</a:t>
            </a:r>
            <a:r>
              <a:rPr lang="zh-CN" alt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在</a:t>
            </a:r>
            <a:r>
              <a:rPr lang="en-US" sz="1600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  <a:sym typeface="+mn-ea"/>
              </a:rPr>
              <a:t>两个应用</a:t>
            </a:r>
            <a:r>
              <a:rPr lang="zh-CN" altLang="en-US" sz="1600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  <a:sym typeface="+mn-ea"/>
              </a:rPr>
              <a:t>进行</a:t>
            </a: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验证</a:t>
            </a:r>
            <a:endParaRPr lang="en-US" sz="1600" noProof="1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0715" y="2707640"/>
            <a:ext cx="4317365" cy="33934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从 R1CS 到 QAP：DIZK 分布式化的是证明生成的数据通路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6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6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DIZK 不改变配对理论，而是把庞大的矩阵归约与多项式运算拆成集群上的 RDD 算子</a:t>
            </a:r>
            <a:endParaRPr lang="en-US" sz="2000" noProof="1"/>
          </a:p>
        </p:txBody>
      </p:sp>
      <p:sp>
        <p:nvSpPr>
          <p:cNvPr id="9" name="p6-chip-1"/>
          <p:cNvSpPr/>
          <p:nvPr/>
        </p:nvSpPr>
        <p:spPr>
          <a:xfrm>
            <a:off x="508000" y="1447800"/>
            <a:ext cx="1905000" cy="6096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0" name="p6-chip-1-t"/>
          <p:cNvSpPr txBox="1"/>
          <p:nvPr/>
        </p:nvSpPr>
        <p:spPr>
          <a:xfrm>
            <a:off x="508000" y="1600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① 计算 F</a:t>
            </a:r>
            <a:endParaRPr lang="en-US" sz="1600" noProof="1"/>
          </a:p>
        </p:txBody>
      </p:sp>
      <p:sp>
        <p:nvSpPr>
          <p:cNvPr id="11" name="p6-band-1"/>
          <p:cNvSpPr/>
          <p:nvPr/>
        </p:nvSpPr>
        <p:spPr>
          <a:xfrm>
            <a:off x="2616200" y="1447800"/>
            <a:ext cx="90678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p6-text-1"/>
          <p:cNvSpPr txBox="1"/>
          <p:nvPr/>
        </p:nvSpPr>
        <p:spPr>
          <a:xfrm>
            <a:off x="2870200" y="1485900"/>
            <a:ext cx="8559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程序或计算 F 编译为 R1CS（Rank-1 Constraint System，一阶约束系统）：N 个变量、M 个约束，形成 a、b、c 三个稀疏矩阵</a:t>
            </a:r>
            <a:endParaRPr lang="en-US" sz="1600" noProof="1"/>
          </a:p>
        </p:txBody>
      </p:sp>
      <p:sp>
        <p:nvSpPr>
          <p:cNvPr id="13" name="p6-chip-2"/>
          <p:cNvSpPr/>
          <p:nvPr/>
        </p:nvSpPr>
        <p:spPr>
          <a:xfrm>
            <a:off x="508000" y="2468880"/>
            <a:ext cx="1905000" cy="6096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4" name="p6-chip-2-t"/>
          <p:cNvSpPr txBox="1"/>
          <p:nvPr/>
        </p:nvSpPr>
        <p:spPr>
          <a:xfrm>
            <a:off x="508000" y="262128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② 归约为 QAP</a:t>
            </a:r>
            <a:endParaRPr lang="en-US" sz="1600" noProof="1"/>
          </a:p>
        </p:txBody>
      </p:sp>
      <p:sp>
        <p:nvSpPr>
          <p:cNvPr id="15" name="p6-band-2"/>
          <p:cNvSpPr/>
          <p:nvPr/>
        </p:nvSpPr>
        <p:spPr>
          <a:xfrm>
            <a:off x="2616200" y="2468880"/>
            <a:ext cx="90678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p6-text-2"/>
          <p:cNvSpPr txBox="1"/>
          <p:nvPr/>
        </p:nvSpPr>
        <p:spPr>
          <a:xfrm>
            <a:off x="2870200" y="2506980"/>
            <a:ext cx="8559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通过拉格朗日插值把 M 个约束捆绑成 QAP（Quadratic Arithmetic Program，二次算术程序）；R1CS 到 QAP 的两步归约正是 DIZK 分布式化的对象</a:t>
            </a:r>
            <a:endParaRPr lang="zh-CN" altLang="en-US" sz="1600" noProof="1">
              <a:solidFill>
                <a:srgbClr val="1A202C"/>
              </a:solidFill>
              <a:latin typeface="Arial" panose="020B0604020202020204"/>
              <a:ea typeface="Noto Sans SC" panose="020B0200000000000000" charset="-122"/>
            </a:endParaRPr>
          </a:p>
        </p:txBody>
      </p:sp>
      <p:sp>
        <p:nvSpPr>
          <p:cNvPr id="17" name="p6-chip-3"/>
          <p:cNvSpPr/>
          <p:nvPr/>
        </p:nvSpPr>
        <p:spPr>
          <a:xfrm>
            <a:off x="508000" y="3632200"/>
            <a:ext cx="1905000" cy="6096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8" name="p6-chip-3-t"/>
          <p:cNvSpPr txBox="1"/>
          <p:nvPr/>
        </p:nvSpPr>
        <p:spPr>
          <a:xfrm>
            <a:off x="508000" y="3784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③ 证明生成</a:t>
            </a:r>
            <a:endParaRPr lang="en-US" sz="1600" noProof="1"/>
          </a:p>
        </p:txBody>
      </p:sp>
      <p:sp>
        <p:nvSpPr>
          <p:cNvPr id="19" name="p6-band-3"/>
          <p:cNvSpPr/>
          <p:nvPr/>
        </p:nvSpPr>
        <p:spPr>
          <a:xfrm>
            <a:off x="2616200" y="3632200"/>
            <a:ext cx="90678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p6-text-3"/>
          <p:cNvSpPr txBox="1"/>
          <p:nvPr/>
        </p:nvSpPr>
        <p:spPr>
          <a:xfrm>
            <a:off x="2870200" y="3670300"/>
            <a:ext cx="8559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分布式 Setup 产出 pk 与短 vk；分布式 Prover 产出 128 B 的 π；原有单机 Verifier 直接可用</a:t>
            </a:r>
            <a:endParaRPr lang="en-US" sz="1600" noProof="1"/>
          </a:p>
        </p:txBody>
      </p:sp>
      <p:sp>
        <p:nvSpPr>
          <p:cNvPr id="21" name="p6-formula-band"/>
          <p:cNvSpPr/>
          <p:nvPr/>
        </p:nvSpPr>
        <p:spPr>
          <a:xfrm>
            <a:off x="508000" y="4399280"/>
            <a:ext cx="11176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p6-formula"/>
              <p:cNvSpPr txBox="1"/>
              <p:nvPr/>
            </p:nvSpPr>
            <p:spPr>
              <a:xfrm>
                <a:off x="812800" y="4424680"/>
                <a:ext cx="105664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（</m:t>
                      </m:r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𝛴</m:t>
                      </m:r>
                      <m:sSub>
                        <m:sSubPr>
                          <m:ctrlP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𝑗</m:t>
                      </m:r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·</m:t>
                      </m:r>
                      <m:sSub>
                        <m:sSubPr>
                          <m:ctrlP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）·（</m:t>
                      </m:r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𝛴</m:t>
                      </m:r>
                      <m:sSub>
                        <m:sSubPr>
                          <m:ctrlP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𝑗</m:t>
                      </m:r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·</m:t>
                      </m:r>
                      <m:sSub>
                        <m:sSubPr>
                          <m:ctrlP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）=</m:t>
                      </m:r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𝛴</m:t>
                      </m:r>
                      <m:sSub>
                        <m:sSubPr>
                          <m:ctrlP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𝑗</m:t>
                      </m:r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·</m:t>
                      </m:r>
                      <m:sSub>
                        <m:sSubPr>
                          <m:ctrlP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800" b="1" noProof="1">
                  <a:solidFill>
                    <a:srgbClr val="071F65"/>
                  </a:solidFill>
                  <a:latin typeface="Cambria Math" panose="02040503050406030204" charset="0"/>
                  <a:ea typeface="Noto Sans SC" panose="020B0200000000000000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2" name="p6-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424680"/>
                <a:ext cx="10566400" cy="279400"/>
              </a:xfrm>
              <a:prstGeom prst="rect">
                <a:avLst/>
              </a:prstGeom>
              <a:blipFill rotWithShape="1">
                <a:blip r:embed="rId1"/>
                <a:stretch>
                  <a:fillRect t="-2500" b="-29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p6-formula-note"/>
          <p:cNvSpPr txBox="1"/>
          <p:nvPr/>
        </p:nvSpPr>
        <p:spPr>
          <a:xfrm>
            <a:off x="508000" y="506984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直观理解：矩阵的每一列对应一个 constraint，每一行对应一个 variable；论文实验中的 instance size 即约束数 M</a:t>
            </a:r>
            <a:endParaRPr lang="en-US" sz="1000" noProof="1"/>
          </a:p>
        </p:txBody>
      </p:sp>
      <p:sp>
        <p:nvSpPr>
          <p:cNvPr id="24" name="p6-src"/>
          <p:cNvSpPr txBox="1"/>
          <p:nvPr/>
        </p:nvSpPr>
        <p:spPr>
          <a:xfrm>
            <a:off x="508000" y="530352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根据论文 §2.3 与 Fig. 3 重绘（R1CS 与 QAP 定义见 DIZK §2.2–§2.3）</a:t>
            </a:r>
            <a:endParaRPr lang="en-US" sz="1000" noProof="1"/>
          </a:p>
        </p:txBody>
      </p:sp>
      <p:sp>
        <p:nvSpPr>
          <p:cNvPr id="25" name="p6-formula-note"/>
          <p:cNvSpPr txBox="1"/>
          <p:nvPr/>
        </p:nvSpPr>
        <p:spPr>
          <a:xfrm>
            <a:off x="508000" y="558800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1000" noProof="1">
                <a:ea typeface="宋体" panose="02010600030101010101" pitchFamily="2" charset="-122"/>
              </a:rPr>
              <a:t>简单理解可以认为论文中存在</a:t>
            </a:r>
            <a:r>
              <a:rPr lang="en-US" altLang="zh-CN" sz="1000" noProof="1">
                <a:ea typeface="宋体" panose="02010600030101010101" pitchFamily="2" charset="-122"/>
              </a:rPr>
              <a:t>3</a:t>
            </a:r>
            <a:r>
              <a:rPr lang="zh-CN" altLang="en-US" sz="1000" noProof="1">
                <a:ea typeface="宋体" panose="02010600030101010101" pitchFamily="2" charset="-122"/>
              </a:rPr>
              <a:t>处分布式设计分别是：通过拉格朗日基将</a:t>
            </a:r>
            <a:r>
              <a:rPr lang="en-US" altLang="zh-CN" sz="1000" noProof="1">
                <a:ea typeface="宋体" panose="02010600030101010101" pitchFamily="2" charset="-122"/>
              </a:rPr>
              <a:t>R1CS</a:t>
            </a:r>
            <a:r>
              <a:rPr lang="zh-CN" altLang="en-US" sz="1000" noProof="1">
                <a:ea typeface="宋体" panose="02010600030101010101" pitchFamily="2" charset="-122"/>
              </a:rPr>
              <a:t>转化为</a:t>
            </a:r>
            <a:r>
              <a:rPr lang="en-US" altLang="zh-CN" sz="1000" noProof="1">
                <a:ea typeface="宋体" panose="02010600030101010101" pitchFamily="2" charset="-122"/>
              </a:rPr>
              <a:t>QAP</a:t>
            </a:r>
            <a:r>
              <a:rPr lang="zh-CN" altLang="en-US" sz="1000" noProof="1">
                <a:ea typeface="宋体" panose="02010600030101010101" pitchFamily="2" charset="-122"/>
              </a:rPr>
              <a:t>的过程；通过椭圆群运算产生</a:t>
            </a:r>
            <a:r>
              <a:rPr lang="en-US" altLang="zh-CN" sz="1000" noProof="1">
                <a:ea typeface="宋体" panose="02010600030101010101" pitchFamily="2" charset="-122"/>
              </a:rPr>
              <a:t>PK</a:t>
            </a:r>
            <a:r>
              <a:rPr lang="zh-CN" altLang="en-US" sz="1000" noProof="1">
                <a:ea typeface="宋体" panose="02010600030101010101" pitchFamily="2" charset="-122"/>
              </a:rPr>
              <a:t>、</a:t>
            </a:r>
            <a:r>
              <a:rPr lang="en-US" altLang="zh-CN" sz="1000" noProof="1">
                <a:ea typeface="宋体" panose="02010600030101010101" pitchFamily="2" charset="-122"/>
              </a:rPr>
              <a:t>VK</a:t>
            </a:r>
            <a:r>
              <a:rPr lang="zh-CN" altLang="en-US" sz="1000" noProof="1">
                <a:ea typeface="宋体" panose="02010600030101010101" pitchFamily="2" charset="-122"/>
              </a:rPr>
              <a:t>的过程；</a:t>
            </a:r>
            <a:r>
              <a:rPr lang="en-US" altLang="zh-CN" sz="1000" noProof="1">
                <a:ea typeface="宋体" panose="02010600030101010101" pitchFamily="2" charset="-122"/>
              </a:rPr>
              <a:t>Prover</a:t>
            </a:r>
            <a:r>
              <a:rPr lang="zh-CN" altLang="en-US" sz="1000" noProof="1">
                <a:ea typeface="宋体" panose="02010600030101010101" pitchFamily="2" charset="-122"/>
              </a:rPr>
              <a:t>生成</a:t>
            </a:r>
            <a:r>
              <a:rPr lang="en-US" altLang="zh-CN" sz="1000" noProof="1">
                <a:ea typeface="宋体" panose="02010600030101010101" pitchFamily="2" charset="-122"/>
              </a:rPr>
              <a:t>π</a:t>
            </a:r>
            <a:r>
              <a:rPr lang="zh-CN" altLang="en-US" sz="1000" noProof="1">
                <a:ea typeface="宋体" panose="02010600030101010101" pitchFamily="2" charset="-122"/>
              </a:rPr>
              <a:t>的过程。</a:t>
            </a:r>
            <a:endParaRPr lang="zh-CN" altLang="en-US" sz="1000" noProof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系统架构：大对象进 RDD，小证明仍回到普通验证者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7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7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DIZK 汇聚的是集群的 CPU 与内存，验证端的简洁性一点没变</a:t>
            </a:r>
            <a:endParaRPr lang="en-US" sz="2000" noProof="1"/>
          </a:p>
        </p:txBody>
      </p:sp>
      <p:sp>
        <p:nvSpPr>
          <p:cNvPr id="9" name="p7-setup"/>
          <p:cNvSpPr/>
          <p:nvPr/>
        </p:nvSpPr>
        <p:spPr>
          <a:xfrm>
            <a:off x="508000" y="1397000"/>
            <a:ext cx="5334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7-setup-h"/>
          <p:cNvSpPr txBox="1"/>
          <p:nvPr/>
        </p:nvSpPr>
        <p:spPr>
          <a:xfrm>
            <a:off x="711200" y="1473200"/>
            <a:ext cx="492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Setup 分布式通路（集群）</a:t>
            </a:r>
            <a:endParaRPr lang="en-US" sz="1600" noProof="1"/>
          </a:p>
        </p:txBody>
      </p:sp>
      <p:sp>
        <p:nvSpPr>
          <p:cNvPr id="11" name="p7-setup-t"/>
          <p:cNvSpPr txBox="1"/>
          <p:nvPr/>
        </p:nvSpPr>
        <p:spPr>
          <a:xfrm>
            <a:off x="711200" y="1778000"/>
            <a:ext cx="49276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QAP instance reduction → Lag → fixMSM → 分布式 proving key pk 与短 vk</a:t>
            </a:r>
            <a:endParaRPr lang="en-US" sz="1600" noProof="1"/>
          </a:p>
        </p:txBody>
      </p:sp>
      <p:sp>
        <p:nvSpPr>
          <p:cNvPr id="12" name="p7-prover"/>
          <p:cNvSpPr/>
          <p:nvPr/>
        </p:nvSpPr>
        <p:spPr>
          <a:xfrm>
            <a:off x="6350000" y="1397000"/>
            <a:ext cx="5334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7-prover-h"/>
          <p:cNvSpPr txBox="1"/>
          <p:nvPr/>
        </p:nvSpPr>
        <p:spPr>
          <a:xfrm>
            <a:off x="6553200" y="1473200"/>
            <a:ext cx="492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Prover 分布式通路（集群）</a:t>
            </a:r>
            <a:endParaRPr lang="en-US" sz="16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p7-prover-t"/>
              <p:cNvSpPr txBox="1"/>
              <p:nvPr/>
            </p:nvSpPr>
            <p:spPr>
              <a:xfrm>
                <a:off x="6553200" y="1778000"/>
                <a:ext cx="4927600" cy="8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15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QAP witness reduction → FFT → varMSM → 聚合出 128 B 的证明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π</m:t>
                    </m:r>
                  </m:oMath>
                </a14:m>
                <a:endParaRPr lang="en-US" sz="1600" noProof="1"/>
              </a:p>
            </p:txBody>
          </p:sp>
        </mc:Choice>
        <mc:Fallback>
          <p:sp>
            <p:nvSpPr>
              <p:cNvPr id="14" name="p7-prover-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1778000"/>
                <a:ext cx="4927600" cy="863600"/>
              </a:xfrm>
              <a:prstGeom prst="rect">
                <a:avLst/>
              </a:prstGeom>
              <a:blipFill rotWithShape="1">
                <a:blip r:embed="rId1"/>
                <a:stretch>
                  <a:fillRect t="-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7-rdd"/>
          <p:cNvSpPr/>
          <p:nvPr/>
        </p:nvSpPr>
        <p:spPr>
          <a:xfrm>
            <a:off x="508000" y="3022600"/>
            <a:ext cx="111760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p7-rdd-t"/>
          <p:cNvSpPr txBox="1"/>
          <p:nvPr/>
        </p:nvSpPr>
        <p:spPr>
          <a:xfrm>
            <a:off x="812800" y="30988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RDD（Resilient Distributed Dataset，弹性分布式数据集）分片存储：R1CS 矩阵、pk、witness w 全部切分驻留各节点内存；公共输入 x 是小数组，直接广播</a:t>
            </a:r>
            <a:endParaRPr lang="en-US" sz="1600" noProof="1"/>
          </a:p>
        </p:txBody>
      </p:sp>
      <p:sp>
        <p:nvSpPr>
          <p:cNvPr id="17" name="p7-ver"/>
          <p:cNvSpPr/>
          <p:nvPr/>
        </p:nvSpPr>
        <p:spPr>
          <a:xfrm>
            <a:off x="508000" y="3962400"/>
            <a:ext cx="111760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p7-ver-t"/>
              <p:cNvSpPr txBox="1"/>
              <p:nvPr/>
            </p:nvSpPr>
            <p:spPr>
              <a:xfrm>
                <a:off x="812800" y="4038600"/>
                <a:ext cx="10566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15000"/>
                  </a:lnSpc>
                </a:pPr>
                <a:r>
                  <a:rPr lang="en-US" sz="1600" noProof="1">
                    <a:solidFill>
                      <a:srgbClr val="071F65"/>
                    </a:solidFill>
                    <a:latin typeface="Arial" panose="020B0604020202020204"/>
                    <a:ea typeface="Noto Sans SC" panose="020B0200000000000000" charset="-122"/>
                  </a:rPr>
                  <a:t>Verifier 未改动：仍是单机上的少量配对运算，输入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071F65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vk</m:t>
                    </m:r>
                    <m:r>
                      <a:rPr lang="en-US" sz="1600" noProof="1">
                        <a:solidFill>
                          <a:srgbClr val="071F65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、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071F65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x</m:t>
                    </m:r>
                    <m:r>
                      <a:rPr lang="en-US" sz="1600" noProof="1">
                        <a:solidFill>
                          <a:srgbClr val="071F65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、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071F65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π</m:t>
                    </m:r>
                  </m:oMath>
                </a14:m>
                <a:r>
                  <a:rPr lang="en-US" sz="1600" noProof="1">
                    <a:solidFill>
                      <a:srgbClr val="071F65"/>
                    </a:solidFill>
                    <a:latin typeface="Arial" panose="020B0604020202020204"/>
                    <a:ea typeface="Noto Sans SC" panose="020B0200000000000000" charset="-122"/>
                  </a:rPr>
                  <a:t>，输出 accept 或 reject —— 可直接沿用现有实现</a:t>
                </a:r>
                <a:endParaRPr lang="en-US" sz="1600" noProof="1"/>
              </a:p>
            </p:txBody>
          </p:sp>
        </mc:Choice>
        <mc:Fallback>
          <p:sp>
            <p:nvSpPr>
              <p:cNvPr id="18" name="p7-ver-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038600"/>
                <a:ext cx="10566400" cy="5334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 descr="exec-35faef0b-b18f-477e-837c-9b3c696acef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EFE">
                  <a:alpha val="100000"/>
                </a:srgbClr>
              </a:clrFrom>
              <a:clrTo>
                <a:srgbClr val="FF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6445" y="4731385"/>
            <a:ext cx="5842000" cy="19475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域运算：用一次全局 shuffle 完成大规模 FFT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8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8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DIZK 没有消除通信，而是把多层递归通信折叠成一次确切的全局 shuffle</a:t>
            </a:r>
            <a:endParaRPr lang="en-US" sz="2000" noProof="1"/>
          </a:p>
        </p:txBody>
      </p:sp>
      <p:sp>
        <p:nvSpPr>
          <p:cNvPr id="9" name="p8-left"/>
          <p:cNvSpPr/>
          <p:nvPr>
            <p:custDataLst>
              <p:tags r:id="rId1"/>
            </p:custDataLst>
          </p:nvPr>
        </p:nvSpPr>
        <p:spPr>
          <a:xfrm>
            <a:off x="508000" y="1473200"/>
            <a:ext cx="5334000" cy="15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8-left-h"/>
          <p:cNvSpPr txBox="1"/>
          <p:nvPr>
            <p:custDataLst>
              <p:tags r:id="rId2"/>
            </p:custDataLst>
          </p:nvPr>
        </p:nvSpPr>
        <p:spPr>
          <a:xfrm>
            <a:off x="711200" y="1549400"/>
            <a:ext cx="492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串行做法为什么不能直接搬</a:t>
            </a:r>
            <a:endParaRPr lang="en-US" sz="1600" noProof="1"/>
          </a:p>
        </p:txBody>
      </p:sp>
      <p:sp>
        <p:nvSpPr>
          <p:cNvPr id="11" name="p8-left-t"/>
          <p:cNvSpPr txBox="1"/>
          <p:nvPr>
            <p:custDataLst>
              <p:tags r:id="rId3"/>
            </p:custDataLst>
          </p:nvPr>
        </p:nvSpPr>
        <p:spPr>
          <a:xfrm>
            <a:off x="711200" y="1854200"/>
            <a:ext cx="4927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朴素求值与插值是 O(n²)，不可用；Cooley–Tukey 虽为 O(n log n)，但蝶形网络每一层都要重排整个数组——在集群上就是每层一次全局 shuffle，且一半 executor 空转。</a:t>
            </a:r>
            <a:endParaRPr lang="en-US" sz="1600" noProof="1"/>
          </a:p>
        </p:txBody>
      </p:sp>
      <p:sp>
        <p:nvSpPr>
          <p:cNvPr id="12" name="p8-right"/>
          <p:cNvSpPr/>
          <p:nvPr>
            <p:custDataLst>
              <p:tags r:id="rId4"/>
            </p:custDataLst>
          </p:nvPr>
        </p:nvSpPr>
        <p:spPr>
          <a:xfrm>
            <a:off x="6350000" y="1473200"/>
            <a:ext cx="5334000" cy="15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8-right-h"/>
          <p:cNvSpPr txBox="1"/>
          <p:nvPr>
            <p:custDataLst>
              <p:tags r:id="rId5"/>
            </p:custDataLst>
          </p:nvPr>
        </p:nvSpPr>
        <p:spPr>
          <a:xfrm>
            <a:off x="6553200" y="1549400"/>
            <a:ext cx="492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DIZK 的两阶段 FFT（快速傅里叶变换）</a:t>
            </a:r>
            <a:endParaRPr lang="en-US" sz="1600" noProof="1"/>
          </a:p>
        </p:txBody>
      </p:sp>
      <p:sp>
        <p:nvSpPr>
          <p:cNvPr id="14" name="p8-right-t"/>
          <p:cNvSpPr txBox="1"/>
          <p:nvPr>
            <p:custDataLst>
              <p:tags r:id="rId6"/>
            </p:custDataLst>
          </p:nvPr>
        </p:nvSpPr>
        <p:spPr>
          <a:xfrm>
            <a:off x="6553200" y="1854200"/>
            <a:ext cx="4927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把 n 点 FFT 拆成两批、每批 √n 个规模 √n 的 FFT：第一批在 mapper 端算完，经过恰好一次 shuffle</a:t>
            </a:r>
            <a:r>
              <a:rPr lang="zh-CN" alt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（对</a:t>
            </a:r>
            <a:r>
              <a:rPr lang="en-US" altLang="zh-CN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FFT</a:t>
            </a:r>
            <a:r>
              <a:rPr lang="zh-CN" alt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计算重排）</a:t>
            </a: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，第二批在 reducer 端算完。</a:t>
            </a:r>
            <a:endParaRPr lang="en-US" sz="1600" noProof="1"/>
          </a:p>
        </p:txBody>
      </p:sp>
      <p:sp>
        <p:nvSpPr>
          <p:cNvPr id="27" name="p8-lag"/>
          <p:cNvSpPr/>
          <p:nvPr/>
        </p:nvSpPr>
        <p:spPr>
          <a:xfrm>
            <a:off x="508000" y="4815840"/>
            <a:ext cx="11176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p8-lag-t"/>
              <p:cNvSpPr txBox="1"/>
              <p:nvPr/>
            </p:nvSpPr>
            <p:spPr>
              <a:xfrm>
                <a:off x="812800" y="4841240"/>
                <a:ext cx="105664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00000"/>
                  </a:lnSpc>
                </a:pPr>
                <a:r>
                  <a:rPr lang="en-US" sz="14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Lag（Lagrange interpolant evaluation）：域为乘法子群时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noProof="1">
                            <a:solidFill>
                              <a:srgbClr val="1A202C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 noProof="1">
                            <a:solidFill>
                              <a:srgbClr val="1A202C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400" i="1" noProof="1">
                            <a:solidFill>
                              <a:srgbClr val="1A202C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sz="1400" i="1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1400" i="1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sz="14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有闭式解，各 executor 独立求值，无需跨机通信。</a:t>
                </a:r>
                <a:endParaRPr lang="en-US" sz="1400" noProof="1"/>
              </a:p>
            </p:txBody>
          </p:sp>
        </mc:Choice>
        <mc:Fallback>
          <p:sp>
            <p:nvSpPr>
              <p:cNvPr id="28" name="p8-lag-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841240"/>
                <a:ext cx="10566400" cy="279400"/>
              </a:xfrm>
              <a:prstGeom prst="rect">
                <a:avLst/>
              </a:prstGeom>
              <a:blipFill rotWithShape="1">
                <a:blip r:embed="rId7"/>
                <a:stretch>
                  <a:fillRect t="-29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p8-src"/>
          <p:cNvSpPr txBox="1"/>
          <p:nvPr/>
        </p:nvSpPr>
        <p:spPr>
          <a:xfrm>
            <a:off x="508000" y="550164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根据论文 §4.1.2–§4.1.3 重绘（两阶段 FFT 思路源自 Sze 的 MapReduce 大整数乘法）</a:t>
            </a:r>
            <a:endParaRPr lang="en-US" sz="1000" noProof="1"/>
          </a:p>
        </p:txBody>
      </p:sp>
      <p:pic>
        <p:nvPicPr>
          <p:cNvPr id="30" name="图片 29" descr="exec-b04d2647-c34d-4d1c-a21f-7d27fb339df5"/>
          <p:cNvPicPr>
            <a:picLocks noChangeAspect="1"/>
          </p:cNvPicPr>
          <p:nvPr/>
        </p:nvPicPr>
        <p:blipFill>
          <a:blip r:embed="rId8">
            <a:clrChange>
              <a:clrFrom>
                <a:srgbClr val="FDFDFD">
                  <a:alpha val="100000"/>
                </a:srgbClr>
              </a:clrFrom>
              <a:clrTo>
                <a:srgbClr val="FDFDFD">
                  <a:alpha val="100000"/>
                  <a:alpha val="0"/>
                </a:srgbClr>
              </a:clrTo>
            </a:clrChange>
          </a:blip>
          <a:srcRect t="28056" b="29040"/>
          <a:stretch>
            <a:fillRect/>
          </a:stretch>
        </p:blipFill>
        <p:spPr>
          <a:xfrm>
            <a:off x="1578610" y="3294380"/>
            <a:ext cx="8759190" cy="12420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群运算：fixMSM 与 varMSM 需要两种不同的数据布局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9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9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同样是多标量乘，固定基与可变基的最优数据布局完全相反</a:t>
            </a:r>
            <a:endParaRPr lang="en-US" sz="2000" noProof="1"/>
          </a:p>
        </p:txBody>
      </p:sp>
      <p:sp>
        <p:nvSpPr>
          <p:cNvPr id="9" name="p9-l"/>
          <p:cNvSpPr/>
          <p:nvPr/>
        </p:nvSpPr>
        <p:spPr>
          <a:xfrm>
            <a:off x="508000" y="1473200"/>
            <a:ext cx="53340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9-l-h"/>
          <p:cNvSpPr txBox="1"/>
          <p:nvPr/>
        </p:nvSpPr>
        <p:spPr>
          <a:xfrm>
            <a:off x="711200" y="15494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fixMSM（fixed-base multi-scalar multiplication）</a:t>
            </a:r>
            <a:endParaRPr lang="en-US" sz="1600" noProof="1"/>
          </a:p>
        </p:txBody>
      </p:sp>
      <p:sp>
        <p:nvSpPr>
          <p:cNvPr id="11" name="p9-l-b1"/>
          <p:cNvSpPr txBox="1"/>
          <p:nvPr/>
        </p:nvSpPr>
        <p:spPr>
          <a:xfrm>
            <a:off x="711200" y="19050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driver 预计算固定基 P 的查找表，广播给所有 executor</a:t>
            </a:r>
            <a:endParaRPr lang="en-US" sz="14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p9-l-b2"/>
              <p:cNvSpPr txBox="1"/>
              <p:nvPr/>
            </p:nvSpPr>
            <p:spPr>
              <a:xfrm>
                <a:off x="711200" y="2413000"/>
                <a:ext cx="4927600" cy="4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15000"/>
                  </a:lnSpc>
                </a:pPr>
                <a:r>
                  <a:rPr lang="en-US" sz="14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• 各节点处理均匀划分的标量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noProof="1">
                            <a:solidFill>
                              <a:srgbClr val="1A202C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 noProof="1">
                            <a:solidFill>
                              <a:srgbClr val="1A202C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i="1" noProof="1">
                            <a:solidFill>
                              <a:srgbClr val="1A202C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noProof="1">
                  <a:solidFill>
                    <a:srgbClr val="1A202C"/>
                  </a:solidFill>
                  <a:latin typeface="Cambria Math" panose="02040503050406030204" charset="0"/>
                  <a:ea typeface="Noto Sans SC" panose="020B0200000000000000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p9-l-b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2413000"/>
                <a:ext cx="4927600" cy="431800"/>
              </a:xfrm>
              <a:prstGeom prst="rect">
                <a:avLst/>
              </a:prstGeom>
              <a:blipFill rotWithShape="1">
                <a:blip r:embed="rId1"/>
                <a:stretch>
                  <a:fillRect t="-2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9-l-b3"/>
          <p:cNvSpPr txBox="1"/>
          <p:nvPr/>
        </p:nvSpPr>
        <p:spPr>
          <a:xfrm>
            <a:off x="711200" y="29210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绕开 Spark 分区间无法共享本地表的折中，用广播带宽换本地计算</a:t>
            </a:r>
            <a:endParaRPr lang="en-US" sz="1400" noProof="1"/>
          </a:p>
        </p:txBody>
      </p:sp>
      <p:sp>
        <p:nvSpPr>
          <p:cNvPr id="14" name="p9-r"/>
          <p:cNvSpPr/>
          <p:nvPr/>
        </p:nvSpPr>
        <p:spPr>
          <a:xfrm>
            <a:off x="6350000" y="1473200"/>
            <a:ext cx="53340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p9-r-h"/>
          <p:cNvSpPr txBox="1"/>
          <p:nvPr/>
        </p:nvSpPr>
        <p:spPr>
          <a:xfrm>
            <a:off x="6553200" y="15494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varMSM（variable-base multi-scalar multiplication）</a:t>
            </a:r>
            <a:endParaRPr lang="en-US" sz="1600" noProof="1"/>
          </a:p>
        </p:txBody>
      </p:sp>
      <p:sp>
        <p:nvSpPr>
          <p:cNvPr id="16" name="p9-r-b1"/>
          <p:cNvSpPr txBox="1"/>
          <p:nvPr/>
        </p:nvSpPr>
        <p:spPr>
          <a:xfrm>
            <a:off x="6553200" y="19050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不按标量桶做全局分区，避免天量群点重新 shuffle</a:t>
            </a:r>
            <a:endParaRPr lang="en-US" sz="1400" noProof="1"/>
          </a:p>
        </p:txBody>
      </p:sp>
      <p:sp>
        <p:nvSpPr>
          <p:cNvPr id="17" name="p9-r-b2"/>
          <p:cNvSpPr txBox="1"/>
          <p:nvPr/>
        </p:nvSpPr>
        <p:spPr>
          <a:xfrm>
            <a:off x="6553200" y="24130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均匀切分输入对，各 executor 本地跑 Pippenger</a:t>
            </a:r>
            <a:endParaRPr lang="en-US" sz="1400" noProof="1"/>
          </a:p>
        </p:txBody>
      </p:sp>
      <p:sp>
        <p:nvSpPr>
          <p:cNvPr id="18" name="p9-r-b3"/>
          <p:cNvSpPr txBox="1"/>
          <p:nvPr/>
        </p:nvSpPr>
        <p:spPr>
          <a:xfrm>
            <a:off x="6553200" y="29210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最后只汇集各节点的局部群和，做一次归约相加</a:t>
            </a:r>
            <a:endParaRPr lang="en-US" sz="1400" noProof="1"/>
          </a:p>
        </p:txBody>
      </p:sp>
      <p:sp>
        <p:nvSpPr>
          <p:cNvPr id="19" name="p9-bottom"/>
          <p:cNvSpPr/>
          <p:nvPr/>
        </p:nvSpPr>
        <p:spPr>
          <a:xfrm>
            <a:off x="508000" y="3962400"/>
            <a:ext cx="11176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p9-bottom-t"/>
          <p:cNvSpPr txBox="1"/>
          <p:nvPr/>
        </p:nvSpPr>
        <p:spPr>
          <a:xfrm>
            <a:off x="812800" y="40640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核心准则：不是把串行循环机械地 map 出去，而是按通信代价重新安排算法——这正是 DIZK 相对通用大数据方案的差别所在。</a:t>
            </a:r>
            <a:endParaRPr lang="en-US" sz="1600" noProof="1"/>
          </a:p>
        </p:txBody>
      </p:sp>
      <p:sp>
        <p:nvSpPr>
          <p:cNvPr id="21" name="p9-src"/>
          <p:cNvSpPr txBox="1"/>
          <p:nvPr/>
        </p:nvSpPr>
        <p:spPr>
          <a:xfrm>
            <a:off x="508000" y="485140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根据论文 §4.2.1–§4.2.2 重绘 ｜ varMSM 对应 Pippenger 算法，fixMSM 对应查表法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最隐蔽的瓶颈：总体稀疏，局部却会“堵车”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10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0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稀疏矩阵的行列是“几乎稀疏”</a:t>
            </a:r>
            <a:r>
              <a:rPr lang="zh-CN" alt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，但仍存在部分稠密列</a:t>
            </a:r>
            <a:endParaRPr lang="zh-CN" altLang="en-US" sz="2000" b="1" noProof="1">
              <a:solidFill>
                <a:srgbClr val="071F65"/>
              </a:solidFill>
              <a:latin typeface="Arial" panose="020B0604020202020204"/>
              <a:ea typeface="Noto Sans SC" panose="020B0200000000000000" charset="-122"/>
            </a:endParaRPr>
          </a:p>
        </p:txBody>
      </p:sp>
      <p:sp>
        <p:nvSpPr>
          <p:cNvPr id="9" name="p10-matrix"/>
          <p:cNvSpPr/>
          <p:nvPr/>
        </p:nvSpPr>
        <p:spPr>
          <a:xfrm>
            <a:off x="508000" y="1473200"/>
            <a:ext cx="482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10-matrix-h"/>
          <p:cNvSpPr txBox="1"/>
          <p:nvPr/>
        </p:nvSpPr>
        <p:spPr>
          <a:xfrm>
            <a:off x="711200" y="15494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R1CS 矩阵 a 的非零分布</a:t>
            </a:r>
            <a:endParaRPr lang="en-US" sz="1600" noProof="1"/>
          </a:p>
        </p:txBody>
      </p:sp>
      <p:sp>
        <p:nvSpPr>
          <p:cNvPr id="11" name="p10-c00"/>
          <p:cNvSpPr/>
          <p:nvPr/>
        </p:nvSpPr>
        <p:spPr>
          <a:xfrm>
            <a:off x="762000" y="19050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2" name="p10-c01"/>
          <p:cNvSpPr/>
          <p:nvPr/>
        </p:nvSpPr>
        <p:spPr>
          <a:xfrm>
            <a:off x="762000" y="22733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" name="p10-c02"/>
          <p:cNvSpPr/>
          <p:nvPr/>
        </p:nvSpPr>
        <p:spPr>
          <a:xfrm>
            <a:off x="762000" y="26416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" name="p10-c03"/>
          <p:cNvSpPr/>
          <p:nvPr/>
        </p:nvSpPr>
        <p:spPr>
          <a:xfrm>
            <a:off x="7620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5" name="p10-c04"/>
          <p:cNvSpPr/>
          <p:nvPr/>
        </p:nvSpPr>
        <p:spPr>
          <a:xfrm>
            <a:off x="762000" y="33782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6" name="p10-c05"/>
          <p:cNvSpPr/>
          <p:nvPr/>
        </p:nvSpPr>
        <p:spPr>
          <a:xfrm>
            <a:off x="762000" y="37465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" name="p10-c10"/>
          <p:cNvSpPr/>
          <p:nvPr/>
        </p:nvSpPr>
        <p:spPr>
          <a:xfrm>
            <a:off x="1130300" y="19050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8" name="p10-c11"/>
          <p:cNvSpPr/>
          <p:nvPr/>
        </p:nvSpPr>
        <p:spPr>
          <a:xfrm>
            <a:off x="1130300" y="22733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9" name="p10-c12"/>
          <p:cNvSpPr/>
          <p:nvPr/>
        </p:nvSpPr>
        <p:spPr>
          <a:xfrm>
            <a:off x="1130300" y="26416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20" name="p10-c13"/>
          <p:cNvSpPr/>
          <p:nvPr/>
        </p:nvSpPr>
        <p:spPr>
          <a:xfrm>
            <a:off x="11303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1" name="p10-c14"/>
          <p:cNvSpPr/>
          <p:nvPr/>
        </p:nvSpPr>
        <p:spPr>
          <a:xfrm>
            <a:off x="1130300" y="33782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2" name="p10-c15"/>
          <p:cNvSpPr/>
          <p:nvPr/>
        </p:nvSpPr>
        <p:spPr>
          <a:xfrm>
            <a:off x="1130300" y="37465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23" name="p10-c20"/>
          <p:cNvSpPr/>
          <p:nvPr/>
        </p:nvSpPr>
        <p:spPr>
          <a:xfrm>
            <a:off x="1498600" y="19050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4" name="p10-c21"/>
          <p:cNvSpPr/>
          <p:nvPr/>
        </p:nvSpPr>
        <p:spPr>
          <a:xfrm>
            <a:off x="1498600" y="22733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25" name="p10-c22"/>
          <p:cNvSpPr/>
          <p:nvPr/>
        </p:nvSpPr>
        <p:spPr>
          <a:xfrm>
            <a:off x="1498600" y="26416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6" name="p10-c23"/>
          <p:cNvSpPr/>
          <p:nvPr/>
        </p:nvSpPr>
        <p:spPr>
          <a:xfrm>
            <a:off x="14986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7" name="p10-c24"/>
          <p:cNvSpPr/>
          <p:nvPr/>
        </p:nvSpPr>
        <p:spPr>
          <a:xfrm>
            <a:off x="1498600" y="33782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8" name="p10-c25"/>
          <p:cNvSpPr/>
          <p:nvPr/>
        </p:nvSpPr>
        <p:spPr>
          <a:xfrm>
            <a:off x="1498600" y="37465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29" name="p10-c30"/>
          <p:cNvSpPr/>
          <p:nvPr/>
        </p:nvSpPr>
        <p:spPr>
          <a:xfrm>
            <a:off x="1866900" y="19050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0" name="p10-c31"/>
          <p:cNvSpPr/>
          <p:nvPr/>
        </p:nvSpPr>
        <p:spPr>
          <a:xfrm>
            <a:off x="1866900" y="22733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1" name="p10-c32"/>
          <p:cNvSpPr/>
          <p:nvPr/>
        </p:nvSpPr>
        <p:spPr>
          <a:xfrm>
            <a:off x="1866900" y="26416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2" name="p10-c33"/>
          <p:cNvSpPr/>
          <p:nvPr/>
        </p:nvSpPr>
        <p:spPr>
          <a:xfrm>
            <a:off x="18669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3" name="p10-c34"/>
          <p:cNvSpPr/>
          <p:nvPr/>
        </p:nvSpPr>
        <p:spPr>
          <a:xfrm>
            <a:off x="1866900" y="33782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34" name="p10-c35"/>
          <p:cNvSpPr/>
          <p:nvPr/>
        </p:nvSpPr>
        <p:spPr>
          <a:xfrm>
            <a:off x="1866900" y="37465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5" name="p10-c40"/>
          <p:cNvSpPr/>
          <p:nvPr/>
        </p:nvSpPr>
        <p:spPr>
          <a:xfrm>
            <a:off x="2235200" y="19050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36" name="p10-c41"/>
          <p:cNvSpPr/>
          <p:nvPr/>
        </p:nvSpPr>
        <p:spPr>
          <a:xfrm>
            <a:off x="2235200" y="22733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7" name="p10-c42"/>
          <p:cNvSpPr/>
          <p:nvPr/>
        </p:nvSpPr>
        <p:spPr>
          <a:xfrm>
            <a:off x="2235200" y="26416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8" name="p10-c43"/>
          <p:cNvSpPr/>
          <p:nvPr/>
        </p:nvSpPr>
        <p:spPr>
          <a:xfrm>
            <a:off x="22352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9" name="p10-c44"/>
          <p:cNvSpPr/>
          <p:nvPr/>
        </p:nvSpPr>
        <p:spPr>
          <a:xfrm>
            <a:off x="2235200" y="33782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0" name="p10-c45"/>
          <p:cNvSpPr/>
          <p:nvPr/>
        </p:nvSpPr>
        <p:spPr>
          <a:xfrm>
            <a:off x="2235200" y="37465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1" name="p10-c50"/>
          <p:cNvSpPr/>
          <p:nvPr/>
        </p:nvSpPr>
        <p:spPr>
          <a:xfrm>
            <a:off x="2603500" y="19050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2" name="p10-c51"/>
          <p:cNvSpPr/>
          <p:nvPr/>
        </p:nvSpPr>
        <p:spPr>
          <a:xfrm>
            <a:off x="2603500" y="22733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3" name="p10-c52"/>
          <p:cNvSpPr/>
          <p:nvPr/>
        </p:nvSpPr>
        <p:spPr>
          <a:xfrm>
            <a:off x="2603500" y="26416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4" name="p10-c53"/>
          <p:cNvSpPr/>
          <p:nvPr/>
        </p:nvSpPr>
        <p:spPr>
          <a:xfrm>
            <a:off x="26035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5" name="p10-c54"/>
          <p:cNvSpPr/>
          <p:nvPr/>
        </p:nvSpPr>
        <p:spPr>
          <a:xfrm>
            <a:off x="2603500" y="33782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6" name="p10-c55"/>
          <p:cNvSpPr/>
          <p:nvPr/>
        </p:nvSpPr>
        <p:spPr>
          <a:xfrm>
            <a:off x="2603500" y="37465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7" name="p10-c60"/>
          <p:cNvSpPr/>
          <p:nvPr/>
        </p:nvSpPr>
        <p:spPr>
          <a:xfrm>
            <a:off x="2971800" y="19050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8" name="p10-c61"/>
          <p:cNvSpPr/>
          <p:nvPr/>
        </p:nvSpPr>
        <p:spPr>
          <a:xfrm>
            <a:off x="2971800" y="22733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9" name="p10-c62"/>
          <p:cNvSpPr/>
          <p:nvPr/>
        </p:nvSpPr>
        <p:spPr>
          <a:xfrm>
            <a:off x="2971800" y="26416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50" name="p10-c63"/>
          <p:cNvSpPr/>
          <p:nvPr/>
        </p:nvSpPr>
        <p:spPr>
          <a:xfrm>
            <a:off x="29718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1" name="p10-c64"/>
          <p:cNvSpPr/>
          <p:nvPr/>
        </p:nvSpPr>
        <p:spPr>
          <a:xfrm>
            <a:off x="2971800" y="33782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52" name="p10-c65"/>
          <p:cNvSpPr/>
          <p:nvPr/>
        </p:nvSpPr>
        <p:spPr>
          <a:xfrm>
            <a:off x="2971800" y="37465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3" name="p10-c70"/>
          <p:cNvSpPr/>
          <p:nvPr/>
        </p:nvSpPr>
        <p:spPr>
          <a:xfrm>
            <a:off x="3340100" y="19050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4" name="p10-c71"/>
          <p:cNvSpPr/>
          <p:nvPr/>
        </p:nvSpPr>
        <p:spPr>
          <a:xfrm>
            <a:off x="3340100" y="22733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5" name="p10-c72"/>
          <p:cNvSpPr/>
          <p:nvPr/>
        </p:nvSpPr>
        <p:spPr>
          <a:xfrm>
            <a:off x="3340100" y="26416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6" name="p10-c73"/>
          <p:cNvSpPr/>
          <p:nvPr/>
        </p:nvSpPr>
        <p:spPr>
          <a:xfrm>
            <a:off x="33401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7" name="p10-c74"/>
          <p:cNvSpPr/>
          <p:nvPr/>
        </p:nvSpPr>
        <p:spPr>
          <a:xfrm>
            <a:off x="3340100" y="33782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8" name="p10-c75"/>
          <p:cNvSpPr/>
          <p:nvPr/>
        </p:nvSpPr>
        <p:spPr>
          <a:xfrm>
            <a:off x="3340100" y="37465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59" name="p10-matrix-note"/>
          <p:cNvSpPr txBox="1"/>
          <p:nvPr/>
        </p:nvSpPr>
        <p:spPr>
          <a:xfrm>
            <a:off x="711200" y="4089400"/>
            <a:ext cx="4419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深色 = 非零元；橙色 = 稠密列 / 稠密行</a:t>
            </a:r>
            <a:endParaRPr lang="en-US" sz="1000" noProof="1"/>
          </a:p>
        </p:txBody>
      </p:sp>
      <p:sp>
        <p:nvSpPr>
          <p:cNvPr id="60" name="p10-setup"/>
          <p:cNvSpPr/>
          <p:nvPr/>
        </p:nvSpPr>
        <p:spPr>
          <a:xfrm>
            <a:off x="5715000" y="1473200"/>
            <a:ext cx="5969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1" name="p10-setup-h"/>
          <p:cNvSpPr txBox="1"/>
          <p:nvPr/>
        </p:nvSpPr>
        <p:spPr>
          <a:xfrm>
            <a:off x="5918200" y="1549400"/>
            <a:ext cx="5562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Setup 侧的倾斜：dense column</a:t>
            </a:r>
            <a:endParaRPr lang="en-US" sz="1600" noProof="1"/>
          </a:p>
        </p:txBody>
      </p:sp>
      <p:sp>
        <p:nvSpPr>
          <p:cNvPr id="62" name="p10-setup-t"/>
          <p:cNvSpPr txBox="1"/>
          <p:nvPr/>
        </p:nvSpPr>
        <p:spPr>
          <a:xfrm>
            <a:off x="5918200" y="1854200"/>
            <a:ext cx="5562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QAP 实例归约按列使用稀疏性。当某个约束“接触”成千上万个变量时，这一列变稠密，负责它的 executor 内存直接爆掉。</a:t>
            </a:r>
            <a:endParaRPr lang="en-US" sz="1600" noProof="1"/>
          </a:p>
        </p:txBody>
      </p:sp>
      <p:sp>
        <p:nvSpPr>
          <p:cNvPr id="63" name="p10-prover"/>
          <p:cNvSpPr/>
          <p:nvPr/>
        </p:nvSpPr>
        <p:spPr>
          <a:xfrm>
            <a:off x="5715000" y="2997200"/>
            <a:ext cx="5969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4" name="p10-prover-h"/>
          <p:cNvSpPr txBox="1"/>
          <p:nvPr/>
        </p:nvSpPr>
        <p:spPr>
          <a:xfrm>
            <a:off x="5918200" y="3073400"/>
            <a:ext cx="5562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Prover 侧的倾斜：dense row</a:t>
            </a:r>
            <a:endParaRPr lang="en-US" sz="1600" noProof="1"/>
          </a:p>
        </p:txBody>
      </p:sp>
      <p:sp>
        <p:nvSpPr>
          <p:cNvPr id="65" name="p10-prover-t"/>
          <p:cNvSpPr txBox="1"/>
          <p:nvPr/>
        </p:nvSpPr>
        <p:spPr>
          <a:xfrm>
            <a:off x="5918200" y="3378200"/>
            <a:ext cx="5562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QAP 证人归约按行使用稀疏性。当某个变量出现在大量约束里（例如常数 1），这一行变稠密，对应任务成为拖尾。</a:t>
            </a:r>
            <a:endParaRPr lang="en-US" sz="1600" noProof="1"/>
          </a:p>
        </p:txBody>
      </p:sp>
      <p:sp>
        <p:nvSpPr>
          <p:cNvPr id="66" name="p10-analogy"/>
          <p:cNvSpPr/>
          <p:nvPr/>
        </p:nvSpPr>
        <p:spPr>
          <a:xfrm>
            <a:off x="508000" y="4521200"/>
            <a:ext cx="11176000" cy="88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7" name="fig-canteen-head"/>
          <p:cNvSpPr/>
          <p:nvPr/>
        </p:nvSpPr>
        <p:spPr>
          <a:xfrm>
            <a:off x="838200" y="4724400"/>
            <a:ext cx="215900" cy="215900"/>
          </a:xfrm>
          <a:prstGeom prst="ellipse">
            <a:avLst/>
          </a:prstGeom>
          <a:noFill/>
          <a:ln w="15875">
            <a:solidFill>
              <a:srgbClr val="0F2942"/>
            </a:solidFill>
          </a:ln>
        </p:spPr>
      </p:sp>
      <p:sp>
        <p:nvSpPr>
          <p:cNvPr id="68" name="fig-canteen-body"/>
          <p:cNvSpPr/>
          <p:nvPr/>
        </p:nvSpPr>
        <p:spPr>
          <a:xfrm>
            <a:off x="711200" y="4991100"/>
            <a:ext cx="469900" cy="330200"/>
          </a:xfrm>
          <a:prstGeom prst="roundRect">
            <a:avLst>
              <a:gd name="adj" fmla="val 32000"/>
            </a:avLst>
          </a:prstGeom>
          <a:noFill/>
          <a:ln w="15875">
            <a:solidFill>
              <a:srgbClr val="0F2942"/>
            </a:solidFill>
          </a:ln>
        </p:spPr>
      </p:sp>
      <p:sp>
        <p:nvSpPr>
          <p:cNvPr id="69" name="p10-analogy-t"/>
          <p:cNvSpPr txBox="1"/>
          <p:nvPr/>
        </p:nvSpPr>
        <p:spPr>
          <a:xfrm>
            <a:off x="1473200" y="4622800"/>
            <a:ext cx="1000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食堂类比：大多数窗口只排 3 个人，某个窗口突然排了 3000 人。食堂平均很空，但那个窗口的人要等到天荒地老——这就是 straggler。</a:t>
            </a:r>
            <a:endParaRPr lang="en-US" sz="1600" noProof="1"/>
          </a:p>
        </p:txBody>
      </p:sp>
      <p:sp>
        <p:nvSpPr>
          <p:cNvPr id="70" name="p10-src"/>
          <p:cNvSpPr txBox="1"/>
          <p:nvPr/>
        </p:nvSpPr>
        <p:spPr>
          <a:xfrm>
            <a:off x="508000" y="553720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通用方案失效：skewjoin 会复制键值、blockjoin 会放大 RDD，两者都要额外 shuffle 与内存，难以适应密码学的严格内存预算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DIZK 的负载均衡：先识别热点，再分流 dense 与 sparse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11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1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先花极小代价找出热点，再把稠密与稀疏分开处理</a:t>
            </a:r>
            <a:endParaRPr lang="en-US" sz="2000" noProof="1"/>
          </a:p>
        </p:txBody>
      </p:sp>
      <p:sp>
        <p:nvSpPr>
          <p:cNvPr id="9" name="p11-p1"/>
          <p:cNvSpPr/>
          <p:nvPr/>
        </p:nvSpPr>
        <p:spPr>
          <a:xfrm>
            <a:off x="508000" y="1473200"/>
            <a:ext cx="11176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11-p1-h"/>
          <p:cNvSpPr txBox="1"/>
          <p:nvPr/>
        </p:nvSpPr>
        <p:spPr>
          <a:xfrm>
            <a:off x="762000" y="15494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Part 1：轻量统计，标注稠密向量</a:t>
            </a:r>
            <a:endParaRPr lang="en-US" sz="1600" noProof="1"/>
          </a:p>
        </p:txBody>
      </p:sp>
      <p:sp>
        <p:nvSpPr>
          <p:cNvPr id="11" name="p11-p1-t"/>
          <p:cNvSpPr txBox="1"/>
          <p:nvPr/>
        </p:nvSpPr>
        <p:spPr>
          <a:xfrm>
            <a:off x="762000" y="1854200"/>
            <a:ext cx="1066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每个 executor 先统计自己分区内每列的非零元个数，再一次 shuffle 汇总；随后以“非零元数 大于 √M”为启发式阈值标注稠密列，避免 map/reduce 本身产生拖尾。</a:t>
            </a:r>
            <a:endParaRPr lang="en-US" sz="1600" noProof="1"/>
          </a:p>
        </p:txBody>
      </p:sp>
      <p:sp>
        <p:nvSpPr>
          <p:cNvPr id="12" name="p11-p2"/>
          <p:cNvSpPr/>
          <p:nvPr/>
        </p:nvSpPr>
        <p:spPr>
          <a:xfrm>
            <a:off x="508000" y="2946400"/>
            <a:ext cx="11176000" cy="17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11-p2-h"/>
          <p:cNvSpPr txBox="1"/>
          <p:nvPr/>
        </p:nvSpPr>
        <p:spPr>
          <a:xfrm>
            <a:off x="762000" y="30226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Part 2：双轨并行处理</a:t>
            </a:r>
            <a:endParaRPr lang="en-US" sz="1600" noProof="1"/>
          </a:p>
        </p:txBody>
      </p:sp>
      <p:sp>
        <p:nvSpPr>
          <p:cNvPr id="14" name="p11-b1"/>
          <p:cNvSpPr txBox="1"/>
          <p:nvPr/>
        </p:nvSpPr>
        <p:spPr>
          <a:xfrm>
            <a:off x="762000" y="33274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占绝大多数的稀疏列：走常规 join 与 reduce，不做任何重键或复制</a:t>
            </a:r>
            <a:endParaRPr lang="en-US" sz="1400" noProof="1"/>
          </a:p>
        </p:txBody>
      </p:sp>
      <p:sp>
        <p:nvSpPr>
          <p:cNvPr id="15" name="p11-b2"/>
          <p:cNvSpPr txBox="1"/>
          <p:nvPr/>
        </p:nvSpPr>
        <p:spPr>
          <a:xfrm>
            <a:off x="762000" y="3733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少数稠密列：拆成多个分片分别计算，避免单个 executor 独吞整列</a:t>
            </a:r>
            <a:endParaRPr lang="en-US" sz="1400" noProof="1"/>
          </a:p>
        </p:txBody>
      </p:sp>
      <p:sp>
        <p:nvSpPr>
          <p:cNvPr id="16" name="p11-b3"/>
          <p:cNvSpPr txBox="1"/>
          <p:nvPr/>
        </p:nvSpPr>
        <p:spPr>
          <a:xfrm>
            <a:off x="762000" y="4140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最后 union 两部分再按行 reduce；稠密行由约束结构决定，Setup 时识别一次即可供后续 Prover 复用</a:t>
            </a:r>
            <a:endParaRPr lang="en-US" sz="1400" noProof="1"/>
          </a:p>
        </p:txBody>
      </p:sp>
      <p:sp>
        <p:nvSpPr>
          <p:cNvPr id="17" name="p11-src"/>
          <p:cNvSpPr txBox="1"/>
          <p:nvPr/>
        </p:nvSpPr>
        <p:spPr>
          <a:xfrm>
            <a:off x="508000" y="492760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根据论文 §5 与 §6 重绘 ｜ 论文指出：skewjoin 方案在 128 executors 上也撑不过 5000 万约束，且比本方案慢一倍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实现与评测条件：结论来自特定的 Spark/EC2 环境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12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2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绝对数字都绑在这套软硬件条件上——换环境，结论的数值会变</a:t>
            </a:r>
            <a:endParaRPr lang="en-US" sz="2000" noProof="1"/>
          </a:p>
        </p:txBody>
      </p:sp>
      <p:graphicFrame>
        <p:nvGraphicFramePr>
          <p:cNvPr id="9" name="p12-table"/>
          <p:cNvGraphicFramePr>
            <a:graphicFrameLocks noGrp="1"/>
          </p:cNvGraphicFramePr>
          <p:nvPr/>
        </p:nvGraphicFramePr>
        <p:xfrm>
          <a:off x="508000" y="1498600"/>
          <a:ext cx="11176000" cy="2946400"/>
        </p:xfrm>
        <a:graphic>
          <a:graphicData uri="http://schemas.openxmlformats.org/drawingml/2006/table">
            <a:tbl>
              <a:tblPr/>
              <a:tblGrid>
                <a:gridCol w="2011680"/>
                <a:gridCol w="9164320"/>
              </a:tblGrid>
              <a:tr h="412496">
                <a:tc>
                  <a:txBody>
                    <a:bodyPr wrap="square" rtlCol="0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维度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论文中的设定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</a:tr>
              <a:tr h="500888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工程实现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基于 Apache Spark，核心逻辑用 Java 编写，代码量约 10,000 行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0888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单机基线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 台 AWS EC2 r3.large：2 vCPU、15 GiB 内存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559816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分布式集群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10 台 r3.8xlarge 支持最多 128 executors；20 台支持 256 executors（每台 32 vCPU、244 GiB）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8744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椭圆曲线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256-bit Barreto–Naehrig 曲线；为支持十亿级实例，作者生成 p−1 可被 2^50 整除的参数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353568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规模定义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instance size 指 R1CS 约束数 M；实验中变量数 N 与约束数 M 近似相等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p12-src"/>
          <p:cNvSpPr txBox="1"/>
          <p:nvPr/>
        </p:nvSpPr>
        <p:spPr>
          <a:xfrm>
            <a:off x="508000" y="46482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论文明确说明：作者不评测 verifier，因为它就是 libsnark 的实现，验证耗时约 2 ms + 0.5 μs·k（k 为 R1CS 公开输入中的域元素数）。</a:t>
            </a:r>
            <a:endParaRPr lang="en-US" sz="1000" noProof="1"/>
          </a:p>
        </p:txBody>
      </p:sp>
      <p:sp>
        <p:nvSpPr>
          <p:cNvPr id="11" name="p12-src2"/>
          <p:cNvSpPr txBox="1"/>
          <p:nvPr/>
        </p:nvSpPr>
        <p:spPr>
          <a:xfrm>
            <a:off x="508000" y="513080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数据来源：DIZK §8 实现、§9 实验设置、§10.1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规模突破：从千万级单机上限扩展到十亿级约束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13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3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单机卡在千万级，集群把可行规模推到十亿级</a:t>
            </a:r>
            <a:endParaRPr lang="en-US" sz="2000" noProof="1"/>
          </a:p>
        </p:txBody>
      </p:sp>
      <p:pic>
        <p:nvPicPr>
          <p:cNvPr id="9" name="p13-fig4"/>
          <p:cNvPicPr/>
          <p:nvPr/>
        </p:nvPicPr>
        <p:blipFill>
          <a:blip r:embed="rId2"/>
          <a:srcRect l="-52" r="-52"/>
          <a:stretch>
            <a:fillRect/>
          </a:stretch>
        </p:blipFill>
        <p:spPr>
          <a:xfrm>
            <a:off x="508000" y="1397000"/>
            <a:ext cx="6096000" cy="3479800"/>
          </a:xfrm>
          <a:prstGeom prst="rect">
            <a:avLst/>
          </a:prstGeom>
          <a:ln>
            <a:noFill/>
          </a:ln>
        </p:spPr>
      </p:pic>
      <p:sp>
        <p:nvSpPr>
          <p:cNvPr id="10" name="p13-figcap"/>
          <p:cNvSpPr txBox="1"/>
          <p:nvPr/>
        </p:nvSpPr>
        <p:spPr>
          <a:xfrm>
            <a:off x="508000" y="4953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DIZK, Fig. 4, USENIX Security ’18（原图横轴为 # executors，纵轴为 log2 instance size）</a:t>
            </a:r>
            <a:endParaRPr lang="en-US" sz="1000" noProof="1"/>
          </a:p>
        </p:txBody>
      </p:sp>
      <p:sp>
        <p:nvSpPr>
          <p:cNvPr id="11" name="p13-c1"/>
          <p:cNvSpPr txBox="1"/>
          <p:nvPr/>
        </p:nvSpPr>
        <p:spPr>
          <a:xfrm>
            <a:off x="7112000" y="13970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① 串行实现在约 1000 万–2000 万 gate / constraint 附近触及内存边界</a:t>
            </a:r>
            <a:endParaRPr lang="en-US" sz="1600" noProof="1"/>
          </a:p>
        </p:txBody>
      </p:sp>
      <p:sp>
        <p:nvSpPr>
          <p:cNvPr id="12" name="p13-c2"/>
          <p:cNvSpPr txBox="1"/>
          <p:nvPr/>
        </p:nvSpPr>
        <p:spPr>
          <a:xfrm>
            <a:off x="7112000" y="21844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② DIZK 随 executor 增加可支持超过 10^9 的约束，图中最大约为 2^31</a:t>
            </a:r>
            <a:endParaRPr lang="en-US" sz="1600" noProof="1"/>
          </a:p>
        </p:txBody>
      </p:sp>
      <p:sp>
        <p:nvSpPr>
          <p:cNvPr id="13" name="p13-c3"/>
          <p:cNvSpPr txBox="1"/>
          <p:nvPr/>
        </p:nvSpPr>
        <p:spPr>
          <a:xfrm>
            <a:off x="7112000" y="29718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③ 论文将其概括为相比单机先进水平约 100× 更大的规模</a:t>
            </a:r>
            <a:endParaRPr lang="en-US" sz="1600" noProof="1"/>
          </a:p>
        </p:txBody>
      </p:sp>
      <p:graphicFrame>
        <p:nvGraphicFramePr>
          <p:cNvPr id="14" name="p13-chart"/>
          <p:cNvGraphicFramePr/>
          <p:nvPr/>
        </p:nvGraphicFramePr>
        <p:xfrm>
          <a:off x="7112000" y="3810000"/>
          <a:ext cx="4572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p13-chartcap"/>
          <p:cNvSpPr txBox="1"/>
          <p:nvPr/>
        </p:nvSpPr>
        <p:spPr>
          <a:xfrm>
            <a:off x="7112000" y="58166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纵轴：log2 约束数（论文正文口径 2^24 与图 4 纵轴上限 2^31）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扩展性：规模增大近线性，增加节点也近线性加速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｜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14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左图 DIZK, Fig. 5 ｜ Wu et al., USENIX Security ’18</a:t>
            </a:r>
            <a:endParaRPr lang="en-US" sz="1000" noProof="1"/>
          </a:p>
        </p:txBody>
      </p:sp>
      <p:sp>
        <p:nvSpPr>
          <p:cNvPr id="8" name="p14-lead"/>
          <p:cNvSpPr txBox="1"/>
          <p:nvPr/>
        </p:nvSpPr>
        <p:spPr>
          <a:xfrm>
            <a:off x="508000" y="1028700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固定 executor 时时间随规模近线性增长；固定规模时随节点近线性下降</a:t>
            </a:r>
            <a:endParaRPr lang="en-US" sz="2000" noProof="1"/>
          </a:p>
        </p:txBody>
      </p:sp>
      <p:pic>
        <p:nvPicPr>
          <p:cNvPr id="9" name="p14-fig5"/>
          <p:cNvPicPr/>
          <p:nvPr/>
        </p:nvPicPr>
        <p:blipFill>
          <a:blip r:embed="rId2"/>
          <a:srcRect l="-1998" r="-1998"/>
          <a:stretch>
            <a:fillRect/>
          </a:stretch>
        </p:blipFill>
        <p:spPr>
          <a:xfrm>
            <a:off x="508000" y="1371600"/>
            <a:ext cx="3327400" cy="4597400"/>
          </a:xfrm>
          <a:prstGeom prst="rect">
            <a:avLst/>
          </a:prstGeom>
          <a:ln>
            <a:noFill/>
          </a:ln>
        </p:spPr>
      </p:pic>
      <p:graphicFrame>
        <p:nvGraphicFramePr>
          <p:cNvPr id="10" name="p14-chart"/>
          <p:cNvGraphicFramePr/>
          <p:nvPr/>
        </p:nvGraphicFramePr>
        <p:xfrm>
          <a:off x="4318000" y="1371600"/>
          <a:ext cx="7366000" cy="20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p14-chartcap"/>
          <p:cNvSpPr txBox="1"/>
          <p:nvPr/>
        </p:nvSpPr>
        <p:spPr>
          <a:xfrm>
            <a:off x="4318000" y="3429000"/>
            <a:ext cx="7366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纵轴：Prover 单位成本（μs / gate）；柱高之差即论文总结的约 100×</a:t>
            </a:r>
            <a:endParaRPr lang="en-US" sz="1000" noProof="1"/>
          </a:p>
        </p:txBody>
      </p:sp>
      <p:sp>
        <p:nvSpPr>
          <p:cNvPr id="12" name="p14-band"/>
          <p:cNvSpPr/>
          <p:nvPr/>
        </p:nvSpPr>
        <p:spPr>
          <a:xfrm>
            <a:off x="4318000" y="4064000"/>
            <a:ext cx="7112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14-m1"/>
          <p:cNvSpPr txBox="1"/>
          <p:nvPr/>
        </p:nvSpPr>
        <p:spPr>
          <a:xfrm>
            <a:off x="4622800" y="42164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2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约 10 μs / gate</a:t>
            </a:r>
            <a:endParaRPr lang="en-US" sz="2200" noProof="1"/>
          </a:p>
        </p:txBody>
      </p:sp>
      <p:sp>
        <p:nvSpPr>
          <p:cNvPr id="14" name="p14-m1c"/>
          <p:cNvSpPr txBox="1"/>
          <p:nvPr/>
        </p:nvSpPr>
        <p:spPr>
          <a:xfrm>
            <a:off x="4622800" y="46482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5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Prover 单位成本（论文总结值）</a:t>
            </a:r>
            <a:endParaRPr lang="en-US" sz="1000" noProof="1"/>
          </a:p>
        </p:txBody>
      </p:sp>
      <p:sp>
        <p:nvSpPr>
          <p:cNvPr id="15" name="p14-m2"/>
          <p:cNvSpPr txBox="1"/>
          <p:nvPr/>
        </p:nvSpPr>
        <p:spPr>
          <a:xfrm>
            <a:off x="6908800" y="42164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2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接近线性</a:t>
            </a:r>
            <a:endParaRPr lang="en-US" sz="2200" noProof="1"/>
          </a:p>
        </p:txBody>
      </p:sp>
      <p:sp>
        <p:nvSpPr>
          <p:cNvPr id="16" name="p14-m2c"/>
          <p:cNvSpPr txBox="1"/>
          <p:nvPr/>
        </p:nvSpPr>
        <p:spPr>
          <a:xfrm>
            <a:off x="6908800" y="46482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5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两个方向的扩展趋势</a:t>
            </a:r>
            <a:endParaRPr lang="en-US" sz="1000" noProof="1"/>
          </a:p>
        </p:txBody>
      </p:sp>
      <p:sp>
        <p:nvSpPr>
          <p:cNvPr id="17" name="p14-m3"/>
          <p:cNvSpPr txBox="1"/>
          <p:nvPr/>
        </p:nvSpPr>
        <p:spPr>
          <a:xfrm>
            <a:off x="9194800" y="42164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2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约 100×</a:t>
            </a:r>
            <a:endParaRPr lang="en-US" sz="2200" noProof="1"/>
          </a:p>
        </p:txBody>
      </p:sp>
      <p:sp>
        <p:nvSpPr>
          <p:cNvPr id="18" name="p14-m3c"/>
          <p:cNvSpPr txBox="1"/>
          <p:nvPr/>
        </p:nvSpPr>
        <p:spPr>
          <a:xfrm>
            <a:off x="9194800" y="46482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5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单位成本优势，非端到端加速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技术不是可有可无：优化后规模 10×、速度 2–4×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15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5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上半区：各算子的扩展表现；下半区：优化组合对比</a:t>
            </a:r>
            <a:endParaRPr lang="en-US" sz="2000" noProof="1"/>
          </a:p>
        </p:txBody>
      </p:sp>
      <p:pic>
        <p:nvPicPr>
          <p:cNvPr id="9" name="p15-fig6"/>
          <p:cNvPicPr/>
          <p:nvPr/>
        </p:nvPicPr>
        <p:blipFill>
          <a:blip r:embed="rId1"/>
          <a:srcRect t="-19" b="-19"/>
          <a:stretch>
            <a:fillRect/>
          </a:stretch>
        </p:blipFill>
        <p:spPr>
          <a:xfrm>
            <a:off x="508000" y="1447800"/>
            <a:ext cx="5334000" cy="3048000"/>
          </a:xfrm>
          <a:prstGeom prst="rect">
            <a:avLst/>
          </a:prstGeom>
          <a:ln>
            <a:noFill/>
          </a:ln>
        </p:spPr>
      </p:pic>
      <p:pic>
        <p:nvPicPr>
          <p:cNvPr id="10" name="p15-fig7"/>
          <p:cNvPicPr/>
          <p:nvPr/>
        </p:nvPicPr>
        <p:blipFill>
          <a:blip r:embed="rId2"/>
          <a:srcRect t="-194" b="-194"/>
          <a:stretch>
            <a:fillRect/>
          </a:stretch>
        </p:blipFill>
        <p:spPr>
          <a:xfrm>
            <a:off x="6096000" y="1447800"/>
            <a:ext cx="3403600" cy="3048000"/>
          </a:xfrm>
          <a:prstGeom prst="rect">
            <a:avLst/>
          </a:prstGeom>
          <a:ln>
            <a:noFill/>
          </a:ln>
        </p:spPr>
      </p:pic>
      <p:sp>
        <p:nvSpPr>
          <p:cNvPr id="11" name="p15-cap6"/>
          <p:cNvSpPr txBox="1"/>
          <p:nvPr/>
        </p:nvSpPr>
        <p:spPr>
          <a:xfrm>
            <a:off x="508000" y="45466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Lag 与 FFT ｜ Source: DIZK, Fig. 6</a:t>
            </a:r>
            <a:endParaRPr lang="en-US" sz="1000" noProof="1"/>
          </a:p>
        </p:txBody>
      </p:sp>
      <p:sp>
        <p:nvSpPr>
          <p:cNvPr id="12" name="p15-cap7"/>
          <p:cNvSpPr txBox="1"/>
          <p:nvPr/>
        </p:nvSpPr>
        <p:spPr>
          <a:xfrm>
            <a:off x="6096000" y="4546600"/>
            <a:ext cx="3403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fixMSM 与 varMSM ｜ Source: DIZK, Fig. 7</a:t>
            </a:r>
            <a:endParaRPr lang="en-US" sz="1000" noProof="1"/>
          </a:p>
        </p:txBody>
      </p:sp>
      <p:sp>
        <p:nvSpPr>
          <p:cNvPr id="13" name="p15-band"/>
          <p:cNvSpPr/>
          <p:nvPr/>
        </p:nvSpPr>
        <p:spPr>
          <a:xfrm>
            <a:off x="508000" y="4876800"/>
            <a:ext cx="10414000" cy="106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p15-band-t"/>
          <p:cNvSpPr txBox="1"/>
          <p:nvPr/>
        </p:nvSpPr>
        <p:spPr>
          <a:xfrm>
            <a:off x="812800" y="4978400"/>
            <a:ext cx="9804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系统级综合对照（论文 §10.3，32 与 64 executors 的可行实例）：完整优化版相对未采用这些优化、依赖 skewjoin 等通用方案的版本，可处理的实例规模大 10×，Setup 与 Prover 快 2–4×。论文比较的是优化组合与未优化组合，并未对每个模块做孤立消融。</a:t>
            </a:r>
            <a:endParaRPr lang="en-US" sz="1600" noProof="1"/>
          </a:p>
        </p:txBody>
      </p:sp>
      <p:sp>
        <p:nvSpPr>
          <p:cNvPr id="15" name="p15-src"/>
          <p:cNvSpPr txBox="1"/>
          <p:nvPr/>
        </p:nvSpPr>
        <p:spPr>
          <a:xfrm>
            <a:off x="508000" y="60452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根据论文 Fig. 6、Fig. 7 与 §10.3 重绘 ｜ 两个版本都使用相同的集群与曲线参数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应用一：给照片编辑出具“只做了允许操作”的证明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16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6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第三方不需要原图，就能验证修图只用了被允许的操作</a:t>
            </a:r>
            <a:endParaRPr lang="en-US" sz="2000" noProof="1"/>
          </a:p>
        </p:txBody>
      </p:sp>
      <p:sp>
        <p:nvSpPr>
          <p:cNvPr id="9" name="p16-flow"/>
          <p:cNvSpPr/>
          <p:nvPr/>
        </p:nvSpPr>
        <p:spPr>
          <a:xfrm>
            <a:off x="508000" y="1473200"/>
            <a:ext cx="108712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16-chip-1"/>
          <p:cNvSpPr/>
          <p:nvPr/>
        </p:nvSpPr>
        <p:spPr>
          <a:xfrm>
            <a:off x="812800" y="1778000"/>
            <a:ext cx="2286000" cy="50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1" name="p16-chip-1-t"/>
          <p:cNvSpPr txBox="1"/>
          <p:nvPr/>
        </p:nvSpPr>
        <p:spPr>
          <a:xfrm>
            <a:off x="889000" y="18542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签名相机对原图 commitment 签名</a:t>
            </a:r>
            <a:endParaRPr lang="en-US" sz="1000" noProof="1"/>
          </a:p>
        </p:txBody>
      </p:sp>
      <p:sp>
        <p:nvSpPr>
          <p:cNvPr id="12" name="p16-chip-2"/>
          <p:cNvSpPr/>
          <p:nvPr/>
        </p:nvSpPr>
        <p:spPr>
          <a:xfrm>
            <a:off x="3759200" y="1778000"/>
            <a:ext cx="2286000" cy="50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3" name="p16-chip-2-t"/>
          <p:cNvSpPr txBox="1"/>
          <p:nvPr/>
        </p:nvSpPr>
        <p:spPr>
          <a:xfrm>
            <a:off x="3835400" y="18542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允许的 crop / rotation / blur</a:t>
            </a:r>
            <a:endParaRPr lang="en-US" sz="1000" noProof="1"/>
          </a:p>
        </p:txBody>
      </p:sp>
      <p:sp>
        <p:nvSpPr>
          <p:cNvPr id="14" name="p16-chip-3"/>
          <p:cNvSpPr/>
          <p:nvPr/>
        </p:nvSpPr>
        <p:spPr>
          <a:xfrm>
            <a:off x="6705600" y="1778000"/>
            <a:ext cx="1905000" cy="50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5" name="p16-chip-3-t"/>
          <p:cNvSpPr txBox="1"/>
          <p:nvPr/>
        </p:nvSpPr>
        <p:spPr>
          <a:xfrm>
            <a:off x="6781800" y="1854200"/>
            <a:ext cx="1752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编辑图 + commitment + π</a:t>
            </a:r>
            <a:endParaRPr lang="en-US" sz="1000" noProof="1"/>
          </a:p>
        </p:txBody>
      </p:sp>
      <p:sp>
        <p:nvSpPr>
          <p:cNvPr id="16" name="p16-chip-4"/>
          <p:cNvSpPr/>
          <p:nvPr/>
        </p:nvSpPr>
        <p:spPr>
          <a:xfrm>
            <a:off x="9398000" y="1778000"/>
            <a:ext cx="1981200" cy="508000"/>
          </a:xfrm>
          <a:prstGeom prst="rect">
            <a:avLst/>
          </a:prstGeom>
          <a:solidFill>
            <a:srgbClr val="071F65"/>
          </a:solidFill>
          <a:ln>
            <a:noFill/>
          </a:ln>
        </p:spPr>
      </p:sp>
      <p:sp>
        <p:nvSpPr>
          <p:cNvPr id="17" name="p16-chip-4-t"/>
          <p:cNvSpPr txBox="1"/>
          <p:nvPr/>
        </p:nvSpPr>
        <p:spPr>
          <a:xfrm>
            <a:off x="9474200" y="18542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验证者检查合法性</a:t>
            </a:r>
            <a:endParaRPr lang="en-US" sz="1000" noProof="1"/>
          </a:p>
        </p:txBody>
      </p:sp>
      <p:sp>
        <p:nvSpPr>
          <p:cNvPr id="18" name="p16-ar-1"/>
          <p:cNvSpPr/>
          <p:nvPr/>
        </p:nvSpPr>
        <p:spPr>
          <a:xfrm>
            <a:off x="3124200" y="1955800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48" h="10">
                <a:moveTo>
                  <a:pt x="0" y="5"/>
                </a:moveTo>
                <a:lnTo>
                  <a:pt x="48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sp>
        <p:nvSpPr>
          <p:cNvPr id="19" name="p16-ar-2"/>
          <p:cNvSpPr/>
          <p:nvPr/>
        </p:nvSpPr>
        <p:spPr>
          <a:xfrm>
            <a:off x="6070600" y="1955800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48" h="10">
                <a:moveTo>
                  <a:pt x="0" y="5"/>
                </a:moveTo>
                <a:lnTo>
                  <a:pt x="48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sp>
        <p:nvSpPr>
          <p:cNvPr id="20" name="p16-ar-3"/>
          <p:cNvSpPr/>
          <p:nvPr/>
        </p:nvSpPr>
        <p:spPr>
          <a:xfrm>
            <a:off x="8763000" y="1955800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48" h="10">
                <a:moveTo>
                  <a:pt x="0" y="5"/>
                </a:moveTo>
                <a:lnTo>
                  <a:pt x="48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graphicFrame>
        <p:nvGraphicFramePr>
          <p:cNvPr id="21" name="p16-table"/>
          <p:cNvGraphicFramePr>
            <a:graphicFrameLocks noGrp="1"/>
          </p:cNvGraphicFramePr>
          <p:nvPr/>
        </p:nvGraphicFramePr>
        <p:xfrm>
          <a:off x="508000" y="2819400"/>
          <a:ext cx="11176000" cy="1930400"/>
        </p:xfrm>
        <a:graphic>
          <a:graphicData uri="http://schemas.openxmlformats.org/drawingml/2006/table">
            <a:tbl>
              <a:tblPr/>
              <a:tblGrid>
                <a:gridCol w="3352800"/>
                <a:gridCol w="2235200"/>
                <a:gridCol w="2905760"/>
                <a:gridCol w="2682240"/>
              </a:tblGrid>
              <a:tr h="463296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2048 × 2048 黑白图上的操作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约束数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Constraints 生成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Witness 生成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</a:tr>
              <a:tr h="488391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crop 裁剪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4.2 M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34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8391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rotation 旋转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138 M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7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14.6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490322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blur 模糊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13.6 M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3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31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p16-note"/>
          <p:cNvSpPr txBox="1"/>
          <p:nvPr/>
        </p:nvSpPr>
        <p:spPr>
          <a:xfrm>
            <a:off x="508000" y="4851400"/>
            <a:ext cx="10058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口径说明：表中秒数只是 64 executors 下 constraints generation 与 witness generation 的耗时，不含 zkSNARK 的 Setup / Prover 时间。论文指出 witness 生成因数据 shuffle 更贵，两者相对 SNARK 开销都可以忽略。</a:t>
            </a:r>
            <a:endParaRPr lang="en-US" sz="1000" noProof="1"/>
          </a:p>
        </p:txBody>
      </p:sp>
      <p:sp>
        <p:nvSpPr>
          <p:cNvPr id="23" name="p16-src"/>
          <p:cNvSpPr txBox="1"/>
          <p:nvPr/>
        </p:nvSpPr>
        <p:spPr>
          <a:xfrm>
            <a:off x="508000" y="53086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数据来源：DIZK §7.1 与 Fig. 9 ｜ 论文实现的是黑白图，彩色图（RGB）只是可扩展设想，本文未做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应用二：证明公开模型确由私有数据按公开算法训练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17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7-lead"/>
          <p:cNvSpPr txBox="1"/>
          <p:nvPr/>
        </p:nvSpPr>
        <p:spPr>
          <a:xfrm>
            <a:off x="508000" y="1028700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医院不公开数据，公众仍能验证模型是按公开算法在私有数据上训练的</a:t>
            </a:r>
            <a:endParaRPr lang="en-US" sz="2000" noProof="1"/>
          </a:p>
        </p:txBody>
      </p:sp>
      <p:sp>
        <p:nvSpPr>
          <p:cNvPr id="9" name="fig-h1-head"/>
          <p:cNvSpPr/>
          <p:nvPr/>
        </p:nvSpPr>
        <p:spPr>
          <a:xfrm>
            <a:off x="787400" y="1600200"/>
            <a:ext cx="215900" cy="215900"/>
          </a:xfrm>
          <a:prstGeom prst="ellipse">
            <a:avLst/>
          </a:prstGeom>
          <a:noFill/>
          <a:ln w="15875">
            <a:solidFill>
              <a:srgbClr val="0F2942"/>
            </a:solidFill>
          </a:ln>
        </p:spPr>
      </p:sp>
      <p:sp>
        <p:nvSpPr>
          <p:cNvPr id="10" name="fig-h1-body"/>
          <p:cNvSpPr/>
          <p:nvPr/>
        </p:nvSpPr>
        <p:spPr>
          <a:xfrm>
            <a:off x="660400" y="1866900"/>
            <a:ext cx="469900" cy="330200"/>
          </a:xfrm>
          <a:prstGeom prst="roundRect">
            <a:avLst>
              <a:gd name="adj" fmla="val 32000"/>
            </a:avLst>
          </a:prstGeom>
          <a:noFill/>
          <a:ln w="15875">
            <a:solidFill>
              <a:srgbClr val="0F2942"/>
            </a:solidFill>
          </a:ln>
        </p:spPr>
      </p:sp>
      <p:sp>
        <p:nvSpPr>
          <p:cNvPr id="11" name="bubble-h1"/>
          <p:cNvSpPr/>
          <p:nvPr/>
        </p:nvSpPr>
        <p:spPr>
          <a:xfrm>
            <a:off x="1320800" y="1524000"/>
            <a:ext cx="350520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" name="bubble-h1-text"/>
          <p:cNvSpPr txBox="1"/>
          <p:nvPr/>
        </p:nvSpPr>
        <p:spPr>
          <a:xfrm>
            <a:off x="1485900" y="1638300"/>
            <a:ext cx="3175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医院：患者隐私数据受法律保护，绝不能公开。</a:t>
            </a:r>
            <a:endParaRPr lang="en-US" sz="1300" noProof="1"/>
          </a:p>
        </p:txBody>
      </p:sp>
      <p:sp>
        <p:nvSpPr>
          <p:cNvPr id="13" name="fig-r1-head"/>
          <p:cNvSpPr/>
          <p:nvPr/>
        </p:nvSpPr>
        <p:spPr>
          <a:xfrm>
            <a:off x="787400" y="2565400"/>
            <a:ext cx="215900" cy="215900"/>
          </a:xfrm>
          <a:prstGeom prst="ellipse">
            <a:avLst/>
          </a:prstGeom>
          <a:noFill/>
          <a:ln w="15875">
            <a:solidFill>
              <a:srgbClr val="0F2942"/>
            </a:solidFill>
          </a:ln>
        </p:spPr>
      </p:sp>
      <p:sp>
        <p:nvSpPr>
          <p:cNvPr id="14" name="fig-r1-body"/>
          <p:cNvSpPr/>
          <p:nvPr/>
        </p:nvSpPr>
        <p:spPr>
          <a:xfrm>
            <a:off x="660400" y="2832100"/>
            <a:ext cx="469900" cy="330200"/>
          </a:xfrm>
          <a:prstGeom prst="roundRect">
            <a:avLst>
              <a:gd name="adj" fmla="val 32000"/>
            </a:avLst>
          </a:prstGeom>
          <a:noFill/>
          <a:ln w="15875">
            <a:solidFill>
              <a:srgbClr val="0F2942"/>
            </a:solidFill>
          </a:ln>
        </p:spPr>
      </p:sp>
      <p:sp>
        <p:nvSpPr>
          <p:cNvPr id="15" name="bubble-r1"/>
          <p:cNvSpPr/>
          <p:nvPr/>
        </p:nvSpPr>
        <p:spPr>
          <a:xfrm>
            <a:off x="1320800" y="2489200"/>
            <a:ext cx="350520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6" name="bubble-r1-text"/>
          <p:cNvSpPr txBox="1"/>
          <p:nvPr/>
        </p:nvSpPr>
        <p:spPr>
          <a:xfrm>
            <a:off x="1485900" y="2603500"/>
            <a:ext cx="3175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研究者：那公众如何确信发布的模型没被投毒或伪造？</a:t>
            </a:r>
            <a:endParaRPr lang="en-US" sz="1300" noProof="1"/>
          </a:p>
        </p:txBody>
      </p:sp>
      <p:sp>
        <p:nvSpPr>
          <p:cNvPr id="17" name="p17-ans"/>
          <p:cNvSpPr/>
          <p:nvPr/>
        </p:nvSpPr>
        <p:spPr>
          <a:xfrm>
            <a:off x="508000" y="3479800"/>
            <a:ext cx="4318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p17-ans-t"/>
          <p:cNvSpPr txBox="1"/>
          <p:nvPr/>
        </p:nvSpPr>
        <p:spPr>
          <a:xfrm>
            <a:off x="711200" y="355600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lang="en-US" sz="1000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把训练与检查关系编码为约束，对正确执行出具零知识证明</a:t>
            </a:r>
            <a:endParaRPr lang="en-US" sz="1000" noProof="1"/>
          </a:p>
        </p:txBody>
      </p:sp>
      <p:graphicFrame>
        <p:nvGraphicFramePr>
          <p:cNvPr id="19" name="p17-table"/>
          <p:cNvGraphicFramePr>
            <a:graphicFrameLocks noGrp="1"/>
          </p:cNvGraphicFramePr>
          <p:nvPr/>
        </p:nvGraphicFramePr>
        <p:xfrm>
          <a:off x="5334000" y="1473200"/>
          <a:ext cx="6350000" cy="2540000"/>
        </p:xfrm>
        <a:graphic>
          <a:graphicData uri="http://schemas.openxmlformats.org/drawingml/2006/table">
            <a:tbl>
              <a:tblPr/>
              <a:tblGrid>
                <a:gridCol w="2667000"/>
                <a:gridCol w="1143000"/>
                <a:gridCol w="1270000"/>
                <a:gridCol w="1270000"/>
              </a:tblGrid>
              <a:tr h="63500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应用（64 executors）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约束数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Constraints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Witness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</a:tr>
              <a:tr h="63500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linear regression（2 万点，100 维）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404 M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18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77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covariance matrix（2 万点，100 维）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402 M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13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67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63500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matrix multiply（700 × 700）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685 M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12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62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p17-alg"/>
          <p:cNvSpPr txBox="1"/>
          <p:nvPr/>
        </p:nvSpPr>
        <p:spPr>
          <a:xfrm>
            <a:off x="5334000" y="4114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线性回归不在电路里求逆，而是验证法方程 X^T · X · w = X^T · y</a:t>
            </a:r>
            <a:endParaRPr lang="en-US" sz="1000" noProof="1"/>
          </a:p>
        </p:txBody>
      </p:sp>
      <p:sp>
        <p:nvSpPr>
          <p:cNvPr id="21" name="p17-warn"/>
          <p:cNvSpPr/>
          <p:nvPr/>
        </p:nvSpPr>
        <p:spPr>
          <a:xfrm>
            <a:off x="508000" y="4394200"/>
            <a:ext cx="10795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p17-warn-bar"/>
          <p:cNvSpPr/>
          <p:nvPr/>
        </p:nvSpPr>
        <p:spPr>
          <a:xfrm>
            <a:off x="508000" y="4394200"/>
            <a:ext cx="3810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3" name="p17-warn-t"/>
          <p:cNvSpPr txBox="1"/>
          <p:nvPr/>
        </p:nvSpPr>
        <p:spPr>
          <a:xfrm>
            <a:off x="812800" y="4470400"/>
            <a:ext cx="10236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边界：论文没有评测“输入数据与可信 commitment 一致”的哈希证明，真实部署必须额外补上这一环；表内秒数同样只是 constraints / witness generation 时间。</a:t>
            </a:r>
            <a:endParaRPr lang="en-US" sz="1600" noProof="1"/>
          </a:p>
        </p:txBody>
      </p:sp>
      <p:sp>
        <p:nvSpPr>
          <p:cNvPr id="24" name="p17-src"/>
          <p:cNvSpPr txBox="1"/>
          <p:nvPr/>
        </p:nvSpPr>
        <p:spPr>
          <a:xfrm>
            <a:off x="508000" y="52070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数据来源：DIZK §7.2、§11 与 Fig. 9 ｜ 论文脚注明确说明该一致性证明不在本文研究范围内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边界与风险：能扩展，不等于已经廉价或部署无忧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｜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18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8-lead"/>
          <p:cNvSpPr txBox="1"/>
          <p:nvPr/>
        </p:nvSpPr>
        <p:spPr>
          <a:xfrm>
            <a:off x="508000" y="1028700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能扩展，不等于已经廉价或部署无忧</a:t>
            </a:r>
            <a:endParaRPr lang="en-US" sz="2000" noProof="1"/>
          </a:p>
        </p:txBody>
      </p:sp>
      <p:sp>
        <p:nvSpPr>
          <p:cNvPr id="9" name="p18-q1"/>
          <p:cNvSpPr/>
          <p:nvPr/>
        </p:nvSpPr>
        <p:spPr>
          <a:xfrm>
            <a:off x="508000" y="1473200"/>
            <a:ext cx="5334000" cy="149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18-bar1"/>
          <p:cNvSpPr/>
          <p:nvPr/>
        </p:nvSpPr>
        <p:spPr>
          <a:xfrm>
            <a:off x="508000" y="1473200"/>
            <a:ext cx="38100" cy="14986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p18-h1"/>
          <p:cNvSpPr txBox="1"/>
          <p:nvPr/>
        </p:nvSpPr>
        <p:spPr>
          <a:xfrm>
            <a:off x="736600" y="16256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① 绝对开销依然昂贵</a:t>
            </a:r>
            <a:endParaRPr lang="en-US" sz="1600" noProof="1"/>
          </a:p>
        </p:txBody>
      </p:sp>
      <p:sp>
        <p:nvSpPr>
          <p:cNvPr id="12" name="p18-t1"/>
          <p:cNvSpPr txBox="1"/>
          <p:nvPr/>
        </p:nvSpPr>
        <p:spPr>
          <a:xfrm>
            <a:off x="736600" y="1930400"/>
            <a:ext cx="4902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摊到每门约 10 μs，数十亿门的电路仍需整个集群长时间满负荷运转，机器与电力成本高昂。</a:t>
            </a:r>
            <a:endParaRPr lang="en-US" sz="1400" noProof="1"/>
          </a:p>
        </p:txBody>
      </p:sp>
      <p:sp>
        <p:nvSpPr>
          <p:cNvPr id="13" name="p18-q2"/>
          <p:cNvSpPr/>
          <p:nvPr/>
        </p:nvSpPr>
        <p:spPr>
          <a:xfrm>
            <a:off x="6223000" y="1473200"/>
            <a:ext cx="5334000" cy="149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p18-bar2"/>
          <p:cNvSpPr/>
          <p:nvPr/>
        </p:nvSpPr>
        <p:spPr>
          <a:xfrm>
            <a:off x="6223000" y="1473200"/>
            <a:ext cx="38100" cy="14986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5" name="p18-h2"/>
          <p:cNvSpPr txBox="1"/>
          <p:nvPr/>
        </p:nvSpPr>
        <p:spPr>
          <a:xfrm>
            <a:off x="6451600" y="16256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② 预处理系统的固有代价</a:t>
            </a:r>
            <a:endParaRPr lang="en-US" sz="1600" noProof="1"/>
          </a:p>
        </p:txBody>
      </p:sp>
      <p:sp>
        <p:nvSpPr>
          <p:cNvPr id="16" name="p18-t2"/>
          <p:cNvSpPr txBox="1"/>
          <p:nvPr/>
        </p:nvSpPr>
        <p:spPr>
          <a:xfrm>
            <a:off x="6451600" y="1930400"/>
            <a:ext cx="4902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依赖电路特定的 trusted setup：电路一改，就要重新跑一次规模庞大的参数生成仪式。</a:t>
            </a:r>
            <a:endParaRPr lang="en-US" sz="1400" noProof="1"/>
          </a:p>
        </p:txBody>
      </p:sp>
      <p:sp>
        <p:nvSpPr>
          <p:cNvPr id="17" name="p18-q3"/>
          <p:cNvSpPr/>
          <p:nvPr/>
        </p:nvSpPr>
        <p:spPr>
          <a:xfrm>
            <a:off x="508000" y="3429000"/>
            <a:ext cx="5334000" cy="165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p18-bar3"/>
          <p:cNvSpPr/>
          <p:nvPr/>
        </p:nvSpPr>
        <p:spPr>
          <a:xfrm>
            <a:off x="508000" y="3429000"/>
            <a:ext cx="38100" cy="1651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p18-h3"/>
          <p:cNvSpPr txBox="1"/>
          <p:nvPr/>
        </p:nvSpPr>
        <p:spPr>
          <a:xfrm>
            <a:off x="736600" y="35814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③ 分布式下的密钥安全</a:t>
            </a:r>
            <a:endParaRPr lang="en-US" sz="1600" noProof="1"/>
          </a:p>
        </p:txBody>
      </p:sp>
      <p:sp>
        <p:nvSpPr>
          <p:cNvPr id="20" name="p18-t3"/>
          <p:cNvSpPr txBox="1"/>
          <p:nvPr/>
        </p:nvSpPr>
        <p:spPr>
          <a:xfrm>
            <a:off x="736600" y="3911600"/>
            <a:ext cx="49022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在数十台多租户节点上安全销毁 setup 产生的秘密随机数，比保护单机内存困难得多，论文未解决分布式 MPC 仪式。</a:t>
            </a:r>
            <a:endParaRPr lang="en-US" sz="1400" noProof="1"/>
          </a:p>
        </p:txBody>
      </p:sp>
      <p:sp>
        <p:nvSpPr>
          <p:cNvPr id="21" name="p18-q4"/>
          <p:cNvSpPr/>
          <p:nvPr/>
        </p:nvSpPr>
        <p:spPr>
          <a:xfrm>
            <a:off x="6223000" y="3429000"/>
            <a:ext cx="5334000" cy="165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p18-bar4"/>
          <p:cNvSpPr/>
          <p:nvPr/>
        </p:nvSpPr>
        <p:spPr>
          <a:xfrm>
            <a:off x="6223000" y="3429000"/>
            <a:ext cx="38100" cy="1651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3" name="p18-h4"/>
          <p:cNvSpPr txBox="1"/>
          <p:nvPr/>
        </p:nvSpPr>
        <p:spPr>
          <a:xfrm>
            <a:off x="6451600" y="35814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④ 应用评测的原型边界</a:t>
            </a:r>
            <a:endParaRPr lang="en-US" sz="1600" noProof="1"/>
          </a:p>
        </p:txBody>
      </p:sp>
      <p:sp>
        <p:nvSpPr>
          <p:cNvPr id="24" name="p18-t4"/>
          <p:cNvSpPr txBox="1"/>
          <p:nvPr/>
        </p:nvSpPr>
        <p:spPr>
          <a:xfrm>
            <a:off x="6451600" y="3911600"/>
            <a:ext cx="49022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照片只做了黑白图；机器学习只覆盖线性回归与协方差矩阵，不能外推到任意深度学习模型。</a:t>
            </a:r>
            <a:endParaRPr lang="en-US" sz="1400" noProof="1"/>
          </a:p>
        </p:txBody>
      </p:sp>
      <p:sp>
        <p:nvSpPr>
          <p:cNvPr id="25" name="p18-src"/>
          <p:cNvSpPr txBox="1"/>
          <p:nvPr/>
        </p:nvSpPr>
        <p:spPr>
          <a:xfrm>
            <a:off x="508000" y="525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以上边界均出自论文 §13 与 §14 的自述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192,&quot;left&quot;:40,&quot;top&quot;:116,&quot;width&quot;:880}"/>
</p:tagLst>
</file>

<file path=ppt/tags/tag2.xml><?xml version="1.0" encoding="utf-8"?>
<p:tagLst xmlns:p="http://schemas.openxmlformats.org/presentationml/2006/main">
  <p:tag name="KSO_WM_DIAGRAM_VIRTUALLY_FRAME" val="{&quot;height&quot;:192,&quot;left&quot;:40,&quot;top&quot;:116,&quot;width&quot;:880}"/>
</p:tagLst>
</file>

<file path=ppt/tags/tag3.xml><?xml version="1.0" encoding="utf-8"?>
<p:tagLst xmlns:p="http://schemas.openxmlformats.org/presentationml/2006/main">
  <p:tag name="KSO_WM_DIAGRAM_VIRTUALLY_FRAME" val="{&quot;height&quot;:192,&quot;left&quot;:40,&quot;top&quot;:116,&quot;width&quot;:880}"/>
</p:tagLst>
</file>

<file path=ppt/tags/tag4.xml><?xml version="1.0" encoding="utf-8"?>
<p:tagLst xmlns:p="http://schemas.openxmlformats.org/presentationml/2006/main">
  <p:tag name="KSO_WM_DIAGRAM_VIRTUALLY_FRAME" val="{&quot;height&quot;:192,&quot;left&quot;:40,&quot;top&quot;:116,&quot;width&quot;:880}"/>
</p:tagLst>
</file>

<file path=ppt/tags/tag5.xml><?xml version="1.0" encoding="utf-8"?>
<p:tagLst xmlns:p="http://schemas.openxmlformats.org/presentationml/2006/main">
  <p:tag name="KSO_WM_DIAGRAM_VIRTUALLY_FRAME" val="{&quot;height&quot;:192,&quot;left&quot;:40,&quot;top&quot;:116,&quot;width&quot;:880}"/>
</p:tagLst>
</file>

<file path=ppt/tags/tag6.xml><?xml version="1.0" encoding="utf-8"?>
<p:tagLst xmlns:p="http://schemas.openxmlformats.org/presentationml/2006/main">
  <p:tag name="KSO_WM_DIAGRAM_VIRTUALLY_FRAME" val="{&quot;height&quot;:192,&quot;left&quot;:40,&quot;top&quot;:116,&quot;width&quot;:880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8477</Words>
  <Application>WPS 演示</Application>
  <PresentationFormat/>
  <Paragraphs>553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Arial</vt:lpstr>
      <vt:lpstr>Noto Sans SC</vt:lpstr>
      <vt:lpstr>Cambria Math</vt:lpstr>
      <vt:lpstr>Times New Roman</vt:lpstr>
      <vt:lpstr>微软雅黑</vt:lpstr>
      <vt:lpstr>MS Mincho</vt:lpstr>
      <vt:lpstr>Segoe Print</vt:lpstr>
      <vt:lpstr>MiSans</vt:lpstr>
      <vt:lpstr>Arial Unicode MS</vt:lpstr>
      <vt:lpstr>Calibri</vt:lpstr>
      <vt:lpstr>Ms.Luce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醒了就饿～</cp:lastModifiedBy>
  <cp:revision>48</cp:revision>
  <dcterms:created xsi:type="dcterms:W3CDTF">2026-09-13T13:07:00Z</dcterms:created>
  <dcterms:modified xsi:type="dcterms:W3CDTF">2026-09-17T05:58:41Z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2052-12.1.0.28505</vt:lpwstr>
  </property>
  <property fmtid="{D5CDD505-2E9C-101B-9397-08002B2CF9AE}" pid="4" name="ICV">
    <vt:lpwstr>9B986C13C71E4A54919ED8D45E754281_12</vt:lpwstr>
  </property>
</Properties>
</file>