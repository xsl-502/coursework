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294" r:id="rId2"/>
    <p:sldId id="295" r:id="rId3"/>
    <p:sldId id="296" r:id="rId4"/>
    <p:sldId id="332" r:id="rId5"/>
    <p:sldId id="333" r:id="rId6"/>
    <p:sldId id="331" r:id="rId7"/>
    <p:sldId id="338" r:id="rId8"/>
    <p:sldId id="339" r:id="rId9"/>
    <p:sldId id="340" r:id="rId10"/>
    <p:sldId id="341" r:id="rId11"/>
    <p:sldId id="342" r:id="rId12"/>
    <p:sldId id="343" r:id="rId13"/>
    <p:sldId id="344" r:id="rId14"/>
    <p:sldId id="345" r:id="rId15"/>
    <p:sldId id="383" r:id="rId16"/>
    <p:sldId id="384" r:id="rId17"/>
    <p:sldId id="346" r:id="rId18"/>
    <p:sldId id="347" r:id="rId19"/>
    <p:sldId id="348" r:id="rId20"/>
    <p:sldId id="349" r:id="rId21"/>
    <p:sldId id="350" r:id="rId22"/>
    <p:sldId id="351" r:id="rId23"/>
    <p:sldId id="352" r:id="rId24"/>
    <p:sldId id="353" r:id="rId25"/>
    <p:sldId id="354" r:id="rId26"/>
    <p:sldId id="355" r:id="rId27"/>
    <p:sldId id="356" r:id="rId28"/>
    <p:sldId id="389" r:id="rId29"/>
    <p:sldId id="385" r:id="rId30"/>
    <p:sldId id="357" r:id="rId31"/>
    <p:sldId id="358" r:id="rId32"/>
    <p:sldId id="367" r:id="rId33"/>
    <p:sldId id="359" r:id="rId34"/>
    <p:sldId id="360" r:id="rId35"/>
    <p:sldId id="361" r:id="rId36"/>
    <p:sldId id="362" r:id="rId37"/>
    <p:sldId id="363" r:id="rId38"/>
    <p:sldId id="364" r:id="rId39"/>
    <p:sldId id="365" r:id="rId40"/>
    <p:sldId id="366" r:id="rId41"/>
    <p:sldId id="368" r:id="rId42"/>
    <p:sldId id="369" r:id="rId43"/>
    <p:sldId id="370" r:id="rId44"/>
    <p:sldId id="371" r:id="rId45"/>
    <p:sldId id="372" r:id="rId46"/>
    <p:sldId id="387" r:id="rId47"/>
    <p:sldId id="374" r:id="rId48"/>
    <p:sldId id="375" r:id="rId49"/>
    <p:sldId id="377" r:id="rId50"/>
    <p:sldId id="379" r:id="rId51"/>
    <p:sldId id="378" r:id="rId52"/>
    <p:sldId id="380" r:id="rId53"/>
    <p:sldId id="381" r:id="rId54"/>
    <p:sldId id="388" r:id="rId55"/>
    <p:sldId id="386" r:id="rId5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9958" autoAdjust="0"/>
    <p:restoredTop sz="74370" autoAdjust="0"/>
  </p:normalViewPr>
  <p:slideViewPr>
    <p:cSldViewPr>
      <p:cViewPr varScale="1">
        <p:scale>
          <a:sx n="74" d="100"/>
          <a:sy n="74" d="100"/>
        </p:scale>
        <p:origin x="105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0" d="100"/>
          <a:sy n="40" d="100"/>
        </p:scale>
        <p:origin x="-1542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20000"/>
              </a:spcBef>
              <a:buFontTx/>
              <a:buChar char="–"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20000"/>
              </a:spcBef>
              <a:buFontTx/>
              <a:buChar char="–"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70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20000"/>
              </a:spcBef>
              <a:buFontTx/>
              <a:buChar char="–"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70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20000"/>
              </a:spcBef>
              <a:buFontTx/>
              <a:buChar char="–"/>
              <a:defRPr sz="1200"/>
            </a:lvl1pPr>
          </a:lstStyle>
          <a:p>
            <a:pPr>
              <a:defRPr/>
            </a:pPr>
            <a:fld id="{1BB44EDF-D03B-4836-93A1-9FD0163FFB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87425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FontTx/>
              <a:buNone/>
              <a:defRPr sz="1200" b="0"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FontTx/>
              <a:buNone/>
              <a:defRPr sz="1200" b="0"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FontTx/>
              <a:buNone/>
              <a:defRPr sz="1200" b="0"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FontTx/>
              <a:buNone/>
              <a:defRPr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C318C20-D11A-41AC-8ABD-BB69D753AA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82176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7D2C1DC-8946-4846-B5DE-6CCD749B3A94}" type="slidenum">
              <a:rPr lang="en-US" altLang="zh-CN" smtClean="0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王勇，电子科技大学</a:t>
            </a:r>
          </a:p>
        </p:txBody>
      </p:sp>
    </p:spTree>
    <p:extLst>
      <p:ext uri="{BB962C8B-B14F-4D97-AF65-F5344CB8AC3E}">
        <p14:creationId xmlns:p14="http://schemas.microsoft.com/office/powerpoint/2010/main" val="1128778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2D2A139-AA4F-4F36-9973-E08E3C3B9804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55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讲一下复杂度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C318C20-D11A-41AC-8ABD-BB69D753AA0E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755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</a:t>
            </a:r>
            <a:r>
              <a:rPr lang="zh-CN" altLang="en-US" dirty="0"/>
              <a:t>讨论</a:t>
            </a:r>
            <a:r>
              <a:rPr lang="en-US" altLang="zh-CN" dirty="0"/>
              <a:t>y^2</a:t>
            </a:r>
            <a:r>
              <a:rPr lang="zh-CN" altLang="en-US" dirty="0"/>
              <a:t>的设计用途</a:t>
            </a:r>
            <a:endParaRPr lang="en-US" altLang="zh-CN" dirty="0"/>
          </a:p>
          <a:p>
            <a:r>
              <a:rPr lang="zh-CN" altLang="en-US" dirty="0"/>
              <a:t>利用剩余定理，模为合数的时候，剩余的乘积是剩余，剩余乘以非剩余是非剩余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C318C20-D11A-41AC-8ABD-BB69D753AA0E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4401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 algn="just">
                  <a:buNone/>
                </a:pPr>
                <a:r>
                  <a:rPr kumimoji="1" lang="zh-CN" altLang="en-US" sz="1200" kern="12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+mn-cs"/>
                  </a:rPr>
                  <a:t>称一个</a:t>
                </a:r>
                <a:r>
                  <a:rPr kumimoji="1" lang="en-US" altLang="zh-CN" sz="1200" kern="12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+mn-cs"/>
                  </a:rPr>
                  <a:t>SSE</a:t>
                </a:r>
                <a:r>
                  <a:rPr kumimoji="1" lang="zh-CN" altLang="en-US" sz="1200" kern="12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+mn-cs"/>
                  </a:rPr>
                  <a:t>方案是</a:t>
                </a:r>
                <a:r>
                  <a:rPr kumimoji="1" lang="en-US" altLang="zh-CN" sz="1200" kern="12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+mn-cs"/>
                  </a:rPr>
                  <a:t>IND2-CKA</a:t>
                </a:r>
                <a:r>
                  <a:rPr kumimoji="1" lang="zh-CN" altLang="en-US" sz="1200" kern="12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+mn-cs"/>
                  </a:rPr>
                  <a:t>安全的，如果任何敌手</a:t>
                </a:r>
                <a:r>
                  <a:rPr kumimoji="1" lang="en-US" altLang="zh-CN" sz="1200" kern="12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+mn-cs"/>
                  </a:rPr>
                  <a:t>A</a:t>
                </a:r>
                <a:r>
                  <a:rPr kumimoji="1" lang="zh-CN" altLang="en-US" sz="1200" kern="12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+mn-cs"/>
                  </a:rPr>
                  <a:t>在上述游戏中的优势都是可忽略的。</a:t>
                </a:r>
              </a:p>
              <a:p>
                <a:pPr marL="0" indent="0" algn="just">
                  <a:buNone/>
                </a:pPr>
                <a:endParaRPr kumimoji="1" lang="en-US" altLang="zh-CN" sz="1200" kern="12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+mn-cs"/>
                </a:endParaRPr>
              </a:p>
              <a:p>
                <a:pPr marL="0" indent="0" algn="just">
                  <a:buNone/>
                </a:pPr>
                <a:r>
                  <a:rPr kumimoji="1" lang="zh-CN" altLang="en-US" sz="1200" kern="12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+mn-cs"/>
                  </a:rPr>
                  <a:t>如果函数</a:t>
                </a:r>
                <a14:m>
                  <m:oMath xmlns:m="http://schemas.openxmlformats.org/officeDocument/2006/math">
                    <m:r>
                      <a:rPr kumimoji="1" lang="en-US" altLang="zh-CN" sz="1200" b="0" i="1" kern="1200" smtClean="0">
                        <a:solidFill>
                          <a:schemeClr val="tx1"/>
                        </a:solidFill>
                        <a:latin typeface="Cambria Math"/>
                        <a:ea typeface="宋体" charset="-122"/>
                        <a:cs typeface="+mn-cs"/>
                      </a:rPr>
                      <m:t>𝑓</m:t>
                    </m:r>
                  </m:oMath>
                </a14:m>
                <a:r>
                  <a:rPr kumimoji="1" lang="zh-CN" altLang="en-US" sz="1200" kern="12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+mn-cs"/>
                  </a:rPr>
                  <a:t>是一个伪随机函数，则方案</a:t>
                </a:r>
                <a14:m>
                  <m:oMath xmlns:m="http://schemas.openxmlformats.org/officeDocument/2006/math">
                    <m:r>
                      <a:rPr kumimoji="1" lang="zh-CN" altLang="en-US" sz="1200" i="1" kern="1200" smtClean="0">
                        <a:solidFill>
                          <a:schemeClr val="tx1"/>
                        </a:solidFill>
                        <a:latin typeface="Cambria Math"/>
                        <a:ea typeface="宋体" charset="-122"/>
                        <a:cs typeface="+mn-cs"/>
                      </a:rPr>
                      <m:t>𝜀</m:t>
                    </m:r>
                  </m:oMath>
                </a14:m>
                <a:r>
                  <a:rPr kumimoji="1" lang="zh-CN" altLang="en-US" sz="1200" kern="12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+mn-cs"/>
                  </a:rPr>
                  <a:t>满足</a:t>
                </a:r>
                <a:r>
                  <a:rPr kumimoji="1" lang="en-US" altLang="zh-CN" sz="1200" kern="12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+mn-cs"/>
                  </a:rPr>
                  <a:t>IND2-CKA</a:t>
                </a:r>
                <a:r>
                  <a:rPr kumimoji="1" lang="zh-CN" altLang="en-US" sz="1200" kern="12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+mn-cs"/>
                  </a:rPr>
                  <a:t>安全性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 algn="just">
                  <a:buNone/>
                </a:pPr>
                <a:r>
                  <a:rPr kumimoji="1" lang="zh-CN" altLang="en-US" sz="1200" kern="12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+mn-cs"/>
                  </a:rPr>
                  <a:t>称一个</a:t>
                </a:r>
                <a:r>
                  <a:rPr kumimoji="1" lang="en-US" altLang="zh-CN" sz="1200" kern="12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+mn-cs"/>
                  </a:rPr>
                  <a:t>SSE</a:t>
                </a:r>
                <a:r>
                  <a:rPr kumimoji="1" lang="zh-CN" altLang="en-US" sz="1200" kern="12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+mn-cs"/>
                  </a:rPr>
                  <a:t>方案是</a:t>
                </a:r>
                <a:r>
                  <a:rPr kumimoji="1" lang="en-US" altLang="zh-CN" sz="1200" kern="12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+mn-cs"/>
                  </a:rPr>
                  <a:t>IND2-CKA</a:t>
                </a:r>
                <a:r>
                  <a:rPr kumimoji="1" lang="zh-CN" altLang="en-US" sz="1200" kern="12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+mn-cs"/>
                  </a:rPr>
                  <a:t>安全的，如果任何敌手</a:t>
                </a:r>
                <a:r>
                  <a:rPr kumimoji="1" lang="en-US" altLang="zh-CN" sz="1200" kern="12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+mn-cs"/>
                  </a:rPr>
                  <a:t>A</a:t>
                </a:r>
                <a:r>
                  <a:rPr kumimoji="1" lang="zh-CN" altLang="en-US" sz="1200" kern="12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+mn-cs"/>
                  </a:rPr>
                  <a:t>在上述游戏中的优势都是可忽略的。</a:t>
                </a:r>
              </a:p>
              <a:p>
                <a:pPr marL="0" indent="0" algn="just">
                  <a:buNone/>
                </a:pPr>
                <a:endParaRPr kumimoji="1" lang="en-US" altLang="zh-CN" sz="1200" kern="12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+mn-cs"/>
                </a:endParaRPr>
              </a:p>
              <a:p>
                <a:pPr marL="0" indent="0" algn="just">
                  <a:buNone/>
                </a:pPr>
                <a:r>
                  <a:rPr kumimoji="1" lang="zh-CN" altLang="en-US" sz="1200" kern="12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+mn-cs"/>
                  </a:rPr>
                  <a:t>如果函数</a:t>
                </a:r>
                <a:r>
                  <a:rPr kumimoji="1" lang="en-US" altLang="zh-CN" sz="1200" b="0" i="0" kern="1200">
                    <a:solidFill>
                      <a:schemeClr val="tx1"/>
                    </a:solidFill>
                    <a:latin typeface="Cambria Math"/>
                    <a:ea typeface="宋体" charset="-122"/>
                    <a:cs typeface="+mn-cs"/>
                  </a:rPr>
                  <a:t>𝑓</a:t>
                </a:r>
                <a:r>
                  <a:rPr kumimoji="1" lang="zh-CN" altLang="en-US" sz="1200" kern="12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+mn-cs"/>
                  </a:rPr>
                  <a:t>是一个伪随机函数，则方案</a:t>
                </a:r>
                <a:r>
                  <a:rPr kumimoji="1" lang="zh-CN" altLang="en-US" sz="1200" i="0" kern="1200">
                    <a:solidFill>
                      <a:schemeClr val="tx1"/>
                    </a:solidFill>
                    <a:latin typeface="Cambria Math"/>
                    <a:ea typeface="宋体" charset="-122"/>
                    <a:cs typeface="+mn-cs"/>
                  </a:rPr>
                  <a:t>𝜀</a:t>
                </a:r>
                <a:r>
                  <a:rPr kumimoji="1" lang="zh-CN" altLang="en-US" sz="1200" kern="12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+mn-cs"/>
                  </a:rPr>
                  <a:t>满足</a:t>
                </a:r>
                <a:r>
                  <a:rPr kumimoji="1" lang="en-US" altLang="zh-CN" sz="1200" kern="12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+mn-cs"/>
                  </a:rPr>
                  <a:t>IND2-CKA</a:t>
                </a:r>
                <a:r>
                  <a:rPr kumimoji="1" lang="zh-CN" altLang="en-US" sz="1200" kern="12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+mn-cs"/>
                  </a:rPr>
                  <a:t>安全性</a:t>
                </a:r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C318C20-D11A-41AC-8ABD-BB69D753AA0E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7153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IND-CKA（indistinguishability under chosen keyword attack）模型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这个模型要求攻击者随机选择一个搜索关键字，然后尝试获取对应的加密文本，但只能进行少于k次询问。该模型认为，如果攻击者在多次询问后无法确定任何一个关键字与其对应的密文，那么该PEKS方案应该被认为是安全的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IND-KPA（indistinguishability under chosen-keyword plaintext attack）模型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这个模型要求攻击者区分目标密文和随机生成的其他密文。攻击者可以先选择一个关键字并获取对应的加密文本，然后进行恶意修改并再次加密，尝试使密文与原始文本不同。该模型认为，如果攻击者无法将目标密文与其他密文区分开来，那么该PEKS方案应该被认为是安全的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IND-KIA（indistinguishability under chosen-keyword identity attack）模型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这个模型要求攻击者区分目标明文和随机生成的其他明文。类似于IND-KPA模型，攻击者可以选择一个关键字，获取对应的密文，并尝试区分目标明文和随机生成的其他明文。如果攻击者无法将目标密文与其他明文区分开来，那么该PEKS方案应该被认为是安全的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C318C20-D11A-41AC-8ABD-BB69D753AA0E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1034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rPr>
              <a:t>由于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rPr>
              <a:t>IND2-CKA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rPr>
              <a:t>对陷门的安全性并没有提出明确的要求，因此又提出了基于模拟的安全性（也称模拟安全性）定义，其要求服务器无法获得查询结果以外的任何信息。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C318C20-D11A-41AC-8ABD-BB69D753AA0E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5428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关键词暴露了？在哪里？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C318C20-D11A-41AC-8ABD-BB69D753AA0E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43528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TF</a:t>
            </a:r>
            <a:r>
              <a:rPr lang="zh-CN" altLang="en-US" dirty="0"/>
              <a:t>：</a:t>
            </a:r>
            <a:r>
              <a:rPr lang="en-US" altLang="zh-CN" dirty="0"/>
              <a:t>A term frequency </a:t>
            </a:r>
            <a:r>
              <a:rPr lang="en-US" altLang="zh-CN" dirty="0" err="1"/>
              <a:t>tfw,d</a:t>
            </a:r>
            <a:r>
              <a:rPr lang="en-US" altLang="zh-CN" dirty="0"/>
              <a:t> measures the number of times a word w appears in a document d, which indicates the importance of the word within the document</a:t>
            </a:r>
          </a:p>
          <a:p>
            <a:r>
              <a:rPr lang="en-US" altLang="zh-CN" dirty="0"/>
              <a:t>DF</a:t>
            </a:r>
            <a:r>
              <a:rPr lang="zh-CN" altLang="en-US" dirty="0"/>
              <a:t>：</a:t>
            </a:r>
            <a:r>
              <a:rPr lang="en-US" altLang="zh-CN" dirty="0"/>
              <a:t>document frequency</a:t>
            </a:r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C318C20-D11A-41AC-8ABD-BB69D753AA0E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23150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根据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C318C20-D11A-41AC-8ABD-BB69D753AA0E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2420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BDH</a:t>
            </a:r>
            <a:r>
              <a:rPr lang="zh-CN" altLang="en-US" dirty="0"/>
              <a:t>：双线性</a:t>
            </a:r>
            <a:r>
              <a:rPr lang="en-US" altLang="zh-CN" dirty="0"/>
              <a:t>DH</a:t>
            </a:r>
            <a:r>
              <a:rPr lang="zh-CN" altLang="en-US" dirty="0"/>
              <a:t>问题</a:t>
            </a:r>
            <a:endParaRPr lang="en-US" altLang="zh-CN" dirty="0"/>
          </a:p>
          <a:p>
            <a:r>
              <a:rPr lang="en-US" altLang="zh-CN" dirty="0"/>
              <a:t>BF-IBE</a:t>
            </a:r>
            <a:r>
              <a:rPr lang="zh-CN" altLang="en-US" dirty="0"/>
              <a:t>：身份加密方案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根据双线性映射的性质，</a:t>
            </a:r>
            <a:r>
              <a:rPr lang="en-US" altLang="zh-CN" dirty="0"/>
              <a:t>e(</a:t>
            </a:r>
            <a:r>
              <a:rPr lang="en-US" altLang="zh-CN" dirty="0" err="1"/>
              <a:t>a^x,b^y</a:t>
            </a:r>
            <a:r>
              <a:rPr lang="en-US" altLang="zh-CN" dirty="0"/>
              <a:t>)=e(</a:t>
            </a:r>
            <a:r>
              <a:rPr lang="en-US" altLang="zh-CN" dirty="0" err="1"/>
              <a:t>a,b</a:t>
            </a:r>
            <a:r>
              <a:rPr lang="en-US" altLang="zh-CN" dirty="0"/>
              <a:t>)^</a:t>
            </a:r>
            <a:r>
              <a:rPr lang="en-US" altLang="zh-CN" dirty="0" err="1"/>
              <a:t>xy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Zp</a:t>
            </a:r>
            <a:r>
              <a:rPr lang="zh-CN" altLang="en-US" dirty="0"/>
              <a:t>* 模</a:t>
            </a:r>
            <a:r>
              <a:rPr lang="en-US" altLang="zh-CN" dirty="0"/>
              <a:t>p</a:t>
            </a:r>
            <a:r>
              <a:rPr lang="zh-CN" altLang="en-US" dirty="0"/>
              <a:t>整数域非零元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C318C20-D11A-41AC-8ABD-BB69D753AA0E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15414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DDH </a:t>
            </a:r>
            <a:r>
              <a:rPr lang="zh-CN" altLang="en-US" dirty="0"/>
              <a:t>判定</a:t>
            </a:r>
            <a:r>
              <a:rPr lang="en-US" altLang="zh-CN" dirty="0"/>
              <a:t>DH</a:t>
            </a:r>
            <a:r>
              <a:rPr lang="zh-CN" altLang="en-US" dirty="0"/>
              <a:t>问题</a:t>
            </a:r>
            <a:endParaRPr lang="en-US" altLang="zh-CN" dirty="0"/>
          </a:p>
          <a:p>
            <a:endParaRPr lang="en-US" altLang="zh-CN" dirty="0"/>
          </a:p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  <a:cs typeface="+mn-cs"/>
              </a:rPr>
              <a:t>群的阶就是指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  <a:cs typeface="+mn-cs"/>
              </a:rPr>
              <a:t>群中元素的个数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C318C20-D11A-41AC-8ABD-BB69D753AA0E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4513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A4092C-A5D3-408F-9240-CBFB31DEFA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8373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03848" y="152400"/>
            <a:ext cx="5830416" cy="684312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496" y="1052736"/>
            <a:ext cx="9108504" cy="504056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715E70-AEBD-4454-AB13-A78AC235D6D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3489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265B20-9B11-40F6-8AAA-E8F1731FCD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9989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DD073C-7FCE-4DF6-B2A7-65DF85D675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219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DDE07B-3C09-44A0-9505-248A45FB58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4333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CEE59-F300-4E7F-93CC-C23D378744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0233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EAC744-D37F-49CF-8376-C9E38473F8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682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2A81AA-6554-47D9-92E3-5880635D63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9639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A5D5C5-6125-4AD1-827E-392EB6A0A2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8061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D5A69F-B78E-4B95-A56E-D981721D1CA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9435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84B217-4053-422C-96D8-228D799571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3505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a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6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 Box 8"/>
          <p:cNvSpPr txBox="1">
            <a:spLocks noChangeArrowheads="1"/>
          </p:cNvSpPr>
          <p:nvPr userDrawn="1"/>
        </p:nvSpPr>
        <p:spPr bwMode="auto">
          <a:xfrm>
            <a:off x="549275" y="6308725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0" lang="en-US" altLang="zh-CN" sz="2000">
                <a:solidFill>
                  <a:srgbClr val="0000FF"/>
                </a:solidFill>
              </a:rPr>
              <a:t>Cla.R</a:t>
            </a:r>
          </a:p>
        </p:txBody>
      </p:sp>
      <p:sp>
        <p:nvSpPr>
          <p:cNvPr id="1028" name="Rectangle 9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–"/>
              <a:defRPr/>
            </a:pPr>
            <a:endParaRPr lang="zh-CN" altLang="en-US"/>
          </a:p>
        </p:txBody>
      </p:sp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19872" y="187856"/>
            <a:ext cx="5470376" cy="483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908719"/>
            <a:ext cx="9036496" cy="5247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FontTx/>
              <a:buNone/>
              <a:defRPr sz="1400" b="0"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FontTx/>
              <a:buNone/>
              <a:defRPr sz="1400" b="0"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FontTx/>
              <a:buNone/>
              <a:defRPr sz="14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8280872-7076-4638-8A98-0525A3983E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0000"/>
          </a:solidFill>
          <a:latin typeface="Arial" charset="0"/>
          <a:ea typeface="楷体_GB2312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0000"/>
          </a:solidFill>
          <a:latin typeface="Arial" charset="0"/>
          <a:ea typeface="楷体_GB2312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0000"/>
          </a:solidFill>
          <a:latin typeface="Arial" charset="0"/>
          <a:ea typeface="楷体_GB2312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0000"/>
          </a:solidFill>
          <a:latin typeface="Arial" charset="0"/>
          <a:ea typeface="楷体_GB2312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600" b="1">
          <a:solidFill>
            <a:srgbClr val="FF0000"/>
          </a:solidFill>
          <a:latin typeface="Arial" charset="0"/>
          <a:ea typeface="楷体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600" b="1">
          <a:solidFill>
            <a:srgbClr val="FF0000"/>
          </a:solidFill>
          <a:latin typeface="Arial" charset="0"/>
          <a:ea typeface="楷体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600" b="1">
          <a:solidFill>
            <a:srgbClr val="FF0000"/>
          </a:solidFill>
          <a:latin typeface="Arial" charset="0"/>
          <a:ea typeface="楷体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600" b="1">
          <a:solidFill>
            <a:srgbClr val="FF0000"/>
          </a:solidFill>
          <a:latin typeface="Arial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kumimoji="1"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 b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800" b="1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1600" b="1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57338"/>
            <a:ext cx="7772400" cy="1079500"/>
          </a:xfrm>
        </p:spPr>
        <p:txBody>
          <a:bodyPr/>
          <a:lstStyle/>
          <a:p>
            <a:pPr eaLnBrk="1" hangingPunct="1"/>
            <a:r>
              <a:rPr lang="zh-CN" altLang="en-US" sz="6600" dirty="0">
                <a:solidFill>
                  <a:srgbClr val="FF3300"/>
                </a:solidFill>
                <a:ea typeface="华文行楷" panose="02010800040101010101" pitchFamily="2" charset="-122"/>
              </a:rPr>
              <a:t>网络空间安全</a:t>
            </a:r>
            <a:br>
              <a:rPr lang="zh-CN" altLang="en-US" sz="6600" dirty="0">
                <a:solidFill>
                  <a:srgbClr val="FF3300"/>
                </a:solidFill>
                <a:ea typeface="华文行楷" panose="02010800040101010101" pitchFamily="2" charset="-122"/>
              </a:rPr>
            </a:br>
            <a:r>
              <a:rPr lang="zh-CN" altLang="en-US" sz="4800" dirty="0">
                <a:solidFill>
                  <a:srgbClr val="FF3300"/>
                </a:solidFill>
                <a:ea typeface="华文行楷" panose="02010800040101010101" pitchFamily="2" charset="-122"/>
              </a:rPr>
              <a:t>理论、技术、应用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6600"/>
            <a:ext cx="6400800" cy="1752600"/>
          </a:xfrm>
        </p:spPr>
        <p:txBody>
          <a:bodyPr/>
          <a:lstStyle/>
          <a:p>
            <a:pPr eaLnBrk="1" hangingPunct="1"/>
            <a:r>
              <a:rPr lang="zh-CN" altLang="en-US" dirty="0"/>
              <a:t>王    勇</a:t>
            </a:r>
          </a:p>
          <a:p>
            <a:pPr eaLnBrk="1" hangingPunct="1"/>
            <a:r>
              <a:rPr lang="zh-CN" altLang="en-US" dirty="0"/>
              <a:t>电子科技大学</a:t>
            </a:r>
            <a:r>
              <a:rPr lang="zh-CN" altLang="en-US"/>
              <a:t>计算机学院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>
            <a:extLst>
              <a:ext uri="{FF2B5EF4-FFF2-40B4-BE49-F238E27FC236}">
                <a16:creationId xmlns:a16="http://schemas.microsoft.com/office/drawing/2014/main" id="{DAF03EFE-31B1-4E0C-B073-3AD330FCF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980728"/>
            <a:ext cx="7416824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第四章  </a:t>
            </a:r>
            <a:r>
              <a:rPr lang="zh-CN" altLang="en-US" sz="4400" dirty="0">
                <a:solidFill>
                  <a:schemeClr val="tx1"/>
                </a:solidFill>
                <a:latin typeface="+mn-ea"/>
                <a:ea typeface="+mn-ea"/>
              </a:rPr>
              <a:t>安全检索技术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7C98BAA0-8524-4732-B7AA-E05651D4A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844824"/>
            <a:ext cx="7416824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       4.1 </a:t>
            </a:r>
            <a:r>
              <a:rPr lang="zh-CN" altLang="en-US" sz="3200" dirty="0">
                <a:solidFill>
                  <a:schemeClr val="tx1"/>
                </a:solidFill>
                <a:latin typeface="+mn-ea"/>
                <a:ea typeface="+mn-ea"/>
              </a:rPr>
              <a:t>基本概念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       4.2 </a:t>
            </a:r>
            <a:r>
              <a:rPr lang="zh-CN" altLang="en-US" sz="3200" dirty="0">
                <a:solidFill>
                  <a:schemeClr val="tx1"/>
                </a:solidFill>
                <a:latin typeface="+mn-ea"/>
                <a:ea typeface="+mn-ea"/>
              </a:rPr>
              <a:t>早期安全检索技术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 sz="32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       4.3 </a:t>
            </a:r>
            <a:r>
              <a:rPr lang="zh-CN" altLang="en-US" sz="3200" dirty="0">
                <a:solidFill>
                  <a:schemeClr val="tx1"/>
                </a:solidFill>
                <a:latin typeface="+mn-ea"/>
                <a:ea typeface="+mn-ea"/>
              </a:rPr>
              <a:t>对称密文检索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       4.4 </a:t>
            </a:r>
            <a:r>
              <a:rPr lang="zh-CN" altLang="en-US" sz="3200" dirty="0">
                <a:solidFill>
                  <a:schemeClr val="tx1"/>
                </a:solidFill>
                <a:latin typeface="+mn-ea"/>
                <a:ea typeface="+mn-ea"/>
              </a:rPr>
              <a:t>非对称密文检索</a:t>
            </a:r>
          </a:p>
          <a:p>
            <a:pPr eaLnBrk="1" hangingPunct="1">
              <a:defRPr/>
            </a:pPr>
            <a:endParaRPr lang="en-US" altLang="zh-CN" sz="3200" dirty="0">
              <a:solidFill>
                <a:schemeClr val="tx1"/>
              </a:solidFill>
              <a:latin typeface="+mn-ea"/>
              <a:ea typeface="+mn-ea"/>
            </a:endParaRPr>
          </a:p>
          <a:p>
            <a:pPr eaLnBrk="1" hangingPunct="1">
              <a:defRPr/>
            </a:pPr>
            <a:r>
              <a:rPr lang="en-US" altLang="zh-CN" sz="3200" dirty="0">
                <a:solidFill>
                  <a:schemeClr val="tx1"/>
                </a:solidFill>
                <a:latin typeface="+mn-ea"/>
                <a:ea typeface="+mn-ea"/>
              </a:rPr>
              <a:t>          4.5 </a:t>
            </a:r>
            <a:r>
              <a:rPr lang="zh-CN" altLang="en-US" sz="3200" dirty="0">
                <a:solidFill>
                  <a:schemeClr val="tx1"/>
                </a:solidFill>
                <a:latin typeface="+mn-ea"/>
                <a:ea typeface="+mn-ea"/>
              </a:rPr>
              <a:t>密文区间检索</a:t>
            </a:r>
          </a:p>
        </p:txBody>
      </p:sp>
    </p:spTree>
    <p:extLst>
      <p:ext uri="{BB962C8B-B14F-4D97-AF65-F5344CB8AC3E}">
        <p14:creationId xmlns:p14="http://schemas.microsoft.com/office/powerpoint/2010/main" val="185096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27D05FD-AD7E-4341-AC0B-CF3A9ABE7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385" y="898726"/>
            <a:ext cx="7620000" cy="4800600"/>
          </a:xfrm>
        </p:spPr>
        <p:txBody>
          <a:bodyPr/>
          <a:lstStyle/>
          <a:p>
            <a:r>
              <a:rPr lang="zh-CN" altLang="en-US" dirty="0"/>
              <a:t>两个基本的安全模型</a:t>
            </a:r>
            <a:endParaRPr lang="en-US" altLang="zh-CN" dirty="0"/>
          </a:p>
          <a:p>
            <a:pPr lvl="1"/>
            <a:r>
              <a:rPr lang="zh-CN" altLang="en-US" dirty="0"/>
              <a:t>网络安全模型</a:t>
            </a:r>
            <a:endParaRPr lang="en-US" altLang="zh-CN" dirty="0"/>
          </a:p>
          <a:p>
            <a:pPr lvl="1"/>
            <a:r>
              <a:rPr lang="zh-CN" altLang="en-US" dirty="0"/>
              <a:t>访问控制模型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B70E7B99-92A2-4625-AAD6-A6E1F282E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173163"/>
            <a:ext cx="4167591" cy="225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7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85F75AA4-73D3-41B5-A48C-33D28EBEA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095" y="3756025"/>
            <a:ext cx="4959120" cy="272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4107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  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6632" y="1741424"/>
            <a:ext cx="7772400" cy="4114800"/>
          </a:xfrm>
        </p:spPr>
        <p:txBody>
          <a:bodyPr/>
          <a:lstStyle/>
          <a:p>
            <a:r>
              <a:rPr lang="zh-CN" altLang="en-US" sz="2000" dirty="0"/>
              <a:t>外在攻击者 </a:t>
            </a:r>
            <a:r>
              <a:rPr lang="en-US" altLang="zh-CN" sz="2000" dirty="0"/>
              <a:t>Vs </a:t>
            </a:r>
            <a:r>
              <a:rPr lang="zh-CN" altLang="en-US" sz="2000" dirty="0"/>
              <a:t>合法的好奇者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攻击者的知识</a:t>
            </a:r>
            <a:endParaRPr lang="en-US" altLang="zh-CN" sz="2000" dirty="0"/>
          </a:p>
          <a:p>
            <a:pPr lvl="1"/>
            <a:r>
              <a:rPr lang="zh-CN" altLang="en-US" sz="2000" dirty="0"/>
              <a:t>算法透明</a:t>
            </a:r>
            <a:endParaRPr lang="en-US" altLang="zh-CN" sz="2000" dirty="0"/>
          </a:p>
          <a:p>
            <a:pPr lvl="1"/>
            <a:r>
              <a:rPr lang="zh-CN" altLang="en-US" sz="2000" dirty="0"/>
              <a:t>信息系统的结构，传输协议，信息使用过程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r>
              <a:rPr lang="zh-CN" altLang="en-US" sz="2000" dirty="0"/>
              <a:t>好奇者的知识</a:t>
            </a:r>
            <a:endParaRPr lang="en-US" altLang="zh-CN" sz="2000" dirty="0"/>
          </a:p>
          <a:p>
            <a:pPr lvl="1"/>
            <a:r>
              <a:rPr lang="zh-CN" altLang="en-US" sz="2000" dirty="0"/>
              <a:t>算法透明</a:t>
            </a:r>
            <a:endParaRPr lang="en-US" altLang="zh-CN" sz="2000" dirty="0"/>
          </a:p>
          <a:p>
            <a:pPr lvl="1"/>
            <a:r>
              <a:rPr lang="zh-CN" altLang="en-US" sz="2000" dirty="0"/>
              <a:t>信息系统的结构，传输协议，信息的使用过程</a:t>
            </a:r>
            <a:endParaRPr lang="en-US" altLang="zh-CN" sz="2000" dirty="0"/>
          </a:p>
          <a:p>
            <a:pPr lvl="1"/>
            <a:r>
              <a:rPr lang="zh-CN" altLang="en-US" sz="2000" dirty="0"/>
              <a:t>信息内容</a:t>
            </a:r>
            <a:endParaRPr lang="en-US" altLang="zh-CN" sz="2000" dirty="0"/>
          </a:p>
          <a:p>
            <a:pPr lvl="1"/>
            <a:r>
              <a:rPr lang="zh-CN" altLang="en-US" sz="2000" dirty="0"/>
              <a:t>秘密信息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BC5EEC-31F1-4227-A544-C5C632A32014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925" y="1579315"/>
            <a:ext cx="3343275" cy="153517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9046" y="4847041"/>
            <a:ext cx="1299971" cy="120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924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7624" y="152400"/>
            <a:ext cx="7772400" cy="1143000"/>
          </a:xfrm>
        </p:spPr>
        <p:txBody>
          <a:bodyPr/>
          <a:lstStyle/>
          <a:p>
            <a:r>
              <a:rPr lang="zh-CN" altLang="en-US" dirty="0"/>
              <a:t>背  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800" dirty="0"/>
              <a:t>外在的攻击者 </a:t>
            </a:r>
            <a:r>
              <a:rPr lang="en-US" altLang="zh-CN" sz="1800" dirty="0"/>
              <a:t>Vs </a:t>
            </a:r>
            <a:r>
              <a:rPr lang="zh-CN" altLang="en-US" sz="1800" dirty="0"/>
              <a:t>合法的好奇者</a:t>
            </a:r>
            <a:endParaRPr lang="en-US" altLang="zh-CN" sz="1800" dirty="0"/>
          </a:p>
          <a:p>
            <a:endParaRPr lang="en-US" altLang="zh-CN" sz="1800" dirty="0"/>
          </a:p>
          <a:p>
            <a:r>
              <a:rPr lang="zh-CN" altLang="en-US" sz="1800" dirty="0"/>
              <a:t>攻击者的行为</a:t>
            </a:r>
            <a:endParaRPr lang="en-US" altLang="zh-CN" sz="1800" dirty="0"/>
          </a:p>
          <a:p>
            <a:pPr lvl="1"/>
            <a:r>
              <a:rPr lang="zh-CN" altLang="en-US" sz="1800" dirty="0"/>
              <a:t>猜测：</a:t>
            </a:r>
            <a:r>
              <a:rPr lang="en-US" altLang="zh-CN" sz="1800" dirty="0"/>
              <a:t>brute force attack</a:t>
            </a:r>
            <a:r>
              <a:rPr lang="zh-CN" altLang="en-US" sz="1800" dirty="0"/>
              <a:t>， </a:t>
            </a:r>
            <a:r>
              <a:rPr lang="en-US" altLang="zh-CN" sz="1800" dirty="0"/>
              <a:t>dictionary attack</a:t>
            </a:r>
            <a:r>
              <a:rPr lang="zh-CN" altLang="en-US" sz="1800" dirty="0"/>
              <a:t>，</a:t>
            </a:r>
            <a:endParaRPr lang="en-US" altLang="zh-CN" sz="1800" dirty="0"/>
          </a:p>
          <a:p>
            <a:pPr lvl="1"/>
            <a:r>
              <a:rPr lang="zh-CN" altLang="en-US" sz="1800" dirty="0"/>
              <a:t>漏洞分析与利用：</a:t>
            </a:r>
            <a:r>
              <a:rPr lang="en-US" altLang="zh-CN" sz="1800" dirty="0"/>
              <a:t>buffer overflow</a:t>
            </a:r>
          </a:p>
          <a:p>
            <a:pPr lvl="1"/>
            <a:r>
              <a:rPr lang="zh-CN" altLang="en-US" sz="1800" dirty="0"/>
              <a:t>资源对抗：</a:t>
            </a:r>
            <a:r>
              <a:rPr lang="en-US" altLang="zh-CN" sz="1800" dirty="0" err="1"/>
              <a:t>DoS</a:t>
            </a:r>
            <a:r>
              <a:rPr lang="zh-CN" altLang="en-US" sz="1800" dirty="0"/>
              <a:t>，</a:t>
            </a:r>
            <a:r>
              <a:rPr lang="en-US" altLang="zh-CN" sz="1800" dirty="0" err="1"/>
              <a:t>DDoS</a:t>
            </a:r>
            <a:endParaRPr lang="en-US" altLang="zh-CN" sz="1800" dirty="0"/>
          </a:p>
          <a:p>
            <a:pPr lvl="1"/>
            <a:r>
              <a:rPr lang="zh-CN" altLang="en-US" sz="1800" dirty="0"/>
              <a:t>算法分析：</a:t>
            </a:r>
            <a:r>
              <a:rPr lang="en-US" altLang="zh-CN" sz="1800" dirty="0"/>
              <a:t>DH man-in-the-middle attack</a:t>
            </a:r>
          </a:p>
          <a:p>
            <a:endParaRPr lang="en-US" altLang="zh-CN" sz="1800" dirty="0"/>
          </a:p>
          <a:p>
            <a:r>
              <a:rPr lang="zh-CN" altLang="en-US" sz="1800" dirty="0"/>
              <a:t>好奇者的行为</a:t>
            </a:r>
            <a:endParaRPr lang="en-US" altLang="zh-CN" sz="1800" dirty="0"/>
          </a:p>
          <a:p>
            <a:pPr lvl="1"/>
            <a:r>
              <a:rPr lang="en-US" altLang="zh-CN" sz="1800" dirty="0"/>
              <a:t>Collect</a:t>
            </a:r>
            <a:r>
              <a:rPr lang="zh-CN" altLang="en-US" sz="1800" dirty="0"/>
              <a:t>：</a:t>
            </a:r>
            <a:endParaRPr lang="en-US" altLang="zh-CN" sz="1800" dirty="0"/>
          </a:p>
          <a:p>
            <a:pPr lvl="1"/>
            <a:r>
              <a:rPr lang="en-US" altLang="zh-CN" sz="1800" dirty="0"/>
              <a:t>Background knowledge analysis</a:t>
            </a:r>
            <a:r>
              <a:rPr lang="zh-CN" altLang="en-US" sz="1800" dirty="0"/>
              <a:t>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BC5EEC-31F1-4227-A544-C5C632A32014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925" y="1295400"/>
            <a:ext cx="3343275" cy="153517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0272" y="4509120"/>
            <a:ext cx="1299971" cy="120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809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5616" y="257159"/>
            <a:ext cx="7772400" cy="1143000"/>
          </a:xfrm>
        </p:spPr>
        <p:txBody>
          <a:bodyPr/>
          <a:lstStyle/>
          <a:p>
            <a:r>
              <a:rPr lang="zh-CN" altLang="en-US" dirty="0"/>
              <a:t>背  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计算能力、存储能力、传输能力的增加并未能减轻信息处理的成本，因为人们还需要知道更多的信息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社会分工是人类发展的必然过程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云计算、云存储降低了个人（小实体）信息处理的成本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当信息系统和数据迁移到了云端</a:t>
            </a:r>
            <a:endParaRPr lang="en-US" altLang="zh-CN" sz="2000" dirty="0"/>
          </a:p>
          <a:p>
            <a:pPr lvl="1"/>
            <a:r>
              <a:rPr lang="zh-CN" altLang="en-US" sz="2000" dirty="0"/>
              <a:t>好奇者由内部用户转移为第三方外部实体</a:t>
            </a:r>
            <a:endParaRPr lang="en-US" altLang="zh-CN" sz="2000" dirty="0"/>
          </a:p>
          <a:p>
            <a:pPr lvl="1"/>
            <a:r>
              <a:rPr lang="zh-CN" altLang="en-US" sz="2000" dirty="0"/>
              <a:t>关于信任问题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BC5EEC-31F1-4227-A544-C5C632A32014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282" y="4411291"/>
            <a:ext cx="2575718" cy="244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844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616929"/>
            <a:ext cx="8964488" cy="4114800"/>
          </a:xfrm>
        </p:spPr>
        <p:txBody>
          <a:bodyPr/>
          <a:lstStyle/>
          <a:p>
            <a:r>
              <a:rPr lang="en-US" altLang="zh-CN" sz="4000" dirty="0"/>
              <a:t>Honest-but-curious </a:t>
            </a:r>
            <a:r>
              <a:rPr lang="zh-CN" altLang="en-US" sz="4000" dirty="0"/>
              <a:t>（</a:t>
            </a:r>
            <a:r>
              <a:rPr lang="en-US" altLang="zh-CN" sz="4000" dirty="0"/>
              <a:t>HBC</a:t>
            </a:r>
            <a:r>
              <a:rPr lang="zh-CN" altLang="en-US" sz="4000" dirty="0"/>
              <a:t>） </a:t>
            </a:r>
            <a:r>
              <a:rPr lang="en-US" altLang="zh-CN" sz="4000" dirty="0"/>
              <a:t>model</a:t>
            </a:r>
            <a:endParaRPr lang="zh-CN" altLang="en-US" sz="4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BC5EEC-31F1-4227-A544-C5C632A32014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592" y="1806683"/>
            <a:ext cx="9144000" cy="195055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2" y="4243866"/>
            <a:ext cx="9144000" cy="195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506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107ACD-8398-4FA6-9253-7B2F2EFB0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600" y="210847"/>
            <a:ext cx="7772400" cy="1143000"/>
          </a:xfrm>
        </p:spPr>
        <p:txBody>
          <a:bodyPr/>
          <a:lstStyle/>
          <a:p>
            <a:r>
              <a:rPr lang="zh-CN" altLang="en-US" dirty="0"/>
              <a:t>密文检索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9DB961-1B37-4D73-967D-14C71B800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2620C67-8168-440E-8372-C758B1B99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342759"/>
            <a:ext cx="9144000" cy="5391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978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DA3FBF-C307-4713-959E-20EF1219D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密文检索系统模型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C12A9E-77D1-4EE0-A12F-8F1D7FF3B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54B4141-6850-475D-83C5-B3A9840FF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6300"/>
            <a:ext cx="9144000" cy="476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96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02838-DA19-44B8-AFC1-9454089F5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系统工作流程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86026A-04C5-42AB-9120-D36B89617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175B07C-7597-4EE1-AA0B-DE691D0D5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752600"/>
            <a:ext cx="9144000" cy="461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165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40D590-3D0B-42AF-B849-EF171A357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600" y="75999"/>
            <a:ext cx="7772400" cy="1143000"/>
          </a:xfrm>
        </p:spPr>
        <p:txBody>
          <a:bodyPr/>
          <a:lstStyle/>
          <a:p>
            <a:r>
              <a:rPr lang="zh-CN" altLang="en-US" dirty="0"/>
              <a:t>密文检索的分类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C50662-DE99-4FCC-8713-216F38BBD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5288D5B-65EE-458C-A304-FE32173CD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7" y="1293275"/>
            <a:ext cx="9144000" cy="556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388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09EBEB4-1EA9-4EDB-9069-B49E311C1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71" y="1412776"/>
            <a:ext cx="9144000" cy="466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88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8A2B8D-D49B-4787-9FBE-D914E2A14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早期的安全检索技术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F43D53-7315-4EFC-A9D3-A7C48C0B5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9168E7B-ED0F-47D5-A3B2-794B2AE29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4824"/>
            <a:ext cx="9144000" cy="369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749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100813C-F52A-4BDA-9431-20B2729D8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8520" y="1484784"/>
            <a:ext cx="9144000" cy="5278624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CD43BC12-F96C-483D-88CC-97B8225A2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128" y="0"/>
            <a:ext cx="7772400" cy="1143000"/>
          </a:xfrm>
        </p:spPr>
        <p:txBody>
          <a:bodyPr/>
          <a:lstStyle/>
          <a:p>
            <a:r>
              <a:rPr lang="zh-CN" altLang="en-US" dirty="0"/>
              <a:t>单轮交互</a:t>
            </a:r>
            <a:r>
              <a:rPr lang="en-US" altLang="zh-CN" dirty="0"/>
              <a:t>PIR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1658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9A3777-C591-4A65-9201-485E1B54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示例方案</a:t>
            </a:r>
            <a:r>
              <a:rPr lang="en-US" altLang="zh-CN" dirty="0"/>
              <a:t>-1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F55D7C-F39B-4742-BC19-179BF7260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400" dirty="0"/>
              <a:t>以</a:t>
            </a:r>
            <a:r>
              <a:rPr lang="en-US" altLang="zh-CN" sz="1400" dirty="0"/>
              <a:t>k=4</a:t>
            </a:r>
            <a:r>
              <a:rPr lang="zh-CN" altLang="en-US" sz="1400" dirty="0"/>
              <a:t>为例</a:t>
            </a:r>
            <a:endParaRPr lang="en-US" altLang="zh-CN" sz="1400" dirty="0"/>
          </a:p>
          <a:p>
            <a:r>
              <a:rPr lang="en-US" altLang="zh-CN" sz="1400" dirty="0"/>
              <a:t>(1)</a:t>
            </a:r>
            <a:r>
              <a:rPr lang="zh-CN" altLang="en-US" sz="1400" dirty="0"/>
              <a:t>将数据</a:t>
            </a:r>
            <a:r>
              <a:rPr lang="en-US" altLang="zh-CN" sz="1400" dirty="0"/>
              <a:t>X={x1,x2,…,</a:t>
            </a:r>
            <a:r>
              <a:rPr lang="en-US" altLang="zh-CN" sz="1400" dirty="0" err="1"/>
              <a:t>xn</a:t>
            </a:r>
            <a:r>
              <a:rPr lang="en-US" altLang="zh-CN" sz="1400" dirty="0"/>
              <a:t>}</a:t>
            </a:r>
            <a:r>
              <a:rPr lang="zh-CN" altLang="en-US" sz="1400" dirty="0"/>
              <a:t>表示为</a:t>
            </a:r>
            <a:r>
              <a:rPr lang="en-US" altLang="zh-CN" sz="1400" dirty="0"/>
              <a:t>sqrt</a:t>
            </a:r>
            <a:r>
              <a:rPr lang="zh-CN" altLang="en-US" sz="1400" dirty="0"/>
              <a:t>（</a:t>
            </a:r>
            <a:r>
              <a:rPr lang="en-US" altLang="zh-CN" sz="1400" dirty="0"/>
              <a:t>n</a:t>
            </a:r>
            <a:r>
              <a:rPr lang="zh-CN" altLang="en-US" sz="1400" dirty="0"/>
              <a:t>）*</a:t>
            </a:r>
            <a:r>
              <a:rPr lang="en-US" altLang="zh-CN" sz="1400" dirty="0"/>
              <a:t>sqrt</a:t>
            </a:r>
            <a:r>
              <a:rPr lang="zh-CN" altLang="en-US" sz="1400" dirty="0"/>
              <a:t>（</a:t>
            </a:r>
            <a:r>
              <a:rPr lang="en-US" altLang="zh-CN" sz="1400" dirty="0"/>
              <a:t>n</a:t>
            </a:r>
            <a:r>
              <a:rPr lang="zh-CN" altLang="en-US" sz="1400" dirty="0"/>
              <a:t>）的举证，待查询数据</a:t>
            </a:r>
            <a:r>
              <a:rPr lang="en-US" altLang="zh-CN" sz="1400" dirty="0"/>
              <a:t>xi</a:t>
            </a:r>
            <a:r>
              <a:rPr lang="zh-CN" altLang="en-US" sz="1400" dirty="0"/>
              <a:t>表示为</a:t>
            </a:r>
            <a:r>
              <a:rPr lang="en-US" altLang="zh-CN" sz="1400" dirty="0"/>
              <a:t>xi1</a:t>
            </a:r>
            <a:r>
              <a:rPr lang="zh-CN" altLang="en-US" sz="1400" dirty="0"/>
              <a:t>，</a:t>
            </a:r>
            <a:r>
              <a:rPr lang="en-US" altLang="zh-CN" sz="1400" dirty="0"/>
              <a:t>xi2</a:t>
            </a:r>
            <a:r>
              <a:rPr lang="zh-CN" altLang="en-US" sz="1400" dirty="0"/>
              <a:t>（</a:t>
            </a:r>
            <a:r>
              <a:rPr lang="en-US" altLang="zh-CN" sz="1400" dirty="0"/>
              <a:t>i1</a:t>
            </a:r>
            <a:r>
              <a:rPr lang="zh-CN" altLang="en-US" sz="1400" dirty="0"/>
              <a:t>，</a:t>
            </a:r>
            <a:r>
              <a:rPr lang="en-US" altLang="zh-CN" sz="1400" dirty="0"/>
              <a:t>i2</a:t>
            </a:r>
            <a:r>
              <a:rPr lang="zh-CN" altLang="en-US" sz="1400" dirty="0"/>
              <a:t>为矩阵中的坐标），四个服务器分别为</a:t>
            </a:r>
            <a:r>
              <a:rPr lang="en-US" altLang="zh-CN" sz="1400" dirty="0"/>
              <a:t>DB00</a:t>
            </a:r>
            <a:r>
              <a:rPr lang="zh-CN" altLang="en-US" sz="1400" dirty="0"/>
              <a:t>，</a:t>
            </a:r>
            <a:r>
              <a:rPr lang="en-US" altLang="zh-CN" sz="1400" dirty="0"/>
              <a:t>DB01</a:t>
            </a:r>
            <a:r>
              <a:rPr lang="zh-CN" altLang="en-US" sz="1400" dirty="0"/>
              <a:t>，</a:t>
            </a:r>
            <a:r>
              <a:rPr lang="en-US" altLang="zh-CN" sz="1400" dirty="0"/>
              <a:t>DB10</a:t>
            </a:r>
            <a:r>
              <a:rPr lang="zh-CN" altLang="en-US" sz="1400" dirty="0"/>
              <a:t>，</a:t>
            </a:r>
            <a:r>
              <a:rPr lang="en-US" altLang="zh-CN" sz="1400" dirty="0"/>
              <a:t>DB11</a:t>
            </a:r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zh-CN" altLang="en-US" sz="1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A14A777-2020-45FA-BAC5-85672B2EF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19" y="2060847"/>
            <a:ext cx="8772081" cy="316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70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8E4C15-E0F4-4350-9588-B997368DA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3848" y="0"/>
            <a:ext cx="5830416" cy="684312"/>
          </a:xfrm>
        </p:spPr>
        <p:txBody>
          <a:bodyPr/>
          <a:lstStyle/>
          <a:p>
            <a:r>
              <a:rPr lang="zh-CN" altLang="en-US" dirty="0"/>
              <a:t>示例方案</a:t>
            </a:r>
            <a:r>
              <a:rPr lang="en-US" altLang="zh-CN" dirty="0"/>
              <a:t>-2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4F1940-5504-43A2-9908-5F0418EE3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F9B313-DA36-41D8-9547-AB76929B7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496" y="589023"/>
            <a:ext cx="9144000" cy="144188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791C44E-09A9-497F-A0A0-7538BC335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180" y="2246930"/>
            <a:ext cx="9144000" cy="463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602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591FE8B-44D0-4976-985A-991E60719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6792"/>
            <a:ext cx="9144000" cy="473380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23FA98D3-26EB-4963-9E08-99925FAC4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128" y="0"/>
            <a:ext cx="7772400" cy="1143000"/>
          </a:xfrm>
        </p:spPr>
        <p:txBody>
          <a:bodyPr/>
          <a:lstStyle/>
          <a:p>
            <a:r>
              <a:rPr lang="zh-CN" altLang="en-US" dirty="0"/>
              <a:t>单轮交互</a:t>
            </a:r>
            <a:r>
              <a:rPr lang="en-US" altLang="zh-CN" dirty="0"/>
              <a:t>PIRK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3179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B6821FA-9132-47CD-9535-E3891A650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altLang="zh-CN" dirty="0"/>
              <a:t>SPIR</a:t>
            </a:r>
            <a:r>
              <a:rPr lang="zh-CN" altLang="en-US" dirty="0"/>
              <a:t>技术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23B8C77-430B-405D-BE16-0687CBEA4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8840"/>
            <a:ext cx="9144000" cy="464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702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8FF688-3EBC-4E82-ADBC-AA7E7E634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32" y="0"/>
            <a:ext cx="7772400" cy="1143000"/>
          </a:xfrm>
        </p:spPr>
        <p:txBody>
          <a:bodyPr/>
          <a:lstStyle/>
          <a:p>
            <a:r>
              <a:rPr lang="en-US" altLang="zh-CN" dirty="0"/>
              <a:t>ORAM</a:t>
            </a:r>
            <a:r>
              <a:rPr lang="zh-CN" altLang="en-US" dirty="0"/>
              <a:t>技术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AE83275-1F42-4CD1-B1C4-3D96934AE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1313"/>
            <a:ext cx="9144000" cy="463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254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C8D3C-7E52-4AF3-8C35-1247ED8C9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ORAM</a:t>
            </a:r>
            <a:r>
              <a:rPr lang="zh-CN" altLang="en-US" dirty="0">
                <a:ea typeface="宋体" panose="02010600030101010101" pitchFamily="2" charset="-122"/>
              </a:rPr>
              <a:t>系统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3084D4-FF8C-4D2D-BBA0-1CDF49F3C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DB152E3-8B9A-41FA-BF0C-FC64EE850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3" y="1079590"/>
            <a:ext cx="9144000" cy="498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081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E1E9DC-405B-4A79-8BCC-CF9449AA0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4.3 </a:t>
            </a:r>
            <a:r>
              <a:rPr lang="zh-CN" altLang="en-US" dirty="0">
                <a:latin typeface="+mn-ea"/>
              </a:rPr>
              <a:t>对称密文检索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4CE2DC9-AE30-41BC-B0C7-378E0AED2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3480"/>
            <a:ext cx="9144000" cy="553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14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7E6F07-1676-431B-A04F-DEDE6CA9F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7062" y="80392"/>
            <a:ext cx="5830416" cy="684312"/>
          </a:xfrm>
        </p:spPr>
        <p:txBody>
          <a:bodyPr/>
          <a:lstStyle/>
          <a:p>
            <a:r>
              <a:rPr lang="zh-CN" altLang="en-US" dirty="0"/>
              <a:t>基于全文扫描的方案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F1FFE3-0760-4995-B51A-547B6F1F1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E6F2D7B-A937-41EE-BD31-F261ACB24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4" y="1196752"/>
            <a:ext cx="9144000" cy="5396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0997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713EC2-69F0-4CE7-B646-D0129C9AF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6FAEA7-A92D-40D1-A96C-3BD596B25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6F744F5-F17E-4C56-A1F6-E6B681D4E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0393"/>
            <a:ext cx="9144000" cy="529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568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55124-AE10-44C7-8F6F-375136CAC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效率和安全问题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231C27A-9108-4AD1-B024-7CB8CBC4C2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7944" y="3235532"/>
            <a:ext cx="4212971" cy="272348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DD707B4-C810-40F5-8B55-93ED048DB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340768"/>
            <a:ext cx="90678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0585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634D2F-A9D9-4161-A66A-D0E691C94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基于文档</a:t>
            </a:r>
            <a:r>
              <a:rPr lang="en-US" altLang="zh-CN" dirty="0"/>
              <a:t>-</a:t>
            </a:r>
            <a:r>
              <a:rPr lang="zh-CN" altLang="en-US" dirty="0"/>
              <a:t>关键词索引的方案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C77221-3E2F-45FA-8BC8-679A357D6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B4B5A4E-0FF1-46DD-BD1B-9049DA53C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7" y="1268760"/>
            <a:ext cx="9144000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2845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6945EB-AD14-4CD7-B550-50C2D980E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基于布隆过滤器的密文关键词检索方案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2F86EB-28F6-4FE8-AC1C-D2521E32D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0ABEDBE-F81E-4213-B0B2-473882050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1817"/>
            <a:ext cx="9144000" cy="484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358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0A0563-C717-4547-AAB5-B1841F742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A0D582-95EC-43B5-B662-40FC1BAC2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515B862-CFDC-4E59-9E66-E48F7131D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5559"/>
            <a:ext cx="9144000" cy="470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0596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8ECCBA-F8FE-41CB-AEE4-7D24A96A5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较为常见的安全模型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4EB854-3EE5-4E99-A669-9DE3991537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9512" y="1484784"/>
            <a:ext cx="75745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IND-CKA（indistinguishability under chosen keyword attack）模型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4F8DFD-FC73-42CA-9E49-6CD31E0D1FFD}"/>
              </a:ext>
            </a:extLst>
          </p:cNvPr>
          <p:cNvSpPr/>
          <p:nvPr/>
        </p:nvSpPr>
        <p:spPr>
          <a:xfrm>
            <a:off x="179512" y="2946924"/>
            <a:ext cx="88013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Tx/>
              <a:buChar char="•"/>
            </a:pPr>
            <a:r>
              <a:rPr kumimoji="0" lang="zh-CN" altLang="zh-CN" sz="1800" dirty="0">
                <a:latin typeface="Arial" panose="020B0604020202020204" pitchFamily="34" charset="0"/>
                <a:ea typeface="+mn-ea"/>
              </a:rPr>
              <a:t>IND-KPA（indistinguishability under chosen-keyword plaintext attack）模型</a:t>
            </a:r>
            <a:endParaRPr kumimoji="0" lang="zh-CN" altLang="en-US" sz="1800" dirty="0">
              <a:latin typeface="Arial" panose="020B0604020202020204" pitchFamily="34" charset="0"/>
              <a:ea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0047E4B-8213-4978-BCA0-E9CADFCBC510}"/>
              </a:ext>
            </a:extLst>
          </p:cNvPr>
          <p:cNvSpPr/>
          <p:nvPr/>
        </p:nvSpPr>
        <p:spPr>
          <a:xfrm>
            <a:off x="179512" y="4499828"/>
            <a:ext cx="836959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Tx/>
              <a:buChar char="•"/>
            </a:pPr>
            <a:r>
              <a:rPr kumimoji="0" lang="zh-CN" altLang="zh-CN" sz="1800" dirty="0">
                <a:latin typeface="Arial" panose="020B0604020202020204" pitchFamily="34" charset="0"/>
                <a:ea typeface="+mn-ea"/>
              </a:rPr>
              <a:t>IND-KIA（indistinguishability under chosen-keyword identity attack）模</a:t>
            </a:r>
            <a:r>
              <a:rPr kumimoji="0" lang="zh-CN" altLang="en-US" sz="1800" dirty="0">
                <a:latin typeface="Arial" panose="020B0604020202020204" pitchFamily="34" charset="0"/>
                <a:ea typeface="+mn-ea"/>
              </a:rPr>
              <a:t>型</a:t>
            </a:r>
          </a:p>
        </p:txBody>
      </p:sp>
    </p:spTree>
    <p:extLst>
      <p:ext uri="{BB962C8B-B14F-4D97-AF65-F5344CB8AC3E}">
        <p14:creationId xmlns:p14="http://schemas.microsoft.com/office/powerpoint/2010/main" val="18102428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04D892-CF7D-45CA-89AC-93440057A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关键词检索方案示例</a:t>
            </a:r>
            <a:r>
              <a:rPr lang="en-US" altLang="zh-CN" dirty="0"/>
              <a:t>-3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508C42-B3EB-4BDB-90A1-30598A460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73C0554-A210-4454-BE0E-393F000729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8000"/>
                    </a14:imgEffect>
                    <a14:imgEffect>
                      <a14:brightnessContrast bright="64000" contrast="4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073518"/>
            <a:ext cx="9144000" cy="558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8714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2F1089-08BE-4BA4-AF95-D2AA45D9A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模拟安全性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D3465A-04C0-419D-9663-2ED99F722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9B88E9C-1A55-490B-8247-B92F02E56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77370"/>
            <a:ext cx="9144000" cy="39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3327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D1EA26-2CF8-4BC0-B3A1-4C0DCB8B0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基于关键词</a:t>
            </a:r>
            <a:r>
              <a:rPr lang="en-US" altLang="zh-CN" dirty="0"/>
              <a:t>-</a:t>
            </a:r>
            <a:r>
              <a:rPr lang="zh-CN" altLang="en-US" dirty="0"/>
              <a:t>文档索引的方案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58EC90A4-892F-4DC7-928E-84183D2934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51690" y="1412776"/>
            <a:ext cx="9109075" cy="337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1349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0DA065F-7D3A-4757-AD3E-2156B5C77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7394"/>
            <a:ext cx="9144000" cy="438230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83B9382-5F44-41D0-AB8A-1E883BA1B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倒排文件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685DA7-3ED1-4D83-8C26-F4D40E110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1594" y="809522"/>
            <a:ext cx="9108504" cy="5040560"/>
          </a:xfrm>
        </p:spPr>
        <p:txBody>
          <a:bodyPr/>
          <a:lstStyle/>
          <a:p>
            <a:r>
              <a:rPr lang="en-US" altLang="zh-CN" dirty="0"/>
              <a:t>Inverted file contains a list of pointers (e.g. the number of a page) to all occurrences of that term in the text.</a:t>
            </a:r>
            <a:endParaRPr lang="zh-CN" altLang="en-US" dirty="0"/>
          </a:p>
          <a:p>
            <a:r>
              <a:rPr lang="en-US" altLang="zh-CN" dirty="0"/>
              <a:t>Inverted because it lists for a term, all documents that contain the term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92036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5CFACD-2ED1-485E-904F-AAFD4DE34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基于关键词</a:t>
            </a:r>
            <a:r>
              <a:rPr lang="en-US" altLang="zh-CN" dirty="0"/>
              <a:t>-</a:t>
            </a:r>
            <a:r>
              <a:rPr lang="zh-CN" altLang="en-US" dirty="0"/>
              <a:t>文档索引的方案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7B820E-B2B4-4F87-9F44-FB802EFB8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C33D78B-02BB-414C-8390-9833C4D5F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8531"/>
            <a:ext cx="9144000" cy="388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9026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61892-E262-43D1-A867-A91F0C6BE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方案步骤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B46900-E7E4-4B57-BAD6-844C5A66C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783342B-622B-417A-9FC4-8E928474A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4719"/>
            <a:ext cx="9144000" cy="462856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FE6A9F5-FDD1-4BC1-9C19-44074DF4E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85" y="5828307"/>
            <a:ext cx="862012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5963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1B6BAA-DFBA-42E1-AA2B-CED8A7B05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IND-CKA</a:t>
            </a:r>
            <a:r>
              <a:rPr lang="zh-CN" altLang="en-US" dirty="0"/>
              <a:t>安全性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E1763B-9BA9-4609-9BF1-DA1A04851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8D5D50-957A-4ABE-A6AD-C8FFDBB88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8" y="1159847"/>
            <a:ext cx="9144000" cy="5545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6861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3D5BF-57FD-415F-BB50-67BE40633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安全性定义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4C5520-0EA9-4A8F-A745-D3A7E3238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A41DF5A-7359-418D-BC2E-9B908390C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1230363"/>
            <a:ext cx="9144000" cy="507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927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EBB7CD-86DB-4B44-8A20-7B061833E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非适应性语义安全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7E0CB2-71F6-450B-AFC1-B299640A5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AC6CD84-3390-4A25-828E-10A95341C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1199645"/>
            <a:ext cx="9144000" cy="549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7415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74A702-F586-4696-8637-99B7FAE33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适应性语义安全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E2FA3C-1F33-458D-9FF4-51D8779C3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447BAC0-C054-4B2D-97A4-1623A28B2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1102714"/>
            <a:ext cx="4619625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5210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7A1361-7BEE-41B9-9E1E-812432361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适应性语义安全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A31E04-9F0A-40F4-846C-9D5308DDF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8DBE14-C996-4466-8297-198FDC3CE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1323975"/>
            <a:ext cx="4857750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6499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DA6FAE-1BC7-485B-B742-EB6318558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适应性语义安全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438005-BA19-45D9-B062-1BBBCD39A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zh-CN" altLang="en-US" dirty="0"/>
              <a:t> 称一个密文检索方案是适应性语义安全的，如果对于任意多项式能力的敌手，均存在一个多项式时间模拟算法，使得</a:t>
            </a:r>
            <a:r>
              <a:rPr lang="en-US" altLang="zh-CN" dirty="0"/>
              <a:t>Real</a:t>
            </a:r>
            <a:r>
              <a:rPr lang="zh-CN" altLang="en-US" dirty="0"/>
              <a:t>和</a:t>
            </a:r>
            <a:r>
              <a:rPr lang="en-US" altLang="zh-CN" dirty="0"/>
              <a:t>Sim</a:t>
            </a:r>
            <a:r>
              <a:rPr lang="zh-CN" altLang="en-US" dirty="0"/>
              <a:t>的输出结果无法区分。</a:t>
            </a:r>
          </a:p>
        </p:txBody>
      </p:sp>
    </p:spTree>
    <p:extLst>
      <p:ext uri="{BB962C8B-B14F-4D97-AF65-F5344CB8AC3E}">
        <p14:creationId xmlns:p14="http://schemas.microsoft.com/office/powerpoint/2010/main" val="7147724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5841F8-EE1F-42D8-9173-ED8A3B8AF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AD49F6-744C-4634-BB3B-CFFD8F54E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2724289-10E0-4F3A-A6D3-65801EAF9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5078"/>
            <a:ext cx="9144000" cy="588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0694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2FC91B-674E-4334-9A99-804017E7E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548A3F-A7E1-4923-B7B1-31725B4EE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6792E5C-A0DB-4A68-ACF8-FD18E3C50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6126"/>
            <a:ext cx="9144000" cy="424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6081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2A9AA6-97C7-4BEB-A765-308B39373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94D6F1-441A-4FBC-B83E-498F4D245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1AE2F25-BB58-4E36-8B5F-5C1C908E3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8911"/>
            <a:ext cx="9144000" cy="490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7551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CE800D-B044-4622-A33E-CD012C35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B3B26F-909E-47D9-8005-F3D2B8B1E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6AE8D3D-2DA0-42A8-9362-442BD9BE8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87" y="9525"/>
            <a:ext cx="8734425" cy="68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1048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BFB085-BC4D-4552-A8CF-B59F8A5B5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前向安全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1962B5-849E-4CF2-BD65-A2C37EA51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7894168-0620-4880-A425-56D8659F0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7991"/>
            <a:ext cx="9144000" cy="430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4179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829AB-C095-46EA-969B-C3D67394F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小结和思考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931478-6F06-4211-A327-252BE7CFB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最初人们提出了选择关键词语义安全</a:t>
            </a:r>
            <a:r>
              <a:rPr lang="en-US" altLang="zh-CN" dirty="0"/>
              <a:t>IND-CKA</a:t>
            </a:r>
            <a:r>
              <a:rPr lang="zh-CN" altLang="en-US" dirty="0"/>
              <a:t>和</a:t>
            </a:r>
            <a:r>
              <a:rPr lang="en-US" altLang="zh-CN" dirty="0"/>
              <a:t>IND2-CKA</a:t>
            </a:r>
            <a:r>
              <a:rPr lang="zh-CN" altLang="en-US" dirty="0"/>
              <a:t>，未对陷门的安全性提出明确要求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基于此问题，提出了模拟的安全性定义以及</a:t>
            </a:r>
            <a:r>
              <a:rPr lang="en-US" altLang="zh-CN" dirty="0"/>
              <a:t>4</a:t>
            </a:r>
            <a:r>
              <a:rPr lang="zh-CN" altLang="en-US" dirty="0"/>
              <a:t>个新的安全性定义（非适应性语义安全，非适应性不可区分性，适应性语义安全，适应性不可区分性）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进一步，基于动态性安全问题，提出了前向、后向安全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C000"/>
                </a:solidFill>
              </a:rPr>
              <a:t>思考：沿着这个思路，关键词</a:t>
            </a:r>
            <a:r>
              <a:rPr lang="en-US" altLang="zh-CN" dirty="0">
                <a:solidFill>
                  <a:srgbClr val="FFC000"/>
                </a:solidFill>
              </a:rPr>
              <a:t>-</a:t>
            </a:r>
            <a:r>
              <a:rPr lang="zh-CN" altLang="en-US" dirty="0">
                <a:solidFill>
                  <a:srgbClr val="FFC000"/>
                </a:solidFill>
              </a:rPr>
              <a:t>文档间的关系受到保护了吗？又该如何保护？</a:t>
            </a:r>
          </a:p>
        </p:txBody>
      </p:sp>
    </p:spTree>
    <p:extLst>
      <p:ext uri="{BB962C8B-B14F-4D97-AF65-F5344CB8AC3E}">
        <p14:creationId xmlns:p14="http://schemas.microsoft.com/office/powerpoint/2010/main" val="24433978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0FEC24-6B5D-4E4C-8585-F5FFBED0E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非对称密文检索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944549-D8B2-4203-8E27-C67E9FDAD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E18252C-16D2-4BE4-B5DA-638A47DE0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1052736"/>
            <a:ext cx="9144000" cy="541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0996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C5E6EE-67EC-4780-8961-1591793F1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BDOP-PEKS</a:t>
            </a:r>
            <a:r>
              <a:rPr lang="zh-CN" altLang="en-US" dirty="0"/>
              <a:t>方案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5">
                <a:extLst>
                  <a:ext uri="{FF2B5EF4-FFF2-40B4-BE49-F238E27FC236}">
                    <a16:creationId xmlns:a16="http://schemas.microsoft.com/office/drawing/2014/main" id="{196495CC-100B-4D57-90F1-CA24702450FB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34925" y="1052513"/>
                <a:ext cx="9109075" cy="50403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>
                <a:lvl1pPr marL="342900" indent="-34290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  <a:cs typeface="+mn-cs"/>
                  </a:defRPr>
                </a:lvl1pPr>
                <a:lvl2pPr marL="742950" indent="-28575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  <a:cs typeface="+mn-cs"/>
                  </a:defRPr>
                </a:lvl2pPr>
                <a:lvl3pPr marL="1143000" indent="-22860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  <a:cs typeface="+mn-cs"/>
                  </a:defRPr>
                </a:lvl3pPr>
                <a:lvl4pPr marL="1600200" indent="-22860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  <a:cs typeface="+mn-cs"/>
                  </a:defRPr>
                </a:lvl4pPr>
                <a:lvl5pPr marL="2057400" indent="-22860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1200" kern="12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  <a:cs typeface="+mn-cs"/>
                  </a:defRPr>
                </a:lvl5pPr>
              </a:lstStyle>
              <a:p>
                <a:pPr marL="0" indent="0" algn="just">
                  <a:buNone/>
                </a:pPr>
                <a:r>
                  <a:rPr lang="zh-CN" altLang="en-US" sz="2400" dirty="0">
                    <a:ea typeface="宋体" panose="02010600030101010101" pitchFamily="2" charset="-122"/>
                  </a:rPr>
                  <a:t>       考虑如下</a:t>
                </a:r>
                <a:r>
                  <a:rPr lang="zh-CN" altLang="en-US" sz="2400" b="1" dirty="0">
                    <a:ea typeface="宋体" panose="02010600030101010101" pitchFamily="2" charset="-122"/>
                  </a:rPr>
                  <a:t>应用场景：</a:t>
                </a:r>
                <a:endParaRPr lang="en-US" altLang="zh-CN" sz="2400" b="1" dirty="0">
                  <a:ea typeface="宋体" panose="02010600030101010101" pitchFamily="2" charset="-122"/>
                </a:endParaRPr>
              </a:p>
              <a:p>
                <a:pPr marL="0" indent="0" algn="just">
                  <a:buNone/>
                </a:pPr>
                <a:r>
                  <a:rPr lang="en-US" altLang="zh-CN" sz="2400" dirty="0">
                    <a:ea typeface="宋体" panose="02010600030101010101" pitchFamily="2" charset="-122"/>
                  </a:rPr>
                  <a:t>       </a:t>
                </a:r>
                <a:r>
                  <a:rPr lang="zh-CN" altLang="en-US" sz="2400" dirty="0">
                    <a:ea typeface="宋体" panose="02010600030101010101" pitchFamily="2" charset="-122"/>
                  </a:rPr>
                  <a:t>邮件发送者</a:t>
                </a:r>
                <a:r>
                  <a:rPr lang="en-US" altLang="zh-CN" sz="2400" dirty="0">
                    <a:ea typeface="宋体" panose="02010600030101010101" pitchFamily="2" charset="-122"/>
                  </a:rPr>
                  <a:t>B</a:t>
                </a:r>
                <a:r>
                  <a:rPr lang="zh-CN" altLang="en-US" sz="2400" dirty="0">
                    <a:ea typeface="宋体" panose="02010600030101010101" pitchFamily="2" charset="-122"/>
                  </a:rPr>
                  <a:t>在向邮件接收者</a:t>
                </a:r>
                <a:r>
                  <a:rPr lang="en-US" altLang="zh-CN" sz="2400" dirty="0">
                    <a:ea typeface="宋体" panose="02010600030101010101" pitchFamily="2" charset="-122"/>
                  </a:rPr>
                  <a:t>A</a:t>
                </a:r>
                <a:r>
                  <a:rPr lang="zh-CN" altLang="en-US" sz="2400" dirty="0">
                    <a:ea typeface="宋体" panose="02010600030101010101" pitchFamily="2" charset="-122"/>
                  </a:rPr>
                  <a:t>发送邮件时，首先使用</a:t>
                </a:r>
                <a:r>
                  <a:rPr lang="en-US" altLang="zh-CN" sz="2400" dirty="0">
                    <a:ea typeface="宋体" panose="02010600030101010101" pitchFamily="2" charset="-122"/>
                  </a:rPr>
                  <a:t>A</a:t>
                </a:r>
                <a:r>
                  <a:rPr lang="zh-CN" altLang="en-US" sz="2400" dirty="0">
                    <a:ea typeface="宋体" panose="02010600030101010101" pitchFamily="2" charset="-122"/>
                  </a:rPr>
                  <a:t>的公钥对邮件包含的各关键词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</a:rPr>
                      <m:t>,</m:t>
                    </m:r>
                    <m:r>
                      <a:rPr lang="en-US" altLang="zh-CN" sz="2400" i="1">
                        <a:latin typeface="Cambria Math"/>
                      </a:rPr>
                      <m:t>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ea typeface="宋体" panose="02010600030101010101" pitchFamily="2" charset="-122"/>
                  </a:rPr>
                  <a:t>分别构造相应的索引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</a:rPr>
                      <m:t> </m:t>
                    </m:r>
                  </m:oMath>
                </a14:m>
                <a:r>
                  <a:rPr lang="zh-CN" altLang="en-US" sz="2400" dirty="0">
                    <a:ea typeface="宋体" panose="02010600030101010101" pitchFamily="2" charset="-122"/>
                  </a:rPr>
                  <a:t>，并将其附在发送的消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宋体" panose="02010600030101010101" pitchFamily="2" charset="-122"/>
                      </a:rPr>
                      <m:t>𝐸</m:t>
                    </m:r>
                    <m:r>
                      <a:rPr lang="en-US" altLang="zh-CN" sz="2400" b="0" i="1" smtClean="0">
                        <a:latin typeface="Cambria Math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sz="2400" b="0" i="1" smtClean="0">
                        <a:latin typeface="Cambria Math"/>
                        <a:ea typeface="宋体" panose="02010600030101010101" pitchFamily="2" charset="-122"/>
                      </a:rPr>
                      <m:t>𝑚𝑠𝑔</m:t>
                    </m:r>
                    <m:r>
                      <a:rPr lang="en-US" altLang="zh-CN" sz="2400" b="0" i="1" smtClean="0">
                        <a:latin typeface="Cambria Math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r>
                  <a:rPr lang="zh-CN" altLang="en-US" sz="2400" dirty="0">
                    <a:ea typeface="宋体" panose="02010600030101010101" pitchFamily="2" charset="-122"/>
                  </a:rPr>
                  <a:t>后面，一同交由服务器存储。其中</a:t>
                </a:r>
                <a:r>
                  <a:rPr lang="en-US" altLang="zh-CN" sz="2400" dirty="0">
                    <a:ea typeface="宋体" panose="02010600030101010101" pitchFamily="2" charset="-122"/>
                  </a:rPr>
                  <a:t>E</a:t>
                </a:r>
                <a:r>
                  <a:rPr lang="zh-CN" altLang="en-US" sz="2400" dirty="0">
                    <a:ea typeface="宋体" panose="02010600030101010101" pitchFamily="2" charset="-122"/>
                  </a:rPr>
                  <a:t>为标准的公钥加密算法，</a:t>
                </a:r>
                <a:r>
                  <a:rPr lang="en-US" altLang="zh-CN" sz="2400" dirty="0" err="1">
                    <a:ea typeface="宋体" panose="02010600030101010101" pitchFamily="2" charset="-122"/>
                  </a:rPr>
                  <a:t>msg</a:t>
                </a:r>
                <a:r>
                  <a:rPr lang="zh-CN" altLang="en-US" sz="2400" dirty="0">
                    <a:ea typeface="宋体" panose="02010600030101010101" pitchFamily="2" charset="-122"/>
                  </a:rPr>
                  <a:t>为邮件内容。检索时，</a:t>
                </a:r>
                <a:r>
                  <a:rPr lang="en-US" altLang="zh-CN" sz="2400" dirty="0">
                    <a:ea typeface="宋体" panose="02010600030101010101" pitchFamily="2" charset="-122"/>
                  </a:rPr>
                  <a:t>A</a:t>
                </a:r>
                <a:r>
                  <a:rPr lang="zh-CN" altLang="en-US" sz="2400" dirty="0">
                    <a:ea typeface="宋体" panose="02010600030101010101" pitchFamily="2" charset="-122"/>
                  </a:rPr>
                  <a:t>使用自己的私钥为查询关键词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宋体" panose="02010600030101010101" pitchFamily="2" charset="-122"/>
                      </a:rPr>
                      <m:t>𝑤</m:t>
                    </m:r>
                  </m:oMath>
                </a14:m>
                <a:r>
                  <a:rPr lang="zh-CN" altLang="en-US" sz="2400" dirty="0">
                    <a:ea typeface="宋体" panose="02010600030101010101" pitchFamily="2" charset="-122"/>
                  </a:rPr>
                  <a:t>生成陷门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宋体" panose="02010600030101010101" pitchFamily="2" charset="-122"/>
                          </a:rPr>
                          <m:t>𝑇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宋体" panose="02010600030101010101" pitchFamily="2" charset="-122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zh-CN" altLang="en-US" sz="2400" dirty="0">
                    <a:ea typeface="宋体" panose="02010600030101010101" pitchFamily="2" charset="-122"/>
                  </a:rPr>
                  <a:t>，并将其发送给服务器，从而服务器能够判断邮件中是否包含关键词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宋体" panose="02010600030101010101" pitchFamily="2" charset="-122"/>
                      </a:rPr>
                      <m:t>𝑤</m:t>
                    </m:r>
                    <m:r>
                      <a:rPr lang="en-US" altLang="zh-CN" sz="2400" i="1">
                        <a:latin typeface="Cambria Math"/>
                        <a:ea typeface="宋体" panose="02010600030101010101" pitchFamily="2" charset="-122"/>
                      </a:rPr>
                      <m:t> </m:t>
                    </m:r>
                  </m:oMath>
                </a14:m>
                <a:r>
                  <a:rPr lang="zh-CN" altLang="en-US" sz="2400" dirty="0">
                    <a:ea typeface="宋体" panose="02010600030101010101" pitchFamily="2" charset="-122"/>
                  </a:rPr>
                  <a:t>。在这个过程中，服务器无法获得关于邮件内容和查询关键词的任何有用信息。</a:t>
                </a:r>
              </a:p>
            </p:txBody>
          </p:sp>
        </mc:Choice>
        <mc:Fallback xmlns="">
          <p:sp>
            <p:nvSpPr>
              <p:cNvPr id="4" name="文本框 5">
                <a:extLst>
                  <a:ext uri="{FF2B5EF4-FFF2-40B4-BE49-F238E27FC236}">
                    <a16:creationId xmlns:a16="http://schemas.microsoft.com/office/drawing/2014/main" id="{196495CC-100B-4D57-90F1-CA24702450F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925" y="1052513"/>
                <a:ext cx="9109075" cy="5040312"/>
              </a:xfrm>
              <a:prstGeom prst="rect">
                <a:avLst/>
              </a:prstGeom>
              <a:blipFill>
                <a:blip r:embed="rId3"/>
                <a:stretch>
                  <a:fillRect l="-1071" t="-1332" r="-1004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29782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F47657-90FE-430A-853C-1AA914DDD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9E0DAF-87CC-4CEC-A6B6-B37204249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16A0F76-0F44-4FC2-AA63-C310EF1D3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0728"/>
            <a:ext cx="9144000" cy="507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3393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0D862A-8B90-4CC4-AA11-81B6FE3C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KR-PEKS</a:t>
            </a:r>
            <a:r>
              <a:rPr lang="zh-CN" altLang="en-US" dirty="0"/>
              <a:t>方案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101D8E-848A-4192-B67E-4DE6BAAD2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414EB3C-31FC-4E9B-AB7C-899C533E1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8720"/>
            <a:ext cx="9144000" cy="557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010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1621A8-BA35-4D3B-9FD9-81AB57F4D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DS-PEKS</a:t>
            </a:r>
            <a:r>
              <a:rPr lang="zh-CN" altLang="en-US" dirty="0">
                <a:solidFill>
                  <a:schemeClr val="tx1"/>
                </a:solidFill>
              </a:rPr>
              <a:t>方案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7EFA3A-E961-435D-965B-CE11D3681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226B97F-54A1-41ED-A07A-578CA67AE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2" y="1052736"/>
            <a:ext cx="9144000" cy="545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3438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5C3413-FC09-4A59-95CF-2B492B310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方案对比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FB2C76-20C3-43DD-BA6B-1CB0032EC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339230D-2AF3-4093-B8CF-A9B8470A9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2204864"/>
            <a:ext cx="9144000" cy="346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4669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04DB8F-C599-4BC6-A57B-849D03EA3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latin typeface="+mn-ea"/>
              </a:rPr>
              <a:t>密文区间检索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6C950C-61A6-4816-8858-A55AC19D1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494D4B3-6787-4497-AA6F-EFAFE21FE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7288"/>
            <a:ext cx="9144000" cy="510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7074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916946-926D-4597-A202-8532F5236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latin typeface="+mn-ea"/>
              </a:rPr>
              <a:t>基于保序加密的方案</a:t>
            </a:r>
            <a:endParaRPr lang="zh-CN" altLang="en-US" dirty="0"/>
          </a:p>
        </p:txBody>
      </p:sp>
      <p:sp>
        <p:nvSpPr>
          <p:cNvPr id="4" name="文本框 5">
            <a:extLst>
              <a:ext uri="{FF2B5EF4-FFF2-40B4-BE49-F238E27FC236}">
                <a16:creationId xmlns:a16="http://schemas.microsoft.com/office/drawing/2014/main" id="{ABDE9281-F2DB-4215-AFBF-FA9B88BCE92F}"/>
              </a:ext>
            </a:extLst>
          </p:cNvPr>
          <p:cNvSpPr txBox="1"/>
          <p:nvPr/>
        </p:nvSpPr>
        <p:spPr>
          <a:xfrm>
            <a:off x="323528" y="1268730"/>
            <a:ext cx="8352927" cy="304698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5pPr>
          </a:lstStyle>
          <a:p>
            <a:pPr marL="0" indent="0"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保序加密（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Order-Preserving Encryption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OPE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）是一种保持数值顺序关系的加密算法，其算法本身可以应用于各种场景，并不仅限于区间检索。</a:t>
            </a:r>
          </a:p>
          <a:p>
            <a:pPr marL="0" indent="0"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3-13 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（保序加密）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给定加密算法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，如果对于任何密钥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，以及数值数据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x&lt;y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），均存在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1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(x)&lt;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1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(y)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，则称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是保序的。</a:t>
            </a:r>
          </a:p>
          <a:p>
            <a:pPr marL="0" indent="0" algn="just"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algn="just"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由于本身的保序特性，保序加密很难保证数据的隐私性。</a:t>
            </a:r>
            <a:r>
              <a:rPr lang="en-US" altLang="zh-CN" sz="2000" dirty="0" err="1"/>
              <a:t>Durak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等人指出，即使是达到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IND-OCPA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安全性的保序加密算法，也无法抵御具备特定背景知识的敌手的攻击。</a:t>
            </a:r>
          </a:p>
        </p:txBody>
      </p:sp>
    </p:spTree>
    <p:extLst>
      <p:ext uri="{BB962C8B-B14F-4D97-AF65-F5344CB8AC3E}">
        <p14:creationId xmlns:p14="http://schemas.microsoft.com/office/powerpoint/2010/main" val="739459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7F83AD-10F2-4794-8222-4AE204ECE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延伸阅读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1CAEBD-C6D5-4CFB-9A49-38CDACD63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96" y="1052736"/>
            <a:ext cx="9108504" cy="5400600"/>
          </a:xfrm>
        </p:spPr>
        <p:txBody>
          <a:bodyPr/>
          <a:lstStyle/>
          <a:p>
            <a:r>
              <a:rPr lang="zh-CN" altLang="en-US" dirty="0"/>
              <a:t>延伸阅读：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Ref. 23: Searchable Symmetric Encryption: improved definition and efficient construction.</a:t>
            </a:r>
          </a:p>
          <a:p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QQ</a:t>
            </a:r>
            <a:r>
              <a:rPr lang="zh-CN" altLang="en-US" dirty="0"/>
              <a:t>群里的</a:t>
            </a:r>
            <a:r>
              <a:rPr lang="en-US" altLang="zh-CN" dirty="0"/>
              <a:t>search encryption</a:t>
            </a:r>
            <a:r>
              <a:rPr lang="zh-CN" altLang="en-US" dirty="0"/>
              <a:t>：</a:t>
            </a:r>
            <a:r>
              <a:rPr lang="en-US" altLang="zh-CN" dirty="0"/>
              <a:t>survey</a:t>
            </a:r>
            <a:r>
              <a:rPr lang="zh-CN" altLang="en-US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31272410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742950" marR="0" indent="-28575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–"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742950" marR="0" indent="-28575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–"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35986</TotalTime>
  <Words>1377</Words>
  <Application>Microsoft Office PowerPoint</Application>
  <PresentationFormat>全屏显示(4:3)</PresentationFormat>
  <Paragraphs>172</Paragraphs>
  <Slides>55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63" baseType="lpstr">
      <vt:lpstr>华文行楷</vt:lpstr>
      <vt:lpstr>楷体_GB2312</vt:lpstr>
      <vt:lpstr>宋体</vt:lpstr>
      <vt:lpstr>微软雅黑</vt:lpstr>
      <vt:lpstr>Arial</vt:lpstr>
      <vt:lpstr>Cambria Math</vt:lpstr>
      <vt:lpstr>Times New Roman</vt:lpstr>
      <vt:lpstr>默认设计模板</vt:lpstr>
      <vt:lpstr>网络空间安全 理论、技术、应用</vt:lpstr>
      <vt:lpstr>PowerPoint 演示文稿</vt:lpstr>
      <vt:lpstr>PowerPoint 演示文稿</vt:lpstr>
      <vt:lpstr>背  景</vt:lpstr>
      <vt:lpstr>背  景</vt:lpstr>
      <vt:lpstr>背  景</vt:lpstr>
      <vt:lpstr>PowerPoint 演示文稿</vt:lpstr>
      <vt:lpstr>密文检索</vt:lpstr>
      <vt:lpstr>密文检索系统模型</vt:lpstr>
      <vt:lpstr>系统工作流程</vt:lpstr>
      <vt:lpstr>密文检索的分类</vt:lpstr>
      <vt:lpstr>PowerPoint 演示文稿</vt:lpstr>
      <vt:lpstr>早期的安全检索技术</vt:lpstr>
      <vt:lpstr>单轮交互PIR</vt:lpstr>
      <vt:lpstr>示例方案-1</vt:lpstr>
      <vt:lpstr>示例方案-2</vt:lpstr>
      <vt:lpstr>单轮交互PIRK</vt:lpstr>
      <vt:lpstr>SPIR技术</vt:lpstr>
      <vt:lpstr>ORAM技术</vt:lpstr>
      <vt:lpstr>ORAM系统</vt:lpstr>
      <vt:lpstr>4.3 对称密文检索</vt:lpstr>
      <vt:lpstr>基于全文扫描的方案</vt:lpstr>
      <vt:lpstr>PowerPoint 演示文稿</vt:lpstr>
      <vt:lpstr>效率和安全问题</vt:lpstr>
      <vt:lpstr>基于文档-关键词索引的方案</vt:lpstr>
      <vt:lpstr>基于布隆过滤器的密文关键词检索方案</vt:lpstr>
      <vt:lpstr>PowerPoint 演示文稿</vt:lpstr>
      <vt:lpstr>较为常见的安全模型</vt:lpstr>
      <vt:lpstr>关键词检索方案示例-3</vt:lpstr>
      <vt:lpstr>模拟安全性</vt:lpstr>
      <vt:lpstr>基于关键词-文档索引的方案</vt:lpstr>
      <vt:lpstr>倒排文件</vt:lpstr>
      <vt:lpstr>基于关键词-文档索引的方案</vt:lpstr>
      <vt:lpstr>方案步骤</vt:lpstr>
      <vt:lpstr>IND-CKA安全性</vt:lpstr>
      <vt:lpstr>安全性定义</vt:lpstr>
      <vt:lpstr>非适应性语义安全</vt:lpstr>
      <vt:lpstr>适应性语义安全</vt:lpstr>
      <vt:lpstr>适应性语义安全</vt:lpstr>
      <vt:lpstr>适应性语义安全</vt:lpstr>
      <vt:lpstr>PowerPoint 演示文稿</vt:lpstr>
      <vt:lpstr>PowerPoint 演示文稿</vt:lpstr>
      <vt:lpstr>PowerPoint 演示文稿</vt:lpstr>
      <vt:lpstr>PowerPoint 演示文稿</vt:lpstr>
      <vt:lpstr>前向安全</vt:lpstr>
      <vt:lpstr>小结和思考</vt:lpstr>
      <vt:lpstr>4. 非对称密文检索</vt:lpstr>
      <vt:lpstr>BDOP-PEKS方案</vt:lpstr>
      <vt:lpstr>PowerPoint 演示文稿</vt:lpstr>
      <vt:lpstr>KR-PEKS方案</vt:lpstr>
      <vt:lpstr>DS-PEKS方案</vt:lpstr>
      <vt:lpstr>方案对比</vt:lpstr>
      <vt:lpstr>密文区间检索</vt:lpstr>
      <vt:lpstr>基于保序加密的方案</vt:lpstr>
      <vt:lpstr>延伸阅读</vt:lpstr>
    </vt:vector>
  </TitlesOfParts>
  <Company>topedu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nqliu</dc:creator>
  <cp:lastModifiedBy>cla</cp:lastModifiedBy>
  <cp:revision>183</cp:revision>
  <dcterms:created xsi:type="dcterms:W3CDTF">2003-11-10T13:58:45Z</dcterms:created>
  <dcterms:modified xsi:type="dcterms:W3CDTF">2023-09-19T07:30:08Z</dcterms:modified>
</cp:coreProperties>
</file>