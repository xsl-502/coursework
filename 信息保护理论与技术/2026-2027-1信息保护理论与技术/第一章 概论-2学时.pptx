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7"/>
  </p:notesMasterIdLst>
  <p:handoutMasterIdLst>
    <p:handoutMasterId r:id="rId78"/>
  </p:handoutMasterIdLst>
  <p:sldIdLst>
    <p:sldId id="294" r:id="rId2"/>
    <p:sldId id="514" r:id="rId3"/>
    <p:sldId id="812" r:id="rId4"/>
    <p:sldId id="813" r:id="rId5"/>
    <p:sldId id="814" r:id="rId6"/>
    <p:sldId id="555" r:id="rId7"/>
    <p:sldId id="553" r:id="rId8"/>
    <p:sldId id="815" r:id="rId9"/>
    <p:sldId id="841" r:id="rId10"/>
    <p:sldId id="845" r:id="rId11"/>
    <p:sldId id="844" r:id="rId12"/>
    <p:sldId id="782" r:id="rId13"/>
    <p:sldId id="783" r:id="rId14"/>
    <p:sldId id="784" r:id="rId15"/>
    <p:sldId id="785" r:id="rId16"/>
    <p:sldId id="786" r:id="rId17"/>
    <p:sldId id="787" r:id="rId18"/>
    <p:sldId id="788" r:id="rId19"/>
    <p:sldId id="789" r:id="rId20"/>
    <p:sldId id="790" r:id="rId21"/>
    <p:sldId id="816" r:id="rId22"/>
    <p:sldId id="818" r:id="rId23"/>
    <p:sldId id="819" r:id="rId24"/>
    <p:sldId id="817" r:id="rId25"/>
    <p:sldId id="820" r:id="rId26"/>
    <p:sldId id="821" r:id="rId27"/>
    <p:sldId id="791" r:id="rId28"/>
    <p:sldId id="828" r:id="rId29"/>
    <p:sldId id="829" r:id="rId30"/>
    <p:sldId id="792" r:id="rId31"/>
    <p:sldId id="793" r:id="rId32"/>
    <p:sldId id="794" r:id="rId33"/>
    <p:sldId id="795" r:id="rId34"/>
    <p:sldId id="796" r:id="rId35"/>
    <p:sldId id="797" r:id="rId36"/>
    <p:sldId id="822" r:id="rId37"/>
    <p:sldId id="823" r:id="rId38"/>
    <p:sldId id="824" r:id="rId39"/>
    <p:sldId id="825" r:id="rId40"/>
    <p:sldId id="826" r:id="rId41"/>
    <p:sldId id="827" r:id="rId42"/>
    <p:sldId id="802" r:id="rId43"/>
    <p:sldId id="830" r:id="rId44"/>
    <p:sldId id="843" r:id="rId45"/>
    <p:sldId id="800" r:id="rId46"/>
    <p:sldId id="831" r:id="rId47"/>
    <p:sldId id="832" r:id="rId48"/>
    <p:sldId id="833" r:id="rId49"/>
    <p:sldId id="852" r:id="rId50"/>
    <p:sldId id="853" r:id="rId51"/>
    <p:sldId id="854" r:id="rId52"/>
    <p:sldId id="855" r:id="rId53"/>
    <p:sldId id="856" r:id="rId54"/>
    <p:sldId id="834" r:id="rId55"/>
    <p:sldId id="835" r:id="rId56"/>
    <p:sldId id="836" r:id="rId57"/>
    <p:sldId id="837" r:id="rId58"/>
    <p:sldId id="838" r:id="rId59"/>
    <p:sldId id="839" r:id="rId60"/>
    <p:sldId id="840" r:id="rId61"/>
    <p:sldId id="846" r:id="rId62"/>
    <p:sldId id="847" r:id="rId63"/>
    <p:sldId id="848" r:id="rId64"/>
    <p:sldId id="849" r:id="rId65"/>
    <p:sldId id="850" r:id="rId66"/>
    <p:sldId id="851" r:id="rId67"/>
    <p:sldId id="857" r:id="rId68"/>
    <p:sldId id="858" r:id="rId69"/>
    <p:sldId id="859" r:id="rId70"/>
    <p:sldId id="860" r:id="rId71"/>
    <p:sldId id="861" r:id="rId72"/>
    <p:sldId id="862" r:id="rId73"/>
    <p:sldId id="863" r:id="rId74"/>
    <p:sldId id="842" r:id="rId75"/>
    <p:sldId id="650" r:id="rId76"/>
  </p:sldIdLst>
  <p:sldSz cx="9144000" cy="6858000" type="screen4x3"/>
  <p:notesSz cx="6858000" cy="9144000"/>
  <p:defaultTextStyle>
    <a:defPPr>
      <a:defRPr lang="zh-CN"/>
    </a:defPPr>
    <a:lvl1pPr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1pPr>
    <a:lvl2pPr marL="4572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2pPr>
    <a:lvl3pPr marL="9144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3pPr>
    <a:lvl4pPr marL="13716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4pPr>
    <a:lvl5pPr marL="18288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9958" autoAdjust="0"/>
    <p:restoredTop sz="74370" autoAdjust="0"/>
  </p:normalViewPr>
  <p:slideViewPr>
    <p:cSldViewPr>
      <p:cViewPr varScale="1">
        <p:scale>
          <a:sx n="65" d="100"/>
          <a:sy n="65" d="100"/>
        </p:scale>
        <p:origin x="1098"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0" d="100"/>
          <a:sy n="40" d="100"/>
        </p:scale>
        <p:origin x="-154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FAE737-C817-F649-A03A-E50586C60924}" type="doc">
      <dgm:prSet loTypeId="urn:microsoft.com/office/officeart/2005/8/layout/hierarchy2" loCatId="" qsTypeId="urn:microsoft.com/office/officeart/2005/8/quickstyle/simple3" qsCatId="simple" csTypeId="urn:microsoft.com/office/officeart/2005/8/colors/accent1_1" csCatId="accent1" phldr="1"/>
      <dgm:spPr/>
      <dgm:t>
        <a:bodyPr/>
        <a:lstStyle/>
        <a:p>
          <a:endParaRPr lang="en-US"/>
        </a:p>
      </dgm:t>
    </dgm:pt>
    <dgm:pt modelId="{3BD54B72-D89F-D74A-BE47-F04C410E332A}" type="pres">
      <dgm:prSet presAssocID="{DCFAE737-C817-F649-A03A-E50586C60924}" presName="diagram" presStyleCnt="0">
        <dgm:presLayoutVars>
          <dgm:chPref val="1"/>
          <dgm:dir/>
          <dgm:animOne val="branch"/>
          <dgm:animLvl val="lvl"/>
          <dgm:resizeHandles val="exact"/>
        </dgm:presLayoutVars>
      </dgm:prSet>
      <dgm:spPr/>
    </dgm:pt>
  </dgm:ptLst>
  <dgm:cxnLst>
    <dgm:cxn modelId="{8C62286B-A1C0-4A35-803E-1D0DB11EC4CB}" type="presOf" srcId="{DCFAE737-C817-F649-A03A-E50586C60924}" destId="{3BD54B72-D89F-D74A-BE47-F04C410E332A}" srcOrd="0"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20000"/>
              </a:spcBef>
              <a:buFontTx/>
              <a:buChar char="–"/>
              <a:defRPr sz="1200"/>
            </a:lvl1pPr>
          </a:lstStyle>
          <a:p>
            <a:pPr>
              <a:defRPr/>
            </a:pPr>
            <a:endParaRPr lang="en-US" altLang="zh-CN"/>
          </a:p>
        </p:txBody>
      </p:sp>
      <p:sp>
        <p:nvSpPr>
          <p:cNvPr id="87043"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20000"/>
              </a:spcBef>
              <a:buFontTx/>
              <a:buChar char="–"/>
              <a:defRPr sz="1200"/>
            </a:lvl1pPr>
          </a:lstStyle>
          <a:p>
            <a:pPr>
              <a:defRPr/>
            </a:pPr>
            <a:endParaRPr lang="en-US" altLang="zh-CN"/>
          </a:p>
        </p:txBody>
      </p:sp>
      <p:sp>
        <p:nvSpPr>
          <p:cNvPr id="87044"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20000"/>
              </a:spcBef>
              <a:buFontTx/>
              <a:buChar char="–"/>
              <a:defRPr sz="1200"/>
            </a:lvl1pPr>
          </a:lstStyle>
          <a:p>
            <a:pPr>
              <a:defRPr/>
            </a:pPr>
            <a:endParaRPr lang="en-US" altLang="zh-CN"/>
          </a:p>
        </p:txBody>
      </p:sp>
      <p:sp>
        <p:nvSpPr>
          <p:cNvPr id="87045"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20000"/>
              </a:spcBef>
              <a:buFontTx/>
              <a:buChar char="–"/>
              <a:defRPr sz="1200"/>
            </a:lvl1pPr>
          </a:lstStyle>
          <a:p>
            <a:pPr>
              <a:defRPr/>
            </a:pPr>
            <a:fld id="{1BB44EDF-D03B-4836-93A1-9FD0163FFBF6}" type="slidenum">
              <a:rPr lang="en-US" altLang="zh-CN"/>
              <a:pPr>
                <a:defRPr/>
              </a:pPr>
              <a:t>‹#›</a:t>
            </a:fld>
            <a:endParaRPr lang="en-US" altLang="zh-CN"/>
          </a:p>
        </p:txBody>
      </p:sp>
    </p:spTree>
    <p:extLst>
      <p:ext uri="{BB962C8B-B14F-4D97-AF65-F5344CB8AC3E}">
        <p14:creationId xmlns:p14="http://schemas.microsoft.com/office/powerpoint/2010/main" val="25087425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buFontTx/>
              <a:buNone/>
              <a:defRPr sz="1200" b="0">
                <a:ea typeface="宋体" charset="-122"/>
              </a:defRPr>
            </a:lvl1pPr>
          </a:lstStyle>
          <a:p>
            <a:pPr>
              <a:defRPr/>
            </a:pPr>
            <a:endParaRPr lang="en-US" altLang="zh-CN"/>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buFontTx/>
              <a:buNone/>
              <a:defRPr sz="1200" b="0">
                <a:ea typeface="宋体" charset="-122"/>
              </a:defRPr>
            </a:lvl1pPr>
          </a:lstStyle>
          <a:p>
            <a:pPr>
              <a:defRPr/>
            </a:pPr>
            <a:endParaRPr lang="en-US" altLang="zh-CN"/>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buFontTx/>
              <a:buNone/>
              <a:defRPr sz="1200" b="0">
                <a:ea typeface="宋体" charset="-122"/>
              </a:defRPr>
            </a:lvl1pPr>
          </a:lstStyle>
          <a:p>
            <a:pPr>
              <a:defRPr/>
            </a:pPr>
            <a:endParaRPr lang="en-US" altLang="zh-CN"/>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buFontTx/>
              <a:buNone/>
              <a:defRPr sz="1200" b="0">
                <a:ea typeface="宋体" panose="02010600030101010101" pitchFamily="2" charset="-122"/>
              </a:defRPr>
            </a:lvl1pPr>
          </a:lstStyle>
          <a:p>
            <a:pPr>
              <a:defRPr/>
            </a:pPr>
            <a:fld id="{1C318C20-D11A-41AC-8ABD-BB69D753AA0E}" type="slidenum">
              <a:rPr lang="en-US" altLang="zh-CN"/>
              <a:pPr>
                <a:defRPr/>
              </a:pPr>
              <a:t>‹#›</a:t>
            </a:fld>
            <a:endParaRPr lang="en-US" altLang="zh-CN"/>
          </a:p>
        </p:txBody>
      </p:sp>
    </p:spTree>
    <p:extLst>
      <p:ext uri="{BB962C8B-B14F-4D97-AF65-F5344CB8AC3E}">
        <p14:creationId xmlns:p14="http://schemas.microsoft.com/office/powerpoint/2010/main" val="16082176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7D2C1DC-8946-4846-B5DE-6CCD749B3A94}" type="slidenum">
              <a:rPr lang="en-US" altLang="zh-CN" smtClean="0"/>
              <a:pPr>
                <a:spcBef>
                  <a:spcPct val="0"/>
                </a:spcBef>
              </a:pPr>
              <a:t>1</a:t>
            </a:fld>
            <a:endParaRPr lang="en-US" altLang="zh-CN"/>
          </a:p>
        </p:txBody>
      </p:sp>
      <p:sp>
        <p:nvSpPr>
          <p:cNvPr id="8195" name="Rectangle 2"/>
          <p:cNvSpPr>
            <a:spLocks noGrp="1" noRot="1" noChangeAspect="1" noChangeArrowheads="1" noTextEdit="1"/>
          </p:cNvSpPr>
          <p:nvPr>
            <p:ph type="sldImg"/>
          </p:nvPr>
        </p:nvSpPr>
        <p:spPr>
          <a:solidFill>
            <a:srgbClr val="FFFFFF"/>
          </a:solidFill>
          <a:ln/>
        </p:spPr>
      </p:sp>
      <p:sp>
        <p:nvSpPr>
          <p:cNvPr id="8196" name="Rectangle 3"/>
          <p:cNvSpPr>
            <a:spLocks noGrp="1" noChangeArrowheads="1"/>
          </p:cNvSpPr>
          <p:nvPr>
            <p:ph type="body" idx="1"/>
          </p:nvPr>
        </p:nvSpPr>
        <p:spPr>
          <a:xfrm>
            <a:off x="685800" y="4343400"/>
            <a:ext cx="5486400" cy="4114800"/>
          </a:xfrm>
          <a:solidFill>
            <a:srgbClr val="FFFFFF"/>
          </a:solidFill>
          <a:ln>
            <a:solidFill>
              <a:srgbClr val="000000"/>
            </a:solidFill>
            <a:miter lim="800000"/>
            <a:headEnd/>
            <a:tailEnd/>
          </a:ln>
        </p:spPr>
        <p:txBody>
          <a:bodyPr/>
          <a:lstStyle/>
          <a:p>
            <a:pPr eaLnBrk="1" hangingPunct="1"/>
            <a:r>
              <a:rPr lang="zh-CN" altLang="en-US">
                <a:ea typeface="宋体" panose="02010600030101010101" pitchFamily="2" charset="-122"/>
              </a:rPr>
              <a:t>王勇，电子科技大学</a:t>
            </a:r>
          </a:p>
        </p:txBody>
      </p:sp>
    </p:spTree>
    <p:extLst>
      <p:ext uri="{BB962C8B-B14F-4D97-AF65-F5344CB8AC3E}">
        <p14:creationId xmlns:p14="http://schemas.microsoft.com/office/powerpoint/2010/main" val="112877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C318C20-D11A-41AC-8ABD-BB69D753AA0E}" type="slidenum">
              <a:rPr lang="en-US" altLang="zh-CN" smtClean="0"/>
              <a:pPr>
                <a:defRPr/>
              </a:pPr>
              <a:t>7</a:t>
            </a:fld>
            <a:endParaRPr lang="en-US" altLang="zh-CN"/>
          </a:p>
        </p:txBody>
      </p:sp>
    </p:spTree>
    <p:extLst>
      <p:ext uri="{BB962C8B-B14F-4D97-AF65-F5344CB8AC3E}">
        <p14:creationId xmlns:p14="http://schemas.microsoft.com/office/powerpoint/2010/main" val="23559504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ln/>
        </p:spPr>
      </p:sp>
      <p:sp>
        <p:nvSpPr>
          <p:cNvPr id="19459" name="备注占位符 2"/>
          <p:cNvSpPr>
            <a:spLocks noGrp="1"/>
          </p:cNvSpPr>
          <p:nvPr>
            <p:ph type="body" idx="1"/>
          </p:nvPr>
        </p:nvSpPr>
        <p:spPr>
          <a:xfrm>
            <a:off x="685800" y="4400550"/>
            <a:ext cx="5486400" cy="3600450"/>
          </a:xfrm>
          <a:noFill/>
        </p:spPr>
        <p:txBody>
          <a:bodyPr/>
          <a:lstStyle/>
          <a:p>
            <a:endParaRPr lang="zh-CN" altLang="en-US">
              <a:ea typeface="宋体" panose="02010600030101010101" pitchFamily="2" charset="-122"/>
            </a:endParaRPr>
          </a:p>
        </p:txBody>
      </p:sp>
      <p:sp>
        <p:nvSpPr>
          <p:cNvPr id="19460" name="日期占位符 3"/>
          <p:cNvSpPr>
            <a:spLocks noGrp="1"/>
          </p:cNvSpPr>
          <p:nvPr>
            <p:ph type="dt" sz="quarter" idx="1"/>
          </p:nvPr>
        </p:nvSpPr>
        <p:spPr>
          <a:noFill/>
        </p:spPr>
        <p:txBody>
          <a:bodyPr/>
          <a:lstStyle>
            <a:lvl1pPr>
              <a:defRPr kumimoji="1" sz="2800" b="1">
                <a:solidFill>
                  <a:schemeClr val="tx1"/>
                </a:solidFill>
                <a:latin typeface="Times New Roman" panose="02020603050405020304" pitchFamily="18" charset="0"/>
                <a:ea typeface="楷体_GB2312" pitchFamily="49" charset="-122"/>
              </a:defRPr>
            </a:lvl1pPr>
            <a:lvl2pPr marL="742950" indent="-285750">
              <a:defRPr kumimoji="1" sz="2800" b="1">
                <a:solidFill>
                  <a:schemeClr val="tx1"/>
                </a:solidFill>
                <a:latin typeface="Times New Roman" panose="02020603050405020304" pitchFamily="18" charset="0"/>
                <a:ea typeface="楷体_GB2312" pitchFamily="49" charset="-122"/>
              </a:defRPr>
            </a:lvl2pPr>
            <a:lvl3pPr marL="1143000" indent="-228600">
              <a:defRPr kumimoji="1" sz="2800" b="1">
                <a:solidFill>
                  <a:schemeClr val="tx1"/>
                </a:solidFill>
                <a:latin typeface="Times New Roman" panose="02020603050405020304" pitchFamily="18" charset="0"/>
                <a:ea typeface="楷体_GB2312" pitchFamily="49" charset="-122"/>
              </a:defRPr>
            </a:lvl3pPr>
            <a:lvl4pPr marL="1600200" indent="-228600">
              <a:defRPr kumimoji="1" sz="2800" b="1">
                <a:solidFill>
                  <a:schemeClr val="tx1"/>
                </a:solidFill>
                <a:latin typeface="Times New Roman" panose="02020603050405020304" pitchFamily="18" charset="0"/>
                <a:ea typeface="楷体_GB2312" pitchFamily="49" charset="-122"/>
              </a:defRPr>
            </a:lvl4pPr>
            <a:lvl5pPr marL="2057400" indent="-228600">
              <a:defRPr kumimoji="1"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9pPr>
          </a:lstStyle>
          <a:p>
            <a:fld id="{6463B505-C959-44EB-94DC-8359681EED1A}" type="datetime1">
              <a:rPr lang="zh-CN" altLang="en-US" sz="1200" b="0" smtClean="0">
                <a:ea typeface="宋体" panose="02010600030101010101" pitchFamily="2" charset="-122"/>
              </a:rPr>
              <a:pPr/>
              <a:t>2026/9/1</a:t>
            </a:fld>
            <a:endParaRPr lang="zh-CN" altLang="en-US" sz="1200" b="0">
              <a:ea typeface="宋体" panose="02010600030101010101" pitchFamily="2" charset="-122"/>
            </a:endParaRPr>
          </a:p>
        </p:txBody>
      </p:sp>
      <p:sp>
        <p:nvSpPr>
          <p:cNvPr id="19461" name="灯片编号占位符 4"/>
          <p:cNvSpPr>
            <a:spLocks noGrp="1"/>
          </p:cNvSpPr>
          <p:nvPr>
            <p:ph type="sldNum" sz="quarter" idx="5"/>
          </p:nvPr>
        </p:nvSpPr>
        <p:spPr>
          <a:noFill/>
        </p:spPr>
        <p:txBody>
          <a:bodyPr/>
          <a:lstStyle>
            <a:lvl1pPr>
              <a:defRPr kumimoji="1" sz="2800" b="1">
                <a:solidFill>
                  <a:schemeClr val="tx1"/>
                </a:solidFill>
                <a:latin typeface="Times New Roman" panose="02020603050405020304" pitchFamily="18" charset="0"/>
                <a:ea typeface="楷体_GB2312" pitchFamily="49" charset="-122"/>
              </a:defRPr>
            </a:lvl1pPr>
            <a:lvl2pPr marL="742950" indent="-285750">
              <a:defRPr kumimoji="1" sz="2800" b="1">
                <a:solidFill>
                  <a:schemeClr val="tx1"/>
                </a:solidFill>
                <a:latin typeface="Times New Roman" panose="02020603050405020304" pitchFamily="18" charset="0"/>
                <a:ea typeface="楷体_GB2312" pitchFamily="49" charset="-122"/>
              </a:defRPr>
            </a:lvl2pPr>
            <a:lvl3pPr marL="1143000" indent="-228600">
              <a:defRPr kumimoji="1" sz="2800" b="1">
                <a:solidFill>
                  <a:schemeClr val="tx1"/>
                </a:solidFill>
                <a:latin typeface="Times New Roman" panose="02020603050405020304" pitchFamily="18" charset="0"/>
                <a:ea typeface="楷体_GB2312" pitchFamily="49" charset="-122"/>
              </a:defRPr>
            </a:lvl3pPr>
            <a:lvl4pPr marL="1600200" indent="-228600">
              <a:defRPr kumimoji="1" sz="2800" b="1">
                <a:solidFill>
                  <a:schemeClr val="tx1"/>
                </a:solidFill>
                <a:latin typeface="Times New Roman" panose="02020603050405020304" pitchFamily="18" charset="0"/>
                <a:ea typeface="楷体_GB2312" pitchFamily="49" charset="-122"/>
              </a:defRPr>
            </a:lvl4pPr>
            <a:lvl5pPr marL="2057400" indent="-228600">
              <a:defRPr kumimoji="1"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9pPr>
          </a:lstStyle>
          <a:p>
            <a:fld id="{9571C68B-FCE7-498F-AFD6-F1E31E88F3C7}" type="slidenum">
              <a:rPr lang="zh-CN" altLang="en-US" sz="1200" b="0" smtClean="0">
                <a:ea typeface="宋体" panose="02010600030101010101" pitchFamily="2" charset="-122"/>
              </a:rPr>
              <a:pPr/>
              <a:t>12</a:t>
            </a:fld>
            <a:endParaRPr lang="zh-CN" altLang="en-US" sz="1200" b="0">
              <a:ea typeface="宋体" panose="02010600030101010101" pitchFamily="2" charset="-122"/>
            </a:endParaRPr>
          </a:p>
        </p:txBody>
      </p:sp>
    </p:spTree>
    <p:extLst>
      <p:ext uri="{BB962C8B-B14F-4D97-AF65-F5344CB8AC3E}">
        <p14:creationId xmlns:p14="http://schemas.microsoft.com/office/powerpoint/2010/main" val="2475123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ln/>
        </p:spPr>
      </p:sp>
      <p:sp>
        <p:nvSpPr>
          <p:cNvPr id="3" name="备注占位符 2"/>
          <p:cNvSpPr>
            <a:spLocks noGrp="1"/>
          </p:cNvSpPr>
          <p:nvPr>
            <p:ph type="body" idx="1"/>
          </p:nvPr>
        </p:nvSpPr>
        <p:spPr>
          <a:xfrm>
            <a:off x="685800" y="4400550"/>
            <a:ext cx="5486400" cy="3600450"/>
          </a:xfrm>
        </p:spPr>
        <p:txBody>
          <a:bodyPr/>
          <a:lstStyle/>
          <a:p>
            <a:pPr>
              <a:defRPr/>
            </a:pPr>
            <a:endParaRPr lang="en-US" dirty="0"/>
          </a:p>
        </p:txBody>
      </p:sp>
      <p:sp>
        <p:nvSpPr>
          <p:cNvPr id="25604" name="日期占位符 3"/>
          <p:cNvSpPr>
            <a:spLocks noGrp="1"/>
          </p:cNvSpPr>
          <p:nvPr>
            <p:ph type="dt" sz="quarter" idx="1"/>
          </p:nvPr>
        </p:nvSpPr>
        <p:spPr>
          <a:noFill/>
        </p:spPr>
        <p:txBody>
          <a:bodyPr/>
          <a:lstStyle>
            <a:lvl1pPr>
              <a:defRPr kumimoji="1" sz="2800" b="1">
                <a:solidFill>
                  <a:schemeClr val="tx1"/>
                </a:solidFill>
                <a:latin typeface="Times New Roman" panose="02020603050405020304" pitchFamily="18" charset="0"/>
                <a:ea typeface="楷体_GB2312" pitchFamily="49" charset="-122"/>
              </a:defRPr>
            </a:lvl1pPr>
            <a:lvl2pPr marL="742950" indent="-285750">
              <a:defRPr kumimoji="1" sz="2800" b="1">
                <a:solidFill>
                  <a:schemeClr val="tx1"/>
                </a:solidFill>
                <a:latin typeface="Times New Roman" panose="02020603050405020304" pitchFamily="18" charset="0"/>
                <a:ea typeface="楷体_GB2312" pitchFamily="49" charset="-122"/>
              </a:defRPr>
            </a:lvl2pPr>
            <a:lvl3pPr marL="1143000" indent="-228600">
              <a:defRPr kumimoji="1" sz="2800" b="1">
                <a:solidFill>
                  <a:schemeClr val="tx1"/>
                </a:solidFill>
                <a:latin typeface="Times New Roman" panose="02020603050405020304" pitchFamily="18" charset="0"/>
                <a:ea typeface="楷体_GB2312" pitchFamily="49" charset="-122"/>
              </a:defRPr>
            </a:lvl3pPr>
            <a:lvl4pPr marL="1600200" indent="-228600">
              <a:defRPr kumimoji="1" sz="2800" b="1">
                <a:solidFill>
                  <a:schemeClr val="tx1"/>
                </a:solidFill>
                <a:latin typeface="Times New Roman" panose="02020603050405020304" pitchFamily="18" charset="0"/>
                <a:ea typeface="楷体_GB2312" pitchFamily="49" charset="-122"/>
              </a:defRPr>
            </a:lvl4pPr>
            <a:lvl5pPr marL="2057400" indent="-228600">
              <a:defRPr kumimoji="1"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9pPr>
          </a:lstStyle>
          <a:p>
            <a:fld id="{D0DD40D1-609C-4B67-9226-24C217BBADBC}" type="datetime1">
              <a:rPr lang="zh-CN" altLang="en-US" sz="1200" b="0" smtClean="0">
                <a:ea typeface="宋体" panose="02010600030101010101" pitchFamily="2" charset="-122"/>
              </a:rPr>
              <a:pPr/>
              <a:t>2026/9/1</a:t>
            </a:fld>
            <a:endParaRPr lang="zh-CN" altLang="en-US" sz="1200" b="0">
              <a:ea typeface="宋体" panose="02010600030101010101" pitchFamily="2" charset="-122"/>
            </a:endParaRPr>
          </a:p>
        </p:txBody>
      </p:sp>
      <p:sp>
        <p:nvSpPr>
          <p:cNvPr id="25605" name="灯片编号占位符 4"/>
          <p:cNvSpPr>
            <a:spLocks noGrp="1"/>
          </p:cNvSpPr>
          <p:nvPr>
            <p:ph type="sldNum" sz="quarter" idx="5"/>
          </p:nvPr>
        </p:nvSpPr>
        <p:spPr>
          <a:noFill/>
        </p:spPr>
        <p:txBody>
          <a:bodyPr/>
          <a:lstStyle>
            <a:lvl1pPr>
              <a:defRPr kumimoji="1" sz="2800" b="1">
                <a:solidFill>
                  <a:schemeClr val="tx1"/>
                </a:solidFill>
                <a:latin typeface="Times New Roman" panose="02020603050405020304" pitchFamily="18" charset="0"/>
                <a:ea typeface="楷体_GB2312" pitchFamily="49" charset="-122"/>
              </a:defRPr>
            </a:lvl1pPr>
            <a:lvl2pPr marL="742950" indent="-285750">
              <a:defRPr kumimoji="1" sz="2800" b="1">
                <a:solidFill>
                  <a:schemeClr val="tx1"/>
                </a:solidFill>
                <a:latin typeface="Times New Roman" panose="02020603050405020304" pitchFamily="18" charset="0"/>
                <a:ea typeface="楷体_GB2312" pitchFamily="49" charset="-122"/>
              </a:defRPr>
            </a:lvl2pPr>
            <a:lvl3pPr marL="1143000" indent="-228600">
              <a:defRPr kumimoji="1" sz="2800" b="1">
                <a:solidFill>
                  <a:schemeClr val="tx1"/>
                </a:solidFill>
                <a:latin typeface="Times New Roman" panose="02020603050405020304" pitchFamily="18" charset="0"/>
                <a:ea typeface="楷体_GB2312" pitchFamily="49" charset="-122"/>
              </a:defRPr>
            </a:lvl3pPr>
            <a:lvl4pPr marL="1600200" indent="-228600">
              <a:defRPr kumimoji="1" sz="2800" b="1">
                <a:solidFill>
                  <a:schemeClr val="tx1"/>
                </a:solidFill>
                <a:latin typeface="Times New Roman" panose="02020603050405020304" pitchFamily="18" charset="0"/>
                <a:ea typeface="楷体_GB2312" pitchFamily="49" charset="-122"/>
              </a:defRPr>
            </a:lvl4pPr>
            <a:lvl5pPr marL="2057400" indent="-228600">
              <a:defRPr kumimoji="1"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9pPr>
          </a:lstStyle>
          <a:p>
            <a:fld id="{4881F606-72E0-49C3-B255-5A494EDA011F}" type="slidenum">
              <a:rPr lang="zh-CN" altLang="en-US" sz="1200" b="0" smtClean="0">
                <a:ea typeface="宋体" panose="02010600030101010101" pitchFamily="2" charset="-122"/>
              </a:rPr>
              <a:pPr/>
              <a:t>17</a:t>
            </a:fld>
            <a:endParaRPr lang="zh-CN" altLang="en-US" sz="1200" b="0">
              <a:ea typeface="宋体" panose="02010600030101010101" pitchFamily="2" charset="-122"/>
            </a:endParaRPr>
          </a:p>
        </p:txBody>
      </p:sp>
    </p:spTree>
    <p:extLst>
      <p:ext uri="{BB962C8B-B14F-4D97-AF65-F5344CB8AC3E}">
        <p14:creationId xmlns:p14="http://schemas.microsoft.com/office/powerpoint/2010/main" val="2389765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a:ln/>
        </p:spPr>
      </p:sp>
      <p:sp>
        <p:nvSpPr>
          <p:cNvPr id="32771" name="备注占位符 2"/>
          <p:cNvSpPr>
            <a:spLocks noGrp="1"/>
          </p:cNvSpPr>
          <p:nvPr>
            <p:ph type="body" idx="1"/>
          </p:nvPr>
        </p:nvSpPr>
        <p:spPr>
          <a:xfrm>
            <a:off x="685800" y="4400550"/>
            <a:ext cx="5486400" cy="3600450"/>
          </a:xfrm>
          <a:noFill/>
        </p:spPr>
        <p:txBody>
          <a:bodyPr/>
          <a:lstStyle/>
          <a:p>
            <a:r>
              <a:rPr lang="en-US" altLang="en-US">
                <a:ea typeface="宋体" panose="02010600030101010101" pitchFamily="2" charset="-122"/>
              </a:rPr>
              <a:t>23</a:t>
            </a:r>
            <a:r>
              <a:rPr lang="zh-CN" altLang="en-US">
                <a:ea typeface="宋体" panose="02010600030101010101" pitchFamily="2" charset="-122"/>
              </a:rPr>
              <a:t>端口</a:t>
            </a:r>
            <a:r>
              <a:rPr lang="en-US" altLang="zh-CN">
                <a:ea typeface="宋体" panose="02010600030101010101" pitchFamily="2" charset="-122"/>
              </a:rPr>
              <a:t>telnet</a:t>
            </a:r>
          </a:p>
          <a:p>
            <a:r>
              <a:rPr lang="en-US" altLang="en-US">
                <a:ea typeface="宋体" panose="02010600030101010101" pitchFamily="2" charset="-122"/>
              </a:rPr>
              <a:t>445</a:t>
            </a:r>
            <a:r>
              <a:rPr lang="zh-CN" altLang="en-US">
                <a:ea typeface="宋体" panose="02010600030101010101" pitchFamily="2" charset="-122"/>
              </a:rPr>
              <a:t>，</a:t>
            </a:r>
            <a:r>
              <a:rPr lang="en-US" altLang="zh-CN">
                <a:ea typeface="宋体" panose="02010600030101010101" pitchFamily="2" charset="-122"/>
              </a:rPr>
              <a:t>139</a:t>
            </a:r>
            <a:r>
              <a:rPr lang="zh-CN" altLang="en-US">
                <a:ea typeface="宋体" panose="02010600030101010101" pitchFamily="2" charset="-122"/>
              </a:rPr>
              <a:t>文件和打印机共享</a:t>
            </a:r>
            <a:endParaRPr lang="en-US" altLang="zh-CN">
              <a:ea typeface="宋体" panose="02010600030101010101" pitchFamily="2" charset="-122"/>
            </a:endParaRPr>
          </a:p>
          <a:p>
            <a:r>
              <a:rPr lang="en-US" altLang="en-US">
                <a:ea typeface="宋体" panose="02010600030101010101" pitchFamily="2" charset="-122"/>
              </a:rPr>
              <a:t>22</a:t>
            </a:r>
            <a:r>
              <a:rPr lang="zh-CN" altLang="en-US">
                <a:ea typeface="宋体" panose="02010600030101010101" pitchFamily="2" charset="-122"/>
              </a:rPr>
              <a:t>端口，</a:t>
            </a:r>
            <a:r>
              <a:rPr lang="en-US" altLang="zh-CN">
                <a:ea typeface="宋体" panose="02010600030101010101" pitchFamily="2" charset="-122"/>
              </a:rPr>
              <a:t>ssh</a:t>
            </a:r>
            <a:r>
              <a:rPr lang="zh-CN" altLang="en-US">
                <a:ea typeface="宋体" panose="02010600030101010101" pitchFamily="2" charset="-122"/>
              </a:rPr>
              <a:t>，</a:t>
            </a:r>
            <a:endParaRPr lang="en-US" altLang="zh-CN">
              <a:ea typeface="宋体" panose="02010600030101010101" pitchFamily="2" charset="-122"/>
            </a:endParaRPr>
          </a:p>
          <a:p>
            <a:r>
              <a:rPr lang="en-US" altLang="en-US">
                <a:ea typeface="宋体" panose="02010600030101010101" pitchFamily="2" charset="-122"/>
              </a:rPr>
              <a:t>25</a:t>
            </a:r>
            <a:r>
              <a:rPr lang="zh-CN" altLang="en-US">
                <a:ea typeface="宋体" panose="02010600030101010101" pitchFamily="2" charset="-122"/>
              </a:rPr>
              <a:t>端口 </a:t>
            </a:r>
            <a:r>
              <a:rPr lang="en-US" altLang="zh-CN">
                <a:ea typeface="宋体" panose="02010600030101010101" pitchFamily="2" charset="-122"/>
              </a:rPr>
              <a:t>smtp</a:t>
            </a:r>
          </a:p>
          <a:p>
            <a:r>
              <a:rPr lang="en-US" altLang="en-US">
                <a:ea typeface="宋体" panose="02010600030101010101" pitchFamily="2" charset="-122"/>
              </a:rPr>
              <a:t>1433</a:t>
            </a:r>
            <a:r>
              <a:rPr lang="zh-CN" altLang="en-US">
                <a:ea typeface="宋体" panose="02010600030101010101" pitchFamily="2" charset="-122"/>
              </a:rPr>
              <a:t>端口 </a:t>
            </a:r>
            <a:r>
              <a:rPr lang="en-US" altLang="zh-CN">
                <a:ea typeface="宋体" panose="02010600030101010101" pitchFamily="2" charset="-122"/>
              </a:rPr>
              <a:t>SQL server</a:t>
            </a:r>
            <a:r>
              <a:rPr lang="zh-CN" altLang="en-US">
                <a:ea typeface="宋体" panose="02010600030101010101" pitchFamily="2" charset="-122"/>
              </a:rPr>
              <a:t>默认端口</a:t>
            </a:r>
            <a:endParaRPr lang="en-US" altLang="zh-CN">
              <a:ea typeface="宋体" panose="02010600030101010101" pitchFamily="2" charset="-122"/>
            </a:endParaRPr>
          </a:p>
          <a:p>
            <a:r>
              <a:rPr lang="en-US" altLang="en-US">
                <a:ea typeface="宋体" panose="02010600030101010101" pitchFamily="2" charset="-122"/>
              </a:rPr>
              <a:t>3306</a:t>
            </a:r>
            <a:r>
              <a:rPr lang="zh-CN" altLang="en-US">
                <a:ea typeface="宋体" panose="02010600030101010101" pitchFamily="2" charset="-122"/>
              </a:rPr>
              <a:t>端口 </a:t>
            </a:r>
            <a:r>
              <a:rPr lang="en-US" altLang="zh-CN">
                <a:ea typeface="宋体" panose="02010600030101010101" pitchFamily="2" charset="-122"/>
              </a:rPr>
              <a:t>mysql</a:t>
            </a:r>
          </a:p>
          <a:p>
            <a:r>
              <a:rPr lang="en-US" altLang="en-US">
                <a:ea typeface="宋体" panose="02010600030101010101" pitchFamily="2" charset="-122"/>
              </a:rPr>
              <a:t>3389</a:t>
            </a:r>
            <a:r>
              <a:rPr lang="zh-CN" altLang="en-US">
                <a:ea typeface="宋体" panose="02010600030101010101" pitchFamily="2" charset="-122"/>
              </a:rPr>
              <a:t>端口 </a:t>
            </a:r>
            <a:r>
              <a:rPr lang="en-US" altLang="zh-CN">
                <a:ea typeface="宋体" panose="02010600030101010101" pitchFamily="2" charset="-122"/>
              </a:rPr>
              <a:t>windows 2000</a:t>
            </a:r>
            <a:r>
              <a:rPr lang="zh-CN" altLang="en-US">
                <a:ea typeface="宋体" panose="02010600030101010101" pitchFamily="2" charset="-122"/>
              </a:rPr>
              <a:t>， </a:t>
            </a:r>
            <a:r>
              <a:rPr lang="en-US" altLang="zh-CN">
                <a:ea typeface="宋体" panose="02010600030101010101" pitchFamily="2" charset="-122"/>
              </a:rPr>
              <a:t>win server</a:t>
            </a:r>
            <a:r>
              <a:rPr lang="zh-CN" altLang="en-US">
                <a:ea typeface="宋体" panose="02010600030101010101" pitchFamily="2" charset="-122"/>
              </a:rPr>
              <a:t>远程桌面</a:t>
            </a:r>
            <a:endParaRPr lang="en-US" altLang="en-US">
              <a:ea typeface="宋体" panose="02010600030101010101" pitchFamily="2" charset="-122"/>
            </a:endParaRPr>
          </a:p>
        </p:txBody>
      </p:sp>
      <p:sp>
        <p:nvSpPr>
          <p:cNvPr id="32772" name="日期占位符 3"/>
          <p:cNvSpPr>
            <a:spLocks noGrp="1"/>
          </p:cNvSpPr>
          <p:nvPr>
            <p:ph type="dt" sz="quarter" idx="1"/>
          </p:nvPr>
        </p:nvSpPr>
        <p:spPr>
          <a:noFill/>
        </p:spPr>
        <p:txBody>
          <a:bodyPr/>
          <a:lstStyle>
            <a:lvl1pPr>
              <a:defRPr kumimoji="1" sz="2800" b="1">
                <a:solidFill>
                  <a:schemeClr val="tx1"/>
                </a:solidFill>
                <a:latin typeface="Times New Roman" panose="02020603050405020304" pitchFamily="18" charset="0"/>
                <a:ea typeface="楷体_GB2312" pitchFamily="49" charset="-122"/>
              </a:defRPr>
            </a:lvl1pPr>
            <a:lvl2pPr marL="742950" indent="-285750">
              <a:defRPr kumimoji="1" sz="2800" b="1">
                <a:solidFill>
                  <a:schemeClr val="tx1"/>
                </a:solidFill>
                <a:latin typeface="Times New Roman" panose="02020603050405020304" pitchFamily="18" charset="0"/>
                <a:ea typeface="楷体_GB2312" pitchFamily="49" charset="-122"/>
              </a:defRPr>
            </a:lvl2pPr>
            <a:lvl3pPr marL="1143000" indent="-228600">
              <a:defRPr kumimoji="1" sz="2800" b="1">
                <a:solidFill>
                  <a:schemeClr val="tx1"/>
                </a:solidFill>
                <a:latin typeface="Times New Roman" panose="02020603050405020304" pitchFamily="18" charset="0"/>
                <a:ea typeface="楷体_GB2312" pitchFamily="49" charset="-122"/>
              </a:defRPr>
            </a:lvl3pPr>
            <a:lvl4pPr marL="1600200" indent="-228600">
              <a:defRPr kumimoji="1" sz="2800" b="1">
                <a:solidFill>
                  <a:schemeClr val="tx1"/>
                </a:solidFill>
                <a:latin typeface="Times New Roman" panose="02020603050405020304" pitchFamily="18" charset="0"/>
                <a:ea typeface="楷体_GB2312" pitchFamily="49" charset="-122"/>
              </a:defRPr>
            </a:lvl4pPr>
            <a:lvl5pPr marL="2057400" indent="-228600">
              <a:defRPr kumimoji="1"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9pPr>
          </a:lstStyle>
          <a:p>
            <a:fld id="{D379EA41-9BA4-46EB-8B41-AAB0A95E5066}" type="datetime1">
              <a:rPr lang="zh-CN" altLang="en-US" sz="1200" b="0" smtClean="0">
                <a:ea typeface="宋体" panose="02010600030101010101" pitchFamily="2" charset="-122"/>
              </a:rPr>
              <a:pPr/>
              <a:t>2026/9/1</a:t>
            </a:fld>
            <a:endParaRPr lang="zh-CN" altLang="en-US" sz="1200" b="0">
              <a:ea typeface="宋体" panose="02010600030101010101" pitchFamily="2" charset="-122"/>
            </a:endParaRPr>
          </a:p>
        </p:txBody>
      </p:sp>
      <p:sp>
        <p:nvSpPr>
          <p:cNvPr id="32773" name="灯片编号占位符 4"/>
          <p:cNvSpPr>
            <a:spLocks noGrp="1"/>
          </p:cNvSpPr>
          <p:nvPr>
            <p:ph type="sldNum" sz="quarter" idx="5"/>
          </p:nvPr>
        </p:nvSpPr>
        <p:spPr>
          <a:noFill/>
        </p:spPr>
        <p:txBody>
          <a:bodyPr/>
          <a:lstStyle>
            <a:lvl1pPr>
              <a:defRPr kumimoji="1" sz="2800" b="1">
                <a:solidFill>
                  <a:schemeClr val="tx1"/>
                </a:solidFill>
                <a:latin typeface="Times New Roman" panose="02020603050405020304" pitchFamily="18" charset="0"/>
                <a:ea typeface="楷体_GB2312" pitchFamily="49" charset="-122"/>
              </a:defRPr>
            </a:lvl1pPr>
            <a:lvl2pPr marL="742950" indent="-285750">
              <a:defRPr kumimoji="1" sz="2800" b="1">
                <a:solidFill>
                  <a:schemeClr val="tx1"/>
                </a:solidFill>
                <a:latin typeface="Times New Roman" panose="02020603050405020304" pitchFamily="18" charset="0"/>
                <a:ea typeface="楷体_GB2312" pitchFamily="49" charset="-122"/>
              </a:defRPr>
            </a:lvl2pPr>
            <a:lvl3pPr marL="1143000" indent="-228600">
              <a:defRPr kumimoji="1" sz="2800" b="1">
                <a:solidFill>
                  <a:schemeClr val="tx1"/>
                </a:solidFill>
                <a:latin typeface="Times New Roman" panose="02020603050405020304" pitchFamily="18" charset="0"/>
                <a:ea typeface="楷体_GB2312" pitchFamily="49" charset="-122"/>
              </a:defRPr>
            </a:lvl3pPr>
            <a:lvl4pPr marL="1600200" indent="-228600">
              <a:defRPr kumimoji="1" sz="2800" b="1">
                <a:solidFill>
                  <a:schemeClr val="tx1"/>
                </a:solidFill>
                <a:latin typeface="Times New Roman" panose="02020603050405020304" pitchFamily="18" charset="0"/>
                <a:ea typeface="楷体_GB2312" pitchFamily="49" charset="-122"/>
              </a:defRPr>
            </a:lvl4pPr>
            <a:lvl5pPr marL="2057400" indent="-228600">
              <a:defRPr kumimoji="1"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9pPr>
          </a:lstStyle>
          <a:p>
            <a:fld id="{4AFC8896-0616-4693-8A6C-8E92874A6C4A}" type="slidenum">
              <a:rPr lang="zh-CN" altLang="en-US" sz="1200" b="0" smtClean="0">
                <a:ea typeface="宋体" panose="02010600030101010101" pitchFamily="2" charset="-122"/>
              </a:rPr>
              <a:pPr/>
              <a:t>31</a:t>
            </a:fld>
            <a:endParaRPr lang="zh-CN" altLang="en-US" sz="1200" b="0">
              <a:ea typeface="宋体" panose="02010600030101010101" pitchFamily="2" charset="-122"/>
            </a:endParaRPr>
          </a:p>
        </p:txBody>
      </p:sp>
    </p:spTree>
    <p:extLst>
      <p:ext uri="{BB962C8B-B14F-4D97-AF65-F5344CB8AC3E}">
        <p14:creationId xmlns:p14="http://schemas.microsoft.com/office/powerpoint/2010/main" val="112784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结论</a:t>
            </a:r>
            <a:r>
              <a:rPr lang="en-US" altLang="zh-CN" dirty="0"/>
              <a:t>1. </a:t>
            </a:r>
            <a:r>
              <a:rPr lang="zh-CN" altLang="en-US" dirty="0"/>
              <a:t>网络信息安全和网络信息保护严重不对称。网络攻击手段持续且多样恶意程序，漏洞利用，</a:t>
            </a:r>
            <a:r>
              <a:rPr lang="en-US" altLang="zh-CN" dirty="0"/>
              <a:t>dos</a:t>
            </a:r>
            <a:r>
              <a:rPr lang="zh-CN" altLang="en-US" dirty="0"/>
              <a:t>，信息窃取等；防御能力单一，阻隔，检测，控制（监管控三板斧）。</a:t>
            </a:r>
            <a:endParaRPr lang="en-US" altLang="zh-CN" dirty="0"/>
          </a:p>
          <a:p>
            <a:r>
              <a:rPr lang="zh-CN" altLang="en-US" dirty="0"/>
              <a:t>结论</a:t>
            </a:r>
            <a:r>
              <a:rPr lang="en-US" altLang="zh-CN" dirty="0"/>
              <a:t>2. </a:t>
            </a:r>
            <a:r>
              <a:rPr lang="zh-CN" altLang="en-US" dirty="0"/>
              <a:t>攻击侧，目的专一，具备政治和经济目的，瞄准的是重要设施，重点单位，重大事件。防御侧。。。</a:t>
            </a:r>
            <a:endParaRPr lang="en-US" altLang="zh-CN" dirty="0"/>
          </a:p>
          <a:p>
            <a:r>
              <a:rPr lang="zh-CN" altLang="en-US" dirty="0"/>
              <a:t>结论</a:t>
            </a:r>
            <a:r>
              <a:rPr lang="en-US" altLang="zh-CN" dirty="0"/>
              <a:t>3.</a:t>
            </a:r>
            <a:endParaRPr lang="zh-CN" altLang="en-US" dirty="0"/>
          </a:p>
        </p:txBody>
      </p:sp>
      <p:sp>
        <p:nvSpPr>
          <p:cNvPr id="4" name="灯片编号占位符 3"/>
          <p:cNvSpPr>
            <a:spLocks noGrp="1"/>
          </p:cNvSpPr>
          <p:nvPr>
            <p:ph type="sldNum" sz="quarter" idx="5"/>
          </p:nvPr>
        </p:nvSpPr>
        <p:spPr/>
        <p:txBody>
          <a:bodyPr/>
          <a:lstStyle/>
          <a:p>
            <a:pPr>
              <a:defRPr/>
            </a:pPr>
            <a:fld id="{1C318C20-D11A-41AC-8ABD-BB69D753AA0E}" type="slidenum">
              <a:rPr lang="en-US" altLang="zh-CN" smtClean="0"/>
              <a:pPr>
                <a:defRPr/>
              </a:pPr>
              <a:t>46</a:t>
            </a:fld>
            <a:endParaRPr lang="en-US" altLang="zh-CN"/>
          </a:p>
        </p:txBody>
      </p:sp>
    </p:spTree>
    <p:extLst>
      <p:ext uri="{BB962C8B-B14F-4D97-AF65-F5344CB8AC3E}">
        <p14:creationId xmlns:p14="http://schemas.microsoft.com/office/powerpoint/2010/main" val="4273222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AI</a:t>
            </a:r>
            <a:r>
              <a:rPr lang="zh-CN" altLang="en-US" dirty="0"/>
              <a:t>算法设计之初普遍未 考虑相关的安全威胁，使得</a:t>
            </a:r>
            <a:r>
              <a:rPr lang="en-US" altLang="zh-CN" dirty="0"/>
              <a:t>AI</a:t>
            </a:r>
            <a:r>
              <a:rPr lang="zh-CN" altLang="en-US" dirty="0"/>
              <a:t>算法的判断结果容易被恶意攻击者影响，导致</a:t>
            </a:r>
            <a:r>
              <a:rPr lang="en-US" altLang="zh-CN" dirty="0"/>
              <a:t>AI</a:t>
            </a:r>
            <a:r>
              <a:rPr lang="zh-CN" altLang="en-US" dirty="0"/>
              <a:t>系统判断失准。在工业、医疗、交通、 监控等关键领域，安全危害尤为巨大；如果</a:t>
            </a:r>
            <a:r>
              <a:rPr lang="en-US" altLang="zh-CN" dirty="0"/>
              <a:t>AI</a:t>
            </a:r>
            <a:r>
              <a:rPr lang="zh-CN" altLang="en-US" dirty="0"/>
              <a:t>系统被恶意攻击，轻则造成财产损失，重则威胁人身安全</a:t>
            </a:r>
          </a:p>
        </p:txBody>
      </p:sp>
      <p:sp>
        <p:nvSpPr>
          <p:cNvPr id="4" name="灯片编号占位符 3"/>
          <p:cNvSpPr>
            <a:spLocks noGrp="1"/>
          </p:cNvSpPr>
          <p:nvPr>
            <p:ph type="sldNum" sz="quarter" idx="5"/>
          </p:nvPr>
        </p:nvSpPr>
        <p:spPr/>
        <p:txBody>
          <a:bodyPr/>
          <a:lstStyle/>
          <a:p>
            <a:pPr>
              <a:defRPr/>
            </a:pPr>
            <a:fld id="{1C318C20-D11A-41AC-8ABD-BB69D753AA0E}" type="slidenum">
              <a:rPr lang="en-US" altLang="zh-CN" smtClean="0"/>
              <a:pPr>
                <a:defRPr/>
              </a:pPr>
              <a:t>48</a:t>
            </a:fld>
            <a:endParaRPr lang="en-US" altLang="zh-CN"/>
          </a:p>
        </p:txBody>
      </p:sp>
    </p:spTree>
    <p:extLst>
      <p:ext uri="{BB962C8B-B14F-4D97-AF65-F5344CB8AC3E}">
        <p14:creationId xmlns:p14="http://schemas.microsoft.com/office/powerpoint/2010/main" val="42144058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AI</a:t>
            </a:r>
            <a:r>
              <a:rPr lang="zh-CN" altLang="en-US" dirty="0"/>
              <a:t>算法设计之初普遍未 考虑相关的安全威胁，使得</a:t>
            </a:r>
            <a:r>
              <a:rPr lang="en-US" altLang="zh-CN" dirty="0"/>
              <a:t>AI</a:t>
            </a:r>
            <a:r>
              <a:rPr lang="zh-CN" altLang="en-US" dirty="0"/>
              <a:t>算法的判断结果容易被恶意攻击者影响，导致</a:t>
            </a:r>
            <a:r>
              <a:rPr lang="en-US" altLang="zh-CN" dirty="0"/>
              <a:t>AI</a:t>
            </a:r>
            <a:r>
              <a:rPr lang="zh-CN" altLang="en-US" dirty="0"/>
              <a:t>系统判断失准。在工业、医疗、交通、 监控等关键领域，安全危害尤为巨大；如果</a:t>
            </a:r>
            <a:r>
              <a:rPr lang="en-US" altLang="zh-CN" dirty="0"/>
              <a:t>AI</a:t>
            </a:r>
            <a:r>
              <a:rPr lang="zh-CN" altLang="en-US" dirty="0"/>
              <a:t>系统被恶意攻击，轻则造成财产损失，重则威胁人身安全</a:t>
            </a:r>
          </a:p>
        </p:txBody>
      </p:sp>
      <p:sp>
        <p:nvSpPr>
          <p:cNvPr id="4" name="灯片编号占位符 3"/>
          <p:cNvSpPr>
            <a:spLocks noGrp="1"/>
          </p:cNvSpPr>
          <p:nvPr>
            <p:ph type="sldNum" sz="quarter" idx="5"/>
          </p:nvPr>
        </p:nvSpPr>
        <p:spPr/>
        <p:txBody>
          <a:bodyPr/>
          <a:lstStyle/>
          <a:p>
            <a:pPr>
              <a:defRPr/>
            </a:pPr>
            <a:fld id="{1C318C20-D11A-41AC-8ABD-BB69D753AA0E}" type="slidenum">
              <a:rPr lang="en-US" altLang="zh-CN" smtClean="0"/>
              <a:pPr>
                <a:defRPr/>
              </a:pPr>
              <a:t>49</a:t>
            </a:fld>
            <a:endParaRPr lang="en-US" altLang="zh-CN"/>
          </a:p>
        </p:txBody>
      </p:sp>
    </p:spTree>
    <p:extLst>
      <p:ext uri="{BB962C8B-B14F-4D97-AF65-F5344CB8AC3E}">
        <p14:creationId xmlns:p14="http://schemas.microsoft.com/office/powerpoint/2010/main" val="4096819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在</a:t>
            </a:r>
            <a:r>
              <a:rPr lang="en-US" altLang="zh-CN" sz="1200" kern="1200" noProof="0" dirty="0">
                <a:solidFill>
                  <a:schemeClr val="tx1"/>
                </a:solidFill>
                <a:effectLst/>
                <a:latin typeface="+mn-lt"/>
                <a:ea typeface="+mn-ea"/>
                <a:cs typeface="+mn-cs"/>
              </a:rPr>
              <a:t>ImageNet </a:t>
            </a:r>
            <a:r>
              <a:rPr lang="zh-CN" altLang="en-US" sz="1200" kern="1200" noProof="0" dirty="0">
                <a:solidFill>
                  <a:schemeClr val="tx1"/>
                </a:solidFill>
                <a:effectLst/>
                <a:latin typeface="+mn-lt"/>
                <a:ea typeface="+mn-ea"/>
                <a:cs typeface="+mn-cs"/>
              </a:rPr>
              <a:t>竞赛中，</a:t>
            </a:r>
            <a:r>
              <a:rPr lang="zh-CN" altLang="en-US" sz="1200" kern="1200" dirty="0">
                <a:solidFill>
                  <a:schemeClr val="tx1"/>
                </a:solidFill>
                <a:effectLst/>
                <a:latin typeface="+mn-lt"/>
                <a:ea typeface="+mn-ea"/>
                <a:cs typeface="+mn-cs"/>
              </a:rPr>
              <a:t>标志性事件出现在</a:t>
            </a:r>
            <a:r>
              <a:rPr lang="en-US" altLang="zh-CN" sz="1200" kern="1200" dirty="0">
                <a:solidFill>
                  <a:schemeClr val="tx1"/>
                </a:solidFill>
                <a:effectLst/>
                <a:latin typeface="+mn-lt"/>
                <a:ea typeface="+mn-ea"/>
                <a:cs typeface="+mn-cs"/>
              </a:rPr>
              <a:t>2016 </a:t>
            </a:r>
            <a:r>
              <a:rPr lang="zh-CN" altLang="en-US" sz="1200" kern="1200" dirty="0">
                <a:solidFill>
                  <a:schemeClr val="tx1"/>
                </a:solidFill>
                <a:effectLst/>
                <a:latin typeface="+mn-lt"/>
                <a:ea typeface="+mn-ea"/>
                <a:cs typeface="+mn-cs"/>
              </a:rPr>
              <a:t>年，基于卷积神经网络的人工智能模型的图像识别错误率已经减少到约 </a:t>
            </a:r>
            <a:r>
              <a:rPr lang="en-US" altLang="zh-CN" sz="1200" kern="1200" dirty="0">
                <a:solidFill>
                  <a:schemeClr val="tx1"/>
                </a:solidFill>
                <a:effectLst/>
                <a:latin typeface="+mn-lt"/>
                <a:ea typeface="+mn-ea"/>
                <a:cs typeface="+mn-cs"/>
              </a:rPr>
              <a:t>2.9%</a:t>
            </a:r>
            <a:r>
              <a:rPr lang="zh-CN" altLang="en-US" sz="1200" kern="1200" dirty="0">
                <a:solidFill>
                  <a:schemeClr val="tx1"/>
                </a:solidFill>
                <a:effectLst/>
                <a:latin typeface="+mn-lt"/>
                <a:ea typeface="+mn-ea"/>
                <a:cs typeface="+mn-cs"/>
              </a:rPr>
              <a:t>，远远超越人类的</a:t>
            </a:r>
            <a:r>
              <a:rPr lang="en-US" altLang="zh-CN" sz="1200" kern="1200" dirty="0">
                <a:solidFill>
                  <a:schemeClr val="tx1"/>
                </a:solidFill>
                <a:effectLst/>
                <a:latin typeface="+mn-lt"/>
                <a:ea typeface="+mn-ea"/>
                <a:cs typeface="+mn-cs"/>
              </a:rPr>
              <a:t>5.1%</a:t>
            </a:r>
            <a:r>
              <a:rPr lang="zh-CN" altLang="en-US" sz="1200" kern="1200" dirty="0">
                <a:solidFill>
                  <a:schemeClr val="tx1"/>
                </a:solidFill>
                <a:effectLst/>
                <a:latin typeface="+mn-lt"/>
                <a:ea typeface="+mn-ea"/>
                <a:cs typeface="+mn-cs"/>
              </a:rPr>
              <a:t>。发挥主要作用的就是左边动图显示的卷积算子，它采用了滑动窗口的机制，在图像上进行扫描，在较少的参数下能获得更加丰富的图像信息表达。机器可以比人更准确的识别图片，是一个巨大技术进步。</a:t>
            </a:r>
            <a:endParaRPr lang="zh-CN" altLang="en-US" dirty="0"/>
          </a:p>
        </p:txBody>
      </p:sp>
      <p:sp>
        <p:nvSpPr>
          <p:cNvPr id="4" name="灯片编号占位符 3"/>
          <p:cNvSpPr>
            <a:spLocks noGrp="1"/>
          </p:cNvSpPr>
          <p:nvPr>
            <p:ph type="sldNum" sz="quarter" idx="5"/>
          </p:nvPr>
        </p:nvSpPr>
        <p:spPr/>
        <p:txBody>
          <a:bodyPr/>
          <a:lstStyle/>
          <a:p>
            <a:pPr>
              <a:defRPr/>
            </a:pPr>
            <a:fld id="{1C318C20-D11A-41AC-8ABD-BB69D753AA0E}" type="slidenum">
              <a:rPr lang="en-US" altLang="zh-CN" smtClean="0"/>
              <a:pPr>
                <a:defRPr/>
              </a:pPr>
              <a:t>50</a:t>
            </a:fld>
            <a:endParaRPr lang="en-US" altLang="zh-CN"/>
          </a:p>
        </p:txBody>
      </p:sp>
    </p:spTree>
    <p:extLst>
      <p:ext uri="{BB962C8B-B14F-4D97-AF65-F5344CB8AC3E}">
        <p14:creationId xmlns:p14="http://schemas.microsoft.com/office/powerpoint/2010/main" val="10462825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在</a:t>
            </a:r>
            <a:r>
              <a:rPr lang="en-US" altLang="zh-CN" sz="1200" kern="1200" noProof="0" dirty="0">
                <a:solidFill>
                  <a:schemeClr val="tx1"/>
                </a:solidFill>
                <a:effectLst/>
                <a:latin typeface="+mn-lt"/>
                <a:ea typeface="+mn-ea"/>
                <a:cs typeface="+mn-cs"/>
              </a:rPr>
              <a:t>ImageNet </a:t>
            </a:r>
            <a:r>
              <a:rPr lang="zh-CN" altLang="en-US" sz="1200" kern="1200" noProof="0" dirty="0">
                <a:solidFill>
                  <a:schemeClr val="tx1"/>
                </a:solidFill>
                <a:effectLst/>
                <a:latin typeface="+mn-lt"/>
                <a:ea typeface="+mn-ea"/>
                <a:cs typeface="+mn-cs"/>
              </a:rPr>
              <a:t>竞赛中，</a:t>
            </a:r>
            <a:r>
              <a:rPr lang="zh-CN" altLang="en-US" sz="1200" kern="1200" dirty="0">
                <a:solidFill>
                  <a:schemeClr val="tx1"/>
                </a:solidFill>
                <a:effectLst/>
                <a:latin typeface="+mn-lt"/>
                <a:ea typeface="+mn-ea"/>
                <a:cs typeface="+mn-cs"/>
              </a:rPr>
              <a:t>标志性事件出现在</a:t>
            </a:r>
            <a:r>
              <a:rPr lang="en-US" altLang="zh-CN" sz="1200" kern="1200" dirty="0">
                <a:solidFill>
                  <a:schemeClr val="tx1"/>
                </a:solidFill>
                <a:effectLst/>
                <a:latin typeface="+mn-lt"/>
                <a:ea typeface="+mn-ea"/>
                <a:cs typeface="+mn-cs"/>
              </a:rPr>
              <a:t>2016 </a:t>
            </a:r>
            <a:r>
              <a:rPr lang="zh-CN" altLang="en-US" sz="1200" kern="1200" dirty="0">
                <a:solidFill>
                  <a:schemeClr val="tx1"/>
                </a:solidFill>
                <a:effectLst/>
                <a:latin typeface="+mn-lt"/>
                <a:ea typeface="+mn-ea"/>
                <a:cs typeface="+mn-cs"/>
              </a:rPr>
              <a:t>年，基于卷积神经网络的人工智能模型的图像识别错误率已经减少到约 </a:t>
            </a:r>
            <a:r>
              <a:rPr lang="en-US" altLang="zh-CN" sz="1200" kern="1200" dirty="0">
                <a:solidFill>
                  <a:schemeClr val="tx1"/>
                </a:solidFill>
                <a:effectLst/>
                <a:latin typeface="+mn-lt"/>
                <a:ea typeface="+mn-ea"/>
                <a:cs typeface="+mn-cs"/>
              </a:rPr>
              <a:t>2.9%</a:t>
            </a:r>
            <a:r>
              <a:rPr lang="zh-CN" altLang="en-US" sz="1200" kern="1200" dirty="0">
                <a:solidFill>
                  <a:schemeClr val="tx1"/>
                </a:solidFill>
                <a:effectLst/>
                <a:latin typeface="+mn-lt"/>
                <a:ea typeface="+mn-ea"/>
                <a:cs typeface="+mn-cs"/>
              </a:rPr>
              <a:t>，远远超越人类的</a:t>
            </a:r>
            <a:r>
              <a:rPr lang="en-US" altLang="zh-CN" sz="1200" kern="1200" dirty="0">
                <a:solidFill>
                  <a:schemeClr val="tx1"/>
                </a:solidFill>
                <a:effectLst/>
                <a:latin typeface="+mn-lt"/>
                <a:ea typeface="+mn-ea"/>
                <a:cs typeface="+mn-cs"/>
              </a:rPr>
              <a:t>5.1%</a:t>
            </a:r>
            <a:r>
              <a:rPr lang="zh-CN" altLang="en-US" sz="1200" kern="1200" dirty="0">
                <a:solidFill>
                  <a:schemeClr val="tx1"/>
                </a:solidFill>
                <a:effectLst/>
                <a:latin typeface="+mn-lt"/>
                <a:ea typeface="+mn-ea"/>
                <a:cs typeface="+mn-cs"/>
              </a:rPr>
              <a:t>。发挥主要作用的就是左边动图显示的卷积算子，它采用了滑动窗口的机制，在图像上进行扫描，在较少的参数下能获得更加丰富的图像信息表达。机器可以比人更准确的识别图片，是一个巨大技术进步。</a:t>
            </a:r>
            <a:endParaRPr lang="zh-CN" altLang="en-US" dirty="0"/>
          </a:p>
        </p:txBody>
      </p:sp>
      <p:sp>
        <p:nvSpPr>
          <p:cNvPr id="4" name="灯片编号占位符 3"/>
          <p:cNvSpPr>
            <a:spLocks noGrp="1"/>
          </p:cNvSpPr>
          <p:nvPr>
            <p:ph type="sldNum" sz="quarter" idx="5"/>
          </p:nvPr>
        </p:nvSpPr>
        <p:spPr/>
        <p:txBody>
          <a:bodyPr/>
          <a:lstStyle/>
          <a:p>
            <a:pPr>
              <a:defRPr/>
            </a:pPr>
            <a:fld id="{1C318C20-D11A-41AC-8ABD-BB69D753AA0E}" type="slidenum">
              <a:rPr lang="en-US" altLang="zh-CN" smtClean="0"/>
              <a:pPr>
                <a:defRPr/>
              </a:pPr>
              <a:t>51</a:t>
            </a:fld>
            <a:endParaRPr lang="en-US" altLang="zh-CN"/>
          </a:p>
        </p:txBody>
      </p:sp>
    </p:spTree>
    <p:extLst>
      <p:ext uri="{BB962C8B-B14F-4D97-AF65-F5344CB8AC3E}">
        <p14:creationId xmlns:p14="http://schemas.microsoft.com/office/powerpoint/2010/main" val="20491945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在</a:t>
            </a:r>
            <a:r>
              <a:rPr lang="en-US" altLang="zh-CN" sz="1200" kern="1200" noProof="0" dirty="0">
                <a:solidFill>
                  <a:schemeClr val="tx1"/>
                </a:solidFill>
                <a:effectLst/>
                <a:latin typeface="+mn-lt"/>
                <a:ea typeface="+mn-ea"/>
                <a:cs typeface="+mn-cs"/>
              </a:rPr>
              <a:t>ImageNet </a:t>
            </a:r>
            <a:r>
              <a:rPr lang="zh-CN" altLang="en-US" sz="1200" kern="1200" noProof="0" dirty="0">
                <a:solidFill>
                  <a:schemeClr val="tx1"/>
                </a:solidFill>
                <a:effectLst/>
                <a:latin typeface="+mn-lt"/>
                <a:ea typeface="+mn-ea"/>
                <a:cs typeface="+mn-cs"/>
              </a:rPr>
              <a:t>竞赛中，</a:t>
            </a:r>
            <a:r>
              <a:rPr lang="zh-CN" altLang="en-US" sz="1200" kern="1200" dirty="0">
                <a:solidFill>
                  <a:schemeClr val="tx1"/>
                </a:solidFill>
                <a:effectLst/>
                <a:latin typeface="+mn-lt"/>
                <a:ea typeface="+mn-ea"/>
                <a:cs typeface="+mn-cs"/>
              </a:rPr>
              <a:t>标志性事件出现在</a:t>
            </a:r>
            <a:r>
              <a:rPr lang="en-US" altLang="zh-CN" sz="1200" kern="1200" dirty="0">
                <a:solidFill>
                  <a:schemeClr val="tx1"/>
                </a:solidFill>
                <a:effectLst/>
                <a:latin typeface="+mn-lt"/>
                <a:ea typeface="+mn-ea"/>
                <a:cs typeface="+mn-cs"/>
              </a:rPr>
              <a:t>2016 </a:t>
            </a:r>
            <a:r>
              <a:rPr lang="zh-CN" altLang="en-US" sz="1200" kern="1200" dirty="0">
                <a:solidFill>
                  <a:schemeClr val="tx1"/>
                </a:solidFill>
                <a:effectLst/>
                <a:latin typeface="+mn-lt"/>
                <a:ea typeface="+mn-ea"/>
                <a:cs typeface="+mn-cs"/>
              </a:rPr>
              <a:t>年，基于卷积神经网络的人工智能模型的图像识别错误率已经减少到约 </a:t>
            </a:r>
            <a:r>
              <a:rPr lang="en-US" altLang="zh-CN" sz="1200" kern="1200" dirty="0">
                <a:solidFill>
                  <a:schemeClr val="tx1"/>
                </a:solidFill>
                <a:effectLst/>
                <a:latin typeface="+mn-lt"/>
                <a:ea typeface="+mn-ea"/>
                <a:cs typeface="+mn-cs"/>
              </a:rPr>
              <a:t>2.9%</a:t>
            </a:r>
            <a:r>
              <a:rPr lang="zh-CN" altLang="en-US" sz="1200" kern="1200" dirty="0">
                <a:solidFill>
                  <a:schemeClr val="tx1"/>
                </a:solidFill>
                <a:effectLst/>
                <a:latin typeface="+mn-lt"/>
                <a:ea typeface="+mn-ea"/>
                <a:cs typeface="+mn-cs"/>
              </a:rPr>
              <a:t>，远远超越人类的</a:t>
            </a:r>
            <a:r>
              <a:rPr lang="en-US" altLang="zh-CN" sz="1200" kern="1200" dirty="0">
                <a:solidFill>
                  <a:schemeClr val="tx1"/>
                </a:solidFill>
                <a:effectLst/>
                <a:latin typeface="+mn-lt"/>
                <a:ea typeface="+mn-ea"/>
                <a:cs typeface="+mn-cs"/>
              </a:rPr>
              <a:t>5.1%</a:t>
            </a:r>
            <a:r>
              <a:rPr lang="zh-CN" altLang="en-US" sz="1200" kern="1200" dirty="0">
                <a:solidFill>
                  <a:schemeClr val="tx1"/>
                </a:solidFill>
                <a:effectLst/>
                <a:latin typeface="+mn-lt"/>
                <a:ea typeface="+mn-ea"/>
                <a:cs typeface="+mn-cs"/>
              </a:rPr>
              <a:t>。发挥主要作用的就是左边动图显示的卷积算子，它采用了滑动窗口的机制，在图像上进行扫描，在较少的参数下能获得更加丰富的图像信息表达。机器可以比人更准确的识别图片，是一个巨大技术进步。</a:t>
            </a:r>
            <a:endParaRPr lang="zh-CN" altLang="en-US" dirty="0"/>
          </a:p>
        </p:txBody>
      </p:sp>
      <p:sp>
        <p:nvSpPr>
          <p:cNvPr id="4" name="灯片编号占位符 3"/>
          <p:cNvSpPr>
            <a:spLocks noGrp="1"/>
          </p:cNvSpPr>
          <p:nvPr>
            <p:ph type="sldNum" sz="quarter" idx="5"/>
          </p:nvPr>
        </p:nvSpPr>
        <p:spPr/>
        <p:txBody>
          <a:bodyPr/>
          <a:lstStyle/>
          <a:p>
            <a:pPr>
              <a:defRPr/>
            </a:pPr>
            <a:fld id="{1C318C20-D11A-41AC-8ABD-BB69D753AA0E}" type="slidenum">
              <a:rPr lang="en-US" altLang="zh-CN" smtClean="0"/>
              <a:pPr>
                <a:defRPr/>
              </a:pPr>
              <a:t>52</a:t>
            </a:fld>
            <a:endParaRPr lang="en-US" altLang="zh-CN"/>
          </a:p>
        </p:txBody>
      </p:sp>
    </p:spTree>
    <p:extLst>
      <p:ext uri="{BB962C8B-B14F-4D97-AF65-F5344CB8AC3E}">
        <p14:creationId xmlns:p14="http://schemas.microsoft.com/office/powerpoint/2010/main" val="33053690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AI</a:t>
            </a:r>
            <a:r>
              <a:rPr lang="zh-CN" altLang="en-US" dirty="0"/>
              <a:t>系统在设计上面临五大安全挑战，摘自华为</a:t>
            </a:r>
            <a:r>
              <a:rPr lang="en-US" altLang="zh-CN" dirty="0"/>
              <a:t>AI</a:t>
            </a:r>
            <a:r>
              <a:rPr lang="zh-CN" altLang="en-US" dirty="0"/>
              <a:t>安全白皮书</a:t>
            </a:r>
          </a:p>
        </p:txBody>
      </p:sp>
      <p:sp>
        <p:nvSpPr>
          <p:cNvPr id="4" name="灯片编号占位符 3"/>
          <p:cNvSpPr>
            <a:spLocks noGrp="1"/>
          </p:cNvSpPr>
          <p:nvPr>
            <p:ph type="sldNum" sz="quarter" idx="5"/>
          </p:nvPr>
        </p:nvSpPr>
        <p:spPr/>
        <p:txBody>
          <a:bodyPr/>
          <a:lstStyle/>
          <a:p>
            <a:pPr>
              <a:defRPr/>
            </a:pPr>
            <a:fld id="{1C318C20-D11A-41AC-8ABD-BB69D753AA0E}" type="slidenum">
              <a:rPr lang="en-US" altLang="zh-CN" smtClean="0"/>
              <a:pPr>
                <a:defRPr/>
              </a:pPr>
              <a:t>54</a:t>
            </a:fld>
            <a:endParaRPr lang="en-US" altLang="zh-CN"/>
          </a:p>
        </p:txBody>
      </p:sp>
    </p:spTree>
    <p:extLst>
      <p:ext uri="{BB962C8B-B14F-4D97-AF65-F5344CB8AC3E}">
        <p14:creationId xmlns:p14="http://schemas.microsoft.com/office/powerpoint/2010/main" val="29080842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C318C20-D11A-41AC-8ABD-BB69D753AA0E}" type="slidenum">
              <a:rPr lang="en-US" altLang="zh-CN" smtClean="0"/>
              <a:pPr>
                <a:defRPr/>
              </a:pPr>
              <a:t>55</a:t>
            </a:fld>
            <a:endParaRPr lang="en-US" altLang="zh-CN"/>
          </a:p>
        </p:txBody>
      </p:sp>
    </p:spTree>
    <p:extLst>
      <p:ext uri="{BB962C8B-B14F-4D97-AF65-F5344CB8AC3E}">
        <p14:creationId xmlns:p14="http://schemas.microsoft.com/office/powerpoint/2010/main" val="193759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三个层次的防御手段：</a:t>
            </a:r>
            <a:r>
              <a:rPr lang="en-US" altLang="zh-CN" dirty="0"/>
              <a:t>1</a:t>
            </a:r>
            <a:r>
              <a:rPr lang="zh-CN" altLang="en-US" dirty="0"/>
              <a:t>、攻防安全：对已知攻击所设计的有针对性的防 御机制；</a:t>
            </a:r>
            <a:r>
              <a:rPr lang="en-US" altLang="zh-CN" dirty="0"/>
              <a:t>2</a:t>
            </a:r>
            <a:r>
              <a:rPr lang="zh-CN" altLang="en-US" dirty="0"/>
              <a:t>、模型安全：通过模型验证等手段提升模型健壮性；</a:t>
            </a:r>
            <a:r>
              <a:rPr lang="en-US" altLang="zh-CN" dirty="0"/>
              <a:t>3</a:t>
            </a:r>
            <a:r>
              <a:rPr lang="zh-CN" altLang="en-US" dirty="0"/>
              <a:t>、架构安全：在</a:t>
            </a:r>
            <a:r>
              <a:rPr lang="en-US" altLang="zh-CN" dirty="0"/>
              <a:t>AI</a:t>
            </a:r>
            <a:r>
              <a:rPr lang="zh-CN" altLang="en-US" dirty="0"/>
              <a:t>部署的业务中设计不同的安全机 制保证架构安全。</a:t>
            </a:r>
          </a:p>
        </p:txBody>
      </p:sp>
      <p:sp>
        <p:nvSpPr>
          <p:cNvPr id="4" name="灯片编号占位符 3"/>
          <p:cNvSpPr>
            <a:spLocks noGrp="1"/>
          </p:cNvSpPr>
          <p:nvPr>
            <p:ph type="sldNum" sz="quarter" idx="5"/>
          </p:nvPr>
        </p:nvSpPr>
        <p:spPr/>
        <p:txBody>
          <a:bodyPr/>
          <a:lstStyle/>
          <a:p>
            <a:pPr>
              <a:defRPr/>
            </a:pPr>
            <a:fld id="{1C318C20-D11A-41AC-8ABD-BB69D753AA0E}" type="slidenum">
              <a:rPr lang="en-US" altLang="zh-CN" smtClean="0"/>
              <a:pPr>
                <a:defRPr/>
              </a:pPr>
              <a:t>58</a:t>
            </a:fld>
            <a:endParaRPr lang="en-US" altLang="zh-CN"/>
          </a:p>
        </p:txBody>
      </p:sp>
    </p:spTree>
    <p:extLst>
      <p:ext uri="{BB962C8B-B14F-4D97-AF65-F5344CB8AC3E}">
        <p14:creationId xmlns:p14="http://schemas.microsoft.com/office/powerpoint/2010/main" val="17573433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模型可检测性：如同传统程序的代码检测，</a:t>
            </a:r>
            <a:r>
              <a:rPr lang="en-US" altLang="zh-CN" dirty="0"/>
              <a:t>AI</a:t>
            </a:r>
            <a:r>
              <a:rPr lang="zh-CN" altLang="en-US" dirty="0"/>
              <a:t>模型也可以通过各种黑盒、白盒测试等对抗检测技术来保证一定程度的 安全性，已有测试工具基本都是基于公开数据集，样本少且无法涵盖很多其他真实场景，而对抗训练技术则在重训 练的过程中带来较大的性能损耗。在</a:t>
            </a:r>
            <a:r>
              <a:rPr lang="en-US" altLang="zh-CN" dirty="0"/>
              <a:t>AI</a:t>
            </a:r>
            <a:r>
              <a:rPr lang="zh-CN" altLang="en-US" dirty="0"/>
              <a:t>系统的落地实践中，需要对各种</a:t>
            </a:r>
            <a:r>
              <a:rPr lang="en-US" altLang="zh-CN" dirty="0"/>
              <a:t>DNN</a:t>
            </a:r>
            <a:r>
              <a:rPr lang="zh-CN" altLang="en-US" dirty="0"/>
              <a:t>模型进行大量的安全测试，如数据输入 训练模型前要做前馈检测模块过滤恶意样本，或模型输出评测结果经过后馈检测模块从而减少误判，才能在将</a:t>
            </a:r>
            <a:r>
              <a:rPr lang="en-US" altLang="zh-CN" dirty="0"/>
              <a:t>AI</a:t>
            </a:r>
            <a:r>
              <a:rPr lang="zh-CN" altLang="en-US" dirty="0"/>
              <a:t>系统 部署到实际应用前提升</a:t>
            </a:r>
            <a:r>
              <a:rPr lang="en-US" altLang="zh-CN" dirty="0"/>
              <a:t>AI</a:t>
            </a:r>
            <a:r>
              <a:rPr lang="zh-CN" altLang="en-US" dirty="0"/>
              <a:t>系统的鲁棒性</a:t>
            </a:r>
            <a:endParaRPr lang="en-US" altLang="zh-CN" dirty="0"/>
          </a:p>
          <a:p>
            <a:endParaRPr lang="en-US" altLang="zh-CN" dirty="0"/>
          </a:p>
          <a:p>
            <a:r>
              <a:rPr lang="zh-CN" altLang="en-US" dirty="0"/>
              <a:t>模型可验证性：</a:t>
            </a:r>
            <a:r>
              <a:rPr lang="en-US" altLang="zh-CN" dirty="0"/>
              <a:t>DNN</a:t>
            </a:r>
            <a:r>
              <a:rPr lang="zh-CN" altLang="en-US" dirty="0"/>
              <a:t>模型有着比传统机器学习更加预想不到的效果（如更高识别率，更低误报率等），目前广泛用 于各种图像识别、语音识别等应用中，然而</a:t>
            </a:r>
            <a:r>
              <a:rPr lang="en-US" altLang="zh-CN" dirty="0"/>
              <a:t>AI</a:t>
            </a:r>
            <a:r>
              <a:rPr lang="zh-CN" altLang="en-US" dirty="0"/>
              <a:t>模型在关键安全应用（如自动驾驶、医学诊断等）领域还需要慎重。 对</a:t>
            </a:r>
            <a:r>
              <a:rPr lang="en-US" altLang="zh-CN" dirty="0"/>
              <a:t>DNN</a:t>
            </a:r>
            <a:r>
              <a:rPr lang="zh-CN" altLang="en-US" dirty="0"/>
              <a:t>模型进行安全验证（</a:t>
            </a:r>
            <a:r>
              <a:rPr lang="en-US" altLang="zh-CN" dirty="0"/>
              <a:t>certified verification</a:t>
            </a:r>
            <a:r>
              <a:rPr lang="zh-CN" altLang="en-US" dirty="0"/>
              <a:t>）也可以在一定程度上保证安全性。模型验证一般需要约束输入空 间（</a:t>
            </a:r>
            <a:r>
              <a:rPr lang="en-US" altLang="zh-CN" dirty="0"/>
              <a:t>input space</a:t>
            </a:r>
            <a:r>
              <a:rPr lang="zh-CN" altLang="en-US" dirty="0"/>
              <a:t>）与输出空间（</a:t>
            </a:r>
            <a:r>
              <a:rPr lang="en-US" altLang="zh-CN" dirty="0"/>
              <a:t>output space</a:t>
            </a:r>
            <a:r>
              <a:rPr lang="zh-CN" altLang="en-US" dirty="0"/>
              <a:t>）的对应关系，从而验证输出在一定的范围内。但是基于统计优化 （</a:t>
            </a:r>
            <a:r>
              <a:rPr lang="en-US" altLang="zh-CN" dirty="0"/>
              <a:t>optimization</a:t>
            </a:r>
            <a:r>
              <a:rPr lang="zh-CN" altLang="en-US" dirty="0"/>
              <a:t>）的学习及验证方法总还是无法穷尽所有数据分布，而极端攻击则有机可乘，这样在实际应用中较难 实施具体的保护措施。只有在对</a:t>
            </a:r>
            <a:r>
              <a:rPr lang="en-US" altLang="zh-CN" dirty="0"/>
              <a:t>DNN</a:t>
            </a:r>
            <a:r>
              <a:rPr lang="zh-CN" altLang="en-US" dirty="0"/>
              <a:t>模型内部工作机理充分理解的基础上才能进一步解决机制性防御（</a:t>
            </a:r>
            <a:r>
              <a:rPr lang="en-US" altLang="zh-CN" dirty="0"/>
              <a:t>principled defense</a:t>
            </a:r>
            <a:r>
              <a:rPr lang="zh-CN" altLang="en-US" dirty="0"/>
              <a:t>）问题</a:t>
            </a:r>
            <a:endParaRPr lang="en-US" altLang="zh-CN" dirty="0"/>
          </a:p>
          <a:p>
            <a:endParaRPr lang="en-US" altLang="zh-CN" dirty="0"/>
          </a:p>
          <a:p>
            <a:r>
              <a:rPr lang="zh-CN" altLang="en-US" dirty="0"/>
              <a:t>模型可解释性：目前大多数</a:t>
            </a:r>
            <a:r>
              <a:rPr lang="en-US" altLang="zh-CN" dirty="0"/>
              <a:t>AI</a:t>
            </a:r>
            <a:r>
              <a:rPr lang="zh-CN" altLang="en-US" dirty="0"/>
              <a:t>都被认为是一个非常复杂的黑盒子系统，他的决策过程，判断逻辑，判断依据都很难被 人完全理解。目前有些业务中，例如棋类、翻译业务，为了让人类和机器之间有更好的互动，我们希望理解为什么机器做出了这些决定，但是</a:t>
            </a:r>
            <a:r>
              <a:rPr lang="en-US" altLang="zh-CN" dirty="0"/>
              <a:t>AI</a:t>
            </a:r>
            <a:r>
              <a:rPr lang="zh-CN" altLang="en-US" dirty="0"/>
              <a:t>系统不可解释并不会带来太多问题。如果它不告诉我们为什么把这个单词翻译成了另一 个单词，只要翻译出的结果是好的，它就可以继续是一个完全的黑盒子、完全复杂的系统，而不会带来什么问题。 但对于有些业务，不可解释性往往对于会带来业务法务风险或者业务逻辑风险。</a:t>
            </a:r>
          </a:p>
        </p:txBody>
      </p:sp>
      <p:sp>
        <p:nvSpPr>
          <p:cNvPr id="4" name="灯片编号占位符 3"/>
          <p:cNvSpPr>
            <a:spLocks noGrp="1"/>
          </p:cNvSpPr>
          <p:nvPr>
            <p:ph type="sldNum" sz="quarter" idx="5"/>
          </p:nvPr>
        </p:nvSpPr>
        <p:spPr/>
        <p:txBody>
          <a:bodyPr/>
          <a:lstStyle/>
          <a:p>
            <a:pPr>
              <a:defRPr/>
            </a:pPr>
            <a:fld id="{1C318C20-D11A-41AC-8ABD-BB69D753AA0E}" type="slidenum">
              <a:rPr lang="en-US" altLang="zh-CN" smtClean="0"/>
              <a:pPr>
                <a:defRPr/>
              </a:pPr>
              <a:t>60</a:t>
            </a:fld>
            <a:endParaRPr lang="en-US" altLang="zh-CN"/>
          </a:p>
        </p:txBody>
      </p:sp>
    </p:spTree>
    <p:extLst>
      <p:ext uri="{BB962C8B-B14F-4D97-AF65-F5344CB8AC3E}">
        <p14:creationId xmlns:p14="http://schemas.microsoft.com/office/powerpoint/2010/main" val="12912034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模型可检测性：如同传统程序的代码检测，</a:t>
            </a:r>
            <a:r>
              <a:rPr lang="en-US" altLang="zh-CN" dirty="0"/>
              <a:t>AI</a:t>
            </a:r>
            <a:r>
              <a:rPr lang="zh-CN" altLang="en-US" dirty="0"/>
              <a:t>模型也可以通过各种黑盒、白盒测试等对抗检测技术来保证一定程度的 安全性，已有测试工具基本都是基于公开数据集，样本少且无法涵盖很多其他真实场景，而对抗训练技术则在重训 练的过程中带来较大的性能损耗。在</a:t>
            </a:r>
            <a:r>
              <a:rPr lang="en-US" altLang="zh-CN" dirty="0"/>
              <a:t>AI</a:t>
            </a:r>
            <a:r>
              <a:rPr lang="zh-CN" altLang="en-US" dirty="0"/>
              <a:t>系统的落地实践中，需要对各种</a:t>
            </a:r>
            <a:r>
              <a:rPr lang="en-US" altLang="zh-CN" dirty="0"/>
              <a:t>DNN</a:t>
            </a:r>
            <a:r>
              <a:rPr lang="zh-CN" altLang="en-US" dirty="0"/>
              <a:t>模型进行大量的安全测试，如数据输入 训练模型前要做前馈检测模块过滤恶意样本，或模型输出评测结果经过后馈检测模块从而减少误判，才能在将</a:t>
            </a:r>
            <a:r>
              <a:rPr lang="en-US" altLang="zh-CN" dirty="0"/>
              <a:t>AI</a:t>
            </a:r>
            <a:r>
              <a:rPr lang="zh-CN" altLang="en-US" dirty="0"/>
              <a:t>系统 部署到实际应用前提升</a:t>
            </a:r>
            <a:r>
              <a:rPr lang="en-US" altLang="zh-CN" dirty="0"/>
              <a:t>AI</a:t>
            </a:r>
            <a:r>
              <a:rPr lang="zh-CN" altLang="en-US" dirty="0"/>
              <a:t>系统的鲁棒性</a:t>
            </a:r>
            <a:endParaRPr lang="en-US" altLang="zh-CN" dirty="0"/>
          </a:p>
          <a:p>
            <a:endParaRPr lang="en-US" altLang="zh-CN" dirty="0"/>
          </a:p>
          <a:p>
            <a:r>
              <a:rPr lang="zh-CN" altLang="en-US" dirty="0"/>
              <a:t>模型可验证性：</a:t>
            </a:r>
            <a:r>
              <a:rPr lang="en-US" altLang="zh-CN" dirty="0"/>
              <a:t>DNN</a:t>
            </a:r>
            <a:r>
              <a:rPr lang="zh-CN" altLang="en-US" dirty="0"/>
              <a:t>模型有着比传统机器学习更加预想不到的效果（如更高识别率，更低误报率等），目前广泛用 于各种图像识别、语音识别等应用中，然而</a:t>
            </a:r>
            <a:r>
              <a:rPr lang="en-US" altLang="zh-CN" dirty="0"/>
              <a:t>AI</a:t>
            </a:r>
            <a:r>
              <a:rPr lang="zh-CN" altLang="en-US" dirty="0"/>
              <a:t>模型在关键安全应用（如自动驾驶、医学诊断等）领域还需要慎重。 对</a:t>
            </a:r>
            <a:r>
              <a:rPr lang="en-US" altLang="zh-CN" dirty="0"/>
              <a:t>DNN</a:t>
            </a:r>
            <a:r>
              <a:rPr lang="zh-CN" altLang="en-US" dirty="0"/>
              <a:t>模型进行安全验证（</a:t>
            </a:r>
            <a:r>
              <a:rPr lang="en-US" altLang="zh-CN" dirty="0"/>
              <a:t>certified verification</a:t>
            </a:r>
            <a:r>
              <a:rPr lang="zh-CN" altLang="en-US" dirty="0"/>
              <a:t>）也可以在一定程度上保证安全性。模型验证一般需要约束输入空 间（</a:t>
            </a:r>
            <a:r>
              <a:rPr lang="en-US" altLang="zh-CN" dirty="0"/>
              <a:t>input space</a:t>
            </a:r>
            <a:r>
              <a:rPr lang="zh-CN" altLang="en-US" dirty="0"/>
              <a:t>）与输出空间（</a:t>
            </a:r>
            <a:r>
              <a:rPr lang="en-US" altLang="zh-CN" dirty="0"/>
              <a:t>output space</a:t>
            </a:r>
            <a:r>
              <a:rPr lang="zh-CN" altLang="en-US" dirty="0"/>
              <a:t>）的对应关系，从而验证输出在一定的范围内。但是基于统计优化 （</a:t>
            </a:r>
            <a:r>
              <a:rPr lang="en-US" altLang="zh-CN" dirty="0"/>
              <a:t>optimization</a:t>
            </a:r>
            <a:r>
              <a:rPr lang="zh-CN" altLang="en-US" dirty="0"/>
              <a:t>）的学习及验证方法总还是无法穷尽所有数据分布，而极端攻击则有机可乘，这样在实际应用中较难 实施具体的保护措施。只有在对</a:t>
            </a:r>
            <a:r>
              <a:rPr lang="en-US" altLang="zh-CN" dirty="0"/>
              <a:t>DNN</a:t>
            </a:r>
            <a:r>
              <a:rPr lang="zh-CN" altLang="en-US" dirty="0"/>
              <a:t>模型内部工作机理充分理解的基础上才能进一步解决机制性防御（</a:t>
            </a:r>
            <a:r>
              <a:rPr lang="en-US" altLang="zh-CN" dirty="0"/>
              <a:t>principled defense</a:t>
            </a:r>
            <a:r>
              <a:rPr lang="zh-CN" altLang="en-US" dirty="0"/>
              <a:t>）问题</a:t>
            </a:r>
            <a:endParaRPr lang="en-US" altLang="zh-CN" dirty="0"/>
          </a:p>
          <a:p>
            <a:endParaRPr lang="en-US" altLang="zh-CN" dirty="0"/>
          </a:p>
          <a:p>
            <a:r>
              <a:rPr lang="zh-CN" altLang="en-US" dirty="0"/>
              <a:t>模型可解释性：目前大多数</a:t>
            </a:r>
            <a:r>
              <a:rPr lang="en-US" altLang="zh-CN" dirty="0"/>
              <a:t>AI</a:t>
            </a:r>
            <a:r>
              <a:rPr lang="zh-CN" altLang="en-US" dirty="0"/>
              <a:t>都被认为是一个非常复杂的黑盒子系统，他的决策过程，判断逻辑，判断依据都很难被 人完全理解。目前有些业务中，例如棋类、翻译业务，为了让人类和机器之间有更好的互动，我们希望理解为什么机器做出了这些决定，但是</a:t>
            </a:r>
            <a:r>
              <a:rPr lang="en-US" altLang="zh-CN" dirty="0"/>
              <a:t>AI</a:t>
            </a:r>
            <a:r>
              <a:rPr lang="zh-CN" altLang="en-US" dirty="0"/>
              <a:t>系统不可解释并不会带来太多问题。如果它不告诉我们为什么把这个单词翻译成了另一 个单词，只要翻译出的结果是好的，它就可以继续是一个完全的黑盒子、完全复杂的系统，而不会带来什么问题。 但对于有些业务，不可解释性往往对于会带来业务法务风险或者业务逻辑风险。</a:t>
            </a:r>
          </a:p>
        </p:txBody>
      </p:sp>
      <p:sp>
        <p:nvSpPr>
          <p:cNvPr id="4" name="灯片编号占位符 3"/>
          <p:cNvSpPr>
            <a:spLocks noGrp="1"/>
          </p:cNvSpPr>
          <p:nvPr>
            <p:ph type="sldNum" sz="quarter" idx="5"/>
          </p:nvPr>
        </p:nvSpPr>
        <p:spPr/>
        <p:txBody>
          <a:bodyPr/>
          <a:lstStyle/>
          <a:p>
            <a:pPr>
              <a:defRPr/>
            </a:pPr>
            <a:fld id="{1C318C20-D11A-41AC-8ABD-BB69D753AA0E}" type="slidenum">
              <a:rPr lang="en-US" altLang="zh-CN" smtClean="0"/>
              <a:pPr>
                <a:defRPr/>
              </a:pPr>
              <a:t>61</a:t>
            </a:fld>
            <a:endParaRPr lang="en-US" altLang="zh-CN"/>
          </a:p>
        </p:txBody>
      </p:sp>
    </p:spTree>
    <p:extLst>
      <p:ext uri="{BB962C8B-B14F-4D97-AF65-F5344CB8AC3E}">
        <p14:creationId xmlns:p14="http://schemas.microsoft.com/office/powerpoint/2010/main" val="18836125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模型可检测性：如同传统程序的代码检测，</a:t>
            </a:r>
            <a:r>
              <a:rPr lang="en-US" altLang="zh-CN" dirty="0"/>
              <a:t>AI</a:t>
            </a:r>
            <a:r>
              <a:rPr lang="zh-CN" altLang="en-US" dirty="0"/>
              <a:t>模型也可以通过各种黑盒、白盒测试等对抗检测技术来保证一定程度的 安全性，已有测试工具基本都是基于公开数据集，样本少且无法涵盖很多其他真实场景，而对抗训练技术则在重训 练的过程中带来较大的性能损耗。在</a:t>
            </a:r>
            <a:r>
              <a:rPr lang="en-US" altLang="zh-CN" dirty="0"/>
              <a:t>AI</a:t>
            </a:r>
            <a:r>
              <a:rPr lang="zh-CN" altLang="en-US" dirty="0"/>
              <a:t>系统的落地实践中，需要对各种</a:t>
            </a:r>
            <a:r>
              <a:rPr lang="en-US" altLang="zh-CN" dirty="0"/>
              <a:t>DNN</a:t>
            </a:r>
            <a:r>
              <a:rPr lang="zh-CN" altLang="en-US" dirty="0"/>
              <a:t>模型进行大量的安全测试，如数据输入 训练模型前要做前馈检测模块过滤恶意样本，或模型输出评测结果经过后馈检测模块从而减少误判，才能在将</a:t>
            </a:r>
            <a:r>
              <a:rPr lang="en-US" altLang="zh-CN" dirty="0"/>
              <a:t>AI</a:t>
            </a:r>
            <a:r>
              <a:rPr lang="zh-CN" altLang="en-US" dirty="0"/>
              <a:t>系统 部署到实际应用前提升</a:t>
            </a:r>
            <a:r>
              <a:rPr lang="en-US" altLang="zh-CN" dirty="0"/>
              <a:t>AI</a:t>
            </a:r>
            <a:r>
              <a:rPr lang="zh-CN" altLang="en-US" dirty="0"/>
              <a:t>系统的鲁棒性</a:t>
            </a:r>
            <a:endParaRPr lang="en-US" altLang="zh-CN" dirty="0"/>
          </a:p>
          <a:p>
            <a:endParaRPr lang="en-US" altLang="zh-CN" dirty="0"/>
          </a:p>
          <a:p>
            <a:r>
              <a:rPr lang="zh-CN" altLang="en-US" dirty="0"/>
              <a:t>模型可验证性：</a:t>
            </a:r>
            <a:r>
              <a:rPr lang="en-US" altLang="zh-CN" dirty="0"/>
              <a:t>DNN</a:t>
            </a:r>
            <a:r>
              <a:rPr lang="zh-CN" altLang="en-US" dirty="0"/>
              <a:t>模型有着比传统机器学习更加预想不到的效果（如更高识别率，更低误报率等），目前广泛用 于各种图像识别、语音识别等应用中，然而</a:t>
            </a:r>
            <a:r>
              <a:rPr lang="en-US" altLang="zh-CN" dirty="0"/>
              <a:t>AI</a:t>
            </a:r>
            <a:r>
              <a:rPr lang="zh-CN" altLang="en-US" dirty="0"/>
              <a:t>模型在关键安全应用（如自动驾驶、医学诊断等）领域还需要慎重。 对</a:t>
            </a:r>
            <a:r>
              <a:rPr lang="en-US" altLang="zh-CN" dirty="0"/>
              <a:t>DNN</a:t>
            </a:r>
            <a:r>
              <a:rPr lang="zh-CN" altLang="en-US" dirty="0"/>
              <a:t>模型进行安全验证（</a:t>
            </a:r>
            <a:r>
              <a:rPr lang="en-US" altLang="zh-CN" dirty="0"/>
              <a:t>certified verification</a:t>
            </a:r>
            <a:r>
              <a:rPr lang="zh-CN" altLang="en-US" dirty="0"/>
              <a:t>）也可以在一定程度上保证安全性。模型验证一般需要约束输入空 间（</a:t>
            </a:r>
            <a:r>
              <a:rPr lang="en-US" altLang="zh-CN" dirty="0"/>
              <a:t>input space</a:t>
            </a:r>
            <a:r>
              <a:rPr lang="zh-CN" altLang="en-US" dirty="0"/>
              <a:t>）与输出空间（</a:t>
            </a:r>
            <a:r>
              <a:rPr lang="en-US" altLang="zh-CN" dirty="0"/>
              <a:t>output space</a:t>
            </a:r>
            <a:r>
              <a:rPr lang="zh-CN" altLang="en-US" dirty="0"/>
              <a:t>）的对应关系，从而验证输出在一定的范围内。但是基于统计优化 （</a:t>
            </a:r>
            <a:r>
              <a:rPr lang="en-US" altLang="zh-CN" dirty="0"/>
              <a:t>optimization</a:t>
            </a:r>
            <a:r>
              <a:rPr lang="zh-CN" altLang="en-US" dirty="0"/>
              <a:t>）的学习及验证方法总还是无法穷尽所有数据分布，而极端攻击则有机可乘，这样在实际应用中较难 实施具体的保护措施。只有在对</a:t>
            </a:r>
            <a:r>
              <a:rPr lang="en-US" altLang="zh-CN" dirty="0"/>
              <a:t>DNN</a:t>
            </a:r>
            <a:r>
              <a:rPr lang="zh-CN" altLang="en-US" dirty="0"/>
              <a:t>模型内部工作机理充分理解的基础上才能进一步解决机制性防御（</a:t>
            </a:r>
            <a:r>
              <a:rPr lang="en-US" altLang="zh-CN" dirty="0"/>
              <a:t>principled defense</a:t>
            </a:r>
            <a:r>
              <a:rPr lang="zh-CN" altLang="en-US" dirty="0"/>
              <a:t>）问题</a:t>
            </a:r>
            <a:endParaRPr lang="en-US" altLang="zh-CN" dirty="0"/>
          </a:p>
          <a:p>
            <a:endParaRPr lang="en-US" altLang="zh-CN" dirty="0"/>
          </a:p>
          <a:p>
            <a:r>
              <a:rPr lang="zh-CN" altLang="en-US" dirty="0"/>
              <a:t>模型可解释性：目前大多数</a:t>
            </a:r>
            <a:r>
              <a:rPr lang="en-US" altLang="zh-CN" dirty="0"/>
              <a:t>AI</a:t>
            </a:r>
            <a:r>
              <a:rPr lang="zh-CN" altLang="en-US" dirty="0"/>
              <a:t>都被认为是一个非常复杂的黑盒子系统，他的决策过程，判断逻辑，判断依据都很难被 人完全理解。目前有些业务中，例如棋类、翻译业务，为了让人类和机器之间有更好的互动，我们希望理解为什么机器做出了这些决定，但是</a:t>
            </a:r>
            <a:r>
              <a:rPr lang="en-US" altLang="zh-CN" dirty="0"/>
              <a:t>AI</a:t>
            </a:r>
            <a:r>
              <a:rPr lang="zh-CN" altLang="en-US" dirty="0"/>
              <a:t>系统不可解释并不会带来太多问题。如果它不告诉我们为什么把这个单词翻译成了另一 个单词，只要翻译出的结果是好的，它就可以继续是一个完全的黑盒子、完全复杂的系统，而不会带来什么问题。 但对于有些业务，不可解释性往往对于会带来业务法务风险或者业务逻辑风险。</a:t>
            </a:r>
          </a:p>
        </p:txBody>
      </p:sp>
      <p:sp>
        <p:nvSpPr>
          <p:cNvPr id="4" name="灯片编号占位符 3"/>
          <p:cNvSpPr>
            <a:spLocks noGrp="1"/>
          </p:cNvSpPr>
          <p:nvPr>
            <p:ph type="sldNum" sz="quarter" idx="5"/>
          </p:nvPr>
        </p:nvSpPr>
        <p:spPr/>
        <p:txBody>
          <a:bodyPr/>
          <a:lstStyle/>
          <a:p>
            <a:pPr>
              <a:defRPr/>
            </a:pPr>
            <a:fld id="{1C318C20-D11A-41AC-8ABD-BB69D753AA0E}" type="slidenum">
              <a:rPr lang="en-US" altLang="zh-CN" smtClean="0"/>
              <a:pPr>
                <a:defRPr/>
              </a:pPr>
              <a:t>62</a:t>
            </a:fld>
            <a:endParaRPr lang="en-US" altLang="zh-CN"/>
          </a:p>
        </p:txBody>
      </p:sp>
    </p:spTree>
    <p:extLst>
      <p:ext uri="{BB962C8B-B14F-4D97-AF65-F5344CB8AC3E}">
        <p14:creationId xmlns:p14="http://schemas.microsoft.com/office/powerpoint/2010/main" val="33621565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C318C20-D11A-41AC-8ABD-BB69D753AA0E}" type="slidenum">
              <a:rPr lang="en-US" altLang="zh-CN" smtClean="0"/>
              <a:pPr>
                <a:defRPr/>
              </a:pPr>
              <a:t>74</a:t>
            </a:fld>
            <a:endParaRPr lang="en-US" altLang="zh-CN"/>
          </a:p>
        </p:txBody>
      </p:sp>
    </p:spTree>
    <p:extLst>
      <p:ext uri="{BB962C8B-B14F-4D97-AF65-F5344CB8AC3E}">
        <p14:creationId xmlns:p14="http://schemas.microsoft.com/office/powerpoint/2010/main" val="569970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9A4092C-A5D3-408F-9240-CBFB31DEFA47}" type="slidenum">
              <a:rPr lang="en-US" altLang="zh-CN"/>
              <a:pPr>
                <a:defRPr/>
              </a:pPr>
              <a:t>‹#›</a:t>
            </a:fld>
            <a:endParaRPr lang="en-US" altLang="zh-CN"/>
          </a:p>
        </p:txBody>
      </p:sp>
    </p:spTree>
    <p:extLst>
      <p:ext uri="{BB962C8B-B14F-4D97-AF65-F5344CB8AC3E}">
        <p14:creationId xmlns:p14="http://schemas.microsoft.com/office/powerpoint/2010/main" val="2358373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E715E70-AEBD-4454-AB13-A78AC235D6D5}" type="slidenum">
              <a:rPr lang="en-US" altLang="zh-CN"/>
              <a:pPr>
                <a:defRPr/>
              </a:pPr>
              <a:t>‹#›</a:t>
            </a:fld>
            <a:endParaRPr lang="en-US" altLang="zh-CN"/>
          </a:p>
        </p:txBody>
      </p:sp>
      <p:sp>
        <p:nvSpPr>
          <p:cNvPr id="7" name="日期占位符 6">
            <a:extLst>
              <a:ext uri="{FF2B5EF4-FFF2-40B4-BE49-F238E27FC236}">
                <a16:creationId xmlns:a16="http://schemas.microsoft.com/office/drawing/2014/main" id="{BBA7743A-B2C3-C51A-3F43-E35FAEFFD8E0}"/>
              </a:ext>
            </a:extLst>
          </p:cNvPr>
          <p:cNvSpPr>
            <a:spLocks noGrp="1"/>
          </p:cNvSpPr>
          <p:nvPr>
            <p:ph type="dt" sz="half" idx="13"/>
          </p:nvPr>
        </p:nvSpPr>
        <p:spPr/>
        <p:txBody>
          <a:bodyPr/>
          <a:lstStyle/>
          <a:p>
            <a:pPr>
              <a:defRPr/>
            </a:pPr>
            <a:endParaRPr lang="en-US" altLang="zh-CN"/>
          </a:p>
        </p:txBody>
      </p:sp>
    </p:spTree>
    <p:extLst>
      <p:ext uri="{BB962C8B-B14F-4D97-AF65-F5344CB8AC3E}">
        <p14:creationId xmlns:p14="http://schemas.microsoft.com/office/powerpoint/2010/main" val="4253489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9265B20-9B11-40F6-8AAA-E8F1731FCD79}" type="slidenum">
              <a:rPr lang="en-US" altLang="zh-CN"/>
              <a:pPr>
                <a:defRPr/>
              </a:pPr>
              <a:t>‹#›</a:t>
            </a:fld>
            <a:endParaRPr lang="en-US" altLang="zh-CN"/>
          </a:p>
        </p:txBody>
      </p:sp>
    </p:spTree>
    <p:extLst>
      <p:ext uri="{BB962C8B-B14F-4D97-AF65-F5344CB8AC3E}">
        <p14:creationId xmlns:p14="http://schemas.microsoft.com/office/powerpoint/2010/main" val="2859989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EDD073C-7FCE-4DF6-B2A7-65DF85D6756F}" type="slidenum">
              <a:rPr lang="en-US" altLang="zh-CN"/>
              <a:pPr>
                <a:defRPr/>
              </a:pPr>
              <a:t>‹#›</a:t>
            </a:fld>
            <a:endParaRPr lang="en-US" altLang="zh-CN"/>
          </a:p>
        </p:txBody>
      </p:sp>
    </p:spTree>
    <p:extLst>
      <p:ext uri="{BB962C8B-B14F-4D97-AF65-F5344CB8AC3E}">
        <p14:creationId xmlns:p14="http://schemas.microsoft.com/office/powerpoint/2010/main" val="1652191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F3DDE07B-3C09-44A0-9505-248A45FB585C}" type="slidenum">
              <a:rPr lang="en-US" altLang="zh-CN"/>
              <a:pPr>
                <a:defRPr/>
              </a:pPr>
              <a:t>‹#›</a:t>
            </a:fld>
            <a:endParaRPr lang="en-US" altLang="zh-CN"/>
          </a:p>
        </p:txBody>
      </p:sp>
    </p:spTree>
    <p:extLst>
      <p:ext uri="{BB962C8B-B14F-4D97-AF65-F5344CB8AC3E}">
        <p14:creationId xmlns:p14="http://schemas.microsoft.com/office/powerpoint/2010/main" val="1694333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DB8CEE59-F300-4E7F-93CC-C23D37874469}" type="slidenum">
              <a:rPr lang="en-US" altLang="zh-CN"/>
              <a:pPr>
                <a:defRPr/>
              </a:pPr>
              <a:t>‹#›</a:t>
            </a:fld>
            <a:endParaRPr lang="en-US" altLang="zh-CN"/>
          </a:p>
        </p:txBody>
      </p:sp>
    </p:spTree>
    <p:extLst>
      <p:ext uri="{BB962C8B-B14F-4D97-AF65-F5344CB8AC3E}">
        <p14:creationId xmlns:p14="http://schemas.microsoft.com/office/powerpoint/2010/main" val="3970233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5BEAC744-D37F-49CF-8376-C9E38473F898}" type="slidenum">
              <a:rPr lang="en-US" altLang="zh-CN"/>
              <a:pPr>
                <a:defRPr/>
              </a:pPr>
              <a:t>‹#›</a:t>
            </a:fld>
            <a:endParaRPr lang="en-US" altLang="zh-CN"/>
          </a:p>
        </p:txBody>
      </p:sp>
    </p:spTree>
    <p:extLst>
      <p:ext uri="{BB962C8B-B14F-4D97-AF65-F5344CB8AC3E}">
        <p14:creationId xmlns:p14="http://schemas.microsoft.com/office/powerpoint/2010/main" val="3836824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92A81AA-6554-47D9-92E3-5880635D63D6}" type="slidenum">
              <a:rPr lang="en-US" altLang="zh-CN"/>
              <a:pPr>
                <a:defRPr/>
              </a:pPr>
              <a:t>‹#›</a:t>
            </a:fld>
            <a:endParaRPr lang="en-US" altLang="zh-CN"/>
          </a:p>
        </p:txBody>
      </p:sp>
    </p:spTree>
    <p:extLst>
      <p:ext uri="{BB962C8B-B14F-4D97-AF65-F5344CB8AC3E}">
        <p14:creationId xmlns:p14="http://schemas.microsoft.com/office/powerpoint/2010/main" val="2929639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6A5D5C5-6125-4AD1-827E-392EB6A0A2C9}" type="slidenum">
              <a:rPr lang="en-US" altLang="zh-CN"/>
              <a:pPr>
                <a:defRPr/>
              </a:pPr>
              <a:t>‹#›</a:t>
            </a:fld>
            <a:endParaRPr lang="en-US" altLang="zh-CN"/>
          </a:p>
        </p:txBody>
      </p:sp>
    </p:spTree>
    <p:extLst>
      <p:ext uri="{BB962C8B-B14F-4D97-AF65-F5344CB8AC3E}">
        <p14:creationId xmlns:p14="http://schemas.microsoft.com/office/powerpoint/2010/main" val="2118061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0D5A69F-B78E-4B95-A56E-D981721D1CA2}" type="slidenum">
              <a:rPr lang="en-US" altLang="zh-CN"/>
              <a:pPr>
                <a:defRPr/>
              </a:pPr>
              <a:t>‹#›</a:t>
            </a:fld>
            <a:endParaRPr lang="en-US" altLang="zh-CN"/>
          </a:p>
        </p:txBody>
      </p:sp>
    </p:spTree>
    <p:extLst>
      <p:ext uri="{BB962C8B-B14F-4D97-AF65-F5344CB8AC3E}">
        <p14:creationId xmlns:p14="http://schemas.microsoft.com/office/powerpoint/2010/main" val="1989435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784B217-4053-422C-96D8-228D7995716B}" type="slidenum">
              <a:rPr lang="en-US" altLang="zh-CN"/>
              <a:pPr>
                <a:defRPr/>
              </a:pPr>
              <a:t>‹#›</a:t>
            </a:fld>
            <a:endParaRPr lang="en-US" altLang="zh-CN"/>
          </a:p>
        </p:txBody>
      </p:sp>
    </p:spTree>
    <p:extLst>
      <p:ext uri="{BB962C8B-B14F-4D97-AF65-F5344CB8AC3E}">
        <p14:creationId xmlns:p14="http://schemas.microsoft.com/office/powerpoint/2010/main" val="2973505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3592624"/>
      </p:ext>
    </p:extLst>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1022130"/>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9"/>
          <p:cNvSpPr>
            <a:spLocks noChangeArrowheads="1"/>
          </p:cNvSpPr>
          <p:nvPr userDrawn="1"/>
        </p:nvSpPr>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lvl1pPr eaLnBrk="0" hangingPunct="0">
              <a:defRPr kumimoji="1" sz="2800" b="1">
                <a:solidFill>
                  <a:schemeClr val="tx1"/>
                </a:solidFill>
                <a:latin typeface="Times New Roman" panose="02020603050405020304" pitchFamily="18" charset="0"/>
                <a:ea typeface="楷体_GB2312" pitchFamily="49" charset="-122"/>
              </a:defRPr>
            </a:lvl1pPr>
            <a:lvl2pPr marL="742950" indent="-285750" eaLnBrk="0" hangingPunct="0">
              <a:defRPr kumimoji="1" sz="2800" b="1">
                <a:solidFill>
                  <a:schemeClr val="tx1"/>
                </a:solidFill>
                <a:latin typeface="Times New Roman" panose="02020603050405020304" pitchFamily="18" charset="0"/>
                <a:ea typeface="楷体_GB2312" pitchFamily="49" charset="-122"/>
              </a:defRPr>
            </a:lvl2pPr>
            <a:lvl3pPr marL="1143000" indent="-228600" eaLnBrk="0" hangingPunct="0">
              <a:defRPr kumimoji="1" sz="2800" b="1">
                <a:solidFill>
                  <a:schemeClr val="tx1"/>
                </a:solidFill>
                <a:latin typeface="Times New Roman" panose="02020603050405020304" pitchFamily="18" charset="0"/>
                <a:ea typeface="楷体_GB2312" pitchFamily="49" charset="-122"/>
              </a:defRPr>
            </a:lvl3pPr>
            <a:lvl4pPr marL="1600200" indent="-228600" eaLnBrk="0" hangingPunct="0">
              <a:defRPr kumimoji="1" sz="2800" b="1">
                <a:solidFill>
                  <a:schemeClr val="tx1"/>
                </a:solidFill>
                <a:latin typeface="Times New Roman" panose="02020603050405020304" pitchFamily="18" charset="0"/>
                <a:ea typeface="楷体_GB2312" pitchFamily="49" charset="-122"/>
              </a:defRPr>
            </a:lvl4pPr>
            <a:lvl5pPr marL="2057400" indent="-228600" eaLnBrk="0" hangingPunct="0">
              <a:defRPr kumimoji="1"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800" b="1">
                <a:solidFill>
                  <a:schemeClr val="tx1"/>
                </a:solidFill>
                <a:latin typeface="Times New Roman" panose="02020603050405020304" pitchFamily="18" charset="0"/>
                <a:ea typeface="楷体_GB2312" pitchFamily="49" charset="-122"/>
              </a:defRPr>
            </a:lvl9pPr>
          </a:lstStyle>
          <a:p>
            <a:pPr eaLnBrk="1" hangingPunct="1">
              <a:spcBef>
                <a:spcPct val="20000"/>
              </a:spcBef>
              <a:buFontTx/>
              <a:buChar char="–"/>
              <a:defRPr/>
            </a:pPr>
            <a:endParaRPr lang="zh-CN" altLang="en-US"/>
          </a:p>
        </p:txBody>
      </p:sp>
      <p:sp>
        <p:nvSpPr>
          <p:cNvPr id="1029" name="Text Box 10"/>
          <p:cNvSpPr txBox="1">
            <a:spLocks noChangeArrowheads="1"/>
          </p:cNvSpPr>
          <p:nvPr userDrawn="1"/>
        </p:nvSpPr>
        <p:spPr bwMode="auto">
          <a:xfrm>
            <a:off x="5032375" y="619125"/>
            <a:ext cx="21605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楷体_GB2312" pitchFamily="49" charset="-122"/>
              </a:defRPr>
            </a:lvl1pPr>
            <a:lvl2pPr marL="742950" indent="-285750" eaLnBrk="0" hangingPunct="0">
              <a:defRPr kumimoji="1" sz="2800" b="1">
                <a:solidFill>
                  <a:schemeClr val="tx1"/>
                </a:solidFill>
                <a:latin typeface="Times New Roman" panose="02020603050405020304" pitchFamily="18" charset="0"/>
                <a:ea typeface="楷体_GB2312" pitchFamily="49" charset="-122"/>
              </a:defRPr>
            </a:lvl2pPr>
            <a:lvl3pPr marL="1143000" indent="-228600" eaLnBrk="0" hangingPunct="0">
              <a:defRPr kumimoji="1" sz="2800" b="1">
                <a:solidFill>
                  <a:schemeClr val="tx1"/>
                </a:solidFill>
                <a:latin typeface="Times New Roman" panose="02020603050405020304" pitchFamily="18" charset="0"/>
                <a:ea typeface="楷体_GB2312" pitchFamily="49" charset="-122"/>
              </a:defRPr>
            </a:lvl3pPr>
            <a:lvl4pPr marL="1600200" indent="-228600" eaLnBrk="0" hangingPunct="0">
              <a:defRPr kumimoji="1" sz="2800" b="1">
                <a:solidFill>
                  <a:schemeClr val="tx1"/>
                </a:solidFill>
                <a:latin typeface="Times New Roman" panose="02020603050405020304" pitchFamily="18" charset="0"/>
                <a:ea typeface="楷体_GB2312" pitchFamily="49" charset="-122"/>
              </a:defRPr>
            </a:lvl4pPr>
            <a:lvl5pPr marL="2057400" indent="-228600" eaLnBrk="0" hangingPunct="0">
              <a:defRPr kumimoji="1"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800" b="1">
                <a:solidFill>
                  <a:schemeClr val="tx1"/>
                </a:solidFill>
                <a:latin typeface="Times New Roman" panose="02020603050405020304" pitchFamily="18" charset="0"/>
                <a:ea typeface="楷体_GB2312" pitchFamily="49" charset="-122"/>
              </a:defRPr>
            </a:lvl9pPr>
          </a:lstStyle>
          <a:p>
            <a:pPr eaLnBrk="1" hangingPunct="1">
              <a:spcBef>
                <a:spcPct val="50000"/>
              </a:spcBef>
              <a:defRPr/>
            </a:pPr>
            <a:endParaRPr kumimoji="0" lang="zh-CN" altLang="zh-CN" sz="1800" b="0">
              <a:solidFill>
                <a:srgbClr val="FF6600"/>
              </a:solidFill>
              <a:latin typeface="Arial" panose="020B0604020202020204" pitchFamily="34" charset="0"/>
              <a:ea typeface="华文新魏" panose="02010800040101010101" pitchFamily="2" charset="-122"/>
            </a:endParaRPr>
          </a:p>
        </p:txBody>
      </p:sp>
      <p:sp>
        <p:nvSpPr>
          <p:cNvPr id="1030"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1"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 name="Rectangle 4"/>
          <p:cNvSpPr>
            <a:spLocks noGrp="1" noChangeArrowheads="1"/>
          </p:cNvSpPr>
          <p:nvPr>
            <p:ph type="dt" sz="half" idx="2"/>
          </p:nvPr>
        </p:nvSpPr>
        <p:spPr bwMode="auto">
          <a:xfrm>
            <a:off x="528892" y="6256637"/>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buFontTx/>
              <a:buNone/>
              <a:defRPr sz="1400" b="0">
                <a:ea typeface="宋体" charset="-122"/>
              </a:defRPr>
            </a:lvl1pPr>
          </a:lstStyle>
          <a:p>
            <a:pPr>
              <a:defRPr/>
            </a:pPr>
            <a:endParaRPr lang="en-US" altLang="zh-CN" dirty="0"/>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buFontTx/>
              <a:buNone/>
              <a:defRPr sz="1400" b="0">
                <a:ea typeface="宋体" charset="-122"/>
              </a:defRPr>
            </a:lvl1pPr>
          </a:lstStyle>
          <a:p>
            <a:pPr>
              <a:defRPr/>
            </a:pPr>
            <a:endParaRPr lang="en-US" altLang="zh-CN" dirty="0"/>
          </a:p>
        </p:txBody>
      </p:sp>
      <p:sp>
        <p:nvSpPr>
          <p:cNvPr id="4"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buFontTx/>
              <a:buNone/>
              <a:defRPr sz="1400" b="0">
                <a:ea typeface="宋体" panose="02010600030101010101" pitchFamily="2" charset="-122"/>
              </a:defRPr>
            </a:lvl1pPr>
          </a:lstStyle>
          <a:p>
            <a:pPr>
              <a:defRPr/>
            </a:pPr>
            <a:fld id="{68280872-7076-4638-8A98-0525A3983EE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Lst>
  <p:txStyles>
    <p:titleStyle>
      <a:lvl1pPr algn="ctr" rtl="0" eaLnBrk="0" fontAlgn="base" hangingPunct="0">
        <a:spcBef>
          <a:spcPct val="0"/>
        </a:spcBef>
        <a:spcAft>
          <a:spcPct val="0"/>
        </a:spcAft>
        <a:defRPr kumimoji="1" sz="3600" b="1">
          <a:solidFill>
            <a:srgbClr val="FF0000"/>
          </a:solidFill>
          <a:latin typeface="+mj-lt"/>
          <a:ea typeface="+mj-ea"/>
          <a:cs typeface="+mj-cs"/>
        </a:defRPr>
      </a:lvl1pPr>
      <a:lvl2pPr algn="ctr" rtl="0" eaLnBrk="0" fontAlgn="base" hangingPunct="0">
        <a:spcBef>
          <a:spcPct val="0"/>
        </a:spcBef>
        <a:spcAft>
          <a:spcPct val="0"/>
        </a:spcAft>
        <a:defRPr kumimoji="1" sz="3600" b="1">
          <a:solidFill>
            <a:srgbClr val="FF0000"/>
          </a:solidFill>
          <a:latin typeface="Arial" charset="0"/>
          <a:ea typeface="楷体_GB2312" pitchFamily="49" charset="-122"/>
        </a:defRPr>
      </a:lvl2pPr>
      <a:lvl3pPr algn="ctr" rtl="0" eaLnBrk="0" fontAlgn="base" hangingPunct="0">
        <a:spcBef>
          <a:spcPct val="0"/>
        </a:spcBef>
        <a:spcAft>
          <a:spcPct val="0"/>
        </a:spcAft>
        <a:defRPr kumimoji="1" sz="3600" b="1">
          <a:solidFill>
            <a:srgbClr val="FF0000"/>
          </a:solidFill>
          <a:latin typeface="Arial" charset="0"/>
          <a:ea typeface="楷体_GB2312" pitchFamily="49" charset="-122"/>
        </a:defRPr>
      </a:lvl3pPr>
      <a:lvl4pPr algn="ctr" rtl="0" eaLnBrk="0" fontAlgn="base" hangingPunct="0">
        <a:spcBef>
          <a:spcPct val="0"/>
        </a:spcBef>
        <a:spcAft>
          <a:spcPct val="0"/>
        </a:spcAft>
        <a:defRPr kumimoji="1" sz="3600" b="1">
          <a:solidFill>
            <a:srgbClr val="FF0000"/>
          </a:solidFill>
          <a:latin typeface="Arial" charset="0"/>
          <a:ea typeface="楷体_GB2312" pitchFamily="49" charset="-122"/>
        </a:defRPr>
      </a:lvl4pPr>
      <a:lvl5pPr algn="ctr" rtl="0" eaLnBrk="0" fontAlgn="base" hangingPunct="0">
        <a:spcBef>
          <a:spcPct val="0"/>
        </a:spcBef>
        <a:spcAft>
          <a:spcPct val="0"/>
        </a:spcAft>
        <a:defRPr kumimoji="1" sz="3600" b="1">
          <a:solidFill>
            <a:srgbClr val="FF0000"/>
          </a:solidFill>
          <a:latin typeface="Arial" charset="0"/>
          <a:ea typeface="楷体_GB2312" pitchFamily="49" charset="-122"/>
        </a:defRPr>
      </a:lvl5pPr>
      <a:lvl6pPr marL="457200" algn="ctr" rtl="0" fontAlgn="base">
        <a:spcBef>
          <a:spcPct val="0"/>
        </a:spcBef>
        <a:spcAft>
          <a:spcPct val="0"/>
        </a:spcAft>
        <a:defRPr kumimoji="1" sz="3600" b="1">
          <a:solidFill>
            <a:srgbClr val="FF0000"/>
          </a:solidFill>
          <a:latin typeface="Arial" charset="0"/>
          <a:ea typeface="楷体_GB2312" pitchFamily="49" charset="-122"/>
        </a:defRPr>
      </a:lvl6pPr>
      <a:lvl7pPr marL="914400" algn="ctr" rtl="0" fontAlgn="base">
        <a:spcBef>
          <a:spcPct val="0"/>
        </a:spcBef>
        <a:spcAft>
          <a:spcPct val="0"/>
        </a:spcAft>
        <a:defRPr kumimoji="1" sz="3600" b="1">
          <a:solidFill>
            <a:srgbClr val="FF0000"/>
          </a:solidFill>
          <a:latin typeface="Arial" charset="0"/>
          <a:ea typeface="楷体_GB2312" pitchFamily="49" charset="-122"/>
        </a:defRPr>
      </a:lvl7pPr>
      <a:lvl8pPr marL="1371600" algn="ctr" rtl="0" fontAlgn="base">
        <a:spcBef>
          <a:spcPct val="0"/>
        </a:spcBef>
        <a:spcAft>
          <a:spcPct val="0"/>
        </a:spcAft>
        <a:defRPr kumimoji="1" sz="3600" b="1">
          <a:solidFill>
            <a:srgbClr val="FF0000"/>
          </a:solidFill>
          <a:latin typeface="Arial" charset="0"/>
          <a:ea typeface="楷体_GB2312" pitchFamily="49" charset="-122"/>
        </a:defRPr>
      </a:lvl8pPr>
      <a:lvl9pPr marL="1828800" algn="ctr" rtl="0" fontAlgn="base">
        <a:spcBef>
          <a:spcPct val="0"/>
        </a:spcBef>
        <a:spcAft>
          <a:spcPct val="0"/>
        </a:spcAft>
        <a:defRPr kumimoji="1" sz="3600" b="1">
          <a:solidFill>
            <a:srgbClr val="FF0000"/>
          </a:solidFill>
          <a:latin typeface="Arial" charset="0"/>
          <a:ea typeface="楷体_GB2312" pitchFamily="49" charset="-122"/>
        </a:defRPr>
      </a:lvl9pPr>
    </p:titleStyle>
    <p:bodyStyle>
      <a:lvl1pPr marL="342900" indent="-342900" algn="l" rtl="0" eaLnBrk="0" fontAlgn="base" hangingPunct="0">
        <a:spcBef>
          <a:spcPct val="20000"/>
        </a:spcBef>
        <a:spcAft>
          <a:spcPct val="0"/>
        </a:spcAft>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Times New Roman" pitchFamily="18" charset="0"/>
          <a:ea typeface="+mn-ea"/>
        </a:defRPr>
      </a:lvl3pPr>
      <a:lvl4pPr marL="1600200" indent="-228600" algn="l" rtl="0" eaLnBrk="0" fontAlgn="base" hangingPunct="0">
        <a:spcBef>
          <a:spcPct val="20000"/>
        </a:spcBef>
        <a:spcAft>
          <a:spcPct val="0"/>
        </a:spcAft>
        <a:buChar char="–"/>
        <a:defRPr kumimoji="1" sz="2000" b="1">
          <a:solidFill>
            <a:schemeClr val="tx1"/>
          </a:solidFill>
          <a:latin typeface="Times New Roman" pitchFamily="18" charset="0"/>
          <a:ea typeface="+mn-ea"/>
        </a:defRPr>
      </a:lvl4pPr>
      <a:lvl5pPr marL="2057400" indent="-228600" algn="l" rtl="0" eaLnBrk="0" fontAlgn="base" hangingPunct="0">
        <a:spcBef>
          <a:spcPct val="20000"/>
        </a:spcBef>
        <a:spcAft>
          <a:spcPct val="0"/>
        </a:spcAft>
        <a:buChar char="»"/>
        <a:defRPr kumimoji="1" sz="2000" b="1">
          <a:solidFill>
            <a:schemeClr val="tx1"/>
          </a:solidFill>
          <a:latin typeface="Times New Roman" pitchFamily="18" charset="0"/>
          <a:ea typeface="+mn-ea"/>
        </a:defRPr>
      </a:lvl5pPr>
      <a:lvl6pPr marL="2514600" indent="-228600" algn="l" rtl="0" fontAlgn="base">
        <a:spcBef>
          <a:spcPct val="20000"/>
        </a:spcBef>
        <a:spcAft>
          <a:spcPct val="0"/>
        </a:spcAft>
        <a:buChar char="»"/>
        <a:defRPr kumimoji="1" sz="2000" b="1">
          <a:solidFill>
            <a:schemeClr val="tx1"/>
          </a:solidFill>
          <a:latin typeface="Times New Roman" pitchFamily="18" charset="0"/>
          <a:ea typeface="+mn-ea"/>
        </a:defRPr>
      </a:lvl6pPr>
      <a:lvl7pPr marL="2971800" indent="-228600" algn="l" rtl="0" fontAlgn="base">
        <a:spcBef>
          <a:spcPct val="20000"/>
        </a:spcBef>
        <a:spcAft>
          <a:spcPct val="0"/>
        </a:spcAft>
        <a:buChar char="»"/>
        <a:defRPr kumimoji="1" sz="2000" b="1">
          <a:solidFill>
            <a:schemeClr val="tx1"/>
          </a:solidFill>
          <a:latin typeface="Times New Roman" pitchFamily="18" charset="0"/>
          <a:ea typeface="+mn-ea"/>
        </a:defRPr>
      </a:lvl7pPr>
      <a:lvl8pPr marL="3429000" indent="-228600" algn="l" rtl="0" fontAlgn="base">
        <a:spcBef>
          <a:spcPct val="20000"/>
        </a:spcBef>
        <a:spcAft>
          <a:spcPct val="0"/>
        </a:spcAft>
        <a:buChar char="»"/>
        <a:defRPr kumimoji="1" sz="2000" b="1">
          <a:solidFill>
            <a:schemeClr val="tx1"/>
          </a:solidFill>
          <a:latin typeface="Times New Roman" pitchFamily="18" charset="0"/>
          <a:ea typeface="+mn-ea"/>
        </a:defRPr>
      </a:lvl8pPr>
      <a:lvl9pPr marL="3886200" indent="-228600" algn="l" rtl="0" fontAlgn="base">
        <a:spcBef>
          <a:spcPct val="20000"/>
        </a:spcBef>
        <a:spcAft>
          <a:spcPct val="0"/>
        </a:spcAft>
        <a:buChar char="»"/>
        <a:defRPr kumimoji="1" sz="2000" b="1">
          <a:solidFill>
            <a:schemeClr val="tx1"/>
          </a:solidFill>
          <a:latin typeface="Times New Roman" pitchFamily="18"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hyperlink" Target="&#31532;&#19968;&#31456;&#35270;&#39057;1.mp4"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diagramLayout" Target="../diagrams/layout1.xml"/><Relationship Id="rId7" Type="http://schemas.openxmlformats.org/officeDocument/2006/relationships/image" Target="../media/image12.jpeg"/><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 Id="rId5" Type="http://schemas.openxmlformats.org/officeDocument/2006/relationships/image" Target="../media/image30.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3.xml"/><Relationship Id="rId5" Type="http://schemas.openxmlformats.org/officeDocument/2006/relationships/image" Target="../media/image53.png"/><Relationship Id="rId4" Type="http://schemas.openxmlformats.org/officeDocument/2006/relationships/image" Target="../media/image52.png"/></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0.GIF"/></Relationships>
</file>

<file path=ppt/slides/_rels/slide5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62.png"/></Relationships>
</file>

<file path=ppt/slides/_rels/slide5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685800" y="1557338"/>
            <a:ext cx="7772400" cy="1079500"/>
          </a:xfrm>
        </p:spPr>
        <p:txBody>
          <a:bodyPr/>
          <a:lstStyle/>
          <a:p>
            <a:pPr eaLnBrk="1" hangingPunct="1"/>
            <a:r>
              <a:rPr lang="zh-CN" altLang="en-US" sz="4800">
                <a:solidFill>
                  <a:srgbClr val="FF3300"/>
                </a:solidFill>
                <a:ea typeface="华文行楷" panose="02010800040101010101" pitchFamily="2" charset="-122"/>
              </a:rPr>
              <a:t>信息保护理论与技术</a:t>
            </a:r>
            <a:endParaRPr lang="zh-CN" altLang="en-US" sz="4800" dirty="0">
              <a:solidFill>
                <a:srgbClr val="FF3300"/>
              </a:solidFill>
              <a:ea typeface="华文行楷" panose="02010800040101010101" pitchFamily="2" charset="-122"/>
            </a:endParaRPr>
          </a:p>
        </p:txBody>
      </p:sp>
      <p:sp>
        <p:nvSpPr>
          <p:cNvPr id="7171" name="Rectangle 3"/>
          <p:cNvSpPr>
            <a:spLocks noGrp="1" noChangeArrowheads="1"/>
          </p:cNvSpPr>
          <p:nvPr>
            <p:ph type="subTitle" idx="1"/>
          </p:nvPr>
        </p:nvSpPr>
        <p:spPr>
          <a:xfrm>
            <a:off x="1371600" y="3276600"/>
            <a:ext cx="6400800" cy="1752600"/>
          </a:xfrm>
        </p:spPr>
        <p:txBody>
          <a:bodyPr/>
          <a:lstStyle/>
          <a:p>
            <a:pPr eaLnBrk="1" hangingPunct="1"/>
            <a:r>
              <a:rPr lang="zh-CN" altLang="en-US" dirty="0"/>
              <a:t>王    勇</a:t>
            </a:r>
          </a:p>
          <a:p>
            <a:pPr eaLnBrk="1" hangingPunct="1"/>
            <a:r>
              <a:rPr lang="zh-CN" altLang="en-US" dirty="0"/>
              <a:t>电子科技大学计算机学院</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kumimoji="0" lang="zh-CN" altLang="en-US" dirty="0">
                <a:solidFill>
                  <a:srgbClr val="FF3300"/>
                </a:solidFill>
              </a:rPr>
              <a:t>课程介绍</a:t>
            </a:r>
            <a:endParaRPr lang="zh-CN" altLang="en-US" dirty="0"/>
          </a:p>
        </p:txBody>
      </p:sp>
      <p:sp>
        <p:nvSpPr>
          <p:cNvPr id="9219" name="Rectangle 3"/>
          <p:cNvSpPr>
            <a:spLocks noGrp="1" noChangeArrowheads="1"/>
          </p:cNvSpPr>
          <p:nvPr>
            <p:ph type="body" idx="1"/>
          </p:nvPr>
        </p:nvSpPr>
        <p:spPr>
          <a:xfrm>
            <a:off x="395536" y="1676400"/>
            <a:ext cx="8496943" cy="4114800"/>
          </a:xfrm>
        </p:spPr>
        <p:txBody>
          <a:bodyPr/>
          <a:lstStyle/>
          <a:p>
            <a:pPr indent="342900">
              <a:lnSpc>
                <a:spcPct val="200000"/>
              </a:lnSpc>
            </a:pPr>
            <a:r>
              <a:rPr lang="zh-CN" altLang="en-US" sz="1800" dirty="0"/>
              <a:t>本课程以重视理论基础、加强理论与工程交叉为基本原则，围绕“网络空间安全保障体系”，通过本课程教学，使学生了解网络空间安全中信息保护体系基础原理、主要技术和工程方法，掌握信息保护的基本概念、现代密码体制与认证技术；掌握隐私计算技术原理及主要解决方案，具备信息保护的基础知识体系和关键技术实践能力。</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dirty="0">
                <a:solidFill>
                  <a:srgbClr val="FF3300"/>
                </a:solidFill>
              </a:rPr>
              <a:t>课程介绍</a:t>
            </a:r>
            <a:endParaRPr lang="zh-CN" altLang="en-US" dirty="0"/>
          </a:p>
        </p:txBody>
      </p:sp>
      <p:sp>
        <p:nvSpPr>
          <p:cNvPr id="3" name="内容占位符 2"/>
          <p:cNvSpPr>
            <a:spLocks noGrp="1"/>
          </p:cNvSpPr>
          <p:nvPr>
            <p:ph idx="1"/>
          </p:nvPr>
        </p:nvSpPr>
        <p:spPr>
          <a:xfrm>
            <a:off x="0" y="1484784"/>
            <a:ext cx="9144000" cy="4680520"/>
          </a:xfrm>
        </p:spPr>
        <p:txBody>
          <a:bodyPr/>
          <a:lstStyle/>
          <a:p>
            <a:pPr>
              <a:lnSpc>
                <a:spcPct val="200000"/>
              </a:lnSpc>
            </a:pPr>
            <a:r>
              <a:rPr lang="zh-CN" altLang="zh-CN" sz="1800" dirty="0"/>
              <a:t> 本课程共计</a:t>
            </a:r>
            <a:r>
              <a:rPr lang="en-US" altLang="zh-CN" sz="1800" dirty="0"/>
              <a:t>32</a:t>
            </a:r>
            <a:r>
              <a:rPr lang="zh-CN" altLang="zh-CN" sz="1800" dirty="0"/>
              <a:t>学时</a:t>
            </a:r>
            <a:r>
              <a:rPr lang="zh-CN" altLang="en-US" sz="1800" dirty="0"/>
              <a:t>。</a:t>
            </a:r>
            <a:endParaRPr lang="en-US" altLang="zh-CN" sz="1800" dirty="0"/>
          </a:p>
          <a:p>
            <a:pPr>
              <a:lnSpc>
                <a:spcPct val="200000"/>
              </a:lnSpc>
            </a:pPr>
            <a:r>
              <a:rPr lang="zh-CN" altLang="zh-CN" sz="1800" dirty="0"/>
              <a:t>教师讲解包含两部分，六个章节，共</a:t>
            </a:r>
            <a:r>
              <a:rPr lang="en-US" altLang="zh-CN" sz="1800" dirty="0"/>
              <a:t>30</a:t>
            </a:r>
            <a:r>
              <a:rPr lang="zh-CN" altLang="zh-CN" sz="1800" dirty="0"/>
              <a:t>学时；学生互动演讲</a:t>
            </a:r>
            <a:r>
              <a:rPr lang="en-US" altLang="zh-CN" sz="1800" dirty="0"/>
              <a:t>10</a:t>
            </a:r>
            <a:r>
              <a:rPr lang="zh-CN" altLang="zh-CN" sz="1800" dirty="0"/>
              <a:t>学时。</a:t>
            </a:r>
            <a:endParaRPr lang="en-US" altLang="zh-CN" sz="1800" dirty="0"/>
          </a:p>
          <a:p>
            <a:pPr>
              <a:lnSpc>
                <a:spcPct val="200000"/>
              </a:lnSpc>
            </a:pPr>
            <a:r>
              <a:rPr lang="zh-CN" altLang="zh-CN" sz="1800" dirty="0"/>
              <a:t>（</a:t>
            </a:r>
            <a:r>
              <a:rPr lang="en-US" altLang="zh-CN" sz="1800" dirty="0"/>
              <a:t>1</a:t>
            </a:r>
            <a:r>
              <a:rPr lang="zh-CN" altLang="zh-CN" sz="1800" dirty="0"/>
              <a:t>）基础理论部分（</a:t>
            </a:r>
            <a:r>
              <a:rPr lang="en-US" altLang="zh-CN" sz="1800" dirty="0"/>
              <a:t>4</a:t>
            </a:r>
            <a:r>
              <a:rPr lang="zh-CN" altLang="zh-CN" sz="1800" dirty="0"/>
              <a:t>学时），第一章：</a:t>
            </a:r>
            <a:r>
              <a:rPr lang="zh-CN" altLang="en-US" sz="1800" dirty="0"/>
              <a:t>信息保护概述和基本概念</a:t>
            </a:r>
            <a:r>
              <a:rPr lang="zh-CN" altLang="zh-CN" sz="1800" dirty="0"/>
              <a:t>；第二章：</a:t>
            </a:r>
            <a:r>
              <a:rPr lang="zh-CN" altLang="en-US" sz="1800" dirty="0"/>
              <a:t>现代密码学体制与认证技术</a:t>
            </a:r>
            <a:r>
              <a:rPr lang="zh-CN" altLang="zh-CN" sz="1800" dirty="0"/>
              <a:t>；</a:t>
            </a:r>
            <a:endParaRPr lang="en-US" altLang="zh-CN" sz="1800" dirty="0"/>
          </a:p>
          <a:p>
            <a:pPr>
              <a:lnSpc>
                <a:spcPct val="200000"/>
              </a:lnSpc>
            </a:pPr>
            <a:r>
              <a:rPr lang="zh-CN" altLang="zh-CN" sz="1800" dirty="0"/>
              <a:t>（</a:t>
            </a:r>
            <a:r>
              <a:rPr lang="en-US" altLang="zh-CN" sz="1800" dirty="0"/>
              <a:t>2</a:t>
            </a:r>
            <a:r>
              <a:rPr lang="zh-CN" altLang="zh-CN" sz="1800" dirty="0"/>
              <a:t>）技术方法部分（</a:t>
            </a:r>
            <a:r>
              <a:rPr lang="en-US" altLang="zh-CN" sz="1800" dirty="0"/>
              <a:t>8</a:t>
            </a:r>
            <a:r>
              <a:rPr lang="zh-CN" altLang="zh-CN" sz="1800" dirty="0"/>
              <a:t>学时），第三章：</a:t>
            </a:r>
            <a:r>
              <a:rPr lang="zh-CN" altLang="en-US" sz="1800" dirty="0"/>
              <a:t>隐私计算技术及案例分析</a:t>
            </a:r>
            <a:r>
              <a:rPr lang="zh-CN" altLang="zh-CN" sz="1800" dirty="0"/>
              <a:t>；第四章：</a:t>
            </a:r>
            <a:r>
              <a:rPr lang="zh-CN" altLang="en-US" sz="1800" dirty="0"/>
              <a:t>基于可信处理单元的隐私计算技术</a:t>
            </a:r>
            <a:r>
              <a:rPr lang="zh-CN" altLang="zh-CN" sz="1800" dirty="0"/>
              <a:t>；</a:t>
            </a:r>
            <a:endParaRPr lang="en-US" altLang="zh-CN" sz="1800" dirty="0"/>
          </a:p>
          <a:p>
            <a:pPr>
              <a:lnSpc>
                <a:spcPct val="200000"/>
              </a:lnSpc>
            </a:pPr>
            <a:r>
              <a:rPr lang="zh-CN" altLang="zh-CN" sz="1800" dirty="0"/>
              <a:t>（</a:t>
            </a:r>
            <a:r>
              <a:rPr lang="en-US" altLang="zh-CN" sz="1800" dirty="0"/>
              <a:t>3</a:t>
            </a:r>
            <a:r>
              <a:rPr lang="zh-CN" altLang="zh-CN" sz="1800" dirty="0"/>
              <a:t>）互动演讲部分（</a:t>
            </a:r>
            <a:r>
              <a:rPr lang="en-US" altLang="zh-CN" sz="1800" dirty="0"/>
              <a:t>20</a:t>
            </a:r>
            <a:r>
              <a:rPr lang="zh-CN" altLang="zh-CN" sz="1800" dirty="0"/>
              <a:t>学时），学生根据课程布置的论文进行讲解和分析。</a:t>
            </a:r>
            <a:endParaRPr lang="zh-CN" altLang="en-US" sz="1800" dirty="0"/>
          </a:p>
        </p:txBody>
      </p:sp>
    </p:spTree>
    <p:extLst>
      <p:ext uri="{BB962C8B-B14F-4D97-AF65-F5344CB8AC3E}">
        <p14:creationId xmlns:p14="http://schemas.microsoft.com/office/powerpoint/2010/main" val="3266433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3300"/>
                </a:solidFill>
                <a:latin typeface="楷体_GB2312" pitchFamily="49" charset="-122"/>
              </a:rPr>
              <a:t>课程学习参考书</a:t>
            </a:r>
            <a:endParaRPr lang="zh-CN" altLang="en-US" dirty="0"/>
          </a:p>
        </p:txBody>
      </p:sp>
      <p:sp>
        <p:nvSpPr>
          <p:cNvPr id="3" name="内容占位符 2"/>
          <p:cNvSpPr>
            <a:spLocks noGrp="1"/>
          </p:cNvSpPr>
          <p:nvPr>
            <p:ph idx="1"/>
          </p:nvPr>
        </p:nvSpPr>
        <p:spPr>
          <a:xfrm>
            <a:off x="185394" y="1780896"/>
            <a:ext cx="8964488" cy="4114800"/>
          </a:xfrm>
        </p:spPr>
        <p:txBody>
          <a:bodyPr/>
          <a:lstStyle/>
          <a:p>
            <a:pPr>
              <a:lnSpc>
                <a:spcPct val="150000"/>
              </a:lnSpc>
            </a:pPr>
            <a:r>
              <a:rPr lang="zh-CN" altLang="en-US" sz="2000" dirty="0"/>
              <a:t>教材：</a:t>
            </a:r>
          </a:p>
          <a:p>
            <a:pPr>
              <a:lnSpc>
                <a:spcPct val="150000"/>
              </a:lnSpc>
            </a:pPr>
            <a:r>
              <a:rPr lang="en-US" altLang="zh-CN" sz="2000" dirty="0"/>
              <a:t>[1] </a:t>
            </a:r>
            <a:r>
              <a:rPr lang="zh-CN" altLang="en-US" sz="2000" dirty="0"/>
              <a:t>冯登国等，</a:t>
            </a:r>
            <a:r>
              <a:rPr lang="en-US" altLang="zh-CN" sz="2000" dirty="0"/>
              <a:t>《</a:t>
            </a:r>
            <a:r>
              <a:rPr lang="zh-CN" altLang="en-US" sz="2000" dirty="0"/>
              <a:t>大数据安全与隐私保护</a:t>
            </a:r>
            <a:r>
              <a:rPr lang="en-US" altLang="zh-CN" sz="2000" dirty="0"/>
              <a:t>》</a:t>
            </a:r>
            <a:r>
              <a:rPr lang="zh-CN" altLang="en-US" sz="2000" dirty="0"/>
              <a:t>，清华大学出版社，</a:t>
            </a:r>
            <a:r>
              <a:rPr lang="en-US" altLang="zh-CN" sz="2000" dirty="0"/>
              <a:t>ISBN</a:t>
            </a:r>
            <a:r>
              <a:rPr lang="zh-CN" altLang="en-US" sz="2000" dirty="0"/>
              <a:t>：</a:t>
            </a:r>
            <a:r>
              <a:rPr lang="en-US" altLang="zh-CN" sz="2000" dirty="0"/>
              <a:t>978-7-302-51045-1</a:t>
            </a:r>
            <a:r>
              <a:rPr lang="zh-CN" altLang="en-US" sz="2000" dirty="0"/>
              <a:t>，</a:t>
            </a:r>
            <a:r>
              <a:rPr lang="en-US" altLang="zh-CN" sz="2000" dirty="0"/>
              <a:t>2024</a:t>
            </a:r>
            <a:r>
              <a:rPr lang="zh-CN" altLang="en-US" sz="2000" dirty="0"/>
              <a:t>年</a:t>
            </a:r>
            <a:r>
              <a:rPr lang="en-US" altLang="zh-CN" sz="2000" dirty="0"/>
              <a:t>08</a:t>
            </a:r>
            <a:r>
              <a:rPr lang="zh-CN" altLang="en-US" sz="2000" dirty="0"/>
              <a:t>月</a:t>
            </a:r>
          </a:p>
          <a:p>
            <a:pPr>
              <a:lnSpc>
                <a:spcPct val="150000"/>
              </a:lnSpc>
            </a:pPr>
            <a:r>
              <a:rPr lang="en-US" altLang="zh-CN" sz="2000" dirty="0"/>
              <a:t>[2] </a:t>
            </a:r>
            <a:r>
              <a:rPr lang="zh-CN" altLang="en-US" sz="2000" dirty="0"/>
              <a:t>花京华， </a:t>
            </a:r>
            <a:r>
              <a:rPr lang="en-US" altLang="zh-CN" sz="2000" dirty="0"/>
              <a:t>《</a:t>
            </a:r>
            <a:r>
              <a:rPr lang="zh-CN" altLang="en-US" sz="2000" dirty="0"/>
              <a:t>隐私计算开源架构实战</a:t>
            </a:r>
            <a:r>
              <a:rPr lang="en-US" altLang="zh-CN" sz="2000" dirty="0"/>
              <a:t>》</a:t>
            </a:r>
            <a:r>
              <a:rPr lang="zh-CN" altLang="en-US" sz="2000" dirty="0"/>
              <a:t>，机械工业出版社，</a:t>
            </a:r>
            <a:r>
              <a:rPr lang="en-US" altLang="zh-CN" sz="2000" dirty="0"/>
              <a:t>ISBN</a:t>
            </a:r>
            <a:r>
              <a:rPr lang="zh-CN" altLang="en-US" sz="2000" dirty="0"/>
              <a:t>：</a:t>
            </a:r>
            <a:r>
              <a:rPr lang="en-US" altLang="zh-CN" sz="2000" dirty="0"/>
              <a:t>978-7-111-73414-7</a:t>
            </a:r>
            <a:r>
              <a:rPr lang="zh-CN" altLang="en-US" sz="2000" dirty="0"/>
              <a:t>，</a:t>
            </a:r>
            <a:r>
              <a:rPr lang="en-US" altLang="zh-CN" sz="2000" dirty="0"/>
              <a:t>2023</a:t>
            </a:r>
            <a:r>
              <a:rPr lang="zh-CN" altLang="en-US" sz="2000" dirty="0"/>
              <a:t>年</a:t>
            </a:r>
            <a:r>
              <a:rPr lang="en-US" altLang="zh-CN" sz="2000" dirty="0"/>
              <a:t>09</a:t>
            </a:r>
            <a:r>
              <a:rPr lang="zh-CN" altLang="en-US" sz="2000" dirty="0"/>
              <a:t>月</a:t>
            </a:r>
          </a:p>
          <a:p>
            <a:pPr>
              <a:lnSpc>
                <a:spcPct val="150000"/>
              </a:lnSpc>
            </a:pPr>
            <a:r>
              <a:rPr lang="zh-CN" altLang="en-US" sz="2000" dirty="0"/>
              <a:t>参考书目：</a:t>
            </a:r>
          </a:p>
          <a:p>
            <a:pPr>
              <a:lnSpc>
                <a:spcPct val="150000"/>
              </a:lnSpc>
            </a:pPr>
            <a:r>
              <a:rPr lang="en-US" altLang="zh-CN" sz="2000" dirty="0"/>
              <a:t>[1]《Principles of Computer Security》</a:t>
            </a:r>
            <a:r>
              <a:rPr lang="zh-CN" altLang="en-US" sz="2000" dirty="0"/>
              <a:t>，</a:t>
            </a:r>
            <a:r>
              <a:rPr lang="en-US" altLang="zh-CN" sz="2000" dirty="0" err="1"/>
              <a:t>Wm.A.Conklin</a:t>
            </a:r>
            <a:r>
              <a:rPr lang="zh-CN" altLang="en-US" sz="2000" dirty="0"/>
              <a:t>编著，</a:t>
            </a:r>
            <a:r>
              <a:rPr lang="en-US" altLang="zh-CN" sz="2000" dirty="0"/>
              <a:t>McGraw-Hill</a:t>
            </a:r>
            <a:r>
              <a:rPr lang="zh-CN" altLang="en-US" sz="2000" dirty="0"/>
              <a:t>出版社，</a:t>
            </a:r>
            <a:r>
              <a:rPr lang="en-US" altLang="zh-CN" sz="2000" dirty="0"/>
              <a:t>2015</a:t>
            </a:r>
            <a:r>
              <a:rPr lang="zh-CN" altLang="en-US" sz="2000" dirty="0"/>
              <a:t>年</a:t>
            </a:r>
          </a:p>
          <a:p>
            <a:pPr>
              <a:lnSpc>
                <a:spcPct val="150000"/>
              </a:lnSpc>
            </a:pPr>
            <a:r>
              <a:rPr lang="en-US" altLang="zh-CN" sz="2000" dirty="0"/>
              <a:t>[2]《</a:t>
            </a:r>
            <a:r>
              <a:rPr lang="zh-CN" altLang="en-US" sz="2000" dirty="0"/>
              <a:t>网络信息对抗</a:t>
            </a:r>
            <a:r>
              <a:rPr lang="en-US" altLang="zh-CN" sz="2000" dirty="0"/>
              <a:t>》</a:t>
            </a:r>
            <a:r>
              <a:rPr lang="zh-CN" altLang="en-US" sz="2000" dirty="0"/>
              <a:t>，萧军模编著，机械工出版社，</a:t>
            </a:r>
            <a:r>
              <a:rPr lang="en-US" altLang="zh-CN" sz="2000" dirty="0"/>
              <a:t>2005</a:t>
            </a:r>
            <a:r>
              <a:rPr lang="zh-CN" altLang="en-US" sz="2000" dirty="0"/>
              <a:t>年</a:t>
            </a:r>
          </a:p>
        </p:txBody>
      </p:sp>
    </p:spTree>
    <p:extLst>
      <p:ext uri="{BB962C8B-B14F-4D97-AF65-F5344CB8AC3E}">
        <p14:creationId xmlns:p14="http://schemas.microsoft.com/office/powerpoint/2010/main" val="985700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219393"/>
            <a:ext cx="7772400" cy="1143000"/>
          </a:xfrm>
        </p:spPr>
        <p:txBody>
          <a:bodyPr/>
          <a:lstStyle/>
          <a:p>
            <a:r>
              <a:rPr lang="zh-CN" altLang="en-US" dirty="0"/>
              <a:t>授课和考核方式</a:t>
            </a:r>
          </a:p>
        </p:txBody>
      </p:sp>
      <p:sp>
        <p:nvSpPr>
          <p:cNvPr id="3" name="内容占位符 2"/>
          <p:cNvSpPr>
            <a:spLocks noGrp="1"/>
          </p:cNvSpPr>
          <p:nvPr>
            <p:ph idx="1"/>
          </p:nvPr>
        </p:nvSpPr>
        <p:spPr>
          <a:xfrm>
            <a:off x="179512" y="1628800"/>
            <a:ext cx="8784976" cy="5040560"/>
          </a:xfrm>
        </p:spPr>
        <p:txBody>
          <a:bodyPr/>
          <a:lstStyle/>
          <a:p>
            <a:pPr marL="0" indent="0"/>
            <a:r>
              <a:rPr lang="zh-CN" altLang="zh-CN" sz="2400" dirty="0">
                <a:latin typeface="微软雅黑" panose="020B0503020204020204" pitchFamily="34" charset="-122"/>
                <a:ea typeface="微软雅黑" panose="020B0503020204020204" pitchFamily="34" charset="-122"/>
              </a:rPr>
              <a:t>课程采取堂授</a:t>
            </a:r>
            <a:r>
              <a:rPr lang="en-US" altLang="zh-CN"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小班研讨的教学方式。</a:t>
            </a:r>
            <a:endParaRPr lang="en-US" altLang="zh-CN" sz="2400" dirty="0">
              <a:latin typeface="微软雅黑" panose="020B0503020204020204" pitchFamily="34" charset="-122"/>
              <a:ea typeface="微软雅黑" panose="020B0503020204020204" pitchFamily="34" charset="-122"/>
            </a:endParaRPr>
          </a:p>
          <a:p>
            <a:pPr marL="0" indent="0"/>
            <a:endParaRPr lang="zh-CN" altLang="zh-CN" sz="2400" dirty="0">
              <a:latin typeface="微软雅黑" panose="020B0503020204020204" pitchFamily="34" charset="-122"/>
              <a:ea typeface="微软雅黑" panose="020B0503020204020204" pitchFamily="34" charset="-122"/>
            </a:endParaRPr>
          </a:p>
          <a:p>
            <a:pPr marL="0" indent="0"/>
            <a:r>
              <a:rPr lang="zh-CN" altLang="zh-CN" sz="2400" dirty="0">
                <a:latin typeface="微软雅黑" panose="020B0503020204020204" pitchFamily="34" charset="-122"/>
                <a:ea typeface="微软雅黑" panose="020B0503020204020204" pitchFamily="34" charset="-122"/>
              </a:rPr>
              <a:t>课程考核方式</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0" indent="0"/>
            <a:endParaRPr lang="en-US" altLang="zh-CN" sz="2400" dirty="0">
              <a:latin typeface="微软雅黑" panose="020B0503020204020204" pitchFamily="34" charset="-122"/>
              <a:ea typeface="微软雅黑" panose="020B0503020204020204" pitchFamily="34" charset="-122"/>
            </a:endParaRPr>
          </a:p>
          <a:p>
            <a:pPr marL="0" indent="0"/>
            <a:endParaRPr lang="en-US" altLang="zh-CN" sz="2400" dirty="0">
              <a:latin typeface="微软雅黑" panose="020B0503020204020204" pitchFamily="34" charset="-122"/>
              <a:ea typeface="微软雅黑" panose="020B0503020204020204" pitchFamily="34" charset="-122"/>
            </a:endParaRPr>
          </a:p>
          <a:p>
            <a:pPr marL="0" indent="0"/>
            <a:endParaRPr lang="en-US" altLang="zh-CN" sz="2400" dirty="0">
              <a:latin typeface="微软雅黑" panose="020B0503020204020204" pitchFamily="34" charset="-122"/>
              <a:ea typeface="微软雅黑" panose="020B0503020204020204" pitchFamily="34" charset="-122"/>
            </a:endParaRPr>
          </a:p>
          <a:p>
            <a:pPr marL="0" indent="0"/>
            <a:endParaRPr lang="en-US" altLang="zh-CN" sz="2400" dirty="0">
              <a:latin typeface="微软雅黑" panose="020B0503020204020204" pitchFamily="34" charset="-122"/>
              <a:ea typeface="微软雅黑" panose="020B0503020204020204" pitchFamily="34" charset="-122"/>
            </a:endParaRPr>
          </a:p>
          <a:p>
            <a:pPr marL="0" indent="0"/>
            <a:endParaRPr lang="en-US" altLang="zh-CN" sz="2400" dirty="0">
              <a:latin typeface="微软雅黑" panose="020B0503020204020204" pitchFamily="34" charset="-122"/>
              <a:ea typeface="微软雅黑" panose="020B0503020204020204" pitchFamily="34" charset="-122"/>
            </a:endParaRPr>
          </a:p>
          <a:p>
            <a:pPr marL="0" indent="0"/>
            <a:r>
              <a:rPr lang="zh-CN" altLang="en-US" sz="2400" dirty="0">
                <a:latin typeface="微软雅黑" panose="020B0503020204020204" pitchFamily="34" charset="-122"/>
                <a:ea typeface="微软雅黑" panose="020B0503020204020204" pitchFamily="34" charset="-122"/>
              </a:rPr>
              <a:t>过程考核：</a:t>
            </a:r>
            <a:r>
              <a:rPr lang="zh-CN" altLang="zh-CN" sz="2400" dirty="0">
                <a:latin typeface="微软雅黑" panose="020B0503020204020204" pitchFamily="34" charset="-122"/>
                <a:ea typeface="微软雅黑" panose="020B0503020204020204" pitchFamily="34" charset="-122"/>
              </a:rPr>
              <a:t>出勤</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，课堂答辩</a:t>
            </a:r>
            <a:r>
              <a:rPr lang="en-US" altLang="zh-CN" sz="2400" dirty="0">
                <a:latin typeface="微软雅黑" panose="020B0503020204020204" pitchFamily="34" charset="-122"/>
                <a:ea typeface="微软雅黑" panose="020B0503020204020204" pitchFamily="34" charset="-122"/>
              </a:rPr>
              <a:t>40%</a:t>
            </a:r>
            <a:r>
              <a:rPr lang="zh-CN"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技术</a:t>
            </a:r>
            <a:r>
              <a:rPr lang="zh-CN" altLang="zh-CN" sz="2400" dirty="0">
                <a:latin typeface="微软雅黑" panose="020B0503020204020204" pitchFamily="34" charset="-122"/>
                <a:ea typeface="微软雅黑" panose="020B0503020204020204" pitchFamily="34" charset="-122"/>
              </a:rPr>
              <a:t>报告</a:t>
            </a:r>
            <a:r>
              <a:rPr lang="en-US" altLang="zh-CN" sz="2400" dirty="0">
                <a:latin typeface="微软雅黑" panose="020B0503020204020204" pitchFamily="34" charset="-122"/>
                <a:ea typeface="微软雅黑" panose="020B0503020204020204" pitchFamily="34" charset="-122"/>
              </a:rPr>
              <a:t>25%</a:t>
            </a:r>
          </a:p>
          <a:p>
            <a:pPr marL="0" indent="0"/>
            <a:endParaRPr lang="en-US" altLang="zh-CN" sz="2400" dirty="0">
              <a:latin typeface="微软雅黑" panose="020B0503020204020204" pitchFamily="34" charset="-122"/>
              <a:ea typeface="微软雅黑" panose="020B0503020204020204" pitchFamily="34" charset="-122"/>
            </a:endParaRPr>
          </a:p>
          <a:p>
            <a:pPr marL="0" indent="0"/>
            <a:r>
              <a:rPr lang="zh-CN" altLang="en-US" sz="2400" dirty="0">
                <a:latin typeface="微软雅黑" panose="020B0503020204020204" pitchFamily="34" charset="-122"/>
                <a:ea typeface="微软雅黑" panose="020B0503020204020204" pitchFamily="34" charset="-122"/>
              </a:rPr>
              <a:t>技术报告统一模板，不少于</a:t>
            </a:r>
            <a:r>
              <a:rPr lang="en-US" altLang="zh-CN" sz="2400" dirty="0">
                <a:latin typeface="微软雅黑" panose="020B0503020204020204" pitchFamily="34" charset="-122"/>
                <a:ea typeface="微软雅黑" panose="020B0503020204020204" pitchFamily="34" charset="-122"/>
              </a:rPr>
              <a:t>5K</a:t>
            </a:r>
            <a:r>
              <a:rPr lang="zh-CN" altLang="en-US" sz="2400" dirty="0">
                <a:latin typeface="微软雅黑" panose="020B0503020204020204" pitchFamily="34" charset="-122"/>
                <a:ea typeface="微软雅黑" panose="020B0503020204020204" pitchFamily="34" charset="-122"/>
              </a:rPr>
              <a:t>字，学期报告与演讲内容一致。</a:t>
            </a:r>
          </a:p>
        </p:txBody>
      </p:sp>
      <p:graphicFrame>
        <p:nvGraphicFramePr>
          <p:cNvPr id="4" name="表格 3">
            <a:extLst>
              <a:ext uri="{FF2B5EF4-FFF2-40B4-BE49-F238E27FC236}">
                <a16:creationId xmlns:a16="http://schemas.microsoft.com/office/drawing/2014/main" id="{6D0D0055-2156-BBE2-6D00-4571A54DF19B}"/>
              </a:ext>
            </a:extLst>
          </p:cNvPr>
          <p:cNvGraphicFramePr>
            <a:graphicFrameLocks noGrp="1"/>
          </p:cNvGraphicFramePr>
          <p:nvPr>
            <p:extLst>
              <p:ext uri="{D42A27DB-BD31-4B8C-83A1-F6EECF244321}">
                <p14:modId xmlns:p14="http://schemas.microsoft.com/office/powerpoint/2010/main" val="3058746876"/>
              </p:ext>
            </p:extLst>
          </p:nvPr>
        </p:nvGraphicFramePr>
        <p:xfrm>
          <a:off x="1259632" y="3429000"/>
          <a:ext cx="6096000" cy="9144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029730687"/>
                    </a:ext>
                  </a:extLst>
                </a:gridCol>
                <a:gridCol w="3048000">
                  <a:extLst>
                    <a:ext uri="{9D8B030D-6E8A-4147-A177-3AD203B41FA5}">
                      <a16:colId xmlns:a16="http://schemas.microsoft.com/office/drawing/2014/main" val="228242800"/>
                    </a:ext>
                  </a:extLst>
                </a:gridCol>
              </a:tblGrid>
              <a:tr h="345688">
                <a:tc>
                  <a:txBody>
                    <a:bodyPr/>
                    <a:lstStyle/>
                    <a:p>
                      <a:pPr algn="ctr"/>
                      <a:r>
                        <a:rPr lang="zh-CN" altLang="en-US" sz="2400" b="1" dirty="0">
                          <a:latin typeface="微软雅黑" panose="020B0503020204020204" pitchFamily="34" charset="-122"/>
                          <a:ea typeface="微软雅黑" panose="020B0503020204020204" pitchFamily="34" charset="-122"/>
                        </a:rPr>
                        <a:t>过程考核</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C00000"/>
                    </a:solidFill>
                  </a:tcPr>
                </a:tc>
                <a:tc>
                  <a:txBody>
                    <a:bodyPr/>
                    <a:lstStyle/>
                    <a:p>
                      <a:pPr algn="ctr"/>
                      <a:r>
                        <a:rPr lang="zh-CN" altLang="en-US" sz="2400" b="1" dirty="0">
                          <a:latin typeface="微软雅黑" panose="020B0503020204020204" pitchFamily="34" charset="-122"/>
                          <a:ea typeface="微软雅黑" panose="020B0503020204020204" pitchFamily="34" charset="-122"/>
                        </a:rPr>
                        <a:t>期末笔试（开卷）</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230898030"/>
                  </a:ext>
                </a:extLst>
              </a:tr>
              <a:tr h="370840">
                <a:tc>
                  <a:txBody>
                    <a:bodyPr/>
                    <a:lstStyle/>
                    <a:p>
                      <a:pPr algn="ctr"/>
                      <a:r>
                        <a:rPr lang="en-US" altLang="zh-CN" sz="2400" b="1" dirty="0">
                          <a:latin typeface="微软雅黑" panose="020B0503020204020204" pitchFamily="34" charset="-122"/>
                          <a:ea typeface="微软雅黑" panose="020B0503020204020204" pitchFamily="34" charset="-122"/>
                        </a:rPr>
                        <a:t>70%</a:t>
                      </a:r>
                      <a:endParaRPr lang="zh-CN" altLang="en-US" sz="2400" b="1" dirty="0">
                        <a:latin typeface="微软雅黑" panose="020B0503020204020204" pitchFamily="34" charset="-122"/>
                        <a:ea typeface="微软雅黑" panose="020B0503020204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400" b="1" dirty="0">
                          <a:latin typeface="微软雅黑" panose="020B0503020204020204" pitchFamily="34" charset="-122"/>
                          <a:ea typeface="微软雅黑" panose="020B0503020204020204" pitchFamily="34" charset="-122"/>
                        </a:rPr>
                        <a:t>30%</a:t>
                      </a:r>
                      <a:endParaRPr lang="zh-CN" altLang="en-US" sz="2400" b="1" dirty="0">
                        <a:latin typeface="微软雅黑" panose="020B0503020204020204" pitchFamily="34" charset="-122"/>
                        <a:ea typeface="微软雅黑" panose="020B0503020204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35818"/>
                  </a:ext>
                </a:extLst>
              </a:tr>
            </a:tbl>
          </a:graphicData>
        </a:graphic>
      </p:graphicFrame>
    </p:spTree>
    <p:extLst>
      <p:ext uri="{BB962C8B-B14F-4D97-AF65-F5344CB8AC3E}">
        <p14:creationId xmlns:p14="http://schemas.microsoft.com/office/powerpoint/2010/main" val="6988503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a:solidFill>
                  <a:srgbClr val="FF3300"/>
                </a:solidFill>
                <a:latin typeface="楷体_GB2312" pitchFamily="49" charset="-122"/>
              </a:rPr>
              <a:t>教师联系地址</a:t>
            </a:r>
            <a:endParaRPr lang="zh-CN" altLang="en-US"/>
          </a:p>
        </p:txBody>
      </p:sp>
      <p:sp>
        <p:nvSpPr>
          <p:cNvPr id="14339" name="Rectangle 3"/>
          <p:cNvSpPr>
            <a:spLocks noGrp="1" noChangeArrowheads="1"/>
          </p:cNvSpPr>
          <p:nvPr>
            <p:ph type="body" idx="1"/>
          </p:nvPr>
        </p:nvSpPr>
        <p:spPr>
          <a:xfrm>
            <a:off x="457200" y="1676400"/>
            <a:ext cx="8458200" cy="3581400"/>
          </a:xfrm>
        </p:spPr>
        <p:txBody>
          <a:bodyPr/>
          <a:lstStyle/>
          <a:p>
            <a:pPr algn="ctr" eaLnBrk="1" hangingPunct="1">
              <a:spcBef>
                <a:spcPct val="0"/>
              </a:spcBef>
            </a:pPr>
            <a:endParaRPr lang="zh-CN" altLang="en-US" dirty="0"/>
          </a:p>
          <a:p>
            <a:pPr algn="ctr" eaLnBrk="1" hangingPunct="1">
              <a:spcBef>
                <a:spcPct val="0"/>
              </a:spcBef>
            </a:pPr>
            <a:r>
              <a:rPr lang="zh-CN" altLang="en-US" dirty="0"/>
              <a:t>王    勇</a:t>
            </a:r>
          </a:p>
          <a:p>
            <a:pPr algn="ctr" eaLnBrk="1" hangingPunct="1">
              <a:spcBef>
                <a:spcPct val="0"/>
              </a:spcBef>
            </a:pPr>
            <a:r>
              <a:rPr lang="zh-CN" altLang="en-US" dirty="0"/>
              <a:t>电子科技大学计算机学院</a:t>
            </a:r>
          </a:p>
          <a:p>
            <a:pPr algn="ctr" eaLnBrk="1" hangingPunct="1">
              <a:spcBef>
                <a:spcPct val="0"/>
              </a:spcBef>
            </a:pPr>
            <a:r>
              <a:rPr lang="en-US" altLang="zh-CN" dirty="0"/>
              <a:t>Mail</a:t>
            </a:r>
            <a:r>
              <a:rPr lang="zh-CN" altLang="en-US" dirty="0"/>
              <a:t>：</a:t>
            </a:r>
            <a:r>
              <a:rPr lang="en-US" altLang="zh-CN" dirty="0"/>
              <a:t>cla@uestc.edu.cn</a:t>
            </a:r>
          </a:p>
          <a:p>
            <a:pPr algn="ctr" eaLnBrk="1" hangingPunct="1">
              <a:spcBef>
                <a:spcPct val="0"/>
              </a:spcBef>
            </a:pPr>
            <a:r>
              <a:rPr lang="en-US" altLang="zh-CN" dirty="0"/>
              <a:t>Tel:  13086679398</a:t>
            </a:r>
          </a:p>
          <a:p>
            <a:pPr algn="ctr" eaLnBrk="1" hangingPunct="1">
              <a:spcBef>
                <a:spcPct val="0"/>
              </a:spcBef>
            </a:pPr>
            <a:r>
              <a:rPr lang="zh-CN" altLang="en-US" dirty="0"/>
              <a:t>实验室：国际创新中心</a:t>
            </a:r>
            <a:r>
              <a:rPr lang="en-US" altLang="zh-CN" dirty="0"/>
              <a:t>C713</a:t>
            </a:r>
          </a:p>
        </p:txBody>
      </p:sp>
      <p:pic>
        <p:nvPicPr>
          <p:cNvPr id="3" name="图片 2">
            <a:extLst>
              <a:ext uri="{FF2B5EF4-FFF2-40B4-BE49-F238E27FC236}">
                <a16:creationId xmlns:a16="http://schemas.microsoft.com/office/drawing/2014/main" id="{F331C9AB-C27D-4A28-B52F-4B5483B286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64288" y="0"/>
            <a:ext cx="1979712" cy="352124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57531" y="2895600"/>
            <a:ext cx="7772400" cy="1143000"/>
          </a:xfrm>
        </p:spPr>
        <p:txBody>
          <a:bodyPr/>
          <a:lstStyle/>
          <a:p>
            <a:pPr eaLnBrk="1" hangingPunct="1"/>
            <a:r>
              <a:rPr lang="zh-CN" altLang="en-US" sz="6000" dirty="0">
                <a:latin typeface="华文行楷" panose="02010800040101010101" pitchFamily="2" charset="-122"/>
                <a:ea typeface="华文行楷" panose="02010800040101010101" pitchFamily="2" charset="-122"/>
              </a:rPr>
              <a:t>第一章  </a:t>
            </a:r>
            <a:br>
              <a:rPr lang="zh-CN" altLang="en-US" sz="6000" dirty="0">
                <a:latin typeface="华文行楷" panose="02010800040101010101" pitchFamily="2" charset="-122"/>
                <a:ea typeface="华文行楷" panose="02010800040101010101" pitchFamily="2" charset="-122"/>
              </a:rPr>
            </a:br>
            <a:r>
              <a:rPr lang="zh-CN" altLang="en-US" sz="6000" dirty="0">
                <a:latin typeface="华文行楷" panose="02010800040101010101" pitchFamily="2" charset="-122"/>
                <a:ea typeface="华文行楷" panose="02010800040101010101" pitchFamily="2" charset="-122"/>
              </a:rPr>
              <a:t>网络空间安全概述</a:t>
            </a:r>
            <a:endParaRPr lang="en-US" altLang="zh-CN" sz="4000" dirty="0">
              <a:ea typeface="华文行楷" panose="02010800040101010101" pitchFamily="2" charset="-122"/>
            </a:endParaRPr>
          </a:p>
        </p:txBody>
      </p:sp>
      <p:sp>
        <p:nvSpPr>
          <p:cNvPr id="4" name="内容占位符 3"/>
          <p:cNvSpPr>
            <a:spLocks noGrp="1"/>
          </p:cNvSpPr>
          <p:nvPr>
            <p:ph idx="1"/>
          </p:nvPr>
        </p:nvSpPr>
        <p:spPr/>
        <p:txBody>
          <a:bodyPr/>
          <a:lstStyle/>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pic>
        <p:nvPicPr>
          <p:cNvPr id="4" name="内容占位符 2">
            <a:hlinkClick r:id="rId2" action="ppaction://hlinkfile"/>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79512" y="404664"/>
            <a:ext cx="3311603" cy="4786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图片 2">
            <a:extLst>
              <a:ext uri="{FF2B5EF4-FFF2-40B4-BE49-F238E27FC236}">
                <a16:creationId xmlns:a16="http://schemas.microsoft.com/office/drawing/2014/main" id="{4BE5E267-00F8-4056-B2B2-F48D240743D2}"/>
              </a:ext>
            </a:extLst>
          </p:cNvPr>
          <p:cNvPicPr>
            <a:picLocks noChangeAspect="1"/>
          </p:cNvPicPr>
          <p:nvPr/>
        </p:nvPicPr>
        <p:blipFill>
          <a:blip r:embed="rId4"/>
          <a:stretch>
            <a:fillRect/>
          </a:stretch>
        </p:blipFill>
        <p:spPr>
          <a:xfrm>
            <a:off x="3657600" y="2420888"/>
            <a:ext cx="5090864" cy="3791633"/>
          </a:xfrm>
          <a:prstGeom prst="rect">
            <a:avLst/>
          </a:prstGeom>
        </p:spPr>
      </p:pic>
    </p:spTree>
    <p:extLst>
      <p:ext uri="{BB962C8B-B14F-4D97-AF65-F5344CB8AC3E}">
        <p14:creationId xmlns:p14="http://schemas.microsoft.com/office/powerpoint/2010/main" val="533824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pic>
        <p:nvPicPr>
          <p:cNvPr id="5" name="图片 4">
            <a:extLst>
              <a:ext uri="{FF2B5EF4-FFF2-40B4-BE49-F238E27FC236}">
                <a16:creationId xmlns:a16="http://schemas.microsoft.com/office/drawing/2014/main" id="{F85F8C63-9F8D-4278-89FC-71C13FE93EAE}"/>
              </a:ext>
            </a:extLst>
          </p:cNvPr>
          <p:cNvPicPr>
            <a:picLocks noChangeAspect="1"/>
          </p:cNvPicPr>
          <p:nvPr/>
        </p:nvPicPr>
        <p:blipFill>
          <a:blip r:embed="rId2"/>
          <a:stretch>
            <a:fillRect/>
          </a:stretch>
        </p:blipFill>
        <p:spPr>
          <a:xfrm>
            <a:off x="0" y="1728418"/>
            <a:ext cx="9144000" cy="3401163"/>
          </a:xfrm>
          <a:prstGeom prst="rect">
            <a:avLst/>
          </a:prstGeom>
        </p:spPr>
      </p:pic>
    </p:spTree>
    <p:extLst>
      <p:ext uri="{BB962C8B-B14F-4D97-AF65-F5344CB8AC3E}">
        <p14:creationId xmlns:p14="http://schemas.microsoft.com/office/powerpoint/2010/main" val="2641737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2E1DDD-E2F1-4507-8003-A16E9014EB7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9D3CE5A-CA55-4D85-AD75-EAABCF92B787}"/>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60653BC3-BAAA-4BDD-B880-CAEEAEFBC553}"/>
              </a:ext>
            </a:extLst>
          </p:cNvPr>
          <p:cNvPicPr>
            <a:picLocks noChangeAspect="1"/>
          </p:cNvPicPr>
          <p:nvPr/>
        </p:nvPicPr>
        <p:blipFill>
          <a:blip r:embed="rId2"/>
          <a:stretch>
            <a:fillRect/>
          </a:stretch>
        </p:blipFill>
        <p:spPr>
          <a:xfrm>
            <a:off x="318494" y="604443"/>
            <a:ext cx="8507012" cy="5649113"/>
          </a:xfrm>
          <a:prstGeom prst="rect">
            <a:avLst/>
          </a:prstGeom>
        </p:spPr>
      </p:pic>
      <p:pic>
        <p:nvPicPr>
          <p:cNvPr id="5" name="图片 4">
            <a:extLst>
              <a:ext uri="{FF2B5EF4-FFF2-40B4-BE49-F238E27FC236}">
                <a16:creationId xmlns:a16="http://schemas.microsoft.com/office/drawing/2014/main" id="{5278E0DA-A5A5-49DB-BD92-A5ABA0470519}"/>
              </a:ext>
            </a:extLst>
          </p:cNvPr>
          <p:cNvPicPr>
            <a:picLocks noChangeAspect="1"/>
          </p:cNvPicPr>
          <p:nvPr/>
        </p:nvPicPr>
        <p:blipFill>
          <a:blip r:embed="rId3"/>
          <a:stretch>
            <a:fillRect/>
          </a:stretch>
        </p:blipFill>
        <p:spPr>
          <a:xfrm>
            <a:off x="0" y="784650"/>
            <a:ext cx="9144000" cy="5784070"/>
          </a:xfrm>
          <a:prstGeom prst="rect">
            <a:avLst/>
          </a:prstGeom>
        </p:spPr>
      </p:pic>
    </p:spTree>
    <p:extLst>
      <p:ext uri="{BB962C8B-B14F-4D97-AF65-F5344CB8AC3E}">
        <p14:creationId xmlns:p14="http://schemas.microsoft.com/office/powerpoint/2010/main" val="1864159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nodePh="1">
                                  <p:stCondLst>
                                    <p:cond delay="0"/>
                                  </p:stCondLst>
                                  <p:endCondLst>
                                    <p:cond evt="begin" delay="0">
                                      <p:tn val="10"/>
                                    </p:cond>
                                  </p:end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711DA19-492F-4768-94AE-6EE560291F73}"/>
              </a:ext>
            </a:extLst>
          </p:cNvPr>
          <p:cNvPicPr>
            <a:picLocks noChangeAspect="1"/>
          </p:cNvPicPr>
          <p:nvPr/>
        </p:nvPicPr>
        <p:blipFill>
          <a:blip r:embed="rId2"/>
          <a:stretch>
            <a:fillRect/>
          </a:stretch>
        </p:blipFill>
        <p:spPr>
          <a:xfrm>
            <a:off x="536905" y="0"/>
            <a:ext cx="8070189" cy="6858000"/>
          </a:xfrm>
          <a:prstGeom prst="rect">
            <a:avLst/>
          </a:prstGeom>
        </p:spPr>
      </p:pic>
      <p:pic>
        <p:nvPicPr>
          <p:cNvPr id="5" name="图片 4">
            <a:extLst>
              <a:ext uri="{FF2B5EF4-FFF2-40B4-BE49-F238E27FC236}">
                <a16:creationId xmlns:a16="http://schemas.microsoft.com/office/drawing/2014/main" id="{B64E7383-C7DB-41F9-B3B6-014D87B2D486}"/>
              </a:ext>
            </a:extLst>
          </p:cNvPr>
          <p:cNvPicPr>
            <a:picLocks noChangeAspect="1"/>
          </p:cNvPicPr>
          <p:nvPr/>
        </p:nvPicPr>
        <p:blipFill>
          <a:blip r:embed="rId3"/>
          <a:stretch>
            <a:fillRect/>
          </a:stretch>
        </p:blipFill>
        <p:spPr>
          <a:xfrm>
            <a:off x="156639" y="0"/>
            <a:ext cx="8830722" cy="6858000"/>
          </a:xfrm>
          <a:prstGeom prst="rect">
            <a:avLst/>
          </a:prstGeom>
        </p:spPr>
      </p:pic>
      <p:pic>
        <p:nvPicPr>
          <p:cNvPr id="6" name="图片 5">
            <a:extLst>
              <a:ext uri="{FF2B5EF4-FFF2-40B4-BE49-F238E27FC236}">
                <a16:creationId xmlns:a16="http://schemas.microsoft.com/office/drawing/2014/main" id="{FBC72E67-BF61-4876-8580-528A7CD563A7}"/>
              </a:ext>
            </a:extLst>
          </p:cNvPr>
          <p:cNvPicPr>
            <a:picLocks noChangeAspect="1"/>
          </p:cNvPicPr>
          <p:nvPr/>
        </p:nvPicPr>
        <p:blipFill>
          <a:blip r:embed="rId4"/>
          <a:stretch>
            <a:fillRect/>
          </a:stretch>
        </p:blipFill>
        <p:spPr>
          <a:xfrm>
            <a:off x="1351520" y="0"/>
            <a:ext cx="6440960" cy="6858000"/>
          </a:xfrm>
          <a:prstGeom prst="rect">
            <a:avLst/>
          </a:prstGeom>
        </p:spPr>
      </p:pic>
      <p:pic>
        <p:nvPicPr>
          <p:cNvPr id="7" name="图片 6">
            <a:extLst>
              <a:ext uri="{FF2B5EF4-FFF2-40B4-BE49-F238E27FC236}">
                <a16:creationId xmlns:a16="http://schemas.microsoft.com/office/drawing/2014/main" id="{9990B88D-D99D-4BA9-9CEE-820CFA1D98ED}"/>
              </a:ext>
            </a:extLst>
          </p:cNvPr>
          <p:cNvPicPr>
            <a:picLocks noChangeAspect="1"/>
          </p:cNvPicPr>
          <p:nvPr/>
        </p:nvPicPr>
        <p:blipFill>
          <a:blip r:embed="rId5"/>
          <a:stretch>
            <a:fillRect/>
          </a:stretch>
        </p:blipFill>
        <p:spPr>
          <a:xfrm>
            <a:off x="694266" y="152400"/>
            <a:ext cx="8060267" cy="6858000"/>
          </a:xfrm>
          <a:prstGeom prst="rect">
            <a:avLst/>
          </a:prstGeom>
        </p:spPr>
      </p:pic>
    </p:spTree>
    <p:extLst>
      <p:ext uri="{BB962C8B-B14F-4D97-AF65-F5344CB8AC3E}">
        <p14:creationId xmlns:p14="http://schemas.microsoft.com/office/powerpoint/2010/main" val="3387855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4" name="组合 5"/>
          <p:cNvGrpSpPr>
            <a:grpSpLocks/>
          </p:cNvGrpSpPr>
          <p:nvPr/>
        </p:nvGrpSpPr>
        <p:grpSpPr bwMode="auto">
          <a:xfrm>
            <a:off x="971550" y="4035425"/>
            <a:ext cx="6548438" cy="641350"/>
            <a:chOff x="1082739" y="1970999"/>
            <a:chExt cx="6548374" cy="641350"/>
          </a:xfrm>
        </p:grpSpPr>
        <p:grpSp>
          <p:nvGrpSpPr>
            <p:cNvPr id="18523" name="Group 162"/>
            <p:cNvGrpSpPr>
              <a:grpSpLocks/>
            </p:cNvGrpSpPr>
            <p:nvPr/>
          </p:nvGrpSpPr>
          <p:grpSpPr bwMode="auto">
            <a:xfrm rot="-1297425" flipH="1" flipV="1">
              <a:off x="1774825" y="1993223"/>
              <a:ext cx="171450" cy="36513"/>
              <a:chOff x="1565" y="2568"/>
              <a:chExt cx="1118" cy="279"/>
            </a:xfrm>
          </p:grpSpPr>
          <p:sp>
            <p:nvSpPr>
              <p:cNvPr id="18547" name="AutoShape 163"/>
              <p:cNvSpPr>
                <a:spLocks noChangeArrowheads="1"/>
              </p:cNvSpPr>
              <p:nvPr/>
            </p:nvSpPr>
            <p:spPr bwMode="ltGray">
              <a:xfrm rot="5263130">
                <a:off x="1859"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48" name="AutoShape 164"/>
              <p:cNvSpPr>
                <a:spLocks noChangeArrowheads="1"/>
              </p:cNvSpPr>
              <p:nvPr/>
            </p:nvSpPr>
            <p:spPr bwMode="ltGray">
              <a:xfrm rot="6078281">
                <a:off x="1995"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49" name="AutoShape 165"/>
              <p:cNvSpPr>
                <a:spLocks noChangeArrowheads="1"/>
              </p:cNvSpPr>
              <p:nvPr/>
            </p:nvSpPr>
            <p:spPr bwMode="ltGray">
              <a:xfrm rot="6373927">
                <a:off x="2071" y="229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50" name="AutoShape 166"/>
              <p:cNvSpPr>
                <a:spLocks noChangeArrowheads="1"/>
              </p:cNvSpPr>
              <p:nvPr/>
            </p:nvSpPr>
            <p:spPr bwMode="ltGray">
              <a:xfrm rot="6906312">
                <a:off x="2161" y="232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grpSp>
        <p:grpSp>
          <p:nvGrpSpPr>
            <p:cNvPr id="18524" name="Group 167"/>
            <p:cNvGrpSpPr>
              <a:grpSpLocks/>
            </p:cNvGrpSpPr>
            <p:nvPr/>
          </p:nvGrpSpPr>
          <p:grpSpPr bwMode="auto">
            <a:xfrm rot="56115" flipH="1" flipV="1">
              <a:off x="1738313" y="1994811"/>
              <a:ext cx="171450" cy="36512"/>
              <a:chOff x="1565" y="2568"/>
              <a:chExt cx="1118" cy="279"/>
            </a:xfrm>
          </p:grpSpPr>
          <p:sp>
            <p:nvSpPr>
              <p:cNvPr id="18543" name="AutoShape 168"/>
              <p:cNvSpPr>
                <a:spLocks noChangeArrowheads="1"/>
              </p:cNvSpPr>
              <p:nvPr/>
            </p:nvSpPr>
            <p:spPr bwMode="ltGray">
              <a:xfrm rot="5263130">
                <a:off x="1859"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44" name="AutoShape 169"/>
              <p:cNvSpPr>
                <a:spLocks noChangeArrowheads="1"/>
              </p:cNvSpPr>
              <p:nvPr/>
            </p:nvSpPr>
            <p:spPr bwMode="ltGray">
              <a:xfrm rot="6078281">
                <a:off x="1995"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45" name="AutoShape 170"/>
              <p:cNvSpPr>
                <a:spLocks noChangeArrowheads="1"/>
              </p:cNvSpPr>
              <p:nvPr/>
            </p:nvSpPr>
            <p:spPr bwMode="ltGray">
              <a:xfrm rot="6373927">
                <a:off x="2071" y="229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46" name="AutoShape 171"/>
              <p:cNvSpPr>
                <a:spLocks noChangeArrowheads="1"/>
              </p:cNvSpPr>
              <p:nvPr/>
            </p:nvSpPr>
            <p:spPr bwMode="ltGray">
              <a:xfrm rot="6906312">
                <a:off x="2161" y="232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grpSp>
        <p:sp>
          <p:nvSpPr>
            <p:cNvPr id="18525" name="AutoShape 27"/>
            <p:cNvSpPr>
              <a:spLocks noChangeArrowheads="1"/>
            </p:cNvSpPr>
            <p:nvPr/>
          </p:nvSpPr>
          <p:spPr bwMode="gray">
            <a:xfrm>
              <a:off x="1557338" y="1970999"/>
              <a:ext cx="6073775" cy="641350"/>
            </a:xfrm>
            <a:prstGeom prst="roundRect">
              <a:avLst>
                <a:gd name="adj" fmla="val 50000"/>
              </a:avLst>
            </a:prstGeom>
            <a:noFill/>
            <a:ln w="9525" algn="ctr">
              <a:solidFill>
                <a:srgbClr val="5DA3B4"/>
              </a:solidFill>
              <a:round/>
              <a:headEnd/>
              <a:tailEnd/>
            </a:ln>
            <a:effectLst>
              <a:outerShdw dist="40161" dir="4293903" algn="ctr" rotWithShape="0">
                <a:srgbClr val="FFFFCC">
                  <a:alpha val="50000"/>
                </a:srgbClr>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800">
                <a:latin typeface="黑体" panose="02010609060101010101" pitchFamily="49" charset="-122"/>
                <a:ea typeface="黑体" panose="02010609060101010101" pitchFamily="49" charset="-122"/>
              </a:endParaRPr>
            </a:p>
          </p:txBody>
        </p:sp>
        <p:pic>
          <p:nvPicPr>
            <p:cNvPr id="18526" name="Picture 143" descr="circuler_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1770063" y="2186899"/>
              <a:ext cx="242888" cy="23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 name="Oval 144"/>
            <p:cNvSpPr>
              <a:spLocks noChangeArrowheads="1"/>
            </p:cNvSpPr>
            <p:nvPr/>
          </p:nvSpPr>
          <p:spPr bwMode="ltGray">
            <a:xfrm>
              <a:off x="1770063" y="2186899"/>
              <a:ext cx="238125" cy="233363"/>
            </a:xfrm>
            <a:prstGeom prst="ellipse">
              <a:avLst/>
            </a:prstGeom>
            <a:gradFill rotWithShape="1">
              <a:gsLst>
                <a:gs pos="0">
                  <a:srgbClr val="B2B2B2">
                    <a:gamma/>
                    <a:shade val="0"/>
                    <a:invGamma/>
                    <a:alpha val="89999"/>
                  </a:srgbClr>
                </a:gs>
                <a:gs pos="50000">
                  <a:srgbClr val="B2B2B2">
                    <a:alpha val="45000"/>
                  </a:srgbClr>
                </a:gs>
                <a:gs pos="100000">
                  <a:srgbClr val="B2B2B2">
                    <a:gamma/>
                    <a:shade val="0"/>
                    <a:invGamma/>
                    <a:alpha val="89999"/>
                  </a:srgbClr>
                </a:gs>
              </a:gsLst>
              <a:lin ang="5400000" scaled="1"/>
            </a:gradFill>
            <a:ln w="9525" algn="ctr">
              <a:noFill/>
              <a:round/>
              <a:headEnd/>
              <a:tailEnd/>
            </a:ln>
            <a:effectLst/>
          </p:spPr>
          <p:txBody>
            <a:bodyPr wrap="none" anchor="ctr"/>
            <a:lstStyle/>
            <a:p>
              <a:pPr>
                <a:defRPr/>
              </a:pPr>
              <a:endParaRPr lang="zh-CN" altLang="en-US">
                <a:latin typeface="黑体" panose="02010609060101010101" pitchFamily="49" charset="-122"/>
                <a:ea typeface="黑体" panose="02010609060101010101" pitchFamily="49" charset="-122"/>
              </a:endParaRPr>
            </a:p>
          </p:txBody>
        </p:sp>
        <p:sp>
          <p:nvSpPr>
            <p:cNvPr id="18530" name="Freeform 145"/>
            <p:cNvSpPr>
              <a:spLocks/>
            </p:cNvSpPr>
            <p:nvPr/>
          </p:nvSpPr>
          <p:spPr bwMode="ltGray">
            <a:xfrm>
              <a:off x="1798638" y="2193249"/>
              <a:ext cx="190500" cy="79375"/>
            </a:xfrm>
            <a:custGeom>
              <a:avLst/>
              <a:gdLst>
                <a:gd name="T0" fmla="*/ 0 w 1321"/>
                <a:gd name="T1" fmla="*/ 0 h 712"/>
                <a:gd name="T2" fmla="*/ 0 w 1321"/>
                <a:gd name="T3" fmla="*/ 0 h 712"/>
                <a:gd name="T4" fmla="*/ 0 w 1321"/>
                <a:gd name="T5" fmla="*/ 0 h 712"/>
                <a:gd name="T6" fmla="*/ 0 w 1321"/>
                <a:gd name="T7" fmla="*/ 0 h 712"/>
                <a:gd name="T8" fmla="*/ 0 w 1321"/>
                <a:gd name="T9" fmla="*/ 0 h 712"/>
                <a:gd name="T10" fmla="*/ 0 w 1321"/>
                <a:gd name="T11" fmla="*/ 0 h 712"/>
                <a:gd name="T12" fmla="*/ 0 w 1321"/>
                <a:gd name="T13" fmla="*/ 0 h 712"/>
                <a:gd name="T14" fmla="*/ 0 w 1321"/>
                <a:gd name="T15" fmla="*/ 0 h 712"/>
                <a:gd name="T16" fmla="*/ 0 w 1321"/>
                <a:gd name="T17" fmla="*/ 0 h 712"/>
                <a:gd name="T18" fmla="*/ 0 w 1321"/>
                <a:gd name="T19" fmla="*/ 0 h 712"/>
                <a:gd name="T20" fmla="*/ 0 w 1321"/>
                <a:gd name="T21" fmla="*/ 0 h 712"/>
                <a:gd name="T22" fmla="*/ 0 w 1321"/>
                <a:gd name="T23" fmla="*/ 0 h 712"/>
                <a:gd name="T24" fmla="*/ 0 w 1321"/>
                <a:gd name="T25" fmla="*/ 0 h 712"/>
                <a:gd name="T26" fmla="*/ 0 w 1321"/>
                <a:gd name="T27" fmla="*/ 0 h 712"/>
                <a:gd name="T28" fmla="*/ 0 w 1321"/>
                <a:gd name="T29" fmla="*/ 0 h 712"/>
                <a:gd name="T30" fmla="*/ 0 w 1321"/>
                <a:gd name="T31" fmla="*/ 0 h 712"/>
                <a:gd name="T32" fmla="*/ 0 w 1321"/>
                <a:gd name="T33" fmla="*/ 0 h 712"/>
                <a:gd name="T34" fmla="*/ 0 w 1321"/>
                <a:gd name="T35" fmla="*/ 0 h 712"/>
                <a:gd name="T36" fmla="*/ 0 w 1321"/>
                <a:gd name="T37" fmla="*/ 0 h 712"/>
                <a:gd name="T38" fmla="*/ 0 w 1321"/>
                <a:gd name="T39" fmla="*/ 0 h 712"/>
                <a:gd name="T40" fmla="*/ 0 w 1321"/>
                <a:gd name="T41" fmla="*/ 0 h 712"/>
                <a:gd name="T42" fmla="*/ 0 w 1321"/>
                <a:gd name="T43" fmla="*/ 0 h 712"/>
                <a:gd name="T44" fmla="*/ 0 w 1321"/>
                <a:gd name="T45" fmla="*/ 0 h 712"/>
                <a:gd name="T46" fmla="*/ 0 w 1321"/>
                <a:gd name="T47" fmla="*/ 0 h 712"/>
                <a:gd name="T48" fmla="*/ 0 w 1321"/>
                <a:gd name="T49" fmla="*/ 0 h 712"/>
                <a:gd name="T50" fmla="*/ 0 w 1321"/>
                <a:gd name="T51" fmla="*/ 0 h 712"/>
                <a:gd name="T52" fmla="*/ 0 w 1321"/>
                <a:gd name="T53" fmla="*/ 0 h 712"/>
                <a:gd name="T54" fmla="*/ 0 w 1321"/>
                <a:gd name="T55" fmla="*/ 0 h 712"/>
                <a:gd name="T56" fmla="*/ 0 w 1321"/>
                <a:gd name="T57" fmla="*/ 0 h 712"/>
                <a:gd name="T58" fmla="*/ 0 w 1321"/>
                <a:gd name="T59" fmla="*/ 0 h 712"/>
                <a:gd name="T60" fmla="*/ 0 w 1321"/>
                <a:gd name="T61" fmla="*/ 0 h 712"/>
                <a:gd name="T62" fmla="*/ 0 w 1321"/>
                <a:gd name="T63" fmla="*/ 0 h 712"/>
                <a:gd name="T64" fmla="*/ 0 w 1321"/>
                <a:gd name="T65" fmla="*/ 0 h 712"/>
                <a:gd name="T66" fmla="*/ 0 w 1321"/>
                <a:gd name="T67" fmla="*/ 0 h 712"/>
                <a:gd name="T68" fmla="*/ 0 w 1321"/>
                <a:gd name="T69" fmla="*/ 0 h 712"/>
                <a:gd name="T70" fmla="*/ 0 w 1321"/>
                <a:gd name="T71" fmla="*/ 0 h 712"/>
                <a:gd name="T72" fmla="*/ 0 w 1321"/>
                <a:gd name="T73" fmla="*/ 0 h 712"/>
                <a:gd name="T74" fmla="*/ 0 w 1321"/>
                <a:gd name="T75" fmla="*/ 0 h 712"/>
                <a:gd name="T76" fmla="*/ 0 w 1321"/>
                <a:gd name="T77" fmla="*/ 0 h 712"/>
                <a:gd name="T78" fmla="*/ 0 w 1321"/>
                <a:gd name="T79" fmla="*/ 0 h 712"/>
                <a:gd name="T80" fmla="*/ 0 w 1321"/>
                <a:gd name="T81" fmla="*/ 0 h 712"/>
                <a:gd name="T82" fmla="*/ 0 w 1321"/>
                <a:gd name="T83" fmla="*/ 0 h 712"/>
                <a:gd name="T84" fmla="*/ 0 w 1321"/>
                <a:gd name="T85" fmla="*/ 0 h 712"/>
                <a:gd name="T86" fmla="*/ 0 w 1321"/>
                <a:gd name="T87" fmla="*/ 0 h 712"/>
                <a:gd name="T88" fmla="*/ 0 w 1321"/>
                <a:gd name="T89" fmla="*/ 0 h 712"/>
                <a:gd name="T90" fmla="*/ 0 w 1321"/>
                <a:gd name="T91" fmla="*/ 0 h 712"/>
                <a:gd name="T92" fmla="*/ 0 w 1321"/>
                <a:gd name="T93" fmla="*/ 0 h 712"/>
                <a:gd name="T94" fmla="*/ 0 w 1321"/>
                <a:gd name="T95" fmla="*/ 0 h 712"/>
                <a:gd name="T96" fmla="*/ 0 w 1321"/>
                <a:gd name="T97" fmla="*/ 0 h 712"/>
                <a:gd name="T98" fmla="*/ 0 w 1321"/>
                <a:gd name="T99" fmla="*/ 0 h 712"/>
                <a:gd name="T100" fmla="*/ 0 w 1321"/>
                <a:gd name="T101" fmla="*/ 0 h 712"/>
                <a:gd name="T102" fmla="*/ 0 w 1321"/>
                <a:gd name="T103" fmla="*/ 0 h 712"/>
                <a:gd name="T104" fmla="*/ 0 w 1321"/>
                <a:gd name="T105" fmla="*/ 0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chemeClr val="bg1"/>
                </a:gs>
                <a:gs pos="100000">
                  <a:srgbClr val="B2B2B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grpSp>
          <p:nvGrpSpPr>
            <p:cNvPr id="18531" name="Group 146"/>
            <p:cNvGrpSpPr>
              <a:grpSpLocks/>
            </p:cNvGrpSpPr>
            <p:nvPr/>
          </p:nvGrpSpPr>
          <p:grpSpPr bwMode="auto">
            <a:xfrm rot="-1297425" flipH="1" flipV="1">
              <a:off x="1792288" y="2371049"/>
              <a:ext cx="212725" cy="52388"/>
              <a:chOff x="2532" y="1051"/>
              <a:chExt cx="893" cy="246"/>
            </a:xfrm>
          </p:grpSpPr>
          <p:grpSp>
            <p:nvGrpSpPr>
              <p:cNvPr id="18533" name="Group 147"/>
              <p:cNvGrpSpPr>
                <a:grpSpLocks/>
              </p:cNvGrpSpPr>
              <p:nvPr/>
            </p:nvGrpSpPr>
            <p:grpSpPr bwMode="auto">
              <a:xfrm>
                <a:off x="2532" y="1051"/>
                <a:ext cx="743" cy="185"/>
                <a:chOff x="1565" y="2568"/>
                <a:chExt cx="1118" cy="279"/>
              </a:xfrm>
            </p:grpSpPr>
            <p:sp>
              <p:nvSpPr>
                <p:cNvPr id="18539" name="AutoShape 148"/>
                <p:cNvSpPr>
                  <a:spLocks noChangeArrowheads="1"/>
                </p:cNvSpPr>
                <p:nvPr/>
              </p:nvSpPr>
              <p:spPr bwMode="ltGray">
                <a:xfrm rot="5263130">
                  <a:off x="1859"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40" name="AutoShape 149"/>
                <p:cNvSpPr>
                  <a:spLocks noChangeArrowheads="1"/>
                </p:cNvSpPr>
                <p:nvPr/>
              </p:nvSpPr>
              <p:spPr bwMode="ltGray">
                <a:xfrm rot="6078281">
                  <a:off x="1995"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41" name="AutoShape 150"/>
                <p:cNvSpPr>
                  <a:spLocks noChangeArrowheads="1"/>
                </p:cNvSpPr>
                <p:nvPr/>
              </p:nvSpPr>
              <p:spPr bwMode="ltGray">
                <a:xfrm rot="6373927">
                  <a:off x="2071" y="229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42" name="AutoShape 151"/>
                <p:cNvSpPr>
                  <a:spLocks noChangeArrowheads="1"/>
                </p:cNvSpPr>
                <p:nvPr/>
              </p:nvSpPr>
              <p:spPr bwMode="ltGray">
                <a:xfrm rot="6906312">
                  <a:off x="2161" y="232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grpSp>
          <p:grpSp>
            <p:nvGrpSpPr>
              <p:cNvPr id="18534" name="Group 152"/>
              <p:cNvGrpSpPr>
                <a:grpSpLocks/>
              </p:cNvGrpSpPr>
              <p:nvPr/>
            </p:nvGrpSpPr>
            <p:grpSpPr bwMode="auto">
              <a:xfrm rot="1353540">
                <a:off x="2682" y="1111"/>
                <a:ext cx="743" cy="186"/>
                <a:chOff x="1565" y="2568"/>
                <a:chExt cx="1118" cy="279"/>
              </a:xfrm>
            </p:grpSpPr>
            <p:sp>
              <p:nvSpPr>
                <p:cNvPr id="18535" name="AutoShape 153"/>
                <p:cNvSpPr>
                  <a:spLocks noChangeArrowheads="1"/>
                </p:cNvSpPr>
                <p:nvPr/>
              </p:nvSpPr>
              <p:spPr bwMode="ltGray">
                <a:xfrm rot="5263130">
                  <a:off x="1859"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36" name="AutoShape 154"/>
                <p:cNvSpPr>
                  <a:spLocks noChangeArrowheads="1"/>
                </p:cNvSpPr>
                <p:nvPr/>
              </p:nvSpPr>
              <p:spPr bwMode="ltGray">
                <a:xfrm rot="6078281">
                  <a:off x="1995"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37" name="AutoShape 155"/>
                <p:cNvSpPr>
                  <a:spLocks noChangeArrowheads="1"/>
                </p:cNvSpPr>
                <p:nvPr/>
              </p:nvSpPr>
              <p:spPr bwMode="ltGray">
                <a:xfrm rot="6373927">
                  <a:off x="2071" y="229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38" name="AutoShape 156"/>
                <p:cNvSpPr>
                  <a:spLocks noChangeArrowheads="1"/>
                </p:cNvSpPr>
                <p:nvPr/>
              </p:nvSpPr>
              <p:spPr bwMode="ltGray">
                <a:xfrm rot="6906312">
                  <a:off x="2161" y="232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grpSp>
        </p:grpSp>
        <p:sp>
          <p:nvSpPr>
            <p:cNvPr id="18532" name="Rectangle 10"/>
            <p:cNvSpPr>
              <a:spLocks noChangeArrowheads="1"/>
            </p:cNvSpPr>
            <p:nvPr/>
          </p:nvSpPr>
          <p:spPr bwMode="auto">
            <a:xfrm>
              <a:off x="1082739" y="2077506"/>
              <a:ext cx="54409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buClr>
                  <a:srgbClr val="5F5F5F"/>
                </a:buClr>
              </a:pPr>
              <a:r>
                <a:rPr lang="en-US" altLang="zh-CN" sz="2400">
                  <a:latin typeface="黑体" panose="02010609060101010101" pitchFamily="49" charset="-122"/>
                  <a:ea typeface="黑体" panose="02010609060101010101" pitchFamily="49" charset="-122"/>
                </a:rPr>
                <a:t>	</a:t>
              </a:r>
              <a:r>
                <a:rPr lang="zh-CN" altLang="en-US" sz="2400">
                  <a:latin typeface="黑体" panose="02010609060101010101" pitchFamily="49" charset="-122"/>
                  <a:ea typeface="黑体" panose="02010609060101010101" pitchFamily="49" charset="-122"/>
                </a:rPr>
                <a:t>第</a:t>
              </a:r>
              <a:r>
                <a:rPr lang="en-US" altLang="zh-CN" sz="2400">
                  <a:latin typeface="黑体" panose="02010609060101010101" pitchFamily="49" charset="-122"/>
                  <a:ea typeface="黑体" panose="02010609060101010101" pitchFamily="49" charset="-122"/>
                </a:rPr>
                <a:t>3</a:t>
              </a:r>
              <a:r>
                <a:rPr lang="zh-CN" altLang="en-US" sz="2400">
                  <a:latin typeface="黑体" panose="02010609060101010101" pitchFamily="49" charset="-122"/>
                  <a:ea typeface="黑体" panose="02010609060101010101" pitchFamily="49" charset="-122"/>
                </a:rPr>
                <a:t>部分 网络空间安全威胁分析</a:t>
              </a:r>
            </a:p>
          </p:txBody>
        </p:sp>
      </p:grpSp>
      <p:sp>
        <p:nvSpPr>
          <p:cNvPr id="18435" name="Rectangle 5"/>
          <p:cNvSpPr>
            <a:spLocks noChangeArrowheads="1"/>
          </p:cNvSpPr>
          <p:nvPr/>
        </p:nvSpPr>
        <p:spPr bwMode="auto">
          <a:xfrm>
            <a:off x="279400" y="98425"/>
            <a:ext cx="4076700"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a:solidFill>
                  <a:srgbClr val="4675CA"/>
                </a:solidFill>
                <a:latin typeface="Times New Roman" panose="02020603050405020304" pitchFamily="18" charset="0"/>
                <a:ea typeface="黑体" panose="02010609060101010101" pitchFamily="49" charset="-122"/>
              </a:rPr>
              <a:t>汇 报 提 纲</a:t>
            </a:r>
            <a:endParaRPr lang="en-US" altLang="zh-CN">
              <a:solidFill>
                <a:srgbClr val="4675CA"/>
              </a:solidFill>
              <a:latin typeface="Times New Roman" panose="02020603050405020304" pitchFamily="18" charset="0"/>
              <a:ea typeface="黑体" panose="02010609060101010101" pitchFamily="49" charset="-122"/>
            </a:endParaRPr>
          </a:p>
        </p:txBody>
      </p:sp>
      <p:grpSp>
        <p:nvGrpSpPr>
          <p:cNvPr id="18436" name="组合 118"/>
          <p:cNvGrpSpPr>
            <a:grpSpLocks/>
          </p:cNvGrpSpPr>
          <p:nvPr/>
        </p:nvGrpSpPr>
        <p:grpSpPr bwMode="auto">
          <a:xfrm>
            <a:off x="971550" y="2763838"/>
            <a:ext cx="6548438" cy="641350"/>
            <a:chOff x="1082739" y="1970999"/>
            <a:chExt cx="6548374" cy="641350"/>
          </a:xfrm>
        </p:grpSpPr>
        <p:grpSp>
          <p:nvGrpSpPr>
            <p:cNvPr id="18495" name="Group 162"/>
            <p:cNvGrpSpPr>
              <a:grpSpLocks/>
            </p:cNvGrpSpPr>
            <p:nvPr/>
          </p:nvGrpSpPr>
          <p:grpSpPr bwMode="auto">
            <a:xfrm rot="-1297425" flipH="1" flipV="1">
              <a:off x="1774825" y="1993223"/>
              <a:ext cx="171450" cy="36513"/>
              <a:chOff x="1565" y="2568"/>
              <a:chExt cx="1118" cy="279"/>
            </a:xfrm>
          </p:grpSpPr>
          <p:sp>
            <p:nvSpPr>
              <p:cNvPr id="18519" name="AutoShape 163"/>
              <p:cNvSpPr>
                <a:spLocks noChangeArrowheads="1"/>
              </p:cNvSpPr>
              <p:nvPr/>
            </p:nvSpPr>
            <p:spPr bwMode="ltGray">
              <a:xfrm rot="5263130">
                <a:off x="1859"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20" name="AutoShape 164"/>
              <p:cNvSpPr>
                <a:spLocks noChangeArrowheads="1"/>
              </p:cNvSpPr>
              <p:nvPr/>
            </p:nvSpPr>
            <p:spPr bwMode="ltGray">
              <a:xfrm rot="6078281">
                <a:off x="1995"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21" name="AutoShape 165"/>
              <p:cNvSpPr>
                <a:spLocks noChangeArrowheads="1"/>
              </p:cNvSpPr>
              <p:nvPr/>
            </p:nvSpPr>
            <p:spPr bwMode="ltGray">
              <a:xfrm rot="6373927">
                <a:off x="2071" y="229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22" name="AutoShape 166"/>
              <p:cNvSpPr>
                <a:spLocks noChangeArrowheads="1"/>
              </p:cNvSpPr>
              <p:nvPr/>
            </p:nvSpPr>
            <p:spPr bwMode="ltGray">
              <a:xfrm rot="6906312">
                <a:off x="2161" y="232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grpSp>
        <p:grpSp>
          <p:nvGrpSpPr>
            <p:cNvPr id="18496" name="Group 167"/>
            <p:cNvGrpSpPr>
              <a:grpSpLocks/>
            </p:cNvGrpSpPr>
            <p:nvPr/>
          </p:nvGrpSpPr>
          <p:grpSpPr bwMode="auto">
            <a:xfrm rot="56115" flipH="1" flipV="1">
              <a:off x="1738313" y="1994811"/>
              <a:ext cx="171450" cy="36512"/>
              <a:chOff x="1565" y="2568"/>
              <a:chExt cx="1118" cy="279"/>
            </a:xfrm>
          </p:grpSpPr>
          <p:sp>
            <p:nvSpPr>
              <p:cNvPr id="18515" name="AutoShape 168"/>
              <p:cNvSpPr>
                <a:spLocks noChangeArrowheads="1"/>
              </p:cNvSpPr>
              <p:nvPr/>
            </p:nvSpPr>
            <p:spPr bwMode="ltGray">
              <a:xfrm rot="5263130">
                <a:off x="1859"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16" name="AutoShape 169"/>
              <p:cNvSpPr>
                <a:spLocks noChangeArrowheads="1"/>
              </p:cNvSpPr>
              <p:nvPr/>
            </p:nvSpPr>
            <p:spPr bwMode="ltGray">
              <a:xfrm rot="6078281">
                <a:off x="1995"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17" name="AutoShape 170"/>
              <p:cNvSpPr>
                <a:spLocks noChangeArrowheads="1"/>
              </p:cNvSpPr>
              <p:nvPr/>
            </p:nvSpPr>
            <p:spPr bwMode="ltGray">
              <a:xfrm rot="6373927">
                <a:off x="2071" y="229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18" name="AutoShape 171"/>
              <p:cNvSpPr>
                <a:spLocks noChangeArrowheads="1"/>
              </p:cNvSpPr>
              <p:nvPr/>
            </p:nvSpPr>
            <p:spPr bwMode="ltGray">
              <a:xfrm rot="6906312">
                <a:off x="2161" y="232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grpSp>
        <p:sp>
          <p:nvSpPr>
            <p:cNvPr id="18497" name="AutoShape 27"/>
            <p:cNvSpPr>
              <a:spLocks noChangeArrowheads="1"/>
            </p:cNvSpPr>
            <p:nvPr/>
          </p:nvSpPr>
          <p:spPr bwMode="gray">
            <a:xfrm>
              <a:off x="1557338" y="1970999"/>
              <a:ext cx="6073775" cy="641350"/>
            </a:xfrm>
            <a:prstGeom prst="roundRect">
              <a:avLst>
                <a:gd name="adj" fmla="val 50000"/>
              </a:avLst>
            </a:prstGeom>
            <a:noFill/>
            <a:ln w="9525" algn="ctr">
              <a:solidFill>
                <a:srgbClr val="5DA3B4"/>
              </a:solidFill>
              <a:round/>
              <a:headEnd/>
              <a:tailEnd/>
            </a:ln>
            <a:effectLst>
              <a:outerShdw dist="40161" dir="4293903" algn="ctr" rotWithShape="0">
                <a:srgbClr val="FFFFCC">
                  <a:alpha val="50000"/>
                </a:srgbClr>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800">
                <a:latin typeface="黑体" panose="02010609060101010101" pitchFamily="49" charset="-122"/>
                <a:ea typeface="黑体" panose="02010609060101010101" pitchFamily="49" charset="-122"/>
              </a:endParaRPr>
            </a:p>
          </p:txBody>
        </p:sp>
        <p:pic>
          <p:nvPicPr>
            <p:cNvPr id="18498" name="Picture 143" descr="circuler_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1770063" y="2186899"/>
              <a:ext cx="242888" cy="23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 name="Oval 144"/>
            <p:cNvSpPr>
              <a:spLocks noChangeArrowheads="1"/>
            </p:cNvSpPr>
            <p:nvPr/>
          </p:nvSpPr>
          <p:spPr bwMode="ltGray">
            <a:xfrm>
              <a:off x="1770063" y="2186899"/>
              <a:ext cx="238125" cy="233363"/>
            </a:xfrm>
            <a:prstGeom prst="ellipse">
              <a:avLst/>
            </a:prstGeom>
            <a:gradFill rotWithShape="1">
              <a:gsLst>
                <a:gs pos="0">
                  <a:srgbClr val="B2B2B2">
                    <a:gamma/>
                    <a:shade val="0"/>
                    <a:invGamma/>
                    <a:alpha val="89999"/>
                  </a:srgbClr>
                </a:gs>
                <a:gs pos="50000">
                  <a:srgbClr val="B2B2B2">
                    <a:alpha val="45000"/>
                  </a:srgbClr>
                </a:gs>
                <a:gs pos="100000">
                  <a:srgbClr val="B2B2B2">
                    <a:gamma/>
                    <a:shade val="0"/>
                    <a:invGamma/>
                    <a:alpha val="89999"/>
                  </a:srgbClr>
                </a:gs>
              </a:gsLst>
              <a:lin ang="5400000" scaled="1"/>
            </a:gradFill>
            <a:ln w="9525" algn="ctr">
              <a:noFill/>
              <a:round/>
              <a:headEnd/>
              <a:tailEnd/>
            </a:ln>
            <a:effectLst/>
          </p:spPr>
          <p:txBody>
            <a:bodyPr wrap="none" anchor="ctr"/>
            <a:lstStyle/>
            <a:p>
              <a:pPr>
                <a:defRPr/>
              </a:pPr>
              <a:endParaRPr lang="zh-CN" altLang="en-US">
                <a:latin typeface="黑体" panose="02010609060101010101" pitchFamily="49" charset="-122"/>
                <a:ea typeface="黑体" panose="02010609060101010101" pitchFamily="49" charset="-122"/>
              </a:endParaRPr>
            </a:p>
          </p:txBody>
        </p:sp>
        <p:sp>
          <p:nvSpPr>
            <p:cNvPr id="18502" name="Freeform 145"/>
            <p:cNvSpPr>
              <a:spLocks/>
            </p:cNvSpPr>
            <p:nvPr/>
          </p:nvSpPr>
          <p:spPr bwMode="ltGray">
            <a:xfrm>
              <a:off x="1798638" y="2193249"/>
              <a:ext cx="190500" cy="79375"/>
            </a:xfrm>
            <a:custGeom>
              <a:avLst/>
              <a:gdLst>
                <a:gd name="T0" fmla="*/ 0 w 1321"/>
                <a:gd name="T1" fmla="*/ 0 h 712"/>
                <a:gd name="T2" fmla="*/ 0 w 1321"/>
                <a:gd name="T3" fmla="*/ 0 h 712"/>
                <a:gd name="T4" fmla="*/ 0 w 1321"/>
                <a:gd name="T5" fmla="*/ 0 h 712"/>
                <a:gd name="T6" fmla="*/ 0 w 1321"/>
                <a:gd name="T7" fmla="*/ 0 h 712"/>
                <a:gd name="T8" fmla="*/ 0 w 1321"/>
                <a:gd name="T9" fmla="*/ 0 h 712"/>
                <a:gd name="T10" fmla="*/ 0 w 1321"/>
                <a:gd name="T11" fmla="*/ 0 h 712"/>
                <a:gd name="T12" fmla="*/ 0 w 1321"/>
                <a:gd name="T13" fmla="*/ 0 h 712"/>
                <a:gd name="T14" fmla="*/ 0 w 1321"/>
                <a:gd name="T15" fmla="*/ 0 h 712"/>
                <a:gd name="T16" fmla="*/ 0 w 1321"/>
                <a:gd name="T17" fmla="*/ 0 h 712"/>
                <a:gd name="T18" fmla="*/ 0 w 1321"/>
                <a:gd name="T19" fmla="*/ 0 h 712"/>
                <a:gd name="T20" fmla="*/ 0 w 1321"/>
                <a:gd name="T21" fmla="*/ 0 h 712"/>
                <a:gd name="T22" fmla="*/ 0 w 1321"/>
                <a:gd name="T23" fmla="*/ 0 h 712"/>
                <a:gd name="T24" fmla="*/ 0 w 1321"/>
                <a:gd name="T25" fmla="*/ 0 h 712"/>
                <a:gd name="T26" fmla="*/ 0 w 1321"/>
                <a:gd name="T27" fmla="*/ 0 h 712"/>
                <a:gd name="T28" fmla="*/ 0 w 1321"/>
                <a:gd name="T29" fmla="*/ 0 h 712"/>
                <a:gd name="T30" fmla="*/ 0 w 1321"/>
                <a:gd name="T31" fmla="*/ 0 h 712"/>
                <a:gd name="T32" fmla="*/ 0 w 1321"/>
                <a:gd name="T33" fmla="*/ 0 h 712"/>
                <a:gd name="T34" fmla="*/ 0 w 1321"/>
                <a:gd name="T35" fmla="*/ 0 h 712"/>
                <a:gd name="T36" fmla="*/ 0 w 1321"/>
                <a:gd name="T37" fmla="*/ 0 h 712"/>
                <a:gd name="T38" fmla="*/ 0 w 1321"/>
                <a:gd name="T39" fmla="*/ 0 h 712"/>
                <a:gd name="T40" fmla="*/ 0 w 1321"/>
                <a:gd name="T41" fmla="*/ 0 h 712"/>
                <a:gd name="T42" fmla="*/ 0 w 1321"/>
                <a:gd name="T43" fmla="*/ 0 h 712"/>
                <a:gd name="T44" fmla="*/ 0 w 1321"/>
                <a:gd name="T45" fmla="*/ 0 h 712"/>
                <a:gd name="T46" fmla="*/ 0 w 1321"/>
                <a:gd name="T47" fmla="*/ 0 h 712"/>
                <a:gd name="T48" fmla="*/ 0 w 1321"/>
                <a:gd name="T49" fmla="*/ 0 h 712"/>
                <a:gd name="T50" fmla="*/ 0 w 1321"/>
                <a:gd name="T51" fmla="*/ 0 h 712"/>
                <a:gd name="T52" fmla="*/ 0 w 1321"/>
                <a:gd name="T53" fmla="*/ 0 h 712"/>
                <a:gd name="T54" fmla="*/ 0 w 1321"/>
                <a:gd name="T55" fmla="*/ 0 h 712"/>
                <a:gd name="T56" fmla="*/ 0 w 1321"/>
                <a:gd name="T57" fmla="*/ 0 h 712"/>
                <a:gd name="T58" fmla="*/ 0 w 1321"/>
                <a:gd name="T59" fmla="*/ 0 h 712"/>
                <a:gd name="T60" fmla="*/ 0 w 1321"/>
                <a:gd name="T61" fmla="*/ 0 h 712"/>
                <a:gd name="T62" fmla="*/ 0 w 1321"/>
                <a:gd name="T63" fmla="*/ 0 h 712"/>
                <a:gd name="T64" fmla="*/ 0 w 1321"/>
                <a:gd name="T65" fmla="*/ 0 h 712"/>
                <a:gd name="T66" fmla="*/ 0 w 1321"/>
                <a:gd name="T67" fmla="*/ 0 h 712"/>
                <a:gd name="T68" fmla="*/ 0 w 1321"/>
                <a:gd name="T69" fmla="*/ 0 h 712"/>
                <a:gd name="T70" fmla="*/ 0 w 1321"/>
                <a:gd name="T71" fmla="*/ 0 h 712"/>
                <a:gd name="T72" fmla="*/ 0 w 1321"/>
                <a:gd name="T73" fmla="*/ 0 h 712"/>
                <a:gd name="T74" fmla="*/ 0 w 1321"/>
                <a:gd name="T75" fmla="*/ 0 h 712"/>
                <a:gd name="T76" fmla="*/ 0 w 1321"/>
                <a:gd name="T77" fmla="*/ 0 h 712"/>
                <a:gd name="T78" fmla="*/ 0 w 1321"/>
                <a:gd name="T79" fmla="*/ 0 h 712"/>
                <a:gd name="T80" fmla="*/ 0 w 1321"/>
                <a:gd name="T81" fmla="*/ 0 h 712"/>
                <a:gd name="T82" fmla="*/ 0 w 1321"/>
                <a:gd name="T83" fmla="*/ 0 h 712"/>
                <a:gd name="T84" fmla="*/ 0 w 1321"/>
                <a:gd name="T85" fmla="*/ 0 h 712"/>
                <a:gd name="T86" fmla="*/ 0 w 1321"/>
                <a:gd name="T87" fmla="*/ 0 h 712"/>
                <a:gd name="T88" fmla="*/ 0 w 1321"/>
                <a:gd name="T89" fmla="*/ 0 h 712"/>
                <a:gd name="T90" fmla="*/ 0 w 1321"/>
                <a:gd name="T91" fmla="*/ 0 h 712"/>
                <a:gd name="T92" fmla="*/ 0 w 1321"/>
                <a:gd name="T93" fmla="*/ 0 h 712"/>
                <a:gd name="T94" fmla="*/ 0 w 1321"/>
                <a:gd name="T95" fmla="*/ 0 h 712"/>
                <a:gd name="T96" fmla="*/ 0 w 1321"/>
                <a:gd name="T97" fmla="*/ 0 h 712"/>
                <a:gd name="T98" fmla="*/ 0 w 1321"/>
                <a:gd name="T99" fmla="*/ 0 h 712"/>
                <a:gd name="T100" fmla="*/ 0 w 1321"/>
                <a:gd name="T101" fmla="*/ 0 h 712"/>
                <a:gd name="T102" fmla="*/ 0 w 1321"/>
                <a:gd name="T103" fmla="*/ 0 h 712"/>
                <a:gd name="T104" fmla="*/ 0 w 1321"/>
                <a:gd name="T105" fmla="*/ 0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chemeClr val="bg1"/>
                </a:gs>
                <a:gs pos="100000">
                  <a:srgbClr val="B2B2B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grpSp>
          <p:nvGrpSpPr>
            <p:cNvPr id="18503" name="Group 146"/>
            <p:cNvGrpSpPr>
              <a:grpSpLocks/>
            </p:cNvGrpSpPr>
            <p:nvPr/>
          </p:nvGrpSpPr>
          <p:grpSpPr bwMode="auto">
            <a:xfrm rot="-1297425" flipH="1" flipV="1">
              <a:off x="1792288" y="2371049"/>
              <a:ext cx="212725" cy="52388"/>
              <a:chOff x="2532" y="1051"/>
              <a:chExt cx="893" cy="246"/>
            </a:xfrm>
          </p:grpSpPr>
          <p:grpSp>
            <p:nvGrpSpPr>
              <p:cNvPr id="18505" name="Group 147"/>
              <p:cNvGrpSpPr>
                <a:grpSpLocks/>
              </p:cNvGrpSpPr>
              <p:nvPr/>
            </p:nvGrpSpPr>
            <p:grpSpPr bwMode="auto">
              <a:xfrm>
                <a:off x="2532" y="1051"/>
                <a:ext cx="743" cy="185"/>
                <a:chOff x="1565" y="2568"/>
                <a:chExt cx="1118" cy="279"/>
              </a:xfrm>
            </p:grpSpPr>
            <p:sp>
              <p:nvSpPr>
                <p:cNvPr id="18511" name="AutoShape 148"/>
                <p:cNvSpPr>
                  <a:spLocks noChangeArrowheads="1"/>
                </p:cNvSpPr>
                <p:nvPr/>
              </p:nvSpPr>
              <p:spPr bwMode="ltGray">
                <a:xfrm rot="5263130">
                  <a:off x="1859"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12" name="AutoShape 149"/>
                <p:cNvSpPr>
                  <a:spLocks noChangeArrowheads="1"/>
                </p:cNvSpPr>
                <p:nvPr/>
              </p:nvSpPr>
              <p:spPr bwMode="ltGray">
                <a:xfrm rot="6078281">
                  <a:off x="1995"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13" name="AutoShape 150"/>
                <p:cNvSpPr>
                  <a:spLocks noChangeArrowheads="1"/>
                </p:cNvSpPr>
                <p:nvPr/>
              </p:nvSpPr>
              <p:spPr bwMode="ltGray">
                <a:xfrm rot="6373927">
                  <a:off x="2071" y="229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14" name="AutoShape 151"/>
                <p:cNvSpPr>
                  <a:spLocks noChangeArrowheads="1"/>
                </p:cNvSpPr>
                <p:nvPr/>
              </p:nvSpPr>
              <p:spPr bwMode="ltGray">
                <a:xfrm rot="6906312">
                  <a:off x="2161" y="232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grpSp>
          <p:grpSp>
            <p:nvGrpSpPr>
              <p:cNvPr id="18506" name="Group 152"/>
              <p:cNvGrpSpPr>
                <a:grpSpLocks/>
              </p:cNvGrpSpPr>
              <p:nvPr/>
            </p:nvGrpSpPr>
            <p:grpSpPr bwMode="auto">
              <a:xfrm rot="1353540">
                <a:off x="2682" y="1111"/>
                <a:ext cx="743" cy="186"/>
                <a:chOff x="1565" y="2568"/>
                <a:chExt cx="1118" cy="279"/>
              </a:xfrm>
            </p:grpSpPr>
            <p:sp>
              <p:nvSpPr>
                <p:cNvPr id="18507" name="AutoShape 153"/>
                <p:cNvSpPr>
                  <a:spLocks noChangeArrowheads="1"/>
                </p:cNvSpPr>
                <p:nvPr/>
              </p:nvSpPr>
              <p:spPr bwMode="ltGray">
                <a:xfrm rot="5263130">
                  <a:off x="1859"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08" name="AutoShape 154"/>
                <p:cNvSpPr>
                  <a:spLocks noChangeArrowheads="1"/>
                </p:cNvSpPr>
                <p:nvPr/>
              </p:nvSpPr>
              <p:spPr bwMode="ltGray">
                <a:xfrm rot="6078281">
                  <a:off x="1995"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09" name="AutoShape 155"/>
                <p:cNvSpPr>
                  <a:spLocks noChangeArrowheads="1"/>
                </p:cNvSpPr>
                <p:nvPr/>
              </p:nvSpPr>
              <p:spPr bwMode="ltGray">
                <a:xfrm rot="6373927">
                  <a:off x="2071" y="229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510" name="AutoShape 156"/>
                <p:cNvSpPr>
                  <a:spLocks noChangeArrowheads="1"/>
                </p:cNvSpPr>
                <p:nvPr/>
              </p:nvSpPr>
              <p:spPr bwMode="ltGray">
                <a:xfrm rot="6906312">
                  <a:off x="2161" y="232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grpSp>
        </p:grpSp>
        <p:sp>
          <p:nvSpPr>
            <p:cNvPr id="18504" name="Rectangle 10"/>
            <p:cNvSpPr>
              <a:spLocks noChangeArrowheads="1"/>
            </p:cNvSpPr>
            <p:nvPr/>
          </p:nvSpPr>
          <p:spPr bwMode="auto">
            <a:xfrm>
              <a:off x="1082739" y="2077506"/>
              <a:ext cx="48221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buClr>
                  <a:srgbClr val="5F5F5F"/>
                </a:buClr>
              </a:pPr>
              <a:r>
                <a:rPr lang="en-US" altLang="zh-CN" sz="2400">
                  <a:latin typeface="黑体" panose="02010609060101010101" pitchFamily="49" charset="-122"/>
                  <a:ea typeface="黑体" panose="02010609060101010101" pitchFamily="49" charset="-122"/>
                </a:rPr>
                <a:t>	</a:t>
              </a:r>
              <a:r>
                <a:rPr lang="zh-CN" altLang="en-US" sz="2400">
                  <a:latin typeface="黑体" panose="02010609060101010101" pitchFamily="49" charset="-122"/>
                  <a:ea typeface="黑体" panose="02010609060101010101" pitchFamily="49" charset="-122"/>
                </a:rPr>
                <a:t>第</a:t>
              </a:r>
              <a:r>
                <a:rPr lang="en-US" altLang="zh-CN" sz="2400">
                  <a:latin typeface="黑体" panose="02010609060101010101" pitchFamily="49" charset="-122"/>
                  <a:ea typeface="黑体" panose="02010609060101010101" pitchFamily="49" charset="-122"/>
                </a:rPr>
                <a:t>2</a:t>
              </a:r>
              <a:r>
                <a:rPr lang="zh-CN" altLang="en-US" sz="2400">
                  <a:latin typeface="黑体" panose="02010609060101010101" pitchFamily="49" charset="-122"/>
                  <a:ea typeface="黑体" panose="02010609060101010101" pitchFamily="49" charset="-122"/>
                </a:rPr>
                <a:t>部分 网络空间安全现状</a:t>
              </a:r>
            </a:p>
          </p:txBody>
        </p:sp>
      </p:grpSp>
      <p:grpSp>
        <p:nvGrpSpPr>
          <p:cNvPr id="18437" name="组合 172"/>
          <p:cNvGrpSpPr>
            <a:grpSpLocks/>
          </p:cNvGrpSpPr>
          <p:nvPr/>
        </p:nvGrpSpPr>
        <p:grpSpPr bwMode="auto">
          <a:xfrm>
            <a:off x="971550" y="1492250"/>
            <a:ext cx="6548438" cy="641350"/>
            <a:chOff x="1082739" y="1970999"/>
            <a:chExt cx="6548374" cy="641350"/>
          </a:xfrm>
        </p:grpSpPr>
        <p:grpSp>
          <p:nvGrpSpPr>
            <p:cNvPr id="18467" name="Group 162"/>
            <p:cNvGrpSpPr>
              <a:grpSpLocks/>
            </p:cNvGrpSpPr>
            <p:nvPr/>
          </p:nvGrpSpPr>
          <p:grpSpPr bwMode="auto">
            <a:xfrm rot="-1297425" flipH="1" flipV="1">
              <a:off x="1774825" y="1993223"/>
              <a:ext cx="171450" cy="36513"/>
              <a:chOff x="1565" y="2568"/>
              <a:chExt cx="1118" cy="279"/>
            </a:xfrm>
          </p:grpSpPr>
          <p:sp>
            <p:nvSpPr>
              <p:cNvPr id="18491" name="AutoShape 163"/>
              <p:cNvSpPr>
                <a:spLocks noChangeArrowheads="1"/>
              </p:cNvSpPr>
              <p:nvPr/>
            </p:nvSpPr>
            <p:spPr bwMode="ltGray">
              <a:xfrm rot="5263130">
                <a:off x="1859"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92" name="AutoShape 164"/>
              <p:cNvSpPr>
                <a:spLocks noChangeArrowheads="1"/>
              </p:cNvSpPr>
              <p:nvPr/>
            </p:nvSpPr>
            <p:spPr bwMode="ltGray">
              <a:xfrm rot="6078281">
                <a:off x="1995"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93" name="AutoShape 165"/>
              <p:cNvSpPr>
                <a:spLocks noChangeArrowheads="1"/>
              </p:cNvSpPr>
              <p:nvPr/>
            </p:nvSpPr>
            <p:spPr bwMode="ltGray">
              <a:xfrm rot="6373927">
                <a:off x="2071" y="229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94" name="AutoShape 166"/>
              <p:cNvSpPr>
                <a:spLocks noChangeArrowheads="1"/>
              </p:cNvSpPr>
              <p:nvPr/>
            </p:nvSpPr>
            <p:spPr bwMode="ltGray">
              <a:xfrm rot="6906312">
                <a:off x="2161" y="232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grpSp>
        <p:grpSp>
          <p:nvGrpSpPr>
            <p:cNvPr id="18468" name="Group 167"/>
            <p:cNvGrpSpPr>
              <a:grpSpLocks/>
            </p:cNvGrpSpPr>
            <p:nvPr/>
          </p:nvGrpSpPr>
          <p:grpSpPr bwMode="auto">
            <a:xfrm rot="56115" flipH="1" flipV="1">
              <a:off x="1738313" y="1994811"/>
              <a:ext cx="171450" cy="36512"/>
              <a:chOff x="1565" y="2568"/>
              <a:chExt cx="1118" cy="279"/>
            </a:xfrm>
          </p:grpSpPr>
          <p:sp>
            <p:nvSpPr>
              <p:cNvPr id="18487" name="AutoShape 168"/>
              <p:cNvSpPr>
                <a:spLocks noChangeArrowheads="1"/>
              </p:cNvSpPr>
              <p:nvPr/>
            </p:nvSpPr>
            <p:spPr bwMode="ltGray">
              <a:xfrm rot="5263130">
                <a:off x="1859"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88" name="AutoShape 169"/>
              <p:cNvSpPr>
                <a:spLocks noChangeArrowheads="1"/>
              </p:cNvSpPr>
              <p:nvPr/>
            </p:nvSpPr>
            <p:spPr bwMode="ltGray">
              <a:xfrm rot="6078281">
                <a:off x="1995"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89" name="AutoShape 170"/>
              <p:cNvSpPr>
                <a:spLocks noChangeArrowheads="1"/>
              </p:cNvSpPr>
              <p:nvPr/>
            </p:nvSpPr>
            <p:spPr bwMode="ltGray">
              <a:xfrm rot="6373927">
                <a:off x="2071" y="229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90" name="AutoShape 171"/>
              <p:cNvSpPr>
                <a:spLocks noChangeArrowheads="1"/>
              </p:cNvSpPr>
              <p:nvPr/>
            </p:nvSpPr>
            <p:spPr bwMode="ltGray">
              <a:xfrm rot="6906312">
                <a:off x="2161" y="232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grpSp>
        <p:sp>
          <p:nvSpPr>
            <p:cNvPr id="18469" name="AutoShape 27"/>
            <p:cNvSpPr>
              <a:spLocks noChangeArrowheads="1"/>
            </p:cNvSpPr>
            <p:nvPr/>
          </p:nvSpPr>
          <p:spPr bwMode="gray">
            <a:xfrm>
              <a:off x="1557338" y="1970999"/>
              <a:ext cx="6073775" cy="641350"/>
            </a:xfrm>
            <a:prstGeom prst="roundRect">
              <a:avLst>
                <a:gd name="adj" fmla="val 50000"/>
              </a:avLst>
            </a:prstGeom>
            <a:noFill/>
            <a:ln w="9525" algn="ctr">
              <a:solidFill>
                <a:srgbClr val="5DA3B4"/>
              </a:solidFill>
              <a:round/>
              <a:headEnd/>
              <a:tailEnd/>
            </a:ln>
            <a:effectLst>
              <a:outerShdw dist="40161" dir="4293903" algn="ctr" rotWithShape="0">
                <a:srgbClr val="FFFFCC">
                  <a:alpha val="50000"/>
                </a:srgbClr>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800">
                <a:latin typeface="黑体" panose="02010609060101010101" pitchFamily="49" charset="-122"/>
                <a:ea typeface="黑体" panose="02010609060101010101" pitchFamily="49" charset="-122"/>
              </a:endParaRPr>
            </a:p>
          </p:txBody>
        </p:sp>
        <p:pic>
          <p:nvPicPr>
            <p:cNvPr id="18470" name="Picture 143" descr="circuler_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1770063" y="2186899"/>
              <a:ext cx="242888" cy="23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8" name="Oval 144"/>
            <p:cNvSpPr>
              <a:spLocks noChangeArrowheads="1"/>
            </p:cNvSpPr>
            <p:nvPr/>
          </p:nvSpPr>
          <p:spPr bwMode="ltGray">
            <a:xfrm>
              <a:off x="1770063" y="2186899"/>
              <a:ext cx="238125" cy="233363"/>
            </a:xfrm>
            <a:prstGeom prst="ellipse">
              <a:avLst/>
            </a:prstGeom>
            <a:gradFill rotWithShape="1">
              <a:gsLst>
                <a:gs pos="0">
                  <a:srgbClr val="B2B2B2">
                    <a:gamma/>
                    <a:shade val="0"/>
                    <a:invGamma/>
                    <a:alpha val="89999"/>
                  </a:srgbClr>
                </a:gs>
                <a:gs pos="50000">
                  <a:srgbClr val="B2B2B2">
                    <a:alpha val="45000"/>
                  </a:srgbClr>
                </a:gs>
                <a:gs pos="100000">
                  <a:srgbClr val="B2B2B2">
                    <a:gamma/>
                    <a:shade val="0"/>
                    <a:invGamma/>
                    <a:alpha val="89999"/>
                  </a:srgbClr>
                </a:gs>
              </a:gsLst>
              <a:lin ang="5400000" scaled="1"/>
            </a:gradFill>
            <a:ln w="9525" algn="ctr">
              <a:noFill/>
              <a:round/>
              <a:headEnd/>
              <a:tailEnd/>
            </a:ln>
            <a:effectLst/>
          </p:spPr>
          <p:txBody>
            <a:bodyPr wrap="none" anchor="ctr"/>
            <a:lstStyle/>
            <a:p>
              <a:pPr>
                <a:defRPr/>
              </a:pPr>
              <a:endParaRPr lang="zh-CN" altLang="en-US">
                <a:latin typeface="黑体" panose="02010609060101010101" pitchFamily="49" charset="-122"/>
                <a:ea typeface="黑体" panose="02010609060101010101" pitchFamily="49" charset="-122"/>
              </a:endParaRPr>
            </a:p>
          </p:txBody>
        </p:sp>
        <p:sp>
          <p:nvSpPr>
            <p:cNvPr id="18474" name="Freeform 145"/>
            <p:cNvSpPr>
              <a:spLocks/>
            </p:cNvSpPr>
            <p:nvPr/>
          </p:nvSpPr>
          <p:spPr bwMode="ltGray">
            <a:xfrm>
              <a:off x="1798638" y="2193249"/>
              <a:ext cx="190500" cy="79375"/>
            </a:xfrm>
            <a:custGeom>
              <a:avLst/>
              <a:gdLst>
                <a:gd name="T0" fmla="*/ 0 w 1321"/>
                <a:gd name="T1" fmla="*/ 0 h 712"/>
                <a:gd name="T2" fmla="*/ 0 w 1321"/>
                <a:gd name="T3" fmla="*/ 0 h 712"/>
                <a:gd name="T4" fmla="*/ 0 w 1321"/>
                <a:gd name="T5" fmla="*/ 0 h 712"/>
                <a:gd name="T6" fmla="*/ 0 w 1321"/>
                <a:gd name="T7" fmla="*/ 0 h 712"/>
                <a:gd name="T8" fmla="*/ 0 w 1321"/>
                <a:gd name="T9" fmla="*/ 0 h 712"/>
                <a:gd name="T10" fmla="*/ 0 w 1321"/>
                <a:gd name="T11" fmla="*/ 0 h 712"/>
                <a:gd name="T12" fmla="*/ 0 w 1321"/>
                <a:gd name="T13" fmla="*/ 0 h 712"/>
                <a:gd name="T14" fmla="*/ 0 w 1321"/>
                <a:gd name="T15" fmla="*/ 0 h 712"/>
                <a:gd name="T16" fmla="*/ 0 w 1321"/>
                <a:gd name="T17" fmla="*/ 0 h 712"/>
                <a:gd name="T18" fmla="*/ 0 w 1321"/>
                <a:gd name="T19" fmla="*/ 0 h 712"/>
                <a:gd name="T20" fmla="*/ 0 w 1321"/>
                <a:gd name="T21" fmla="*/ 0 h 712"/>
                <a:gd name="T22" fmla="*/ 0 w 1321"/>
                <a:gd name="T23" fmla="*/ 0 h 712"/>
                <a:gd name="T24" fmla="*/ 0 w 1321"/>
                <a:gd name="T25" fmla="*/ 0 h 712"/>
                <a:gd name="T26" fmla="*/ 0 w 1321"/>
                <a:gd name="T27" fmla="*/ 0 h 712"/>
                <a:gd name="T28" fmla="*/ 0 w 1321"/>
                <a:gd name="T29" fmla="*/ 0 h 712"/>
                <a:gd name="T30" fmla="*/ 0 w 1321"/>
                <a:gd name="T31" fmla="*/ 0 h 712"/>
                <a:gd name="T32" fmla="*/ 0 w 1321"/>
                <a:gd name="T33" fmla="*/ 0 h 712"/>
                <a:gd name="T34" fmla="*/ 0 w 1321"/>
                <a:gd name="T35" fmla="*/ 0 h 712"/>
                <a:gd name="T36" fmla="*/ 0 w 1321"/>
                <a:gd name="T37" fmla="*/ 0 h 712"/>
                <a:gd name="T38" fmla="*/ 0 w 1321"/>
                <a:gd name="T39" fmla="*/ 0 h 712"/>
                <a:gd name="T40" fmla="*/ 0 w 1321"/>
                <a:gd name="T41" fmla="*/ 0 h 712"/>
                <a:gd name="T42" fmla="*/ 0 w 1321"/>
                <a:gd name="T43" fmla="*/ 0 h 712"/>
                <a:gd name="T44" fmla="*/ 0 w 1321"/>
                <a:gd name="T45" fmla="*/ 0 h 712"/>
                <a:gd name="T46" fmla="*/ 0 w 1321"/>
                <a:gd name="T47" fmla="*/ 0 h 712"/>
                <a:gd name="T48" fmla="*/ 0 w 1321"/>
                <a:gd name="T49" fmla="*/ 0 h 712"/>
                <a:gd name="T50" fmla="*/ 0 w 1321"/>
                <a:gd name="T51" fmla="*/ 0 h 712"/>
                <a:gd name="T52" fmla="*/ 0 w 1321"/>
                <a:gd name="T53" fmla="*/ 0 h 712"/>
                <a:gd name="T54" fmla="*/ 0 w 1321"/>
                <a:gd name="T55" fmla="*/ 0 h 712"/>
                <a:gd name="T56" fmla="*/ 0 w 1321"/>
                <a:gd name="T57" fmla="*/ 0 h 712"/>
                <a:gd name="T58" fmla="*/ 0 w 1321"/>
                <a:gd name="T59" fmla="*/ 0 h 712"/>
                <a:gd name="T60" fmla="*/ 0 w 1321"/>
                <a:gd name="T61" fmla="*/ 0 h 712"/>
                <a:gd name="T62" fmla="*/ 0 w 1321"/>
                <a:gd name="T63" fmla="*/ 0 h 712"/>
                <a:gd name="T64" fmla="*/ 0 w 1321"/>
                <a:gd name="T65" fmla="*/ 0 h 712"/>
                <a:gd name="T66" fmla="*/ 0 w 1321"/>
                <a:gd name="T67" fmla="*/ 0 h 712"/>
                <a:gd name="T68" fmla="*/ 0 w 1321"/>
                <a:gd name="T69" fmla="*/ 0 h 712"/>
                <a:gd name="T70" fmla="*/ 0 w 1321"/>
                <a:gd name="T71" fmla="*/ 0 h 712"/>
                <a:gd name="T72" fmla="*/ 0 w 1321"/>
                <a:gd name="T73" fmla="*/ 0 h 712"/>
                <a:gd name="T74" fmla="*/ 0 w 1321"/>
                <a:gd name="T75" fmla="*/ 0 h 712"/>
                <a:gd name="T76" fmla="*/ 0 w 1321"/>
                <a:gd name="T77" fmla="*/ 0 h 712"/>
                <a:gd name="T78" fmla="*/ 0 w 1321"/>
                <a:gd name="T79" fmla="*/ 0 h 712"/>
                <a:gd name="T80" fmla="*/ 0 w 1321"/>
                <a:gd name="T81" fmla="*/ 0 h 712"/>
                <a:gd name="T82" fmla="*/ 0 w 1321"/>
                <a:gd name="T83" fmla="*/ 0 h 712"/>
                <a:gd name="T84" fmla="*/ 0 w 1321"/>
                <a:gd name="T85" fmla="*/ 0 h 712"/>
                <a:gd name="T86" fmla="*/ 0 w 1321"/>
                <a:gd name="T87" fmla="*/ 0 h 712"/>
                <a:gd name="T88" fmla="*/ 0 w 1321"/>
                <a:gd name="T89" fmla="*/ 0 h 712"/>
                <a:gd name="T90" fmla="*/ 0 w 1321"/>
                <a:gd name="T91" fmla="*/ 0 h 712"/>
                <a:gd name="T92" fmla="*/ 0 w 1321"/>
                <a:gd name="T93" fmla="*/ 0 h 712"/>
                <a:gd name="T94" fmla="*/ 0 w 1321"/>
                <a:gd name="T95" fmla="*/ 0 h 712"/>
                <a:gd name="T96" fmla="*/ 0 w 1321"/>
                <a:gd name="T97" fmla="*/ 0 h 712"/>
                <a:gd name="T98" fmla="*/ 0 w 1321"/>
                <a:gd name="T99" fmla="*/ 0 h 712"/>
                <a:gd name="T100" fmla="*/ 0 w 1321"/>
                <a:gd name="T101" fmla="*/ 0 h 712"/>
                <a:gd name="T102" fmla="*/ 0 w 1321"/>
                <a:gd name="T103" fmla="*/ 0 h 712"/>
                <a:gd name="T104" fmla="*/ 0 w 1321"/>
                <a:gd name="T105" fmla="*/ 0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chemeClr val="bg1"/>
                </a:gs>
                <a:gs pos="100000">
                  <a:srgbClr val="B2B2B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grpSp>
          <p:nvGrpSpPr>
            <p:cNvPr id="18475" name="Group 146"/>
            <p:cNvGrpSpPr>
              <a:grpSpLocks/>
            </p:cNvGrpSpPr>
            <p:nvPr/>
          </p:nvGrpSpPr>
          <p:grpSpPr bwMode="auto">
            <a:xfrm rot="-1297425" flipH="1" flipV="1">
              <a:off x="1792288" y="2371049"/>
              <a:ext cx="212725" cy="52388"/>
              <a:chOff x="2532" y="1051"/>
              <a:chExt cx="893" cy="246"/>
            </a:xfrm>
          </p:grpSpPr>
          <p:grpSp>
            <p:nvGrpSpPr>
              <p:cNvPr id="18477" name="Group 147"/>
              <p:cNvGrpSpPr>
                <a:grpSpLocks/>
              </p:cNvGrpSpPr>
              <p:nvPr/>
            </p:nvGrpSpPr>
            <p:grpSpPr bwMode="auto">
              <a:xfrm>
                <a:off x="2532" y="1051"/>
                <a:ext cx="743" cy="185"/>
                <a:chOff x="1565" y="2568"/>
                <a:chExt cx="1118" cy="279"/>
              </a:xfrm>
            </p:grpSpPr>
            <p:sp>
              <p:nvSpPr>
                <p:cNvPr id="18483" name="AutoShape 148"/>
                <p:cNvSpPr>
                  <a:spLocks noChangeArrowheads="1"/>
                </p:cNvSpPr>
                <p:nvPr/>
              </p:nvSpPr>
              <p:spPr bwMode="ltGray">
                <a:xfrm rot="5263130">
                  <a:off x="1859"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84" name="AutoShape 149"/>
                <p:cNvSpPr>
                  <a:spLocks noChangeArrowheads="1"/>
                </p:cNvSpPr>
                <p:nvPr/>
              </p:nvSpPr>
              <p:spPr bwMode="ltGray">
                <a:xfrm rot="6078281">
                  <a:off x="1995"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85" name="AutoShape 150"/>
                <p:cNvSpPr>
                  <a:spLocks noChangeArrowheads="1"/>
                </p:cNvSpPr>
                <p:nvPr/>
              </p:nvSpPr>
              <p:spPr bwMode="ltGray">
                <a:xfrm rot="6373927">
                  <a:off x="2071" y="229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86" name="AutoShape 151"/>
                <p:cNvSpPr>
                  <a:spLocks noChangeArrowheads="1"/>
                </p:cNvSpPr>
                <p:nvPr/>
              </p:nvSpPr>
              <p:spPr bwMode="ltGray">
                <a:xfrm rot="6906312">
                  <a:off x="2161" y="232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grpSp>
          <p:grpSp>
            <p:nvGrpSpPr>
              <p:cNvPr id="18478" name="Group 152"/>
              <p:cNvGrpSpPr>
                <a:grpSpLocks/>
              </p:cNvGrpSpPr>
              <p:nvPr/>
            </p:nvGrpSpPr>
            <p:grpSpPr bwMode="auto">
              <a:xfrm rot="1353540">
                <a:off x="2682" y="1111"/>
                <a:ext cx="743" cy="186"/>
                <a:chOff x="1565" y="2568"/>
                <a:chExt cx="1118" cy="279"/>
              </a:xfrm>
            </p:grpSpPr>
            <p:sp>
              <p:nvSpPr>
                <p:cNvPr id="18479" name="AutoShape 153"/>
                <p:cNvSpPr>
                  <a:spLocks noChangeArrowheads="1"/>
                </p:cNvSpPr>
                <p:nvPr/>
              </p:nvSpPr>
              <p:spPr bwMode="ltGray">
                <a:xfrm rot="5263130">
                  <a:off x="1859"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80" name="AutoShape 154"/>
                <p:cNvSpPr>
                  <a:spLocks noChangeArrowheads="1"/>
                </p:cNvSpPr>
                <p:nvPr/>
              </p:nvSpPr>
              <p:spPr bwMode="ltGray">
                <a:xfrm rot="6078281">
                  <a:off x="1995"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81" name="AutoShape 155"/>
                <p:cNvSpPr>
                  <a:spLocks noChangeArrowheads="1"/>
                </p:cNvSpPr>
                <p:nvPr/>
              </p:nvSpPr>
              <p:spPr bwMode="ltGray">
                <a:xfrm rot="6373927">
                  <a:off x="2071" y="229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82" name="AutoShape 156"/>
                <p:cNvSpPr>
                  <a:spLocks noChangeArrowheads="1"/>
                </p:cNvSpPr>
                <p:nvPr/>
              </p:nvSpPr>
              <p:spPr bwMode="ltGray">
                <a:xfrm rot="6906312">
                  <a:off x="2161" y="232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grpSp>
        </p:grpSp>
        <p:sp>
          <p:nvSpPr>
            <p:cNvPr id="18476" name="Rectangle 10"/>
            <p:cNvSpPr>
              <a:spLocks noChangeArrowheads="1"/>
            </p:cNvSpPr>
            <p:nvPr/>
          </p:nvSpPr>
          <p:spPr bwMode="auto">
            <a:xfrm>
              <a:off x="1082739" y="2077506"/>
              <a:ext cx="54409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buClr>
                  <a:srgbClr val="5F5F5F"/>
                </a:buClr>
                <a:buFont typeface="Wingdings" panose="05000000000000000000" pitchFamily="2" charset="2"/>
                <a:buNone/>
              </a:pPr>
              <a:r>
                <a:rPr lang="en-US" altLang="zh-CN" sz="2400">
                  <a:latin typeface="黑体" panose="02010609060101010101" pitchFamily="49" charset="-122"/>
                  <a:ea typeface="黑体" panose="02010609060101010101" pitchFamily="49" charset="-122"/>
                </a:rPr>
                <a:t>	</a:t>
              </a:r>
              <a:r>
                <a:rPr lang="zh-CN" altLang="en-US" sz="2400">
                  <a:latin typeface="黑体" panose="02010609060101010101" pitchFamily="49" charset="-122"/>
                  <a:ea typeface="黑体" panose="02010609060101010101" pitchFamily="49" charset="-122"/>
                </a:rPr>
                <a:t>第</a:t>
              </a:r>
              <a:r>
                <a:rPr lang="en-US" altLang="zh-CN" sz="2400">
                  <a:latin typeface="黑体" panose="02010609060101010101" pitchFamily="49" charset="-122"/>
                  <a:ea typeface="黑体" panose="02010609060101010101" pitchFamily="49" charset="-122"/>
                </a:rPr>
                <a:t>1</a:t>
              </a:r>
              <a:r>
                <a:rPr lang="zh-CN" altLang="en-US" sz="2400">
                  <a:latin typeface="黑体" panose="02010609060101010101" pitchFamily="49" charset="-122"/>
                  <a:ea typeface="黑体" panose="02010609060101010101" pitchFamily="49" charset="-122"/>
                </a:rPr>
                <a:t>部分 网络空间安全基本概念</a:t>
              </a:r>
            </a:p>
          </p:txBody>
        </p:sp>
      </p:grpSp>
      <p:grpSp>
        <p:nvGrpSpPr>
          <p:cNvPr id="18438" name="组合 226"/>
          <p:cNvGrpSpPr>
            <a:grpSpLocks/>
          </p:cNvGrpSpPr>
          <p:nvPr/>
        </p:nvGrpSpPr>
        <p:grpSpPr bwMode="auto">
          <a:xfrm>
            <a:off x="971550" y="5308600"/>
            <a:ext cx="6548438" cy="641350"/>
            <a:chOff x="1082739" y="1970999"/>
            <a:chExt cx="6548374" cy="641350"/>
          </a:xfrm>
        </p:grpSpPr>
        <p:grpSp>
          <p:nvGrpSpPr>
            <p:cNvPr id="18439" name="Group 162"/>
            <p:cNvGrpSpPr>
              <a:grpSpLocks/>
            </p:cNvGrpSpPr>
            <p:nvPr/>
          </p:nvGrpSpPr>
          <p:grpSpPr bwMode="auto">
            <a:xfrm rot="-1297425" flipH="1" flipV="1">
              <a:off x="1774825" y="1993223"/>
              <a:ext cx="171450" cy="36513"/>
              <a:chOff x="1565" y="2568"/>
              <a:chExt cx="1118" cy="279"/>
            </a:xfrm>
          </p:grpSpPr>
          <p:sp>
            <p:nvSpPr>
              <p:cNvPr id="18463" name="AutoShape 163"/>
              <p:cNvSpPr>
                <a:spLocks noChangeArrowheads="1"/>
              </p:cNvSpPr>
              <p:nvPr/>
            </p:nvSpPr>
            <p:spPr bwMode="ltGray">
              <a:xfrm rot="5263130">
                <a:off x="1859"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64" name="AutoShape 164"/>
              <p:cNvSpPr>
                <a:spLocks noChangeArrowheads="1"/>
              </p:cNvSpPr>
              <p:nvPr/>
            </p:nvSpPr>
            <p:spPr bwMode="ltGray">
              <a:xfrm rot="6078281">
                <a:off x="1995"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65" name="AutoShape 165"/>
              <p:cNvSpPr>
                <a:spLocks noChangeArrowheads="1"/>
              </p:cNvSpPr>
              <p:nvPr/>
            </p:nvSpPr>
            <p:spPr bwMode="ltGray">
              <a:xfrm rot="6373927">
                <a:off x="2071" y="229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66" name="AutoShape 166"/>
              <p:cNvSpPr>
                <a:spLocks noChangeArrowheads="1"/>
              </p:cNvSpPr>
              <p:nvPr/>
            </p:nvSpPr>
            <p:spPr bwMode="ltGray">
              <a:xfrm rot="6906312">
                <a:off x="2161" y="232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grpSp>
        <p:grpSp>
          <p:nvGrpSpPr>
            <p:cNvPr id="18440" name="Group 167"/>
            <p:cNvGrpSpPr>
              <a:grpSpLocks/>
            </p:cNvGrpSpPr>
            <p:nvPr/>
          </p:nvGrpSpPr>
          <p:grpSpPr bwMode="auto">
            <a:xfrm rot="56115" flipH="1" flipV="1">
              <a:off x="1738313" y="1994811"/>
              <a:ext cx="171450" cy="36512"/>
              <a:chOff x="1565" y="2568"/>
              <a:chExt cx="1118" cy="279"/>
            </a:xfrm>
          </p:grpSpPr>
          <p:sp>
            <p:nvSpPr>
              <p:cNvPr id="18459" name="AutoShape 168"/>
              <p:cNvSpPr>
                <a:spLocks noChangeArrowheads="1"/>
              </p:cNvSpPr>
              <p:nvPr/>
            </p:nvSpPr>
            <p:spPr bwMode="ltGray">
              <a:xfrm rot="5263130">
                <a:off x="1859"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60" name="AutoShape 169"/>
              <p:cNvSpPr>
                <a:spLocks noChangeArrowheads="1"/>
              </p:cNvSpPr>
              <p:nvPr/>
            </p:nvSpPr>
            <p:spPr bwMode="ltGray">
              <a:xfrm rot="6078281">
                <a:off x="1995"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61" name="AutoShape 170"/>
              <p:cNvSpPr>
                <a:spLocks noChangeArrowheads="1"/>
              </p:cNvSpPr>
              <p:nvPr/>
            </p:nvSpPr>
            <p:spPr bwMode="ltGray">
              <a:xfrm rot="6373927">
                <a:off x="2071" y="229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62" name="AutoShape 171"/>
              <p:cNvSpPr>
                <a:spLocks noChangeArrowheads="1"/>
              </p:cNvSpPr>
              <p:nvPr/>
            </p:nvSpPr>
            <p:spPr bwMode="ltGray">
              <a:xfrm rot="6906312">
                <a:off x="2161" y="232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grpSp>
        <p:sp>
          <p:nvSpPr>
            <p:cNvPr id="18441" name="AutoShape 27"/>
            <p:cNvSpPr>
              <a:spLocks noChangeArrowheads="1"/>
            </p:cNvSpPr>
            <p:nvPr/>
          </p:nvSpPr>
          <p:spPr bwMode="gray">
            <a:xfrm>
              <a:off x="1557338" y="1970999"/>
              <a:ext cx="6073775" cy="641350"/>
            </a:xfrm>
            <a:prstGeom prst="roundRect">
              <a:avLst>
                <a:gd name="adj" fmla="val 50000"/>
              </a:avLst>
            </a:prstGeom>
            <a:noFill/>
            <a:ln w="9525" algn="ctr">
              <a:solidFill>
                <a:srgbClr val="5DA3B4"/>
              </a:solidFill>
              <a:round/>
              <a:headEnd/>
              <a:tailEnd/>
            </a:ln>
            <a:effectLst>
              <a:outerShdw dist="40161" dir="4293903" algn="ctr" rotWithShape="0">
                <a:srgbClr val="FFFFCC">
                  <a:alpha val="50000"/>
                </a:srgbClr>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800">
                <a:latin typeface="黑体" panose="02010609060101010101" pitchFamily="49" charset="-122"/>
                <a:ea typeface="黑体" panose="02010609060101010101" pitchFamily="49" charset="-122"/>
              </a:endParaRPr>
            </a:p>
          </p:txBody>
        </p:sp>
        <p:pic>
          <p:nvPicPr>
            <p:cNvPr id="18442" name="Picture 143" descr="circuler_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1770063" y="2186899"/>
              <a:ext cx="242888" cy="23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2" name="Oval 144"/>
            <p:cNvSpPr>
              <a:spLocks noChangeArrowheads="1"/>
            </p:cNvSpPr>
            <p:nvPr/>
          </p:nvSpPr>
          <p:spPr bwMode="ltGray">
            <a:xfrm>
              <a:off x="1770063" y="2186899"/>
              <a:ext cx="238125" cy="233363"/>
            </a:xfrm>
            <a:prstGeom prst="ellipse">
              <a:avLst/>
            </a:prstGeom>
            <a:gradFill rotWithShape="1">
              <a:gsLst>
                <a:gs pos="0">
                  <a:srgbClr val="B2B2B2">
                    <a:gamma/>
                    <a:shade val="0"/>
                    <a:invGamma/>
                    <a:alpha val="89999"/>
                  </a:srgbClr>
                </a:gs>
                <a:gs pos="50000">
                  <a:srgbClr val="B2B2B2">
                    <a:alpha val="45000"/>
                  </a:srgbClr>
                </a:gs>
                <a:gs pos="100000">
                  <a:srgbClr val="B2B2B2">
                    <a:gamma/>
                    <a:shade val="0"/>
                    <a:invGamma/>
                    <a:alpha val="89999"/>
                  </a:srgbClr>
                </a:gs>
              </a:gsLst>
              <a:lin ang="5400000" scaled="1"/>
            </a:gradFill>
            <a:ln w="9525" algn="ctr">
              <a:noFill/>
              <a:round/>
              <a:headEnd/>
              <a:tailEnd/>
            </a:ln>
            <a:effectLst/>
          </p:spPr>
          <p:txBody>
            <a:bodyPr wrap="none" anchor="ctr"/>
            <a:lstStyle/>
            <a:p>
              <a:pPr>
                <a:defRPr/>
              </a:pPr>
              <a:endParaRPr lang="zh-CN" altLang="en-US">
                <a:latin typeface="黑体" panose="02010609060101010101" pitchFamily="49" charset="-122"/>
                <a:ea typeface="黑体" panose="02010609060101010101" pitchFamily="49" charset="-122"/>
              </a:endParaRPr>
            </a:p>
          </p:txBody>
        </p:sp>
        <p:sp>
          <p:nvSpPr>
            <p:cNvPr id="18446" name="Freeform 145"/>
            <p:cNvSpPr>
              <a:spLocks/>
            </p:cNvSpPr>
            <p:nvPr/>
          </p:nvSpPr>
          <p:spPr bwMode="ltGray">
            <a:xfrm>
              <a:off x="1798638" y="2193249"/>
              <a:ext cx="190500" cy="79375"/>
            </a:xfrm>
            <a:custGeom>
              <a:avLst/>
              <a:gdLst>
                <a:gd name="T0" fmla="*/ 0 w 1321"/>
                <a:gd name="T1" fmla="*/ 0 h 712"/>
                <a:gd name="T2" fmla="*/ 0 w 1321"/>
                <a:gd name="T3" fmla="*/ 0 h 712"/>
                <a:gd name="T4" fmla="*/ 0 w 1321"/>
                <a:gd name="T5" fmla="*/ 0 h 712"/>
                <a:gd name="T6" fmla="*/ 0 w 1321"/>
                <a:gd name="T7" fmla="*/ 0 h 712"/>
                <a:gd name="T8" fmla="*/ 0 w 1321"/>
                <a:gd name="T9" fmla="*/ 0 h 712"/>
                <a:gd name="T10" fmla="*/ 0 w 1321"/>
                <a:gd name="T11" fmla="*/ 0 h 712"/>
                <a:gd name="T12" fmla="*/ 0 w 1321"/>
                <a:gd name="T13" fmla="*/ 0 h 712"/>
                <a:gd name="T14" fmla="*/ 0 w 1321"/>
                <a:gd name="T15" fmla="*/ 0 h 712"/>
                <a:gd name="T16" fmla="*/ 0 w 1321"/>
                <a:gd name="T17" fmla="*/ 0 h 712"/>
                <a:gd name="T18" fmla="*/ 0 w 1321"/>
                <a:gd name="T19" fmla="*/ 0 h 712"/>
                <a:gd name="T20" fmla="*/ 0 w 1321"/>
                <a:gd name="T21" fmla="*/ 0 h 712"/>
                <a:gd name="T22" fmla="*/ 0 w 1321"/>
                <a:gd name="T23" fmla="*/ 0 h 712"/>
                <a:gd name="T24" fmla="*/ 0 w 1321"/>
                <a:gd name="T25" fmla="*/ 0 h 712"/>
                <a:gd name="T26" fmla="*/ 0 w 1321"/>
                <a:gd name="T27" fmla="*/ 0 h 712"/>
                <a:gd name="T28" fmla="*/ 0 w 1321"/>
                <a:gd name="T29" fmla="*/ 0 h 712"/>
                <a:gd name="T30" fmla="*/ 0 w 1321"/>
                <a:gd name="T31" fmla="*/ 0 h 712"/>
                <a:gd name="T32" fmla="*/ 0 w 1321"/>
                <a:gd name="T33" fmla="*/ 0 h 712"/>
                <a:gd name="T34" fmla="*/ 0 w 1321"/>
                <a:gd name="T35" fmla="*/ 0 h 712"/>
                <a:gd name="T36" fmla="*/ 0 w 1321"/>
                <a:gd name="T37" fmla="*/ 0 h 712"/>
                <a:gd name="T38" fmla="*/ 0 w 1321"/>
                <a:gd name="T39" fmla="*/ 0 h 712"/>
                <a:gd name="T40" fmla="*/ 0 w 1321"/>
                <a:gd name="T41" fmla="*/ 0 h 712"/>
                <a:gd name="T42" fmla="*/ 0 w 1321"/>
                <a:gd name="T43" fmla="*/ 0 h 712"/>
                <a:gd name="T44" fmla="*/ 0 w 1321"/>
                <a:gd name="T45" fmla="*/ 0 h 712"/>
                <a:gd name="T46" fmla="*/ 0 w 1321"/>
                <a:gd name="T47" fmla="*/ 0 h 712"/>
                <a:gd name="T48" fmla="*/ 0 w 1321"/>
                <a:gd name="T49" fmla="*/ 0 h 712"/>
                <a:gd name="T50" fmla="*/ 0 w 1321"/>
                <a:gd name="T51" fmla="*/ 0 h 712"/>
                <a:gd name="T52" fmla="*/ 0 w 1321"/>
                <a:gd name="T53" fmla="*/ 0 h 712"/>
                <a:gd name="T54" fmla="*/ 0 w 1321"/>
                <a:gd name="T55" fmla="*/ 0 h 712"/>
                <a:gd name="T56" fmla="*/ 0 w 1321"/>
                <a:gd name="T57" fmla="*/ 0 h 712"/>
                <a:gd name="T58" fmla="*/ 0 w 1321"/>
                <a:gd name="T59" fmla="*/ 0 h 712"/>
                <a:gd name="T60" fmla="*/ 0 w 1321"/>
                <a:gd name="T61" fmla="*/ 0 h 712"/>
                <a:gd name="T62" fmla="*/ 0 w 1321"/>
                <a:gd name="T63" fmla="*/ 0 h 712"/>
                <a:gd name="T64" fmla="*/ 0 w 1321"/>
                <a:gd name="T65" fmla="*/ 0 h 712"/>
                <a:gd name="T66" fmla="*/ 0 w 1321"/>
                <a:gd name="T67" fmla="*/ 0 h 712"/>
                <a:gd name="T68" fmla="*/ 0 w 1321"/>
                <a:gd name="T69" fmla="*/ 0 h 712"/>
                <a:gd name="T70" fmla="*/ 0 w 1321"/>
                <a:gd name="T71" fmla="*/ 0 h 712"/>
                <a:gd name="T72" fmla="*/ 0 w 1321"/>
                <a:gd name="T73" fmla="*/ 0 h 712"/>
                <a:gd name="T74" fmla="*/ 0 w 1321"/>
                <a:gd name="T75" fmla="*/ 0 h 712"/>
                <a:gd name="T76" fmla="*/ 0 w 1321"/>
                <a:gd name="T77" fmla="*/ 0 h 712"/>
                <a:gd name="T78" fmla="*/ 0 w 1321"/>
                <a:gd name="T79" fmla="*/ 0 h 712"/>
                <a:gd name="T80" fmla="*/ 0 w 1321"/>
                <a:gd name="T81" fmla="*/ 0 h 712"/>
                <a:gd name="T82" fmla="*/ 0 w 1321"/>
                <a:gd name="T83" fmla="*/ 0 h 712"/>
                <a:gd name="T84" fmla="*/ 0 w 1321"/>
                <a:gd name="T85" fmla="*/ 0 h 712"/>
                <a:gd name="T86" fmla="*/ 0 w 1321"/>
                <a:gd name="T87" fmla="*/ 0 h 712"/>
                <a:gd name="T88" fmla="*/ 0 w 1321"/>
                <a:gd name="T89" fmla="*/ 0 h 712"/>
                <a:gd name="T90" fmla="*/ 0 w 1321"/>
                <a:gd name="T91" fmla="*/ 0 h 712"/>
                <a:gd name="T92" fmla="*/ 0 w 1321"/>
                <a:gd name="T93" fmla="*/ 0 h 712"/>
                <a:gd name="T94" fmla="*/ 0 w 1321"/>
                <a:gd name="T95" fmla="*/ 0 h 712"/>
                <a:gd name="T96" fmla="*/ 0 w 1321"/>
                <a:gd name="T97" fmla="*/ 0 h 712"/>
                <a:gd name="T98" fmla="*/ 0 w 1321"/>
                <a:gd name="T99" fmla="*/ 0 h 712"/>
                <a:gd name="T100" fmla="*/ 0 w 1321"/>
                <a:gd name="T101" fmla="*/ 0 h 712"/>
                <a:gd name="T102" fmla="*/ 0 w 1321"/>
                <a:gd name="T103" fmla="*/ 0 h 712"/>
                <a:gd name="T104" fmla="*/ 0 w 1321"/>
                <a:gd name="T105" fmla="*/ 0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chemeClr val="bg1"/>
                </a:gs>
                <a:gs pos="100000">
                  <a:srgbClr val="B2B2B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grpSp>
          <p:nvGrpSpPr>
            <p:cNvPr id="18447" name="Group 146"/>
            <p:cNvGrpSpPr>
              <a:grpSpLocks/>
            </p:cNvGrpSpPr>
            <p:nvPr/>
          </p:nvGrpSpPr>
          <p:grpSpPr bwMode="auto">
            <a:xfrm rot="-1297425" flipH="1" flipV="1">
              <a:off x="1792288" y="2371049"/>
              <a:ext cx="212725" cy="52388"/>
              <a:chOff x="2532" y="1051"/>
              <a:chExt cx="893" cy="246"/>
            </a:xfrm>
          </p:grpSpPr>
          <p:grpSp>
            <p:nvGrpSpPr>
              <p:cNvPr id="18449" name="Group 147"/>
              <p:cNvGrpSpPr>
                <a:grpSpLocks/>
              </p:cNvGrpSpPr>
              <p:nvPr/>
            </p:nvGrpSpPr>
            <p:grpSpPr bwMode="auto">
              <a:xfrm>
                <a:off x="2532" y="1051"/>
                <a:ext cx="743" cy="185"/>
                <a:chOff x="1565" y="2568"/>
                <a:chExt cx="1118" cy="279"/>
              </a:xfrm>
            </p:grpSpPr>
            <p:sp>
              <p:nvSpPr>
                <p:cNvPr id="18455" name="AutoShape 148"/>
                <p:cNvSpPr>
                  <a:spLocks noChangeArrowheads="1"/>
                </p:cNvSpPr>
                <p:nvPr/>
              </p:nvSpPr>
              <p:spPr bwMode="ltGray">
                <a:xfrm rot="5263130">
                  <a:off x="1859"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56" name="AutoShape 149"/>
                <p:cNvSpPr>
                  <a:spLocks noChangeArrowheads="1"/>
                </p:cNvSpPr>
                <p:nvPr/>
              </p:nvSpPr>
              <p:spPr bwMode="ltGray">
                <a:xfrm rot="6078281">
                  <a:off x="1995"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57" name="AutoShape 150"/>
                <p:cNvSpPr>
                  <a:spLocks noChangeArrowheads="1"/>
                </p:cNvSpPr>
                <p:nvPr/>
              </p:nvSpPr>
              <p:spPr bwMode="ltGray">
                <a:xfrm rot="6373927">
                  <a:off x="2071" y="229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58" name="AutoShape 151"/>
                <p:cNvSpPr>
                  <a:spLocks noChangeArrowheads="1"/>
                </p:cNvSpPr>
                <p:nvPr/>
              </p:nvSpPr>
              <p:spPr bwMode="ltGray">
                <a:xfrm rot="6906312">
                  <a:off x="2161" y="232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grpSp>
          <p:grpSp>
            <p:nvGrpSpPr>
              <p:cNvPr id="18450" name="Group 152"/>
              <p:cNvGrpSpPr>
                <a:grpSpLocks/>
              </p:cNvGrpSpPr>
              <p:nvPr/>
            </p:nvGrpSpPr>
            <p:grpSpPr bwMode="auto">
              <a:xfrm rot="1353540">
                <a:off x="2682" y="1111"/>
                <a:ext cx="743" cy="186"/>
                <a:chOff x="1565" y="2568"/>
                <a:chExt cx="1118" cy="279"/>
              </a:xfrm>
            </p:grpSpPr>
            <p:sp>
              <p:nvSpPr>
                <p:cNvPr id="18451" name="AutoShape 153"/>
                <p:cNvSpPr>
                  <a:spLocks noChangeArrowheads="1"/>
                </p:cNvSpPr>
                <p:nvPr/>
              </p:nvSpPr>
              <p:spPr bwMode="ltGray">
                <a:xfrm rot="5263130">
                  <a:off x="1859"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52" name="AutoShape 154"/>
                <p:cNvSpPr>
                  <a:spLocks noChangeArrowheads="1"/>
                </p:cNvSpPr>
                <p:nvPr/>
              </p:nvSpPr>
              <p:spPr bwMode="ltGray">
                <a:xfrm rot="6078281">
                  <a:off x="1995"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53" name="AutoShape 155"/>
                <p:cNvSpPr>
                  <a:spLocks noChangeArrowheads="1"/>
                </p:cNvSpPr>
                <p:nvPr/>
              </p:nvSpPr>
              <p:spPr bwMode="ltGray">
                <a:xfrm rot="6373927">
                  <a:off x="2071" y="229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sp>
              <p:nvSpPr>
                <p:cNvPr id="18454" name="AutoShape 156"/>
                <p:cNvSpPr>
                  <a:spLocks noChangeArrowheads="1"/>
                </p:cNvSpPr>
                <p:nvPr/>
              </p:nvSpPr>
              <p:spPr bwMode="ltGray">
                <a:xfrm rot="6906312">
                  <a:off x="2161" y="232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endParaRPr lang="zh-CN" altLang="en-US" sz="2000">
                    <a:solidFill>
                      <a:schemeClr val="bg1"/>
                    </a:solidFill>
                    <a:latin typeface="黑体" panose="02010609060101010101" pitchFamily="49" charset="-122"/>
                    <a:ea typeface="黑体" panose="02010609060101010101" pitchFamily="49" charset="-122"/>
                  </a:endParaRPr>
                </a:p>
              </p:txBody>
            </p:sp>
          </p:grpSp>
        </p:grpSp>
        <p:sp>
          <p:nvSpPr>
            <p:cNvPr id="18448" name="Rectangle 10"/>
            <p:cNvSpPr>
              <a:spLocks noChangeArrowheads="1"/>
            </p:cNvSpPr>
            <p:nvPr/>
          </p:nvSpPr>
          <p:spPr bwMode="auto">
            <a:xfrm>
              <a:off x="1082739" y="2077506"/>
              <a:ext cx="4822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buClr>
                  <a:srgbClr val="5F5F5F"/>
                </a:buClr>
              </a:pPr>
              <a:r>
                <a:rPr lang="en-US" altLang="zh-CN" sz="2400" dirty="0">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第</a:t>
              </a:r>
              <a:r>
                <a:rPr lang="en-US" altLang="zh-CN" sz="2400" dirty="0">
                  <a:latin typeface="黑体" panose="02010609060101010101" pitchFamily="49" charset="-122"/>
                  <a:ea typeface="黑体" panose="02010609060101010101" pitchFamily="49" charset="-122"/>
                </a:rPr>
                <a:t>4</a:t>
              </a:r>
              <a:r>
                <a:rPr lang="zh-CN" altLang="en-US" sz="2400" dirty="0">
                  <a:latin typeface="黑体" panose="02010609060101010101" pitchFamily="49" charset="-122"/>
                  <a:ea typeface="黑体" panose="02010609060101010101" pitchFamily="49" charset="-122"/>
                </a:rPr>
                <a:t>部分 人工智能安全现状</a:t>
              </a:r>
            </a:p>
          </p:txBody>
        </p:sp>
      </p:gr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5"/>
          <p:cNvSpPr>
            <a:spLocks noChangeArrowheads="1"/>
          </p:cNvSpPr>
          <p:nvPr/>
        </p:nvSpPr>
        <p:spPr bwMode="auto">
          <a:xfrm>
            <a:off x="520700" y="2633663"/>
            <a:ext cx="8270875" cy="111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lgn="ctr">
              <a:lnSpc>
                <a:spcPct val="115000"/>
              </a:lnSpc>
              <a:spcBef>
                <a:spcPct val="0"/>
              </a:spcBef>
              <a:buClr>
                <a:schemeClr val="tx2"/>
              </a:buClr>
            </a:pPr>
            <a:r>
              <a:rPr lang="zh-CN" altLang="en-US" sz="4400">
                <a:solidFill>
                  <a:srgbClr val="4675CA"/>
                </a:solidFill>
                <a:latin typeface="黑体" panose="02010609060101010101" pitchFamily="49" charset="-122"/>
                <a:ea typeface="黑体" panose="02010609060101010101" pitchFamily="49" charset="-122"/>
              </a:rPr>
              <a:t>第</a:t>
            </a:r>
            <a:r>
              <a:rPr lang="en-US" altLang="zh-CN" sz="4400">
                <a:solidFill>
                  <a:srgbClr val="4675CA"/>
                </a:solidFill>
                <a:latin typeface="黑体" panose="02010609060101010101" pitchFamily="49" charset="-122"/>
                <a:ea typeface="黑体" panose="02010609060101010101" pitchFamily="49" charset="-122"/>
              </a:rPr>
              <a:t>1</a:t>
            </a:r>
            <a:r>
              <a:rPr lang="zh-CN" altLang="en-US" sz="4400">
                <a:solidFill>
                  <a:srgbClr val="4675CA"/>
                </a:solidFill>
                <a:latin typeface="黑体" panose="02010609060101010101" pitchFamily="49" charset="-122"/>
                <a:ea typeface="黑体" panose="02010609060101010101" pitchFamily="49" charset="-122"/>
              </a:rPr>
              <a:t>部分 网络空间安全基本概念</a:t>
            </a:r>
            <a:endParaRPr lang="en-US" altLang="zh-CN" sz="4400">
              <a:solidFill>
                <a:srgbClr val="4675CA"/>
              </a:solidFill>
              <a:latin typeface="黑体" panose="02010609060101010101" pitchFamily="49" charset="-122"/>
              <a:ea typeface="黑体" panose="02010609060101010101" pitchFamily="49" charset="-122"/>
            </a:endParaRPr>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3214687" y="59603"/>
            <a:ext cx="4297363"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dirty="0">
                <a:latin typeface="黑体" panose="02010609060101010101" pitchFamily="49" charset="-122"/>
                <a:ea typeface="黑体" panose="02010609060101010101" pitchFamily="49" charset="-122"/>
              </a:rPr>
              <a:t>网络空间安全定义</a:t>
            </a:r>
            <a:endParaRPr lang="en-US" altLang="zh-CN" sz="2800" dirty="0">
              <a:latin typeface="黑体" panose="02010609060101010101" pitchFamily="49" charset="-122"/>
              <a:ea typeface="黑体" panose="02010609060101010101" pitchFamily="49" charset="-122"/>
            </a:endParaRPr>
          </a:p>
        </p:txBody>
      </p:sp>
      <p:graphicFrame>
        <p:nvGraphicFramePr>
          <p:cNvPr id="27" name="Diagram 2"/>
          <p:cNvGraphicFramePr/>
          <p:nvPr/>
        </p:nvGraphicFramePr>
        <p:xfrm>
          <a:off x="1063580" y="980728"/>
          <a:ext cx="7236296" cy="55330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1508" name="图片 1"/>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062663" y="1423988"/>
            <a:ext cx="2898775" cy="193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图片 2"/>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41288" y="4713288"/>
            <a:ext cx="2416175"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0" name="矩形 3"/>
          <p:cNvSpPr>
            <a:spLocks noChangeArrowheads="1"/>
          </p:cNvSpPr>
          <p:nvPr/>
        </p:nvSpPr>
        <p:spPr bwMode="auto">
          <a:xfrm>
            <a:off x="401638" y="1423988"/>
            <a:ext cx="5106987"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400">
                <a:solidFill>
                  <a:srgbClr val="FF0000"/>
                </a:solidFill>
                <a:latin typeface="Times New Roman" panose="02020603050405020304" pitchFamily="18" charset="0"/>
              </a:rPr>
              <a:t>网络空间</a:t>
            </a:r>
            <a:r>
              <a:rPr lang="zh-CN" altLang="en-US" sz="2400">
                <a:latin typeface="Times New Roman" panose="02020603050405020304" pitchFamily="18" charset="0"/>
              </a:rPr>
              <a:t>是人运用信息通讯系统进行交互的空间，其中信息技术通讯系统包括各类互联网、电信网、广电网、物联网、在线社交网络、计算系统、通信系统、控制系统等，电子或数字信息处理设施等等。</a:t>
            </a:r>
            <a:r>
              <a:rPr lang="zh-CN" altLang="en-US" sz="2400">
                <a:solidFill>
                  <a:srgbClr val="FF0000"/>
                </a:solidFill>
                <a:latin typeface="Times New Roman" panose="02020603050405020304" pitchFamily="18" charset="0"/>
              </a:rPr>
              <a:t>人间交互</a:t>
            </a:r>
            <a:r>
              <a:rPr lang="zh-CN" altLang="en-US" sz="2400">
                <a:latin typeface="Times New Roman" panose="02020603050405020304" pitchFamily="18" charset="0"/>
              </a:rPr>
              <a:t>指信息通信技术活动。</a:t>
            </a:r>
            <a:endParaRPr lang="en-US" altLang="en-US" sz="2400">
              <a:latin typeface="Times New Roman" panose="02020603050405020304" pitchFamily="18" charset="0"/>
            </a:endParaRPr>
          </a:p>
        </p:txBody>
      </p:sp>
      <p:sp>
        <p:nvSpPr>
          <p:cNvPr id="21511" name="矩形 5"/>
          <p:cNvSpPr>
            <a:spLocks noChangeArrowheads="1"/>
          </p:cNvSpPr>
          <p:nvPr/>
        </p:nvSpPr>
        <p:spPr bwMode="auto">
          <a:xfrm>
            <a:off x="2916238" y="4545013"/>
            <a:ext cx="5903912"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400">
                <a:solidFill>
                  <a:srgbClr val="FF0000"/>
                </a:solidFill>
                <a:latin typeface="Times New Roman" panose="02020603050405020304" pitchFamily="18" charset="0"/>
              </a:rPr>
              <a:t>网络空间安全</a:t>
            </a:r>
            <a:r>
              <a:rPr lang="zh-CN" altLang="en-US" sz="2400">
                <a:latin typeface="Times New Roman" panose="02020603050405020304" pitchFamily="18" charset="0"/>
              </a:rPr>
              <a:t>涉及到在网络空间中的电子设备、电子信息系统、运行数据、系统应用中存在的安全问题，分别对应这个四个层面：</a:t>
            </a:r>
            <a:r>
              <a:rPr lang="zh-CN" altLang="en-US" sz="2400">
                <a:solidFill>
                  <a:srgbClr val="FF0000"/>
                </a:solidFill>
                <a:latin typeface="Times New Roman" panose="02020603050405020304" pitchFamily="18" charset="0"/>
              </a:rPr>
              <a:t>设备</a:t>
            </a:r>
            <a:r>
              <a:rPr lang="zh-CN" altLang="en-US" sz="2400">
                <a:latin typeface="Times New Roman" panose="02020603050405020304" pitchFamily="18" charset="0"/>
              </a:rPr>
              <a:t>、</a:t>
            </a:r>
            <a:r>
              <a:rPr lang="zh-CN" altLang="en-US" sz="2400">
                <a:solidFill>
                  <a:srgbClr val="FF0000"/>
                </a:solidFill>
                <a:latin typeface="Times New Roman" panose="02020603050405020304" pitchFamily="18" charset="0"/>
              </a:rPr>
              <a:t>系统</a:t>
            </a:r>
            <a:r>
              <a:rPr lang="zh-CN" altLang="en-US" sz="2400">
                <a:latin typeface="Times New Roman" panose="02020603050405020304" pitchFamily="18" charset="0"/>
              </a:rPr>
              <a:t>、</a:t>
            </a:r>
            <a:r>
              <a:rPr lang="zh-CN" altLang="en-US" sz="2400">
                <a:solidFill>
                  <a:srgbClr val="FF0000"/>
                </a:solidFill>
                <a:latin typeface="Times New Roman" panose="02020603050405020304" pitchFamily="18" charset="0"/>
              </a:rPr>
              <a:t>数据</a:t>
            </a:r>
            <a:r>
              <a:rPr lang="zh-CN" altLang="en-US" sz="2400">
                <a:latin typeface="Times New Roman" panose="02020603050405020304" pitchFamily="18" charset="0"/>
              </a:rPr>
              <a:t>、</a:t>
            </a:r>
            <a:r>
              <a:rPr lang="zh-CN" altLang="en-US" sz="2400">
                <a:solidFill>
                  <a:srgbClr val="FF0000"/>
                </a:solidFill>
                <a:latin typeface="Times New Roman" panose="02020603050405020304" pitchFamily="18" charset="0"/>
              </a:rPr>
              <a:t>应用</a:t>
            </a:r>
            <a:r>
              <a:rPr lang="zh-CN" altLang="en-US" sz="2400">
                <a:latin typeface="Times New Roman" panose="02020603050405020304" pitchFamily="18" charset="0"/>
              </a:rPr>
              <a:t>。</a:t>
            </a:r>
            <a:endParaRPr lang="en-US" altLang="en-US" sz="2400">
              <a:latin typeface="Times New Roman" panose="02020603050405020304" pitchFamily="18"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7"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3131840" y="115887"/>
            <a:ext cx="4297363"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dirty="0">
                <a:latin typeface="黑体" panose="02010609060101010101" pitchFamily="49" charset="-122"/>
                <a:ea typeface="黑体" panose="02010609060101010101" pitchFamily="49" charset="-122"/>
              </a:rPr>
              <a:t>网络空间安全整体目标</a:t>
            </a:r>
            <a:endParaRPr lang="en-US" altLang="zh-CN" sz="2800" dirty="0">
              <a:latin typeface="黑体" panose="02010609060101010101" pitchFamily="49" charset="-122"/>
              <a:ea typeface="黑体" panose="02010609060101010101" pitchFamily="49" charset="-122"/>
            </a:endParaRPr>
          </a:p>
        </p:txBody>
      </p:sp>
      <p:sp>
        <p:nvSpPr>
          <p:cNvPr id="22531" name="矩形 2"/>
          <p:cNvSpPr>
            <a:spLocks noChangeArrowheads="1"/>
          </p:cNvSpPr>
          <p:nvPr/>
        </p:nvSpPr>
        <p:spPr bwMode="auto">
          <a:xfrm>
            <a:off x="409575" y="1268413"/>
            <a:ext cx="86264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400">
                <a:solidFill>
                  <a:srgbClr val="0070C0"/>
                </a:solidFill>
                <a:latin typeface="微软雅黑" panose="020B0503020204020204" pitchFamily="34" charset="-122"/>
                <a:ea typeface="微软雅黑" panose="020B0503020204020204" pitchFamily="34" charset="-122"/>
              </a:rPr>
              <a:t>第一、防治、保护、处置包括互联网、电信网、广电网、物联网、工控网、在线社交网络、计算系统、通信系统、控制系统在内的各种通信系统及其承载的数据不受损害。</a:t>
            </a:r>
            <a:endParaRPr lang="en-US" altLang="en-US" sz="2400">
              <a:solidFill>
                <a:srgbClr val="0070C0"/>
              </a:solidFill>
              <a:latin typeface="Times New Roman" panose="02020603050405020304" pitchFamily="18" charset="0"/>
            </a:endParaRPr>
          </a:p>
        </p:txBody>
      </p:sp>
      <p:sp>
        <p:nvSpPr>
          <p:cNvPr id="22532" name="矩形 3"/>
          <p:cNvSpPr>
            <a:spLocks noChangeArrowheads="1"/>
          </p:cNvSpPr>
          <p:nvPr/>
        </p:nvSpPr>
        <p:spPr bwMode="auto">
          <a:xfrm>
            <a:off x="395288" y="3138488"/>
            <a:ext cx="84978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400">
                <a:solidFill>
                  <a:srgbClr val="0000FF"/>
                </a:solidFill>
                <a:latin typeface="微软雅黑" panose="020B0503020204020204" pitchFamily="34" charset="-122"/>
                <a:ea typeface="微软雅黑" panose="020B0503020204020204" pitchFamily="34" charset="-122"/>
              </a:rPr>
              <a:t>第二、防止对这些信息通信技术系统的滥用所引发的政治安全、经济安全、文化安全、国防安全。一个是保护系统本身，另外是防止利用信息系统带来了别的安全问题。</a:t>
            </a:r>
            <a:endParaRPr lang="en-US" altLang="en-US" sz="2400">
              <a:solidFill>
                <a:srgbClr val="0000FF"/>
              </a:solidFill>
              <a:latin typeface="Times New Roman" panose="02020603050405020304" pitchFamily="18" charset="0"/>
            </a:endParaRPr>
          </a:p>
        </p:txBody>
      </p:sp>
      <p:sp>
        <p:nvSpPr>
          <p:cNvPr id="22533" name="矩形 4"/>
          <p:cNvSpPr>
            <a:spLocks noChangeArrowheads="1"/>
          </p:cNvSpPr>
          <p:nvPr/>
        </p:nvSpPr>
        <p:spPr bwMode="auto">
          <a:xfrm>
            <a:off x="4152900" y="4826000"/>
            <a:ext cx="4572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000" dirty="0">
                <a:solidFill>
                  <a:srgbClr val="FF0000"/>
                </a:solidFill>
                <a:latin typeface="微软雅黑" panose="020B0503020204020204" pitchFamily="34" charset="-122"/>
                <a:ea typeface="微软雅黑" panose="020B0503020204020204" pitchFamily="34" charset="-122"/>
              </a:rPr>
              <a:t>所以要采取法律、管理、技术、自律等综合手段来应对，而不是像过去说信息安全主要是技术手段。</a:t>
            </a:r>
            <a:endParaRPr lang="en-US" altLang="en-US" sz="2000" dirty="0">
              <a:solidFill>
                <a:srgbClr val="FF0000"/>
              </a:solidFill>
              <a:latin typeface="Times New Roman" panose="02020603050405020304" pitchFamily="18" charset="0"/>
            </a:endParaRPr>
          </a:p>
        </p:txBody>
      </p:sp>
      <p:pic>
        <p:nvPicPr>
          <p:cNvPr id="22534" name="图片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9100" y="4941888"/>
            <a:ext cx="319722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5"/>
          <p:cNvSpPr>
            <a:spLocks noChangeArrowheads="1"/>
          </p:cNvSpPr>
          <p:nvPr/>
        </p:nvSpPr>
        <p:spPr bwMode="auto">
          <a:xfrm>
            <a:off x="520700" y="2633663"/>
            <a:ext cx="8270875" cy="111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lgn="ctr">
              <a:lnSpc>
                <a:spcPct val="115000"/>
              </a:lnSpc>
              <a:spcBef>
                <a:spcPct val="0"/>
              </a:spcBef>
              <a:buClr>
                <a:schemeClr val="tx2"/>
              </a:buClr>
            </a:pPr>
            <a:r>
              <a:rPr lang="zh-CN" altLang="en-US" sz="4800">
                <a:solidFill>
                  <a:srgbClr val="4675CA"/>
                </a:solidFill>
                <a:latin typeface="黑体" panose="02010609060101010101" pitchFamily="49" charset="-122"/>
                <a:ea typeface="黑体" panose="02010609060101010101" pitchFamily="49" charset="-122"/>
              </a:rPr>
              <a:t>第</a:t>
            </a:r>
            <a:r>
              <a:rPr lang="en-US" altLang="zh-CN" sz="4800">
                <a:solidFill>
                  <a:srgbClr val="4675CA"/>
                </a:solidFill>
                <a:latin typeface="黑体" panose="02010609060101010101" pitchFamily="49" charset="-122"/>
                <a:ea typeface="黑体" panose="02010609060101010101" pitchFamily="49" charset="-122"/>
              </a:rPr>
              <a:t>2</a:t>
            </a:r>
            <a:r>
              <a:rPr lang="zh-CN" altLang="en-US" sz="4800">
                <a:solidFill>
                  <a:srgbClr val="4675CA"/>
                </a:solidFill>
                <a:latin typeface="黑体" panose="02010609060101010101" pitchFamily="49" charset="-122"/>
                <a:ea typeface="黑体" panose="02010609060101010101" pitchFamily="49" charset="-122"/>
              </a:rPr>
              <a:t>部分 网络空间安全现状</a:t>
            </a:r>
            <a:endParaRPr lang="en-US" altLang="zh-CN" sz="4800">
              <a:solidFill>
                <a:srgbClr val="4675CA"/>
              </a:solidFill>
              <a:latin typeface="黑体" panose="02010609060101010101" pitchFamily="49" charset="-122"/>
              <a:ea typeface="黑体" panose="02010609060101010101" pitchFamily="49" charset="-122"/>
            </a:endParaRPr>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图片 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3900" y="2195009"/>
            <a:ext cx="7696200"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Rectangle 2"/>
          <p:cNvSpPr>
            <a:spLocks noChangeArrowheads="1"/>
          </p:cNvSpPr>
          <p:nvPr/>
        </p:nvSpPr>
        <p:spPr bwMode="auto">
          <a:xfrm>
            <a:off x="2647420" y="123031"/>
            <a:ext cx="6564313"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dirty="0">
                <a:latin typeface="黑体" panose="02010609060101010101" pitchFamily="49" charset="-122"/>
                <a:ea typeface="黑体" panose="02010609060101010101" pitchFamily="49" charset="-122"/>
              </a:rPr>
              <a:t>关键基础设施安全事件增多</a:t>
            </a:r>
            <a:endParaRPr lang="en-US" altLang="zh-CN" sz="2800" dirty="0">
              <a:latin typeface="黑体" panose="02010609060101010101" pitchFamily="49" charset="-122"/>
              <a:ea typeface="黑体" panose="02010609060101010101" pitchFamily="49" charset="-122"/>
            </a:endParaRPr>
          </a:p>
        </p:txBody>
      </p:sp>
      <p:sp>
        <p:nvSpPr>
          <p:cNvPr id="24580" name="矩形 6"/>
          <p:cNvSpPr>
            <a:spLocks noChangeArrowheads="1"/>
          </p:cNvSpPr>
          <p:nvPr/>
        </p:nvSpPr>
        <p:spPr bwMode="auto">
          <a:xfrm>
            <a:off x="409575" y="1268413"/>
            <a:ext cx="8734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400" dirty="0">
                <a:solidFill>
                  <a:srgbClr val="0000FF"/>
                </a:solidFill>
                <a:latin typeface="微软雅黑" panose="020B0503020204020204" pitchFamily="34" charset="-122"/>
                <a:ea typeface="微软雅黑" panose="020B0503020204020204" pitchFamily="34" charset="-122"/>
              </a:rPr>
              <a:t>工控网络、专用网络、军用网络等等均面临各类</a:t>
            </a:r>
            <a:r>
              <a:rPr lang="en-US" altLang="zh-CN" sz="2400" dirty="0">
                <a:solidFill>
                  <a:srgbClr val="0000FF"/>
                </a:solidFill>
                <a:latin typeface="微软雅黑" panose="020B0503020204020204" pitchFamily="34" charset="-122"/>
                <a:ea typeface="微软雅黑" panose="020B0503020204020204" pitchFamily="34" charset="-122"/>
              </a:rPr>
              <a:t>APT</a:t>
            </a:r>
            <a:r>
              <a:rPr lang="zh-CN" altLang="en-US" sz="2400" dirty="0">
                <a:solidFill>
                  <a:srgbClr val="0000FF"/>
                </a:solidFill>
                <a:latin typeface="微软雅黑" panose="020B0503020204020204" pitchFamily="34" charset="-122"/>
                <a:ea typeface="微软雅黑" panose="020B0503020204020204" pitchFamily="34" charset="-122"/>
              </a:rPr>
              <a:t>攻击威胁</a:t>
            </a:r>
            <a:endParaRPr lang="en-US" altLang="en-US" sz="2400" dirty="0">
              <a:solidFill>
                <a:srgbClr val="0070C0"/>
              </a:solidFill>
              <a:latin typeface="Times New Roman" panose="02020603050405020304" pitchFamily="18" charset="0"/>
            </a:endParaRPr>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2859880" y="87312"/>
            <a:ext cx="6564313"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dirty="0">
                <a:latin typeface="黑体" panose="02010609060101010101" pitchFamily="49" charset="-122"/>
                <a:ea typeface="黑体" panose="02010609060101010101" pitchFamily="49" charset="-122"/>
              </a:rPr>
              <a:t>互联网安全不容乐观</a:t>
            </a:r>
            <a:endParaRPr lang="en-US" altLang="zh-CN" sz="2800" dirty="0">
              <a:latin typeface="黑体" panose="02010609060101010101" pitchFamily="49" charset="-122"/>
              <a:ea typeface="黑体" panose="02010609060101010101" pitchFamily="49" charset="-122"/>
            </a:endParaRPr>
          </a:p>
        </p:txBody>
      </p:sp>
      <p:sp>
        <p:nvSpPr>
          <p:cNvPr id="26627" name="矩形 2"/>
          <p:cNvSpPr>
            <a:spLocks noChangeArrowheads="1"/>
          </p:cNvSpPr>
          <p:nvPr/>
        </p:nvSpPr>
        <p:spPr bwMode="auto">
          <a:xfrm>
            <a:off x="409575" y="1268413"/>
            <a:ext cx="8734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400">
                <a:solidFill>
                  <a:srgbClr val="0000FF"/>
                </a:solidFill>
                <a:latin typeface="微软雅黑" panose="020B0503020204020204" pitchFamily="34" charset="-122"/>
                <a:ea typeface="微软雅黑" panose="020B0503020204020204" pitchFamily="34" charset="-122"/>
              </a:rPr>
              <a:t>传统安全威胁持续</a:t>
            </a:r>
            <a:endParaRPr lang="en-US" altLang="en-US" sz="2400">
              <a:solidFill>
                <a:srgbClr val="0070C0"/>
              </a:solidFill>
              <a:latin typeface="Times New Roman" panose="02020603050405020304" pitchFamily="18" charset="0"/>
            </a:endParaRPr>
          </a:p>
        </p:txBody>
      </p:sp>
      <p:sp>
        <p:nvSpPr>
          <p:cNvPr id="26628" name="矩形 3"/>
          <p:cNvSpPr>
            <a:spLocks noChangeArrowheads="1"/>
          </p:cNvSpPr>
          <p:nvPr/>
        </p:nvSpPr>
        <p:spPr bwMode="auto">
          <a:xfrm>
            <a:off x="384175" y="2174875"/>
            <a:ext cx="87344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400">
                <a:solidFill>
                  <a:srgbClr val="0000FF"/>
                </a:solidFill>
                <a:latin typeface="微软雅黑" panose="020B0503020204020204" pitchFamily="34" charset="-122"/>
                <a:ea typeface="微软雅黑" panose="020B0503020204020204" pitchFamily="34" charset="-122"/>
              </a:rPr>
              <a:t>恶意软件</a:t>
            </a:r>
            <a:endParaRPr lang="en-US" altLang="zh-CN" sz="2400">
              <a:solidFill>
                <a:srgbClr val="0000FF"/>
              </a:solidFill>
              <a:latin typeface="微软雅黑" panose="020B0503020204020204" pitchFamily="34" charset="-122"/>
              <a:ea typeface="微软雅黑" panose="020B0503020204020204" pitchFamily="34" charset="-122"/>
            </a:endParaRPr>
          </a:p>
          <a:p>
            <a:pPr>
              <a:spcBef>
                <a:spcPct val="0"/>
              </a:spcBef>
            </a:pPr>
            <a:endParaRPr lang="en-US" altLang="en-US" sz="2400">
              <a:solidFill>
                <a:srgbClr val="0000FF"/>
              </a:solidFill>
              <a:latin typeface="微软雅黑" panose="020B0503020204020204" pitchFamily="34" charset="-122"/>
              <a:ea typeface="微软雅黑" panose="020B0503020204020204" pitchFamily="34" charset="-122"/>
            </a:endParaRPr>
          </a:p>
          <a:p>
            <a:pPr>
              <a:spcBef>
                <a:spcPct val="0"/>
              </a:spcBef>
            </a:pPr>
            <a:r>
              <a:rPr lang="zh-CN" altLang="en-US" sz="2400">
                <a:solidFill>
                  <a:srgbClr val="0000FF"/>
                </a:solidFill>
                <a:latin typeface="微软雅黑" panose="020B0503020204020204" pitchFamily="34" charset="-122"/>
                <a:ea typeface="微软雅黑" panose="020B0503020204020204" pitchFamily="34" charset="-122"/>
              </a:rPr>
              <a:t>恶意网址</a:t>
            </a:r>
            <a:endParaRPr lang="en-US" altLang="en-US" sz="2400">
              <a:solidFill>
                <a:srgbClr val="0070C0"/>
              </a:solidFill>
              <a:latin typeface="Times New Roman" panose="02020603050405020304" pitchFamily="18" charset="0"/>
            </a:endParaRPr>
          </a:p>
        </p:txBody>
      </p:sp>
      <p:sp>
        <p:nvSpPr>
          <p:cNvPr id="26629" name="矩形 4"/>
          <p:cNvSpPr>
            <a:spLocks noChangeArrowheads="1"/>
          </p:cNvSpPr>
          <p:nvPr/>
        </p:nvSpPr>
        <p:spPr bwMode="auto">
          <a:xfrm>
            <a:off x="3552825" y="1268413"/>
            <a:ext cx="5178425"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en-US" altLang="zh-CN" sz="2400">
                <a:latin typeface="Times New Roman" panose="02020603050405020304" pitchFamily="18" charset="0"/>
              </a:rPr>
              <a:t>2017</a:t>
            </a:r>
            <a:r>
              <a:rPr lang="zh-CN" altLang="en-US" sz="2400">
                <a:latin typeface="Times New Roman" panose="02020603050405020304" pitchFamily="18" charset="0"/>
              </a:rPr>
              <a:t>年</a:t>
            </a:r>
            <a:r>
              <a:rPr lang="en-US" altLang="zh-CN" sz="2400">
                <a:latin typeface="Times New Roman" panose="02020603050405020304" pitchFamily="18" charset="0"/>
              </a:rPr>
              <a:t>1</a:t>
            </a:r>
            <a:r>
              <a:rPr lang="zh-CN" altLang="en-US" sz="2400">
                <a:latin typeface="Times New Roman" panose="02020603050405020304" pitchFamily="18" charset="0"/>
              </a:rPr>
              <a:t>至</a:t>
            </a:r>
            <a:r>
              <a:rPr lang="en-US" altLang="zh-CN" sz="2400">
                <a:latin typeface="Times New Roman" panose="02020603050405020304" pitchFamily="18" charset="0"/>
              </a:rPr>
              <a:t>6</a:t>
            </a:r>
            <a:r>
              <a:rPr lang="zh-CN" altLang="en-US" sz="2400">
                <a:latin typeface="Times New Roman" panose="02020603050405020304" pitchFamily="18" charset="0"/>
              </a:rPr>
              <a:t>月，瑞星“云安全”系统共截获病毒样本总量</a:t>
            </a:r>
            <a:r>
              <a:rPr lang="en-US" altLang="zh-CN" sz="2400">
                <a:latin typeface="Times New Roman" panose="02020603050405020304" pitchFamily="18" charset="0"/>
              </a:rPr>
              <a:t>3,132</a:t>
            </a:r>
            <a:r>
              <a:rPr lang="zh-CN" altLang="en-US" sz="2400">
                <a:latin typeface="Times New Roman" panose="02020603050405020304" pitchFamily="18" charset="0"/>
              </a:rPr>
              <a:t>万个，病毒感染次数</a:t>
            </a:r>
            <a:r>
              <a:rPr lang="en-US" altLang="zh-CN" sz="2400">
                <a:latin typeface="Times New Roman" panose="02020603050405020304" pitchFamily="18" charset="0"/>
              </a:rPr>
              <a:t>23.4</a:t>
            </a:r>
            <a:r>
              <a:rPr lang="zh-CN" altLang="en-US" sz="2400">
                <a:latin typeface="Times New Roman" panose="02020603050405020304" pitchFamily="18" charset="0"/>
              </a:rPr>
              <a:t>亿次，病毒总体数量比</a:t>
            </a:r>
            <a:r>
              <a:rPr lang="en-US" altLang="zh-CN" sz="2400">
                <a:latin typeface="Times New Roman" panose="02020603050405020304" pitchFamily="18" charset="0"/>
              </a:rPr>
              <a:t>2016</a:t>
            </a:r>
            <a:r>
              <a:rPr lang="zh-CN" altLang="en-US" sz="2400">
                <a:latin typeface="Times New Roman" panose="02020603050405020304" pitchFamily="18" charset="0"/>
              </a:rPr>
              <a:t>年同期上涨</a:t>
            </a:r>
            <a:r>
              <a:rPr lang="en-US" altLang="zh-CN" sz="2400">
                <a:latin typeface="Times New Roman" panose="02020603050405020304" pitchFamily="18" charset="0"/>
              </a:rPr>
              <a:t>35.47%</a:t>
            </a:r>
            <a:r>
              <a:rPr lang="zh-CN" altLang="en-US" sz="2400">
                <a:latin typeface="Times New Roman" panose="02020603050405020304" pitchFamily="18" charset="0"/>
              </a:rPr>
              <a:t>。</a:t>
            </a:r>
          </a:p>
          <a:p>
            <a:pPr>
              <a:spcBef>
                <a:spcPct val="0"/>
              </a:spcBef>
            </a:pPr>
            <a:r>
              <a:rPr lang="zh-CN" altLang="en-US" sz="2400">
                <a:latin typeface="Times New Roman" panose="02020603050405020304" pitchFamily="18" charset="0"/>
              </a:rPr>
              <a:t>报告期内，新增</a:t>
            </a:r>
            <a:r>
              <a:rPr lang="zh-CN" altLang="en-US" sz="2400">
                <a:solidFill>
                  <a:srgbClr val="FF0000"/>
                </a:solidFill>
                <a:latin typeface="Times New Roman" panose="02020603050405020304" pitchFamily="18" charset="0"/>
              </a:rPr>
              <a:t>木马病毒</a:t>
            </a:r>
            <a:r>
              <a:rPr lang="zh-CN" altLang="en-US" sz="2400">
                <a:latin typeface="Times New Roman" panose="02020603050405020304" pitchFamily="18" charset="0"/>
              </a:rPr>
              <a:t>占总体数量的</a:t>
            </a:r>
            <a:r>
              <a:rPr lang="en-US" altLang="zh-CN" sz="2400">
                <a:latin typeface="Times New Roman" panose="02020603050405020304" pitchFamily="18" charset="0"/>
              </a:rPr>
              <a:t>42.33%</a:t>
            </a:r>
            <a:r>
              <a:rPr lang="zh-CN" altLang="en-US" sz="2400">
                <a:latin typeface="Times New Roman" panose="02020603050405020304" pitchFamily="18" charset="0"/>
              </a:rPr>
              <a:t>，依然是第一大种类病毒。</a:t>
            </a:r>
            <a:r>
              <a:rPr lang="zh-CN" altLang="en-US" sz="2400">
                <a:solidFill>
                  <a:srgbClr val="FF0000"/>
                </a:solidFill>
                <a:latin typeface="Times New Roman" panose="02020603050405020304" pitchFamily="18" charset="0"/>
              </a:rPr>
              <a:t>蠕虫病毒</a:t>
            </a:r>
            <a:r>
              <a:rPr lang="zh-CN" altLang="en-US" sz="2400">
                <a:latin typeface="Times New Roman" panose="02020603050405020304" pitchFamily="18" charset="0"/>
              </a:rPr>
              <a:t>为第二大种类病毒，占总体数量的</a:t>
            </a:r>
            <a:r>
              <a:rPr lang="en-US" altLang="zh-CN" sz="2400">
                <a:latin typeface="Times New Roman" panose="02020603050405020304" pitchFamily="18" charset="0"/>
              </a:rPr>
              <a:t>36.35%</a:t>
            </a:r>
            <a:r>
              <a:rPr lang="zh-CN" altLang="en-US" sz="2400">
                <a:latin typeface="Times New Roman" panose="02020603050405020304" pitchFamily="18" charset="0"/>
              </a:rPr>
              <a:t>，第三大种类病毒为</a:t>
            </a:r>
            <a:r>
              <a:rPr lang="zh-CN" altLang="en-US" sz="2400">
                <a:solidFill>
                  <a:srgbClr val="FF0000"/>
                </a:solidFill>
                <a:latin typeface="Times New Roman" panose="02020603050405020304" pitchFamily="18" charset="0"/>
              </a:rPr>
              <a:t>灰色软件病毒</a:t>
            </a:r>
            <a:r>
              <a:rPr lang="zh-CN" altLang="en-US" sz="2400">
                <a:latin typeface="Times New Roman" panose="02020603050405020304" pitchFamily="18" charset="0"/>
              </a:rPr>
              <a:t>（垃圾软件、广告软件、黑客工具、恶意软件），占总体数量的</a:t>
            </a:r>
            <a:r>
              <a:rPr lang="en-US" altLang="zh-CN" sz="2400">
                <a:latin typeface="Times New Roman" panose="02020603050405020304" pitchFamily="18" charset="0"/>
              </a:rPr>
              <a:t>6.76%</a:t>
            </a:r>
            <a:r>
              <a:rPr lang="zh-CN" altLang="en-US" sz="2400">
                <a:latin typeface="Times New Roman" panose="02020603050405020304" pitchFamily="18" charset="0"/>
              </a:rPr>
              <a:t>。</a:t>
            </a:r>
          </a:p>
        </p:txBody>
      </p:sp>
      <p:pic>
        <p:nvPicPr>
          <p:cNvPr id="26630" name="图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4788" y="4175125"/>
            <a:ext cx="3322637" cy="259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3059832" y="12623"/>
            <a:ext cx="6564313"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dirty="0">
                <a:latin typeface="黑体" panose="02010609060101010101" pitchFamily="49" charset="-122"/>
                <a:ea typeface="黑体" panose="02010609060101010101" pitchFamily="49" charset="-122"/>
              </a:rPr>
              <a:t>互联网安全不容乐观</a:t>
            </a:r>
            <a:endParaRPr lang="en-US" altLang="zh-CN" sz="2800" dirty="0">
              <a:latin typeface="黑体" panose="02010609060101010101" pitchFamily="49" charset="-122"/>
              <a:ea typeface="黑体" panose="02010609060101010101" pitchFamily="49" charset="-122"/>
            </a:endParaRPr>
          </a:p>
        </p:txBody>
      </p:sp>
      <p:sp>
        <p:nvSpPr>
          <p:cNvPr id="27652" name="矩形 4"/>
          <p:cNvSpPr>
            <a:spLocks noChangeArrowheads="1"/>
          </p:cNvSpPr>
          <p:nvPr/>
        </p:nvSpPr>
        <p:spPr bwMode="auto">
          <a:xfrm>
            <a:off x="174625" y="1022350"/>
            <a:ext cx="8734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400" dirty="0">
                <a:solidFill>
                  <a:srgbClr val="0070C0"/>
                </a:solidFill>
                <a:latin typeface="Times New Roman" panose="02020603050405020304" pitchFamily="18" charset="0"/>
              </a:rPr>
              <a:t>恶意代码病毒情况（</a:t>
            </a:r>
            <a:r>
              <a:rPr lang="en-US" altLang="zh-CN" sz="2400" dirty="0">
                <a:solidFill>
                  <a:srgbClr val="0070C0"/>
                </a:solidFill>
                <a:latin typeface="Times New Roman" panose="02020603050405020304" pitchFamily="18" charset="0"/>
              </a:rPr>
              <a:t>2020</a:t>
            </a:r>
            <a:r>
              <a:rPr lang="zh-CN" altLang="en-US" sz="2400" dirty="0">
                <a:solidFill>
                  <a:srgbClr val="0070C0"/>
                </a:solidFill>
                <a:latin typeface="Times New Roman" panose="02020603050405020304" pitchFamily="18" charset="0"/>
              </a:rPr>
              <a:t>年）</a:t>
            </a:r>
            <a:endParaRPr lang="en-US" altLang="en-US" sz="2400" dirty="0">
              <a:solidFill>
                <a:srgbClr val="0070C0"/>
              </a:solidFill>
              <a:latin typeface="Times New Roman" panose="02020603050405020304" pitchFamily="18" charset="0"/>
            </a:endParaRPr>
          </a:p>
        </p:txBody>
      </p:sp>
      <p:pic>
        <p:nvPicPr>
          <p:cNvPr id="3" name="图片 2">
            <a:extLst>
              <a:ext uri="{FF2B5EF4-FFF2-40B4-BE49-F238E27FC236}">
                <a16:creationId xmlns:a16="http://schemas.microsoft.com/office/drawing/2014/main" id="{4E7CAB85-3F8E-48DE-A089-BBE0D3BBA524}"/>
              </a:ext>
            </a:extLst>
          </p:cNvPr>
          <p:cNvPicPr>
            <a:picLocks noChangeAspect="1"/>
          </p:cNvPicPr>
          <p:nvPr/>
        </p:nvPicPr>
        <p:blipFill>
          <a:blip r:embed="rId2"/>
          <a:stretch>
            <a:fillRect/>
          </a:stretch>
        </p:blipFill>
        <p:spPr>
          <a:xfrm>
            <a:off x="373549" y="1815212"/>
            <a:ext cx="8576920" cy="2189852"/>
          </a:xfrm>
          <a:prstGeom prst="rect">
            <a:avLst/>
          </a:prstGeom>
        </p:spPr>
      </p:pic>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ChangeArrowheads="1"/>
          </p:cNvSpPr>
          <p:nvPr/>
        </p:nvSpPr>
        <p:spPr bwMode="auto">
          <a:xfrm>
            <a:off x="3347864" y="-62707"/>
            <a:ext cx="6564313"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a:latin typeface="黑体" panose="02010609060101010101" pitchFamily="49" charset="-122"/>
                <a:ea typeface="黑体" panose="02010609060101010101" pitchFamily="49" charset="-122"/>
              </a:rPr>
              <a:t>互联网安全不容乐观</a:t>
            </a:r>
            <a:endParaRPr lang="en-US" altLang="zh-CN" sz="2800">
              <a:latin typeface="黑体" panose="02010609060101010101" pitchFamily="49" charset="-122"/>
              <a:ea typeface="黑体" panose="02010609060101010101" pitchFamily="49" charset="-122"/>
            </a:endParaRPr>
          </a:p>
        </p:txBody>
      </p:sp>
      <p:sp>
        <p:nvSpPr>
          <p:cNvPr id="28676" name="矩形 3"/>
          <p:cNvSpPr>
            <a:spLocks noChangeArrowheads="1"/>
          </p:cNvSpPr>
          <p:nvPr/>
        </p:nvSpPr>
        <p:spPr bwMode="auto">
          <a:xfrm>
            <a:off x="174625" y="1022350"/>
            <a:ext cx="8734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400" dirty="0">
                <a:solidFill>
                  <a:srgbClr val="0000FF"/>
                </a:solidFill>
                <a:latin typeface="微软雅黑" panose="020B0503020204020204" pitchFamily="34" charset="-122"/>
                <a:ea typeface="微软雅黑" panose="020B0503020204020204" pitchFamily="34" charset="-122"/>
              </a:rPr>
              <a:t>地域和</a:t>
            </a:r>
            <a:r>
              <a:rPr lang="en-US" altLang="zh-CN" sz="2400" dirty="0">
                <a:solidFill>
                  <a:srgbClr val="0000FF"/>
                </a:solidFill>
                <a:latin typeface="微软雅黑" panose="020B0503020204020204" pitchFamily="34" charset="-122"/>
                <a:ea typeface="微软雅黑" panose="020B0503020204020204" pitchFamily="34" charset="-122"/>
              </a:rPr>
              <a:t>IP</a:t>
            </a:r>
            <a:r>
              <a:rPr lang="zh-CN" altLang="en-US" sz="2400" dirty="0">
                <a:solidFill>
                  <a:srgbClr val="0000FF"/>
                </a:solidFill>
                <a:latin typeface="微软雅黑" panose="020B0503020204020204" pitchFamily="34" charset="-122"/>
                <a:ea typeface="微软雅黑" panose="020B0503020204020204" pitchFamily="34" charset="-122"/>
              </a:rPr>
              <a:t>分布情况</a:t>
            </a:r>
            <a:endParaRPr lang="en-US" altLang="en-US" sz="2400" dirty="0">
              <a:solidFill>
                <a:srgbClr val="0070C0"/>
              </a:solidFill>
              <a:latin typeface="Times New Roman" panose="02020603050405020304" pitchFamily="18" charset="0"/>
            </a:endParaRPr>
          </a:p>
        </p:txBody>
      </p:sp>
      <p:pic>
        <p:nvPicPr>
          <p:cNvPr id="2" name="图片 1">
            <a:extLst>
              <a:ext uri="{FF2B5EF4-FFF2-40B4-BE49-F238E27FC236}">
                <a16:creationId xmlns:a16="http://schemas.microsoft.com/office/drawing/2014/main" id="{DE18E5CE-03C9-42F2-B129-01CAB9673C0F}"/>
              </a:ext>
            </a:extLst>
          </p:cNvPr>
          <p:cNvPicPr>
            <a:picLocks noChangeAspect="1"/>
          </p:cNvPicPr>
          <p:nvPr/>
        </p:nvPicPr>
        <p:blipFill>
          <a:blip r:embed="rId2"/>
          <a:stretch>
            <a:fillRect/>
          </a:stretch>
        </p:blipFill>
        <p:spPr>
          <a:xfrm>
            <a:off x="0" y="1519598"/>
            <a:ext cx="4877223" cy="2994920"/>
          </a:xfrm>
          <a:prstGeom prst="rect">
            <a:avLst/>
          </a:prstGeom>
        </p:spPr>
      </p:pic>
      <p:pic>
        <p:nvPicPr>
          <p:cNvPr id="3" name="图片 2">
            <a:extLst>
              <a:ext uri="{FF2B5EF4-FFF2-40B4-BE49-F238E27FC236}">
                <a16:creationId xmlns:a16="http://schemas.microsoft.com/office/drawing/2014/main" id="{DB7D942E-373C-4D08-BA58-5259C104D0EC}"/>
              </a:ext>
            </a:extLst>
          </p:cNvPr>
          <p:cNvPicPr>
            <a:picLocks noChangeAspect="1"/>
          </p:cNvPicPr>
          <p:nvPr/>
        </p:nvPicPr>
        <p:blipFill>
          <a:blip r:embed="rId3"/>
          <a:stretch>
            <a:fillRect/>
          </a:stretch>
        </p:blipFill>
        <p:spPr>
          <a:xfrm>
            <a:off x="4161379" y="3840942"/>
            <a:ext cx="4747671" cy="3017782"/>
          </a:xfrm>
          <a:prstGeom prst="rect">
            <a:avLst/>
          </a:prstGeom>
        </p:spPr>
      </p:pic>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4AFA0DB-B821-4732-BD48-292785C8F51B}"/>
              </a:ext>
            </a:extLst>
          </p:cNvPr>
          <p:cNvPicPr>
            <a:picLocks noChangeAspect="1"/>
          </p:cNvPicPr>
          <p:nvPr/>
        </p:nvPicPr>
        <p:blipFill>
          <a:blip r:embed="rId2"/>
          <a:stretch>
            <a:fillRect/>
          </a:stretch>
        </p:blipFill>
        <p:spPr>
          <a:xfrm>
            <a:off x="827584" y="2276872"/>
            <a:ext cx="7280486" cy="3935091"/>
          </a:xfrm>
          <a:prstGeom prst="rect">
            <a:avLst/>
          </a:prstGeom>
        </p:spPr>
      </p:pic>
      <p:pic>
        <p:nvPicPr>
          <p:cNvPr id="3" name="图片 2">
            <a:extLst>
              <a:ext uri="{FF2B5EF4-FFF2-40B4-BE49-F238E27FC236}">
                <a16:creationId xmlns:a16="http://schemas.microsoft.com/office/drawing/2014/main" id="{145128F7-7C19-448E-A84B-67FA4336EBB3}"/>
              </a:ext>
            </a:extLst>
          </p:cNvPr>
          <p:cNvPicPr>
            <a:picLocks noChangeAspect="1"/>
          </p:cNvPicPr>
          <p:nvPr/>
        </p:nvPicPr>
        <p:blipFill>
          <a:blip r:embed="rId3"/>
          <a:stretch>
            <a:fillRect/>
          </a:stretch>
        </p:blipFill>
        <p:spPr>
          <a:xfrm>
            <a:off x="294617" y="980728"/>
            <a:ext cx="8554766" cy="4511155"/>
          </a:xfrm>
          <a:prstGeom prst="rect">
            <a:avLst/>
          </a:prstGeom>
        </p:spPr>
      </p:pic>
    </p:spTree>
    <p:extLst>
      <p:ext uri="{BB962C8B-B14F-4D97-AF65-F5344CB8AC3E}">
        <p14:creationId xmlns:p14="http://schemas.microsoft.com/office/powerpoint/2010/main" val="329482554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par>
                          <p:cTn id="11" fill="hold">
                            <p:stCondLst>
                              <p:cond delay="0"/>
                            </p:stCondLst>
                            <p:childTnLst>
                              <p:par>
                                <p:cTn id="12" presetID="10" presetClass="exit" presetSubtype="0" fill="hold" nodeType="afterEffect">
                                  <p:stCondLst>
                                    <p:cond delay="0"/>
                                  </p:stCondLst>
                                  <p:childTnLst>
                                    <p:animEffect transition="out" filter="fade">
                                      <p:cBhvr>
                                        <p:cTn id="13" dur="500"/>
                                        <p:tgtEl>
                                          <p:spTgt spid="2"/>
                                        </p:tgtEl>
                                      </p:cBhvr>
                                    </p:animEffect>
                                    <p:set>
                                      <p:cBhvr>
                                        <p:cTn id="14"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678C86E-76F7-4276-9A9B-DD9414069148}"/>
              </a:ext>
            </a:extLst>
          </p:cNvPr>
          <p:cNvPicPr>
            <a:picLocks noChangeAspect="1"/>
          </p:cNvPicPr>
          <p:nvPr/>
        </p:nvPicPr>
        <p:blipFill>
          <a:blip r:embed="rId2"/>
          <a:stretch>
            <a:fillRect/>
          </a:stretch>
        </p:blipFill>
        <p:spPr>
          <a:xfrm>
            <a:off x="765914" y="1124744"/>
            <a:ext cx="7612171" cy="4392488"/>
          </a:xfrm>
          <a:prstGeom prst="rect">
            <a:avLst/>
          </a:prstGeom>
        </p:spPr>
      </p:pic>
    </p:spTree>
    <p:extLst>
      <p:ext uri="{BB962C8B-B14F-4D97-AF65-F5344CB8AC3E}">
        <p14:creationId xmlns:p14="http://schemas.microsoft.com/office/powerpoint/2010/main" val="2656611327"/>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5A831ED-6822-4B88-923F-0648169B45C6}"/>
              </a:ext>
            </a:extLst>
          </p:cNvPr>
          <p:cNvPicPr>
            <a:picLocks noChangeAspect="1"/>
          </p:cNvPicPr>
          <p:nvPr/>
        </p:nvPicPr>
        <p:blipFill>
          <a:blip r:embed="rId2"/>
          <a:stretch>
            <a:fillRect/>
          </a:stretch>
        </p:blipFill>
        <p:spPr>
          <a:xfrm>
            <a:off x="899592" y="1507379"/>
            <a:ext cx="7358282" cy="4153869"/>
          </a:xfrm>
          <a:prstGeom prst="rect">
            <a:avLst/>
          </a:prstGeom>
        </p:spPr>
      </p:pic>
    </p:spTree>
    <p:extLst>
      <p:ext uri="{BB962C8B-B14F-4D97-AF65-F5344CB8AC3E}">
        <p14:creationId xmlns:p14="http://schemas.microsoft.com/office/powerpoint/2010/main" val="780728211"/>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D30EB70-D058-4DDB-B1E4-54A872EAE87C}"/>
              </a:ext>
            </a:extLst>
          </p:cNvPr>
          <p:cNvPicPr>
            <a:picLocks noChangeAspect="1"/>
          </p:cNvPicPr>
          <p:nvPr/>
        </p:nvPicPr>
        <p:blipFill>
          <a:blip r:embed="rId2"/>
          <a:stretch>
            <a:fillRect/>
          </a:stretch>
        </p:blipFill>
        <p:spPr>
          <a:xfrm>
            <a:off x="1187624" y="1484783"/>
            <a:ext cx="6840760" cy="4500499"/>
          </a:xfrm>
          <a:prstGeom prst="rect">
            <a:avLst/>
          </a:prstGeom>
        </p:spPr>
      </p:pic>
    </p:spTree>
    <p:extLst>
      <p:ext uri="{BB962C8B-B14F-4D97-AF65-F5344CB8AC3E}">
        <p14:creationId xmlns:p14="http://schemas.microsoft.com/office/powerpoint/2010/main" val="3883799283"/>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EABFB53-0E3D-40CA-A58B-169635535C30}"/>
              </a:ext>
            </a:extLst>
          </p:cNvPr>
          <p:cNvPicPr>
            <a:picLocks noChangeAspect="1"/>
          </p:cNvPicPr>
          <p:nvPr/>
        </p:nvPicPr>
        <p:blipFill>
          <a:blip r:embed="rId2"/>
          <a:stretch>
            <a:fillRect/>
          </a:stretch>
        </p:blipFill>
        <p:spPr>
          <a:xfrm>
            <a:off x="683568" y="1194269"/>
            <a:ext cx="7897838" cy="4538987"/>
          </a:xfrm>
          <a:prstGeom prst="rect">
            <a:avLst/>
          </a:prstGeom>
        </p:spPr>
      </p:pic>
    </p:spTree>
    <p:extLst>
      <p:ext uri="{BB962C8B-B14F-4D97-AF65-F5344CB8AC3E}">
        <p14:creationId xmlns:p14="http://schemas.microsoft.com/office/powerpoint/2010/main" val="3478169294"/>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CED5E63-72AC-4CFC-862A-37BBC354AB7D}"/>
              </a:ext>
            </a:extLst>
          </p:cNvPr>
          <p:cNvPicPr>
            <a:picLocks noChangeAspect="1"/>
          </p:cNvPicPr>
          <p:nvPr/>
        </p:nvPicPr>
        <p:blipFill>
          <a:blip r:embed="rId2"/>
          <a:stretch>
            <a:fillRect/>
          </a:stretch>
        </p:blipFill>
        <p:spPr>
          <a:xfrm>
            <a:off x="683567" y="1062925"/>
            <a:ext cx="7438593" cy="4526315"/>
          </a:xfrm>
          <a:prstGeom prst="rect">
            <a:avLst/>
          </a:prstGeom>
        </p:spPr>
      </p:pic>
    </p:spTree>
    <p:extLst>
      <p:ext uri="{BB962C8B-B14F-4D97-AF65-F5344CB8AC3E}">
        <p14:creationId xmlns:p14="http://schemas.microsoft.com/office/powerpoint/2010/main" val="2704860461"/>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http://it.rising.com.cn/d/file/it/dongtai/20170802/image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8013" y="1341438"/>
            <a:ext cx="4608512"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Rectangle 2"/>
          <p:cNvSpPr>
            <a:spLocks noChangeArrowheads="1"/>
          </p:cNvSpPr>
          <p:nvPr/>
        </p:nvSpPr>
        <p:spPr bwMode="auto">
          <a:xfrm>
            <a:off x="3440112" y="51594"/>
            <a:ext cx="6564313"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a:latin typeface="黑体" panose="02010609060101010101" pitchFamily="49" charset="-122"/>
                <a:ea typeface="黑体" panose="02010609060101010101" pitchFamily="49" charset="-122"/>
              </a:rPr>
              <a:t>互联网安全不容乐观</a:t>
            </a:r>
            <a:endParaRPr lang="en-US" altLang="zh-CN" sz="2800">
              <a:latin typeface="黑体" panose="02010609060101010101" pitchFamily="49" charset="-122"/>
              <a:ea typeface="黑体" panose="02010609060101010101" pitchFamily="49" charset="-122"/>
            </a:endParaRPr>
          </a:p>
        </p:txBody>
      </p:sp>
      <p:sp>
        <p:nvSpPr>
          <p:cNvPr id="29700" name="矩形 3"/>
          <p:cNvSpPr>
            <a:spLocks noChangeArrowheads="1"/>
          </p:cNvSpPr>
          <p:nvPr/>
        </p:nvSpPr>
        <p:spPr bwMode="auto">
          <a:xfrm>
            <a:off x="174625" y="1022350"/>
            <a:ext cx="8734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400">
                <a:solidFill>
                  <a:srgbClr val="0000FF"/>
                </a:solidFill>
                <a:latin typeface="微软雅黑" panose="020B0503020204020204" pitchFamily="34" charset="-122"/>
                <a:ea typeface="微软雅黑" panose="020B0503020204020204" pitchFamily="34" charset="-122"/>
              </a:rPr>
              <a:t>勒索、诈骗软件分布</a:t>
            </a:r>
            <a:endParaRPr lang="en-US" altLang="en-US" sz="2400">
              <a:solidFill>
                <a:srgbClr val="0070C0"/>
              </a:solidFill>
              <a:latin typeface="Times New Roman" panose="02020603050405020304" pitchFamily="18" charset="0"/>
            </a:endParaRPr>
          </a:p>
        </p:txBody>
      </p:sp>
      <p:pic>
        <p:nvPicPr>
          <p:cNvPr id="29701" name="Picture 4" descr="http://it.rising.com.cn/d/file/it/dongtai/20170802/image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14845"/>
            <a:ext cx="4322763" cy="270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5B264853-5267-40A5-9E35-B3E4B8E5460C}"/>
              </a:ext>
            </a:extLst>
          </p:cNvPr>
          <p:cNvPicPr>
            <a:picLocks noChangeAspect="1"/>
          </p:cNvPicPr>
          <p:nvPr/>
        </p:nvPicPr>
        <p:blipFill>
          <a:blip r:embed="rId4"/>
          <a:stretch>
            <a:fillRect/>
          </a:stretch>
        </p:blipFill>
        <p:spPr>
          <a:xfrm>
            <a:off x="3779912" y="4245864"/>
            <a:ext cx="5448772" cy="2560542"/>
          </a:xfrm>
          <a:prstGeom prst="rect">
            <a:avLst/>
          </a:prstGeom>
        </p:spPr>
      </p:pic>
      <p:pic>
        <p:nvPicPr>
          <p:cNvPr id="3" name="图片 2">
            <a:extLst>
              <a:ext uri="{FF2B5EF4-FFF2-40B4-BE49-F238E27FC236}">
                <a16:creationId xmlns:a16="http://schemas.microsoft.com/office/drawing/2014/main" id="{F88E2DC2-1A4E-4375-915A-77FB4C1A64E1}"/>
              </a:ext>
            </a:extLst>
          </p:cNvPr>
          <p:cNvPicPr>
            <a:picLocks noChangeAspect="1"/>
          </p:cNvPicPr>
          <p:nvPr/>
        </p:nvPicPr>
        <p:blipFill>
          <a:blip r:embed="rId5"/>
          <a:stretch>
            <a:fillRect/>
          </a:stretch>
        </p:blipFill>
        <p:spPr>
          <a:xfrm>
            <a:off x="1" y="4450058"/>
            <a:ext cx="4211960" cy="2415749"/>
          </a:xfrm>
          <a:prstGeom prst="rect">
            <a:avLst/>
          </a:prstGeom>
        </p:spPr>
      </p:pic>
    </p:spTree>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8548532-071C-4016-AE93-FBDD31B721BA}"/>
              </a:ext>
            </a:extLst>
          </p:cNvPr>
          <p:cNvPicPr>
            <a:picLocks noChangeAspect="1"/>
          </p:cNvPicPr>
          <p:nvPr/>
        </p:nvPicPr>
        <p:blipFill>
          <a:blip r:embed="rId2"/>
          <a:stretch>
            <a:fillRect/>
          </a:stretch>
        </p:blipFill>
        <p:spPr>
          <a:xfrm>
            <a:off x="755576" y="1047026"/>
            <a:ext cx="7623697" cy="4758238"/>
          </a:xfrm>
          <a:prstGeom prst="rect">
            <a:avLst/>
          </a:prstGeom>
        </p:spPr>
      </p:pic>
    </p:spTree>
    <p:extLst>
      <p:ext uri="{BB962C8B-B14F-4D97-AF65-F5344CB8AC3E}">
        <p14:creationId xmlns:p14="http://schemas.microsoft.com/office/powerpoint/2010/main" val="3230456436"/>
      </p:ext>
    </p:extLst>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CE93964-4901-441F-89C8-19211104CB93}"/>
              </a:ext>
            </a:extLst>
          </p:cNvPr>
          <p:cNvPicPr>
            <a:picLocks noChangeAspect="1"/>
          </p:cNvPicPr>
          <p:nvPr/>
        </p:nvPicPr>
        <p:blipFill>
          <a:blip r:embed="rId2"/>
          <a:stretch>
            <a:fillRect/>
          </a:stretch>
        </p:blipFill>
        <p:spPr>
          <a:xfrm>
            <a:off x="899592" y="980728"/>
            <a:ext cx="7602730" cy="4536504"/>
          </a:xfrm>
          <a:prstGeom prst="rect">
            <a:avLst/>
          </a:prstGeom>
        </p:spPr>
      </p:pic>
    </p:spTree>
    <p:extLst>
      <p:ext uri="{BB962C8B-B14F-4D97-AF65-F5344CB8AC3E}">
        <p14:creationId xmlns:p14="http://schemas.microsoft.com/office/powerpoint/2010/main" val="1691082447"/>
      </p:ext>
    </p:extLst>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http://it.rising.com.cn/d/file/it/dongtai/20170802/image2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3438" y="3425825"/>
            <a:ext cx="4344987" cy="271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3" name="Picture 4" descr="http://it.rising.com.cn/d/file/it/dongtai/20170802/image2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500438"/>
            <a:ext cx="4262438" cy="266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Rectangle 2"/>
          <p:cNvSpPr>
            <a:spLocks noChangeArrowheads="1"/>
          </p:cNvSpPr>
          <p:nvPr/>
        </p:nvSpPr>
        <p:spPr bwMode="auto">
          <a:xfrm>
            <a:off x="3275856" y="114300"/>
            <a:ext cx="6564313"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dirty="0">
                <a:latin typeface="黑体" panose="02010609060101010101" pitchFamily="49" charset="-122"/>
                <a:ea typeface="黑体" panose="02010609060101010101" pitchFamily="49" charset="-122"/>
              </a:rPr>
              <a:t>互联网安全不容乐观</a:t>
            </a:r>
            <a:endParaRPr lang="en-US" altLang="zh-CN" sz="2800" dirty="0">
              <a:latin typeface="黑体" panose="02010609060101010101" pitchFamily="49" charset="-122"/>
              <a:ea typeface="黑体" panose="02010609060101010101" pitchFamily="49" charset="-122"/>
            </a:endParaRPr>
          </a:p>
        </p:txBody>
      </p:sp>
      <p:sp>
        <p:nvSpPr>
          <p:cNvPr id="30725" name="矩形 4"/>
          <p:cNvSpPr>
            <a:spLocks noChangeArrowheads="1"/>
          </p:cNvSpPr>
          <p:nvPr/>
        </p:nvSpPr>
        <p:spPr bwMode="auto">
          <a:xfrm>
            <a:off x="174625" y="1022350"/>
            <a:ext cx="8734425"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400">
                <a:solidFill>
                  <a:srgbClr val="0000FF"/>
                </a:solidFill>
                <a:latin typeface="微软雅黑" panose="020B0503020204020204" pitchFamily="34" charset="-122"/>
                <a:ea typeface="微软雅黑" panose="020B0503020204020204" pitchFamily="34" charset="-122"/>
              </a:rPr>
              <a:t>僵尸网络分布</a:t>
            </a:r>
            <a:endParaRPr lang="en-US" altLang="zh-CN" sz="2400">
              <a:solidFill>
                <a:srgbClr val="0000FF"/>
              </a:solidFill>
              <a:latin typeface="微软雅黑" panose="020B0503020204020204" pitchFamily="34" charset="-122"/>
              <a:ea typeface="微软雅黑" panose="020B0503020204020204" pitchFamily="34" charset="-122"/>
            </a:endParaRPr>
          </a:p>
          <a:p>
            <a:pPr>
              <a:spcBef>
                <a:spcPct val="0"/>
              </a:spcBef>
            </a:pPr>
            <a:endParaRPr lang="en-US" altLang="en-US" sz="2400">
              <a:solidFill>
                <a:srgbClr val="0000FF"/>
              </a:solidFill>
              <a:latin typeface="微软雅黑" panose="020B0503020204020204" pitchFamily="34" charset="-122"/>
              <a:ea typeface="微软雅黑" panose="020B0503020204020204" pitchFamily="34" charset="-122"/>
            </a:endParaRPr>
          </a:p>
          <a:p>
            <a:pPr>
              <a:spcBef>
                <a:spcPct val="0"/>
              </a:spcBef>
            </a:pPr>
            <a:r>
              <a:rPr lang="zh-CN" altLang="en-US" sz="2400">
                <a:latin typeface="Times New Roman" panose="02020603050405020304" pitchFamily="18" charset="0"/>
              </a:rPr>
              <a:t>全球范围内最为活跃的两大著名的僵尸网络，分别为</a:t>
            </a:r>
            <a:r>
              <a:rPr lang="en-US" altLang="zh-CN" sz="2400">
                <a:latin typeface="Times New Roman" panose="02020603050405020304" pitchFamily="18" charset="0"/>
              </a:rPr>
              <a:t>Linux.Gafgyt/Linux </a:t>
            </a:r>
            <a:r>
              <a:rPr lang="zh-CN" altLang="en-US" sz="2400">
                <a:latin typeface="Times New Roman" panose="02020603050405020304" pitchFamily="18" charset="0"/>
              </a:rPr>
              <a:t>和 </a:t>
            </a:r>
            <a:r>
              <a:rPr lang="en-US" altLang="zh-CN" sz="2400">
                <a:latin typeface="Times New Roman" panose="02020603050405020304" pitchFamily="18" charset="0"/>
              </a:rPr>
              <a:t>Linux.Mirai</a:t>
            </a:r>
            <a:endParaRPr lang="en-US" altLang="en-US" sz="2400">
              <a:solidFill>
                <a:srgbClr val="0070C0"/>
              </a:solidFill>
              <a:latin typeface="Times New Roman" panose="02020603050405020304" pitchFamily="18" charset="0"/>
            </a:endParaRPr>
          </a:p>
        </p:txBody>
      </p:sp>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3059832" y="0"/>
            <a:ext cx="6564313"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a:latin typeface="黑体" panose="02010609060101010101" pitchFamily="49" charset="-122"/>
                <a:ea typeface="黑体" panose="02010609060101010101" pitchFamily="49" charset="-122"/>
              </a:rPr>
              <a:t>网络探测活动频繁</a:t>
            </a:r>
            <a:endParaRPr lang="en-US" altLang="zh-CN" sz="2800">
              <a:latin typeface="黑体" panose="02010609060101010101" pitchFamily="49" charset="-122"/>
              <a:ea typeface="黑体" panose="02010609060101010101" pitchFamily="49" charset="-122"/>
            </a:endParaRPr>
          </a:p>
        </p:txBody>
      </p:sp>
      <p:pic>
        <p:nvPicPr>
          <p:cNvPr id="31747" name="Picture 2" descr="http://it.rising.com.cn/d/file/it/dongtai/20170802/image2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150" y="1628775"/>
            <a:ext cx="6972300" cy="435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矩形 3"/>
          <p:cNvSpPr>
            <a:spLocks noChangeArrowheads="1"/>
          </p:cNvSpPr>
          <p:nvPr/>
        </p:nvSpPr>
        <p:spPr bwMode="auto">
          <a:xfrm>
            <a:off x="174625" y="1022350"/>
            <a:ext cx="8734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400">
                <a:solidFill>
                  <a:srgbClr val="0000FF"/>
                </a:solidFill>
                <a:latin typeface="微软雅黑" panose="020B0503020204020204" pitchFamily="34" charset="-122"/>
                <a:ea typeface="微软雅黑" panose="020B0503020204020204" pitchFamily="34" charset="-122"/>
              </a:rPr>
              <a:t>端口探测分布，漏洞利用</a:t>
            </a:r>
            <a:endParaRPr lang="en-US" altLang="en-US" sz="2400">
              <a:solidFill>
                <a:srgbClr val="0070C0"/>
              </a:solidFill>
              <a:latin typeface="Times New Roman" panose="02020603050405020304" pitchFamily="18" charset="0"/>
            </a:endParaRPr>
          </a:p>
        </p:txBody>
      </p:sp>
    </p:spTree>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3347864" y="85725"/>
            <a:ext cx="6564313"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dirty="0">
                <a:latin typeface="黑体" panose="02010609060101010101" pitchFamily="49" charset="-122"/>
                <a:ea typeface="黑体" panose="02010609060101010101" pitchFamily="49" charset="-122"/>
              </a:rPr>
              <a:t>网络探测活动频繁</a:t>
            </a:r>
            <a:endParaRPr lang="en-US" altLang="zh-CN" sz="2800" dirty="0">
              <a:latin typeface="黑体" panose="02010609060101010101" pitchFamily="49" charset="-122"/>
              <a:ea typeface="黑体" panose="02010609060101010101" pitchFamily="49" charset="-122"/>
            </a:endParaRPr>
          </a:p>
        </p:txBody>
      </p:sp>
      <p:pic>
        <p:nvPicPr>
          <p:cNvPr id="33795" name="Picture 2" descr="http://it.rising.com.cn/d/file/it/dongtai/20170802/image2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3756025"/>
            <a:ext cx="7704137" cy="23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6" name="Picture 4" descr="http://it.rising.com.cn/d/file/it/dongtai/20170802/image2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714500"/>
            <a:ext cx="7705725"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7" name="矩形 4"/>
          <p:cNvSpPr>
            <a:spLocks noChangeArrowheads="1"/>
          </p:cNvSpPr>
          <p:nvPr/>
        </p:nvSpPr>
        <p:spPr bwMode="auto">
          <a:xfrm>
            <a:off x="174625" y="1022350"/>
            <a:ext cx="8734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400">
                <a:solidFill>
                  <a:srgbClr val="0000FF"/>
                </a:solidFill>
                <a:latin typeface="微软雅黑" panose="020B0503020204020204" pitchFamily="34" charset="-122"/>
                <a:ea typeface="微软雅黑" panose="020B0503020204020204" pitchFamily="34" charset="-122"/>
              </a:rPr>
              <a:t>数据库服务探测分布，数据资产威胁严重</a:t>
            </a:r>
            <a:endParaRPr lang="en-US" altLang="en-US" sz="2400">
              <a:solidFill>
                <a:srgbClr val="0070C0"/>
              </a:solidFill>
              <a:latin typeface="Times New Roman" panose="02020603050405020304" pitchFamily="18" charset="0"/>
            </a:endParaRPr>
          </a:p>
        </p:txBody>
      </p:sp>
    </p:spTree>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7338" y="1341438"/>
            <a:ext cx="8856662"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 name="Rectangle 2"/>
          <p:cNvSpPr>
            <a:spLocks noChangeArrowheads="1"/>
          </p:cNvSpPr>
          <p:nvPr/>
        </p:nvSpPr>
        <p:spPr bwMode="auto">
          <a:xfrm>
            <a:off x="2843808" y="115887"/>
            <a:ext cx="6564313"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dirty="0">
                <a:latin typeface="黑体" panose="02010609060101010101" pitchFamily="49" charset="-122"/>
                <a:ea typeface="黑体" panose="02010609060101010101" pitchFamily="49" charset="-122"/>
              </a:rPr>
              <a:t>移动网、智能终端安全威胁严峻</a:t>
            </a:r>
            <a:endParaRPr lang="en-US" altLang="zh-CN" sz="2800" dirty="0">
              <a:latin typeface="黑体" panose="02010609060101010101" pitchFamily="49" charset="-122"/>
              <a:ea typeface="黑体" panose="02010609060101010101" pitchFamily="49" charset="-122"/>
            </a:endParaRPr>
          </a:p>
        </p:txBody>
      </p:sp>
    </p:spTree>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http://it.rising.com.cn/d/file/it/dongtai/20170802/image6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8913" y="1844675"/>
            <a:ext cx="6451600"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Rectangle 2"/>
          <p:cNvSpPr>
            <a:spLocks noChangeArrowheads="1"/>
          </p:cNvSpPr>
          <p:nvPr/>
        </p:nvSpPr>
        <p:spPr bwMode="auto">
          <a:xfrm>
            <a:off x="2368550" y="180975"/>
            <a:ext cx="6564313" cy="65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dirty="0">
                <a:latin typeface="黑体" panose="02010609060101010101" pitchFamily="49" charset="-122"/>
                <a:ea typeface="黑体" panose="02010609060101010101" pitchFamily="49" charset="-122"/>
              </a:rPr>
              <a:t>移动网、智能终端安全威胁严峻</a:t>
            </a:r>
            <a:endParaRPr lang="en-US" altLang="zh-CN" sz="2800" dirty="0">
              <a:latin typeface="黑体" panose="02010609060101010101" pitchFamily="49" charset="-122"/>
              <a:ea typeface="黑体" panose="02010609060101010101" pitchFamily="49" charset="-122"/>
            </a:endParaRPr>
          </a:p>
        </p:txBody>
      </p:sp>
      <p:sp>
        <p:nvSpPr>
          <p:cNvPr id="35844" name="矩形 3"/>
          <p:cNvSpPr>
            <a:spLocks noChangeArrowheads="1"/>
          </p:cNvSpPr>
          <p:nvPr/>
        </p:nvSpPr>
        <p:spPr bwMode="auto">
          <a:xfrm>
            <a:off x="198438" y="1052513"/>
            <a:ext cx="8734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400">
                <a:solidFill>
                  <a:srgbClr val="0000FF"/>
                </a:solidFill>
                <a:latin typeface="微软雅黑" panose="020B0503020204020204" pitchFamily="34" charset="-122"/>
                <a:ea typeface="微软雅黑" panose="020B0503020204020204" pitchFamily="34" charset="-122"/>
              </a:rPr>
              <a:t>僵尸</a:t>
            </a:r>
            <a:r>
              <a:rPr lang="en-US" altLang="zh-CN" sz="2400">
                <a:solidFill>
                  <a:srgbClr val="0000FF"/>
                </a:solidFill>
                <a:latin typeface="微软雅黑" panose="020B0503020204020204" pitchFamily="34" charset="-122"/>
                <a:ea typeface="微软雅黑" panose="020B0503020204020204" pitchFamily="34" charset="-122"/>
              </a:rPr>
              <a:t>IOT</a:t>
            </a:r>
            <a:r>
              <a:rPr lang="zh-CN" altLang="en-US" sz="2400">
                <a:solidFill>
                  <a:srgbClr val="0000FF"/>
                </a:solidFill>
                <a:latin typeface="微软雅黑" panose="020B0503020204020204" pitchFamily="34" charset="-122"/>
                <a:ea typeface="微软雅黑" panose="020B0503020204020204" pitchFamily="34" charset="-122"/>
              </a:rPr>
              <a:t>设备类型分布</a:t>
            </a:r>
            <a:endParaRPr lang="en-US" altLang="en-US" sz="2400">
              <a:solidFill>
                <a:srgbClr val="0070C0"/>
              </a:solidFill>
              <a:latin typeface="Times New Roman" panose="02020603050405020304" pitchFamily="18" charset="0"/>
            </a:endParaRPr>
          </a:p>
        </p:txBody>
      </p:sp>
    </p:spTree>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2647420" y="23912"/>
            <a:ext cx="6564313"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dirty="0">
                <a:latin typeface="黑体" panose="02010609060101010101" pitchFamily="49" charset="-122"/>
                <a:ea typeface="黑体" panose="02010609060101010101" pitchFamily="49" charset="-122"/>
              </a:rPr>
              <a:t>移动网、智能终端安全威胁严峻</a:t>
            </a:r>
            <a:endParaRPr lang="en-US" altLang="zh-CN" sz="2800" dirty="0">
              <a:latin typeface="黑体" panose="02010609060101010101" pitchFamily="49" charset="-122"/>
              <a:ea typeface="黑体" panose="02010609060101010101" pitchFamily="49" charset="-122"/>
            </a:endParaRPr>
          </a:p>
        </p:txBody>
      </p:sp>
      <p:pic>
        <p:nvPicPr>
          <p:cNvPr id="36867"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5576" y="2060848"/>
            <a:ext cx="7908925"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8" name="矩形 4"/>
          <p:cNvSpPr>
            <a:spLocks noChangeArrowheads="1"/>
          </p:cNvSpPr>
          <p:nvPr/>
        </p:nvSpPr>
        <p:spPr bwMode="auto">
          <a:xfrm>
            <a:off x="198438" y="1052513"/>
            <a:ext cx="8734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400">
                <a:solidFill>
                  <a:srgbClr val="0000FF"/>
                </a:solidFill>
                <a:latin typeface="微软雅黑" panose="020B0503020204020204" pitchFamily="34" charset="-122"/>
                <a:ea typeface="微软雅黑" panose="020B0503020204020204" pitchFamily="34" charset="-122"/>
              </a:rPr>
              <a:t>手机支付、人脸识别</a:t>
            </a:r>
            <a:endParaRPr lang="en-US" altLang="en-US" sz="2400">
              <a:solidFill>
                <a:srgbClr val="0070C0"/>
              </a:solidFill>
              <a:latin typeface="Times New Roman" panose="02020603050405020304" pitchFamily="18" charset="0"/>
            </a:endParaRPr>
          </a:p>
        </p:txBody>
      </p:sp>
    </p:spTree>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4597756-67A0-43AB-87CA-0C9843D8281A}"/>
              </a:ext>
            </a:extLst>
          </p:cNvPr>
          <p:cNvPicPr>
            <a:picLocks noChangeAspect="1"/>
          </p:cNvPicPr>
          <p:nvPr/>
        </p:nvPicPr>
        <p:blipFill>
          <a:blip r:embed="rId2"/>
          <a:stretch>
            <a:fillRect/>
          </a:stretch>
        </p:blipFill>
        <p:spPr>
          <a:xfrm>
            <a:off x="467544" y="1700808"/>
            <a:ext cx="7971005" cy="4780120"/>
          </a:xfrm>
          <a:prstGeom prst="rect">
            <a:avLst/>
          </a:prstGeom>
        </p:spPr>
      </p:pic>
      <p:sp>
        <p:nvSpPr>
          <p:cNvPr id="3" name="矩形 4">
            <a:extLst>
              <a:ext uri="{FF2B5EF4-FFF2-40B4-BE49-F238E27FC236}">
                <a16:creationId xmlns:a16="http://schemas.microsoft.com/office/drawing/2014/main" id="{B7281AB5-6D65-4EBB-8405-7EBD90829734}"/>
              </a:ext>
            </a:extLst>
          </p:cNvPr>
          <p:cNvSpPr>
            <a:spLocks noChangeArrowheads="1"/>
          </p:cNvSpPr>
          <p:nvPr/>
        </p:nvSpPr>
        <p:spPr bwMode="auto">
          <a:xfrm>
            <a:off x="3563889" y="146091"/>
            <a:ext cx="424847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400" dirty="0">
                <a:solidFill>
                  <a:srgbClr val="0070C0"/>
                </a:solidFill>
                <a:latin typeface="Times New Roman" panose="02020603050405020304" pitchFamily="18" charset="0"/>
              </a:rPr>
              <a:t>工业物联网</a:t>
            </a:r>
            <a:endParaRPr lang="en-US" altLang="en-US" sz="2400" dirty="0">
              <a:solidFill>
                <a:srgbClr val="0070C0"/>
              </a:solidFill>
              <a:latin typeface="Times New Roman" panose="02020603050405020304" pitchFamily="18" charset="0"/>
            </a:endParaRPr>
          </a:p>
        </p:txBody>
      </p:sp>
    </p:spTree>
    <p:extLst>
      <p:ext uri="{BB962C8B-B14F-4D97-AF65-F5344CB8AC3E}">
        <p14:creationId xmlns:p14="http://schemas.microsoft.com/office/powerpoint/2010/main" val="532216216"/>
      </p:ext>
    </p:extLst>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6F45618-9895-43B3-A431-E2CD7A9CB96D}"/>
              </a:ext>
            </a:extLst>
          </p:cNvPr>
          <p:cNvPicPr>
            <a:picLocks noChangeAspect="1"/>
          </p:cNvPicPr>
          <p:nvPr/>
        </p:nvPicPr>
        <p:blipFill>
          <a:blip r:embed="rId2"/>
          <a:stretch>
            <a:fillRect/>
          </a:stretch>
        </p:blipFill>
        <p:spPr>
          <a:xfrm>
            <a:off x="611560" y="1177802"/>
            <a:ext cx="8014222" cy="4555454"/>
          </a:xfrm>
          <a:prstGeom prst="rect">
            <a:avLst/>
          </a:prstGeom>
        </p:spPr>
      </p:pic>
    </p:spTree>
    <p:extLst>
      <p:ext uri="{BB962C8B-B14F-4D97-AF65-F5344CB8AC3E}">
        <p14:creationId xmlns:p14="http://schemas.microsoft.com/office/powerpoint/2010/main" val="2735296293"/>
      </p:ext>
    </p:extLst>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
            <a:extLst>
              <a:ext uri="{FF2B5EF4-FFF2-40B4-BE49-F238E27FC236}">
                <a16:creationId xmlns:a16="http://schemas.microsoft.com/office/drawing/2014/main" id="{DD315E30-7DBB-47BD-84EB-67B84A652F2A}"/>
              </a:ext>
            </a:extLst>
          </p:cNvPr>
          <p:cNvSpPr>
            <a:spLocks noChangeArrowheads="1"/>
          </p:cNvSpPr>
          <p:nvPr/>
        </p:nvSpPr>
        <p:spPr bwMode="auto">
          <a:xfrm>
            <a:off x="177800" y="1143000"/>
            <a:ext cx="8734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400" dirty="0">
                <a:solidFill>
                  <a:srgbClr val="0070C0"/>
                </a:solidFill>
                <a:latin typeface="Times New Roman" panose="02020603050405020304" pitchFamily="18" charset="0"/>
              </a:rPr>
              <a:t>生物信息安全</a:t>
            </a:r>
            <a:endParaRPr lang="en-US" altLang="en-US" sz="2400" dirty="0">
              <a:solidFill>
                <a:srgbClr val="0070C0"/>
              </a:solidFill>
              <a:latin typeface="Times New Roman" panose="02020603050405020304" pitchFamily="18" charset="0"/>
            </a:endParaRPr>
          </a:p>
        </p:txBody>
      </p:sp>
      <p:pic>
        <p:nvPicPr>
          <p:cNvPr id="3" name="图片 2">
            <a:extLst>
              <a:ext uri="{FF2B5EF4-FFF2-40B4-BE49-F238E27FC236}">
                <a16:creationId xmlns:a16="http://schemas.microsoft.com/office/drawing/2014/main" id="{87C30BAD-382F-4D8E-AB27-29F62763E68B}"/>
              </a:ext>
            </a:extLst>
          </p:cNvPr>
          <p:cNvPicPr>
            <a:picLocks noChangeAspect="1"/>
          </p:cNvPicPr>
          <p:nvPr/>
        </p:nvPicPr>
        <p:blipFill>
          <a:blip r:embed="rId2"/>
          <a:stretch>
            <a:fillRect/>
          </a:stretch>
        </p:blipFill>
        <p:spPr>
          <a:xfrm>
            <a:off x="1259632" y="1916832"/>
            <a:ext cx="7219238" cy="4015773"/>
          </a:xfrm>
          <a:prstGeom prst="rect">
            <a:avLst/>
          </a:prstGeom>
        </p:spPr>
      </p:pic>
    </p:spTree>
    <p:extLst>
      <p:ext uri="{BB962C8B-B14F-4D97-AF65-F5344CB8AC3E}">
        <p14:creationId xmlns:p14="http://schemas.microsoft.com/office/powerpoint/2010/main" val="4221289588"/>
      </p:ext>
    </p:extLst>
  </p:cSld>
  <p:clrMapOvr>
    <a:masterClrMapping/>
  </p:clrMapOvr>
  <p:transition spd="slow">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7268964-5134-4C1A-8F2E-0C71CD4FB21F}"/>
              </a:ext>
            </a:extLst>
          </p:cNvPr>
          <p:cNvPicPr>
            <a:picLocks noChangeAspect="1"/>
          </p:cNvPicPr>
          <p:nvPr/>
        </p:nvPicPr>
        <p:blipFill>
          <a:blip r:embed="rId2"/>
          <a:stretch>
            <a:fillRect/>
          </a:stretch>
        </p:blipFill>
        <p:spPr>
          <a:xfrm>
            <a:off x="0" y="0"/>
            <a:ext cx="6049219" cy="3743847"/>
          </a:xfrm>
          <a:prstGeom prst="rect">
            <a:avLst/>
          </a:prstGeom>
        </p:spPr>
      </p:pic>
      <p:pic>
        <p:nvPicPr>
          <p:cNvPr id="3" name="图片 2">
            <a:extLst>
              <a:ext uri="{FF2B5EF4-FFF2-40B4-BE49-F238E27FC236}">
                <a16:creationId xmlns:a16="http://schemas.microsoft.com/office/drawing/2014/main" id="{B1434172-3592-4CBB-8B58-6850DEDFBD5B}"/>
              </a:ext>
            </a:extLst>
          </p:cNvPr>
          <p:cNvPicPr>
            <a:picLocks noChangeAspect="1"/>
          </p:cNvPicPr>
          <p:nvPr/>
        </p:nvPicPr>
        <p:blipFill>
          <a:blip r:embed="rId3"/>
          <a:stretch>
            <a:fillRect/>
          </a:stretch>
        </p:blipFill>
        <p:spPr>
          <a:xfrm>
            <a:off x="3563888" y="3490276"/>
            <a:ext cx="5595602" cy="3367724"/>
          </a:xfrm>
          <a:prstGeom prst="rect">
            <a:avLst/>
          </a:prstGeom>
        </p:spPr>
      </p:pic>
    </p:spTree>
    <p:extLst>
      <p:ext uri="{BB962C8B-B14F-4D97-AF65-F5344CB8AC3E}">
        <p14:creationId xmlns:p14="http://schemas.microsoft.com/office/powerpoint/2010/main" val="1773971753"/>
      </p:ext>
    </p:extLst>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5178ABA3-FFA3-425C-896D-DDE628894289}"/>
              </a:ext>
            </a:extLst>
          </p:cNvPr>
          <p:cNvPicPr>
            <a:picLocks noChangeAspect="1"/>
          </p:cNvPicPr>
          <p:nvPr/>
        </p:nvPicPr>
        <p:blipFill>
          <a:blip r:embed="rId2"/>
          <a:stretch>
            <a:fillRect/>
          </a:stretch>
        </p:blipFill>
        <p:spPr>
          <a:xfrm>
            <a:off x="107504" y="836712"/>
            <a:ext cx="5891565" cy="3240360"/>
          </a:xfrm>
          <a:prstGeom prst="rect">
            <a:avLst/>
          </a:prstGeom>
        </p:spPr>
      </p:pic>
      <p:pic>
        <p:nvPicPr>
          <p:cNvPr id="3" name="图片 2">
            <a:extLst>
              <a:ext uri="{FF2B5EF4-FFF2-40B4-BE49-F238E27FC236}">
                <a16:creationId xmlns:a16="http://schemas.microsoft.com/office/drawing/2014/main" id="{923B1F1C-53D5-4524-AE1B-DEE9814A7E0A}"/>
              </a:ext>
            </a:extLst>
          </p:cNvPr>
          <p:cNvPicPr>
            <a:picLocks noChangeAspect="1"/>
          </p:cNvPicPr>
          <p:nvPr/>
        </p:nvPicPr>
        <p:blipFill>
          <a:blip r:embed="rId3"/>
          <a:stretch>
            <a:fillRect/>
          </a:stretch>
        </p:blipFill>
        <p:spPr>
          <a:xfrm>
            <a:off x="3707904" y="3946908"/>
            <a:ext cx="5113463" cy="2911092"/>
          </a:xfrm>
          <a:prstGeom prst="rect">
            <a:avLst/>
          </a:prstGeom>
        </p:spPr>
      </p:pic>
    </p:spTree>
    <p:extLst>
      <p:ext uri="{BB962C8B-B14F-4D97-AF65-F5344CB8AC3E}">
        <p14:creationId xmlns:p14="http://schemas.microsoft.com/office/powerpoint/2010/main" val="1001620494"/>
      </p:ext>
    </p:extLst>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7321D825-49A6-44AA-9E54-B1993471606E}"/>
              </a:ext>
            </a:extLst>
          </p:cNvPr>
          <p:cNvPicPr>
            <a:picLocks noChangeAspect="1"/>
          </p:cNvPicPr>
          <p:nvPr/>
        </p:nvPicPr>
        <p:blipFill>
          <a:blip r:embed="rId2"/>
          <a:stretch>
            <a:fillRect/>
          </a:stretch>
        </p:blipFill>
        <p:spPr>
          <a:xfrm>
            <a:off x="0" y="0"/>
            <a:ext cx="5121084" cy="3071126"/>
          </a:xfrm>
          <a:prstGeom prst="rect">
            <a:avLst/>
          </a:prstGeom>
        </p:spPr>
      </p:pic>
      <p:pic>
        <p:nvPicPr>
          <p:cNvPr id="3" name="图片 2">
            <a:extLst>
              <a:ext uri="{FF2B5EF4-FFF2-40B4-BE49-F238E27FC236}">
                <a16:creationId xmlns:a16="http://schemas.microsoft.com/office/drawing/2014/main" id="{3E08C3CF-1777-488B-8885-B4B71ACE9A16}"/>
              </a:ext>
            </a:extLst>
          </p:cNvPr>
          <p:cNvPicPr>
            <a:picLocks noChangeAspect="1"/>
          </p:cNvPicPr>
          <p:nvPr/>
        </p:nvPicPr>
        <p:blipFill>
          <a:blip r:embed="rId3"/>
          <a:stretch>
            <a:fillRect/>
          </a:stretch>
        </p:blipFill>
        <p:spPr>
          <a:xfrm>
            <a:off x="3419872" y="3212976"/>
            <a:ext cx="5616427" cy="3254022"/>
          </a:xfrm>
          <a:prstGeom prst="rect">
            <a:avLst/>
          </a:prstGeom>
        </p:spPr>
      </p:pic>
    </p:spTree>
    <p:extLst>
      <p:ext uri="{BB962C8B-B14F-4D97-AF65-F5344CB8AC3E}">
        <p14:creationId xmlns:p14="http://schemas.microsoft.com/office/powerpoint/2010/main" val="1765669556"/>
      </p:ext>
    </p:extLst>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矩形 2"/>
          <p:cNvSpPr>
            <a:spLocks noChangeArrowheads="1"/>
          </p:cNvSpPr>
          <p:nvPr/>
        </p:nvSpPr>
        <p:spPr bwMode="auto">
          <a:xfrm>
            <a:off x="177800" y="1143000"/>
            <a:ext cx="8734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400" dirty="0">
                <a:solidFill>
                  <a:srgbClr val="0000FF"/>
                </a:solidFill>
                <a:latin typeface="Times New Roman" panose="02020603050405020304" pitchFamily="18" charset="0"/>
              </a:rPr>
              <a:t>网络信息安全与国际事件</a:t>
            </a:r>
            <a:endParaRPr lang="en-US" altLang="en-US" sz="2400" dirty="0">
              <a:solidFill>
                <a:srgbClr val="0000FF"/>
              </a:solidFill>
              <a:latin typeface="Times New Roman" panose="02020603050405020304" pitchFamily="18" charset="0"/>
            </a:endParaRPr>
          </a:p>
        </p:txBody>
      </p:sp>
      <p:pic>
        <p:nvPicPr>
          <p:cNvPr id="2" name="图片 1">
            <a:extLst>
              <a:ext uri="{FF2B5EF4-FFF2-40B4-BE49-F238E27FC236}">
                <a16:creationId xmlns:a16="http://schemas.microsoft.com/office/drawing/2014/main" id="{C70913B0-BA5A-4817-8A50-8C2289680E80}"/>
              </a:ext>
            </a:extLst>
          </p:cNvPr>
          <p:cNvPicPr>
            <a:picLocks noChangeAspect="1"/>
          </p:cNvPicPr>
          <p:nvPr/>
        </p:nvPicPr>
        <p:blipFill>
          <a:blip r:embed="rId2"/>
          <a:stretch>
            <a:fillRect/>
          </a:stretch>
        </p:blipFill>
        <p:spPr>
          <a:xfrm>
            <a:off x="755576" y="1988840"/>
            <a:ext cx="6790008" cy="3894157"/>
          </a:xfrm>
          <a:prstGeom prst="rect">
            <a:avLst/>
          </a:prstGeom>
        </p:spPr>
      </p:pic>
      <p:pic>
        <p:nvPicPr>
          <p:cNvPr id="3" name="图片 2">
            <a:extLst>
              <a:ext uri="{FF2B5EF4-FFF2-40B4-BE49-F238E27FC236}">
                <a16:creationId xmlns:a16="http://schemas.microsoft.com/office/drawing/2014/main" id="{C66216B9-5CDA-49E3-9770-DAB9BEBF0B27}"/>
              </a:ext>
            </a:extLst>
          </p:cNvPr>
          <p:cNvPicPr>
            <a:picLocks noChangeAspect="1"/>
          </p:cNvPicPr>
          <p:nvPr/>
        </p:nvPicPr>
        <p:blipFill>
          <a:blip r:embed="rId3"/>
          <a:stretch>
            <a:fillRect/>
          </a:stretch>
        </p:blipFill>
        <p:spPr>
          <a:xfrm>
            <a:off x="1331640" y="2298190"/>
            <a:ext cx="6721422" cy="3985605"/>
          </a:xfrm>
          <a:prstGeom prst="rect">
            <a:avLst/>
          </a:prstGeom>
        </p:spPr>
      </p:pic>
      <p:pic>
        <p:nvPicPr>
          <p:cNvPr id="4" name="图片 3">
            <a:extLst>
              <a:ext uri="{FF2B5EF4-FFF2-40B4-BE49-F238E27FC236}">
                <a16:creationId xmlns:a16="http://schemas.microsoft.com/office/drawing/2014/main" id="{63350883-D9E9-46F5-A18F-D9EF18626217}"/>
              </a:ext>
            </a:extLst>
          </p:cNvPr>
          <p:cNvPicPr>
            <a:picLocks noChangeAspect="1"/>
          </p:cNvPicPr>
          <p:nvPr/>
        </p:nvPicPr>
        <p:blipFill>
          <a:blip r:embed="rId4"/>
          <a:stretch>
            <a:fillRect/>
          </a:stretch>
        </p:blipFill>
        <p:spPr>
          <a:xfrm>
            <a:off x="1652891" y="2282432"/>
            <a:ext cx="7491109" cy="4397121"/>
          </a:xfrm>
          <a:prstGeom prst="rect">
            <a:avLst/>
          </a:prstGeom>
        </p:spPr>
      </p:pic>
      <p:pic>
        <p:nvPicPr>
          <p:cNvPr id="5" name="图片 4">
            <a:extLst>
              <a:ext uri="{FF2B5EF4-FFF2-40B4-BE49-F238E27FC236}">
                <a16:creationId xmlns:a16="http://schemas.microsoft.com/office/drawing/2014/main" id="{1124EB70-698B-427C-8AD1-089A9136B461}"/>
              </a:ext>
            </a:extLst>
          </p:cNvPr>
          <p:cNvPicPr>
            <a:picLocks noChangeAspect="1"/>
          </p:cNvPicPr>
          <p:nvPr/>
        </p:nvPicPr>
        <p:blipFill>
          <a:blip r:embed="rId5"/>
          <a:stretch>
            <a:fillRect/>
          </a:stretch>
        </p:blipFill>
        <p:spPr>
          <a:xfrm>
            <a:off x="2367310" y="384888"/>
            <a:ext cx="7674005" cy="6294665"/>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randombar(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circle(in)">
                                      <p:cBhvr>
                                        <p:cTn id="2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56B82BD6-AF34-43E7-A234-57AF7039478C}"/>
              </a:ext>
            </a:extLst>
          </p:cNvPr>
          <p:cNvPicPr>
            <a:picLocks noChangeAspect="1"/>
          </p:cNvPicPr>
          <p:nvPr/>
        </p:nvPicPr>
        <p:blipFill>
          <a:blip r:embed="rId2"/>
          <a:stretch>
            <a:fillRect/>
          </a:stretch>
        </p:blipFill>
        <p:spPr>
          <a:xfrm>
            <a:off x="33896" y="1687679"/>
            <a:ext cx="9076207" cy="3482642"/>
          </a:xfrm>
          <a:prstGeom prst="rect">
            <a:avLst/>
          </a:prstGeom>
        </p:spPr>
      </p:pic>
      <p:pic>
        <p:nvPicPr>
          <p:cNvPr id="3" name="图片 2">
            <a:extLst>
              <a:ext uri="{FF2B5EF4-FFF2-40B4-BE49-F238E27FC236}">
                <a16:creationId xmlns:a16="http://schemas.microsoft.com/office/drawing/2014/main" id="{F89AB61A-BEE5-4BA4-8A1D-312A341AEEC1}"/>
              </a:ext>
            </a:extLst>
          </p:cNvPr>
          <p:cNvPicPr>
            <a:picLocks noChangeAspect="1"/>
          </p:cNvPicPr>
          <p:nvPr/>
        </p:nvPicPr>
        <p:blipFill>
          <a:blip r:embed="rId3"/>
          <a:stretch>
            <a:fillRect/>
          </a:stretch>
        </p:blipFill>
        <p:spPr>
          <a:xfrm>
            <a:off x="323482" y="845596"/>
            <a:ext cx="8497036" cy="5166808"/>
          </a:xfrm>
          <a:prstGeom prst="rect">
            <a:avLst/>
          </a:prstGeom>
        </p:spPr>
      </p:pic>
    </p:spTree>
    <p:extLst>
      <p:ext uri="{BB962C8B-B14F-4D97-AF65-F5344CB8AC3E}">
        <p14:creationId xmlns:p14="http://schemas.microsoft.com/office/powerpoint/2010/main" val="3859349018"/>
      </p:ext>
    </p:extLst>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E7282F1-57F4-414D-B678-A4E61F832D16}"/>
              </a:ext>
            </a:extLst>
          </p:cNvPr>
          <p:cNvPicPr>
            <a:picLocks noChangeAspect="1"/>
          </p:cNvPicPr>
          <p:nvPr/>
        </p:nvPicPr>
        <p:blipFill>
          <a:blip r:embed="rId2"/>
          <a:stretch>
            <a:fillRect/>
          </a:stretch>
        </p:blipFill>
        <p:spPr>
          <a:xfrm>
            <a:off x="0" y="738567"/>
            <a:ext cx="9144000" cy="5380865"/>
          </a:xfrm>
          <a:prstGeom prst="rect">
            <a:avLst/>
          </a:prstGeom>
        </p:spPr>
      </p:pic>
    </p:spTree>
    <p:extLst>
      <p:ext uri="{BB962C8B-B14F-4D97-AF65-F5344CB8AC3E}">
        <p14:creationId xmlns:p14="http://schemas.microsoft.com/office/powerpoint/2010/main" val="1807332015"/>
      </p:ext>
    </p:extLst>
  </p:cSld>
  <p:clrMapOvr>
    <a:masterClrMapping/>
  </p:clrMapOvr>
  <p:transition spd="slow">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5"/>
          <p:cNvSpPr>
            <a:spLocks noChangeArrowheads="1"/>
          </p:cNvSpPr>
          <p:nvPr/>
        </p:nvSpPr>
        <p:spPr bwMode="auto">
          <a:xfrm>
            <a:off x="34925" y="2678113"/>
            <a:ext cx="9074150" cy="111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lgn="ctr">
              <a:lnSpc>
                <a:spcPct val="115000"/>
              </a:lnSpc>
              <a:spcBef>
                <a:spcPct val="0"/>
              </a:spcBef>
              <a:buClr>
                <a:schemeClr val="tx2"/>
              </a:buClr>
            </a:pPr>
            <a:r>
              <a:rPr lang="zh-CN" altLang="en-US" sz="4800" dirty="0">
                <a:solidFill>
                  <a:srgbClr val="4675CA"/>
                </a:solidFill>
                <a:latin typeface="黑体" panose="02010609060101010101" pitchFamily="49" charset="-122"/>
                <a:ea typeface="黑体" panose="02010609060101010101" pitchFamily="49" charset="-122"/>
              </a:rPr>
              <a:t>第</a:t>
            </a:r>
            <a:r>
              <a:rPr lang="en-US" altLang="zh-CN" sz="4800" dirty="0">
                <a:solidFill>
                  <a:srgbClr val="4675CA"/>
                </a:solidFill>
                <a:latin typeface="黑体" panose="02010609060101010101" pitchFamily="49" charset="-122"/>
                <a:ea typeface="黑体" panose="02010609060101010101" pitchFamily="49" charset="-122"/>
              </a:rPr>
              <a:t>3</a:t>
            </a:r>
            <a:r>
              <a:rPr lang="zh-CN" altLang="en-US" sz="4800" dirty="0">
                <a:solidFill>
                  <a:srgbClr val="4675CA"/>
                </a:solidFill>
                <a:latin typeface="黑体" panose="02010609060101010101" pitchFamily="49" charset="-122"/>
                <a:ea typeface="黑体" panose="02010609060101010101" pitchFamily="49" charset="-122"/>
              </a:rPr>
              <a:t>部分 网络空间安全威胁分析</a:t>
            </a:r>
          </a:p>
        </p:txBody>
      </p:sp>
    </p:spTree>
    <p:extLst>
      <p:ext uri="{BB962C8B-B14F-4D97-AF65-F5344CB8AC3E}">
        <p14:creationId xmlns:p14="http://schemas.microsoft.com/office/powerpoint/2010/main" val="3869326477"/>
      </p:ext>
    </p:extLst>
  </p:cSld>
  <p:clrMapOvr>
    <a:masterClrMapping/>
  </p:clrMapOvr>
  <p:transition spd="slow">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a:extLst>
              <a:ext uri="{FF2B5EF4-FFF2-40B4-BE49-F238E27FC236}">
                <a16:creationId xmlns:a16="http://schemas.microsoft.com/office/drawing/2014/main" id="{D5E12148-B817-44C1-BBEE-6998866D26B2}"/>
              </a:ext>
            </a:extLst>
          </p:cNvPr>
          <p:cNvSpPr>
            <a:spLocks noChangeArrowheads="1"/>
          </p:cNvSpPr>
          <p:nvPr/>
        </p:nvSpPr>
        <p:spPr bwMode="auto">
          <a:xfrm>
            <a:off x="204787" y="2852936"/>
            <a:ext cx="8734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400" dirty="0">
                <a:solidFill>
                  <a:srgbClr val="0070C0"/>
                </a:solidFill>
                <a:latin typeface="Times New Roman" panose="02020603050405020304" pitchFamily="18" charset="0"/>
              </a:rPr>
              <a:t>结论</a:t>
            </a:r>
            <a:r>
              <a:rPr lang="en-US" altLang="zh-CN" sz="2400" dirty="0">
                <a:solidFill>
                  <a:srgbClr val="0070C0"/>
                </a:solidFill>
                <a:latin typeface="Times New Roman" panose="02020603050405020304" pitchFamily="18" charset="0"/>
              </a:rPr>
              <a:t>2. </a:t>
            </a:r>
            <a:r>
              <a:rPr lang="zh-CN" altLang="en-US" sz="2400" dirty="0"/>
              <a:t>网络信息安全和网络信息保护严重不对称</a:t>
            </a:r>
            <a:endParaRPr lang="en-US" altLang="en-US" sz="2400" dirty="0">
              <a:solidFill>
                <a:srgbClr val="0070C0"/>
              </a:solidFill>
              <a:latin typeface="Times New Roman" panose="02020603050405020304" pitchFamily="18" charset="0"/>
            </a:endParaRPr>
          </a:p>
        </p:txBody>
      </p:sp>
      <p:sp>
        <p:nvSpPr>
          <p:cNvPr id="4" name="矩形 4">
            <a:extLst>
              <a:ext uri="{FF2B5EF4-FFF2-40B4-BE49-F238E27FC236}">
                <a16:creationId xmlns:a16="http://schemas.microsoft.com/office/drawing/2014/main" id="{2804F01E-0A8E-4BCB-AF9A-27FABC33B85A}"/>
              </a:ext>
            </a:extLst>
          </p:cNvPr>
          <p:cNvSpPr>
            <a:spLocks noChangeArrowheads="1"/>
          </p:cNvSpPr>
          <p:nvPr/>
        </p:nvSpPr>
        <p:spPr bwMode="auto">
          <a:xfrm>
            <a:off x="204787" y="4725144"/>
            <a:ext cx="8734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400" dirty="0">
                <a:solidFill>
                  <a:srgbClr val="0070C0"/>
                </a:solidFill>
                <a:latin typeface="Times New Roman" panose="02020603050405020304" pitchFamily="18" charset="0"/>
              </a:rPr>
              <a:t>结论</a:t>
            </a:r>
            <a:r>
              <a:rPr lang="en-US" altLang="zh-CN" sz="2400" dirty="0">
                <a:solidFill>
                  <a:srgbClr val="0070C0"/>
                </a:solidFill>
                <a:latin typeface="Times New Roman" panose="02020603050405020304" pitchFamily="18" charset="0"/>
              </a:rPr>
              <a:t>3. </a:t>
            </a:r>
            <a:r>
              <a:rPr lang="zh-CN" altLang="en-US" sz="2400" dirty="0">
                <a:latin typeface="Times New Roman" panose="02020603050405020304" pitchFamily="18" charset="0"/>
              </a:rPr>
              <a:t>数据泄漏（数据隐私）不单单是个人问题</a:t>
            </a:r>
            <a:endParaRPr lang="en-US" altLang="en-US" sz="2400" dirty="0">
              <a:latin typeface="Times New Roman" panose="02020603050405020304" pitchFamily="18" charset="0"/>
            </a:endParaRPr>
          </a:p>
        </p:txBody>
      </p:sp>
      <p:sp>
        <p:nvSpPr>
          <p:cNvPr id="5" name="矩形 4">
            <a:extLst>
              <a:ext uri="{FF2B5EF4-FFF2-40B4-BE49-F238E27FC236}">
                <a16:creationId xmlns:a16="http://schemas.microsoft.com/office/drawing/2014/main" id="{5240C401-D40A-4E1B-9D7E-CB2E3EAB2482}"/>
              </a:ext>
            </a:extLst>
          </p:cNvPr>
          <p:cNvSpPr>
            <a:spLocks noChangeArrowheads="1"/>
          </p:cNvSpPr>
          <p:nvPr/>
        </p:nvSpPr>
        <p:spPr bwMode="auto">
          <a:xfrm>
            <a:off x="204787" y="1316667"/>
            <a:ext cx="87344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pPr>
            <a:r>
              <a:rPr lang="zh-CN" altLang="en-US" sz="2400" dirty="0">
                <a:solidFill>
                  <a:srgbClr val="0070C0"/>
                </a:solidFill>
                <a:latin typeface="Times New Roman" panose="02020603050405020304" pitchFamily="18" charset="0"/>
              </a:rPr>
              <a:t>结论</a:t>
            </a:r>
            <a:r>
              <a:rPr lang="en-US" altLang="zh-CN" sz="2400" dirty="0">
                <a:solidFill>
                  <a:srgbClr val="0070C0"/>
                </a:solidFill>
                <a:latin typeface="Times New Roman" panose="02020603050405020304" pitchFamily="18" charset="0"/>
              </a:rPr>
              <a:t>1. </a:t>
            </a:r>
            <a:r>
              <a:rPr lang="zh-CN" altLang="en-US" sz="2400" dirty="0"/>
              <a:t>攻击侧，目的专一，具备政治和经济目的，瞄准的是重要设施，重点单位，重大事件</a:t>
            </a:r>
            <a:endParaRPr lang="en-US" altLang="en-US" sz="2400" dirty="0">
              <a:solidFill>
                <a:srgbClr val="0070C0"/>
              </a:solidFill>
              <a:latin typeface="Times New Roman" panose="02020603050405020304" pitchFamily="18" charset="0"/>
            </a:endParaRPr>
          </a:p>
        </p:txBody>
      </p:sp>
    </p:spTree>
    <p:extLst>
      <p:ext uri="{BB962C8B-B14F-4D97-AF65-F5344CB8AC3E}">
        <p14:creationId xmlns:p14="http://schemas.microsoft.com/office/powerpoint/2010/main" val="4242617130"/>
      </p:ext>
    </p:extLst>
  </p:cSld>
  <p:clrMapOvr>
    <a:masterClrMapping/>
  </p:clrMapOvr>
  <p:transition spd="slow">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5"/>
          <p:cNvSpPr>
            <a:spLocks noChangeArrowheads="1"/>
          </p:cNvSpPr>
          <p:nvPr/>
        </p:nvSpPr>
        <p:spPr bwMode="auto">
          <a:xfrm>
            <a:off x="34925" y="2678113"/>
            <a:ext cx="9074150" cy="111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kumimoji="1" sz="3200" b="1">
                <a:solidFill>
                  <a:schemeClr val="tx1"/>
                </a:solidFill>
                <a:latin typeface="Arial" panose="020B0604020202020204" pitchFamily="34" charset="0"/>
                <a:ea typeface="楷体_GB2312" pitchFamily="49" charset="-122"/>
              </a:defRPr>
            </a:lvl1pPr>
            <a:lvl2pPr marL="742950" indent="-285750">
              <a:spcBef>
                <a:spcPct val="20000"/>
              </a:spcBef>
              <a:buChar char="–"/>
              <a:defRPr kumimoji="1" sz="2800" b="1">
                <a:solidFill>
                  <a:schemeClr val="tx1"/>
                </a:solidFill>
                <a:latin typeface="Arial" panose="020B0604020202020204" pitchFamily="34"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lgn="ctr">
              <a:lnSpc>
                <a:spcPct val="115000"/>
              </a:lnSpc>
              <a:spcBef>
                <a:spcPct val="0"/>
              </a:spcBef>
              <a:buClr>
                <a:schemeClr val="tx2"/>
              </a:buClr>
            </a:pPr>
            <a:r>
              <a:rPr lang="zh-CN" altLang="en-US" sz="4800" dirty="0">
                <a:solidFill>
                  <a:srgbClr val="4675CA"/>
                </a:solidFill>
                <a:latin typeface="黑体" panose="02010609060101010101" pitchFamily="49" charset="-122"/>
                <a:ea typeface="黑体" panose="02010609060101010101" pitchFamily="49" charset="-122"/>
              </a:rPr>
              <a:t>第</a:t>
            </a:r>
            <a:r>
              <a:rPr lang="en-US" altLang="zh-CN" sz="4800" dirty="0">
                <a:solidFill>
                  <a:srgbClr val="4675CA"/>
                </a:solidFill>
                <a:latin typeface="黑体" panose="02010609060101010101" pitchFamily="49" charset="-122"/>
                <a:ea typeface="黑体" panose="02010609060101010101" pitchFamily="49" charset="-122"/>
              </a:rPr>
              <a:t>4</a:t>
            </a:r>
            <a:r>
              <a:rPr lang="zh-CN" altLang="en-US" sz="4800" dirty="0">
                <a:solidFill>
                  <a:srgbClr val="4675CA"/>
                </a:solidFill>
                <a:latin typeface="黑体" panose="02010609060101010101" pitchFamily="49" charset="-122"/>
                <a:ea typeface="黑体" panose="02010609060101010101" pitchFamily="49" charset="-122"/>
              </a:rPr>
              <a:t>部分 人工智能安全问题</a:t>
            </a:r>
          </a:p>
        </p:txBody>
      </p:sp>
    </p:spTree>
    <p:extLst>
      <p:ext uri="{BB962C8B-B14F-4D97-AF65-F5344CB8AC3E}">
        <p14:creationId xmlns:p14="http://schemas.microsoft.com/office/powerpoint/2010/main" val="1177282070"/>
      </p:ext>
    </p:extLst>
  </p:cSld>
  <p:clrMapOvr>
    <a:masterClrMapping/>
  </p:clrMapOvr>
  <p:transition spd="slow">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5E073EA2-9A4D-4493-9932-EE363844BBC3}"/>
              </a:ext>
            </a:extLst>
          </p:cNvPr>
          <p:cNvPicPr>
            <a:picLocks noChangeAspect="1"/>
          </p:cNvPicPr>
          <p:nvPr/>
        </p:nvPicPr>
        <p:blipFill>
          <a:blip r:embed="rId3"/>
          <a:stretch>
            <a:fillRect/>
          </a:stretch>
        </p:blipFill>
        <p:spPr>
          <a:xfrm>
            <a:off x="4426466" y="350374"/>
            <a:ext cx="4538603" cy="1632372"/>
          </a:xfrm>
          <a:prstGeom prst="rect">
            <a:avLst/>
          </a:prstGeom>
        </p:spPr>
      </p:pic>
      <p:sp>
        <p:nvSpPr>
          <p:cNvPr id="3" name="矩形 2">
            <a:extLst>
              <a:ext uri="{FF2B5EF4-FFF2-40B4-BE49-F238E27FC236}">
                <a16:creationId xmlns:a16="http://schemas.microsoft.com/office/drawing/2014/main" id="{0BB6E18D-B71B-4B06-96EC-B291BDB8A29F}"/>
              </a:ext>
            </a:extLst>
          </p:cNvPr>
          <p:cNvSpPr/>
          <p:nvPr/>
        </p:nvSpPr>
        <p:spPr>
          <a:xfrm>
            <a:off x="179512" y="970160"/>
            <a:ext cx="4572000" cy="523220"/>
          </a:xfrm>
          <a:prstGeom prst="rect">
            <a:avLst/>
          </a:prstGeom>
        </p:spPr>
        <p:txBody>
          <a:bodyPr>
            <a:spAutoFit/>
          </a:bodyPr>
          <a:lstStyle/>
          <a:p>
            <a:r>
              <a:rPr lang="zh-CN" altLang="en-US" dirty="0"/>
              <a:t>随着海量数据的积累</a:t>
            </a:r>
          </a:p>
        </p:txBody>
      </p:sp>
      <p:sp>
        <p:nvSpPr>
          <p:cNvPr id="4" name="矩形 3">
            <a:extLst>
              <a:ext uri="{FF2B5EF4-FFF2-40B4-BE49-F238E27FC236}">
                <a16:creationId xmlns:a16="http://schemas.microsoft.com/office/drawing/2014/main" id="{646A4558-3D69-4AA0-84B1-31F2EA95234F}"/>
              </a:ext>
            </a:extLst>
          </p:cNvPr>
          <p:cNvSpPr/>
          <p:nvPr/>
        </p:nvSpPr>
        <p:spPr>
          <a:xfrm>
            <a:off x="179512" y="1740120"/>
            <a:ext cx="4572000" cy="523220"/>
          </a:xfrm>
          <a:prstGeom prst="rect">
            <a:avLst/>
          </a:prstGeom>
        </p:spPr>
        <p:txBody>
          <a:bodyPr>
            <a:spAutoFit/>
          </a:bodyPr>
          <a:lstStyle/>
          <a:p>
            <a:r>
              <a:rPr lang="zh-CN" altLang="en-US" dirty="0"/>
              <a:t>计算能力的发展</a:t>
            </a:r>
            <a:endParaRPr lang="en-US" altLang="zh-CN" dirty="0"/>
          </a:p>
        </p:txBody>
      </p:sp>
      <p:sp>
        <p:nvSpPr>
          <p:cNvPr id="5" name="矩形 4">
            <a:extLst>
              <a:ext uri="{FF2B5EF4-FFF2-40B4-BE49-F238E27FC236}">
                <a16:creationId xmlns:a16="http://schemas.microsoft.com/office/drawing/2014/main" id="{578EE68C-8334-46DA-83D8-69209B2E6E23}"/>
              </a:ext>
            </a:extLst>
          </p:cNvPr>
          <p:cNvSpPr/>
          <p:nvPr/>
        </p:nvSpPr>
        <p:spPr>
          <a:xfrm>
            <a:off x="179512" y="2602532"/>
            <a:ext cx="6606480" cy="523220"/>
          </a:xfrm>
          <a:prstGeom prst="rect">
            <a:avLst/>
          </a:prstGeom>
        </p:spPr>
        <p:txBody>
          <a:bodyPr wrap="square">
            <a:spAutoFit/>
          </a:bodyPr>
          <a:lstStyle/>
          <a:p>
            <a:r>
              <a:rPr lang="zh-CN" altLang="en-US" dirty="0"/>
              <a:t>机器学习方法与系统的持续创新与演进</a:t>
            </a:r>
          </a:p>
        </p:txBody>
      </p:sp>
      <p:sp>
        <p:nvSpPr>
          <p:cNvPr id="6" name="矩形 5">
            <a:extLst>
              <a:ext uri="{FF2B5EF4-FFF2-40B4-BE49-F238E27FC236}">
                <a16:creationId xmlns:a16="http://schemas.microsoft.com/office/drawing/2014/main" id="{48DB2F43-96E3-4C6D-B114-D8F3325DFFB9}"/>
              </a:ext>
            </a:extLst>
          </p:cNvPr>
          <p:cNvSpPr/>
          <p:nvPr/>
        </p:nvSpPr>
        <p:spPr>
          <a:xfrm>
            <a:off x="179512" y="3125752"/>
            <a:ext cx="8784976" cy="1384995"/>
          </a:xfrm>
          <a:prstGeom prst="rect">
            <a:avLst/>
          </a:prstGeom>
        </p:spPr>
        <p:txBody>
          <a:bodyPr wrap="square">
            <a:spAutoFit/>
          </a:bodyPr>
          <a:lstStyle/>
          <a:p>
            <a:endParaRPr lang="en-US" altLang="zh-CN" dirty="0"/>
          </a:p>
          <a:p>
            <a:r>
              <a:rPr lang="zh-CN" altLang="en-US" dirty="0"/>
              <a:t>诸如图像识别、语音识 别、自然语言翻译等人工智能技术得到普遍部署和广泛应用</a:t>
            </a:r>
          </a:p>
        </p:txBody>
      </p:sp>
      <p:sp>
        <p:nvSpPr>
          <p:cNvPr id="7" name="矩形 6">
            <a:extLst>
              <a:ext uri="{FF2B5EF4-FFF2-40B4-BE49-F238E27FC236}">
                <a16:creationId xmlns:a16="http://schemas.microsoft.com/office/drawing/2014/main" id="{AD036D1F-B73F-400F-8D56-F1CDC3B10F80}"/>
              </a:ext>
            </a:extLst>
          </p:cNvPr>
          <p:cNvSpPr/>
          <p:nvPr/>
        </p:nvSpPr>
        <p:spPr>
          <a:xfrm>
            <a:off x="214520" y="4933733"/>
            <a:ext cx="8605952" cy="523220"/>
          </a:xfrm>
          <a:prstGeom prst="rect">
            <a:avLst/>
          </a:prstGeom>
        </p:spPr>
        <p:txBody>
          <a:bodyPr wrap="square">
            <a:spAutoFit/>
          </a:bodyPr>
          <a:lstStyle/>
          <a:p>
            <a:r>
              <a:rPr lang="en-US" altLang="zh-CN" dirty="0"/>
              <a:t>AI</a:t>
            </a:r>
            <a:r>
              <a:rPr lang="zh-CN" altLang="en-US" dirty="0"/>
              <a:t>算法设计之初普遍未考虑相关的安全威胁</a:t>
            </a:r>
          </a:p>
        </p:txBody>
      </p:sp>
    </p:spTree>
    <p:extLst>
      <p:ext uri="{BB962C8B-B14F-4D97-AF65-F5344CB8AC3E}">
        <p14:creationId xmlns:p14="http://schemas.microsoft.com/office/powerpoint/2010/main" val="3782842478"/>
      </p:ext>
    </p:extLst>
  </p:cSld>
  <p:clrMapOvr>
    <a:masterClrMapping/>
  </p:clrMapOvr>
  <p:transition spd="slow">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2">
            <a:extLst>
              <a:ext uri="{FF2B5EF4-FFF2-40B4-BE49-F238E27FC236}">
                <a16:creationId xmlns:a16="http://schemas.microsoft.com/office/drawing/2014/main" id="{9692D81A-B659-052C-6F43-CDD0A24221A5}"/>
              </a:ext>
            </a:extLst>
          </p:cNvPr>
          <p:cNvSpPr txBox="1">
            <a:spLocks/>
          </p:cNvSpPr>
          <p:nvPr/>
        </p:nvSpPr>
        <p:spPr>
          <a:xfrm>
            <a:off x="-36512" y="21206"/>
            <a:ext cx="7621017" cy="1014730"/>
          </a:xfrm>
          <a:prstGeom prst="rect">
            <a:avLst/>
          </a:prstGeom>
        </p:spPr>
        <p:txBody>
          <a:bodyPr/>
          <a:lstStyle>
            <a:lvl1pPr algn="ctr" rtl="0" eaLnBrk="0" fontAlgn="base" hangingPunct="0">
              <a:spcBef>
                <a:spcPct val="0"/>
              </a:spcBef>
              <a:spcAft>
                <a:spcPct val="0"/>
              </a:spcAft>
              <a:defRPr kumimoji="1" sz="3600" b="1">
                <a:solidFill>
                  <a:srgbClr val="FF0000"/>
                </a:solidFill>
                <a:latin typeface="+mj-lt"/>
                <a:ea typeface="+mj-ea"/>
                <a:cs typeface="+mj-cs"/>
              </a:defRPr>
            </a:lvl1pPr>
            <a:lvl2pPr algn="ctr" rtl="0" eaLnBrk="0" fontAlgn="base" hangingPunct="0">
              <a:spcBef>
                <a:spcPct val="0"/>
              </a:spcBef>
              <a:spcAft>
                <a:spcPct val="0"/>
              </a:spcAft>
              <a:defRPr kumimoji="1" sz="3600" b="1">
                <a:solidFill>
                  <a:srgbClr val="FF0000"/>
                </a:solidFill>
                <a:latin typeface="Arial" charset="0"/>
                <a:ea typeface="楷体_GB2312" pitchFamily="49" charset="-122"/>
              </a:defRPr>
            </a:lvl2pPr>
            <a:lvl3pPr algn="ctr" rtl="0" eaLnBrk="0" fontAlgn="base" hangingPunct="0">
              <a:spcBef>
                <a:spcPct val="0"/>
              </a:spcBef>
              <a:spcAft>
                <a:spcPct val="0"/>
              </a:spcAft>
              <a:defRPr kumimoji="1" sz="3600" b="1">
                <a:solidFill>
                  <a:srgbClr val="FF0000"/>
                </a:solidFill>
                <a:latin typeface="Arial" charset="0"/>
                <a:ea typeface="楷体_GB2312" pitchFamily="49" charset="-122"/>
              </a:defRPr>
            </a:lvl3pPr>
            <a:lvl4pPr algn="ctr" rtl="0" eaLnBrk="0" fontAlgn="base" hangingPunct="0">
              <a:spcBef>
                <a:spcPct val="0"/>
              </a:spcBef>
              <a:spcAft>
                <a:spcPct val="0"/>
              </a:spcAft>
              <a:defRPr kumimoji="1" sz="3600" b="1">
                <a:solidFill>
                  <a:srgbClr val="FF0000"/>
                </a:solidFill>
                <a:latin typeface="Arial" charset="0"/>
                <a:ea typeface="楷体_GB2312" pitchFamily="49" charset="-122"/>
              </a:defRPr>
            </a:lvl4pPr>
            <a:lvl5pPr algn="ctr" rtl="0" eaLnBrk="0" fontAlgn="base" hangingPunct="0">
              <a:spcBef>
                <a:spcPct val="0"/>
              </a:spcBef>
              <a:spcAft>
                <a:spcPct val="0"/>
              </a:spcAft>
              <a:defRPr kumimoji="1" sz="3600" b="1">
                <a:solidFill>
                  <a:srgbClr val="FF0000"/>
                </a:solidFill>
                <a:latin typeface="Arial" charset="0"/>
                <a:ea typeface="楷体_GB2312" pitchFamily="49" charset="-122"/>
              </a:defRPr>
            </a:lvl5pPr>
            <a:lvl6pPr marL="457200" algn="ctr" rtl="0" fontAlgn="base">
              <a:spcBef>
                <a:spcPct val="0"/>
              </a:spcBef>
              <a:spcAft>
                <a:spcPct val="0"/>
              </a:spcAft>
              <a:defRPr kumimoji="1" sz="3600" b="1">
                <a:solidFill>
                  <a:srgbClr val="FF0000"/>
                </a:solidFill>
                <a:latin typeface="Arial" charset="0"/>
                <a:ea typeface="楷体_GB2312" pitchFamily="49" charset="-122"/>
              </a:defRPr>
            </a:lvl6pPr>
            <a:lvl7pPr marL="914400" algn="ctr" rtl="0" fontAlgn="base">
              <a:spcBef>
                <a:spcPct val="0"/>
              </a:spcBef>
              <a:spcAft>
                <a:spcPct val="0"/>
              </a:spcAft>
              <a:defRPr kumimoji="1" sz="3600" b="1">
                <a:solidFill>
                  <a:srgbClr val="FF0000"/>
                </a:solidFill>
                <a:latin typeface="Arial" charset="0"/>
                <a:ea typeface="楷体_GB2312" pitchFamily="49" charset="-122"/>
              </a:defRPr>
            </a:lvl7pPr>
            <a:lvl8pPr marL="1371600" algn="ctr" rtl="0" fontAlgn="base">
              <a:spcBef>
                <a:spcPct val="0"/>
              </a:spcBef>
              <a:spcAft>
                <a:spcPct val="0"/>
              </a:spcAft>
              <a:defRPr kumimoji="1" sz="3600" b="1">
                <a:solidFill>
                  <a:srgbClr val="FF0000"/>
                </a:solidFill>
                <a:latin typeface="Arial" charset="0"/>
                <a:ea typeface="楷体_GB2312" pitchFamily="49" charset="-122"/>
              </a:defRPr>
            </a:lvl8pPr>
            <a:lvl9pPr marL="1828800" algn="ctr" rtl="0" fontAlgn="base">
              <a:spcBef>
                <a:spcPct val="0"/>
              </a:spcBef>
              <a:spcAft>
                <a:spcPct val="0"/>
              </a:spcAft>
              <a:defRPr kumimoji="1" sz="3600" b="1">
                <a:solidFill>
                  <a:srgbClr val="FF0000"/>
                </a:solidFill>
                <a:latin typeface="Arial" charset="0"/>
                <a:ea typeface="楷体_GB2312" pitchFamily="49" charset="-122"/>
              </a:defRPr>
            </a:lvl9pPr>
          </a:lstStyle>
          <a:p>
            <a:pPr algn="l"/>
            <a:r>
              <a:rPr kumimoji="0" lang="zh-CN" altLang="en-US" kern="0" dirty="0">
                <a:solidFill>
                  <a:schemeClr val="tx1"/>
                </a:solidFill>
                <a:sym typeface="+mn-ea"/>
              </a:rPr>
              <a:t>（一）大数据背景</a:t>
            </a:r>
            <a:endParaRPr kumimoji="0" lang="zh-CN" altLang="en-US" kern="0" dirty="0">
              <a:solidFill>
                <a:schemeClr val="tx1"/>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9DC66346-4BCD-ABBF-6954-669AD51B04D0}"/>
              </a:ext>
            </a:extLst>
          </p:cNvPr>
          <p:cNvSpPr txBox="1"/>
          <p:nvPr/>
        </p:nvSpPr>
        <p:spPr>
          <a:xfrm>
            <a:off x="497067" y="906442"/>
            <a:ext cx="8323406" cy="2346283"/>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1" lang="en-US" altLang="zh-CN" sz="2000" b="1"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AI</a:t>
            </a:r>
            <a:r>
              <a:rPr kumimoji="1" lang="zh-CN" altLang="en-US" sz="2000" b="1"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教母</a:t>
            </a:r>
            <a:r>
              <a:rPr kumimoji="1" lang="en-US" altLang="zh-CN" sz="2000" b="1" noProof="0" dirty="0" err="1">
                <a:ln>
                  <a:noFill/>
                </a:ln>
                <a:solidFill>
                  <a:srgbClr val="002060"/>
                </a:solidFill>
                <a:effectLst/>
                <a:uLnTx/>
                <a:uFillTx/>
                <a:latin typeface="微软雅黑" panose="020B0503020204020204" pitchFamily="34" charset="-122"/>
                <a:ea typeface="微软雅黑" panose="020B0503020204020204" pitchFamily="34" charset="-122"/>
                <a:sym typeface="+mn-ea"/>
              </a:rPr>
              <a:t>李飞飞主导的</a:t>
            </a:r>
            <a:r>
              <a:rPr kumimoji="1" lang="en-US" altLang="zh-CN" sz="2000" b="1" noProof="0" dirty="0" err="1">
                <a:ln>
                  <a:noFill/>
                </a:ln>
                <a:solidFill>
                  <a:srgbClr val="C00000"/>
                </a:solidFill>
                <a:effectLst/>
                <a:uLnTx/>
                <a:uFillTx/>
                <a:latin typeface="微软雅黑" panose="020B0503020204020204" pitchFamily="34" charset="-122"/>
                <a:ea typeface="微软雅黑" panose="020B0503020204020204" pitchFamily="34" charset="-122"/>
                <a:sym typeface="+mn-ea"/>
              </a:rPr>
              <a:t>ImageNet</a:t>
            </a:r>
            <a:r>
              <a:rPr kumimoji="1" lang="zh-CN" altLang="en-US"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数据集于</a:t>
            </a:r>
            <a:r>
              <a:rPr kumimoji="1" lang="en-US" altLang="zh-CN"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2009</a:t>
            </a:r>
            <a:r>
              <a:rPr kumimoji="1" lang="zh-CN" altLang="en-US"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年发布，包含</a:t>
            </a:r>
            <a:r>
              <a:rPr kumimoji="1" lang="en-US" altLang="zh-CN"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1500</a:t>
            </a:r>
            <a:r>
              <a:rPr kumimoji="1" lang="zh-CN" altLang="en-US"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万张图片，基于此</a:t>
            </a:r>
            <a:r>
              <a:rPr kumimoji="1" lang="zh-CN" altLang="en-US" sz="2000" b="1"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每年举行大规模视觉识别挑战赛，</a:t>
            </a:r>
            <a:r>
              <a:rPr kumimoji="1" lang="zh-CN" altLang="en-US"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吸引全球研究人员贡献最好的</a:t>
            </a:r>
            <a:r>
              <a:rPr kumimoji="1"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人工智能图像识别算法</a:t>
            </a:r>
            <a:r>
              <a:rPr kumimoji="1" lang="zh-CN" altLang="en-US"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进行评比，</a:t>
            </a:r>
            <a:r>
              <a:rPr kumimoji="1" lang="en-US" altLang="zh-CN"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2012</a:t>
            </a:r>
            <a:r>
              <a:rPr kumimoji="1" lang="zh-CN" altLang="en-US"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年由多伦多大学在比赛上设计的</a:t>
            </a:r>
            <a:r>
              <a:rPr kumimoji="1" lang="en-US" altLang="zh-CN"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DCNN</a:t>
            </a:r>
            <a:r>
              <a:rPr kumimoji="1" lang="zh-CN" altLang="en-US"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网络算法，被认为是深度学习革命的开始</a:t>
            </a:r>
          </a:p>
          <a:p>
            <a:pPr marL="0" marR="0" lvl="0" indent="0" algn="just" defTabSz="457200" rtl="0" eaLnBrk="1" fontAlgn="auto" latinLnBrk="0" hangingPunct="1">
              <a:lnSpc>
                <a:spcPct val="150000"/>
              </a:lnSpc>
              <a:spcBef>
                <a:spcPts val="0"/>
              </a:spcBef>
              <a:spcAft>
                <a:spcPts val="0"/>
              </a:spcAft>
              <a:buClrTx/>
              <a:buSzTx/>
              <a:buFontTx/>
              <a:buNone/>
              <a:defRPr/>
            </a:pPr>
            <a:endParaRPr kumimoji="1" lang="zh-CN" altLang="en-US"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pic>
        <p:nvPicPr>
          <p:cNvPr id="10" name="图片 9">
            <a:extLst>
              <a:ext uri="{FF2B5EF4-FFF2-40B4-BE49-F238E27FC236}">
                <a16:creationId xmlns:a16="http://schemas.microsoft.com/office/drawing/2014/main" id="{74D7E0A7-512F-DDA4-57C3-7C7B0C998602}"/>
              </a:ext>
            </a:extLst>
          </p:cNvPr>
          <p:cNvPicPr>
            <a:picLocks noChangeAspect="1"/>
          </p:cNvPicPr>
          <p:nvPr/>
        </p:nvPicPr>
        <p:blipFill>
          <a:blip r:embed="rId3"/>
          <a:stretch>
            <a:fillRect/>
          </a:stretch>
        </p:blipFill>
        <p:spPr>
          <a:xfrm>
            <a:off x="497067" y="3068960"/>
            <a:ext cx="8136904" cy="3561544"/>
          </a:xfrm>
          <a:prstGeom prst="rect">
            <a:avLst/>
          </a:prstGeom>
        </p:spPr>
      </p:pic>
      <p:sp>
        <p:nvSpPr>
          <p:cNvPr id="11" name="灯片编号占位符 5">
            <a:extLst>
              <a:ext uri="{FF2B5EF4-FFF2-40B4-BE49-F238E27FC236}">
                <a16:creationId xmlns:a16="http://schemas.microsoft.com/office/drawing/2014/main" id="{5324310C-A271-B60F-4940-BF77A11DB278}"/>
              </a:ext>
            </a:extLst>
          </p:cNvPr>
          <p:cNvSpPr txBox="1">
            <a:spLocks/>
          </p:cNvSpPr>
          <p:nvPr/>
        </p:nvSpPr>
        <p:spPr>
          <a:xfrm>
            <a:off x="9220200" y="6356350"/>
            <a:ext cx="2743200" cy="365125"/>
          </a:xfrm>
        </p:spPr>
        <p:txBody>
          <a:bodyPr/>
          <a:lstStyle>
            <a:defPPr>
              <a:defRPr lang="zh-CN"/>
            </a:defPPr>
            <a:lvl1pPr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1pPr>
            <a:lvl2pPr marL="4572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2pPr>
            <a:lvl3pPr marL="9144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3pPr>
            <a:lvl4pPr marL="13716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4pPr>
            <a:lvl5pPr marL="18288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9pPr>
          </a:lstStyle>
          <a:p>
            <a:pPr>
              <a:defRPr/>
            </a:pPr>
            <a:fld id="{E41A5DFF-0927-4B7A-94B2-734DA9634F93}" type="slidenum">
              <a:rPr lang="en-US" altLang="zh-CN" smtClean="0"/>
              <a:pPr>
                <a:defRPr/>
              </a:pPr>
              <a:t>49</a:t>
            </a:fld>
            <a:endParaRPr lang="en-US" altLang="zh-CN" dirty="0"/>
          </a:p>
        </p:txBody>
      </p:sp>
    </p:spTree>
    <p:extLst>
      <p:ext uri="{BB962C8B-B14F-4D97-AF65-F5344CB8AC3E}">
        <p14:creationId xmlns:p14="http://schemas.microsoft.com/office/powerpoint/2010/main" val="1477493184"/>
      </p:ext>
    </p:extLst>
  </p:cSld>
  <p:clrMapOvr>
    <a:masterClrMapping/>
  </p:clrMapOvr>
  <p:transition spd="slow">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2">
            <a:extLst>
              <a:ext uri="{FF2B5EF4-FFF2-40B4-BE49-F238E27FC236}">
                <a16:creationId xmlns:a16="http://schemas.microsoft.com/office/drawing/2014/main" id="{9692D81A-B659-052C-6F43-CDD0A24221A5}"/>
              </a:ext>
            </a:extLst>
          </p:cNvPr>
          <p:cNvSpPr txBox="1">
            <a:spLocks/>
          </p:cNvSpPr>
          <p:nvPr/>
        </p:nvSpPr>
        <p:spPr>
          <a:xfrm>
            <a:off x="-36512" y="21206"/>
            <a:ext cx="7621017" cy="1014730"/>
          </a:xfrm>
          <a:prstGeom prst="rect">
            <a:avLst/>
          </a:prstGeom>
        </p:spPr>
        <p:txBody>
          <a:bodyPr/>
          <a:lstStyle>
            <a:lvl1pPr algn="ctr" rtl="0" eaLnBrk="0" fontAlgn="base" hangingPunct="0">
              <a:spcBef>
                <a:spcPct val="0"/>
              </a:spcBef>
              <a:spcAft>
                <a:spcPct val="0"/>
              </a:spcAft>
              <a:defRPr kumimoji="1" sz="3600" b="1">
                <a:solidFill>
                  <a:srgbClr val="FF0000"/>
                </a:solidFill>
                <a:latin typeface="+mj-lt"/>
                <a:ea typeface="+mj-ea"/>
                <a:cs typeface="+mj-cs"/>
              </a:defRPr>
            </a:lvl1pPr>
            <a:lvl2pPr algn="ctr" rtl="0" eaLnBrk="0" fontAlgn="base" hangingPunct="0">
              <a:spcBef>
                <a:spcPct val="0"/>
              </a:spcBef>
              <a:spcAft>
                <a:spcPct val="0"/>
              </a:spcAft>
              <a:defRPr kumimoji="1" sz="3600" b="1">
                <a:solidFill>
                  <a:srgbClr val="FF0000"/>
                </a:solidFill>
                <a:latin typeface="Arial" charset="0"/>
                <a:ea typeface="楷体_GB2312" pitchFamily="49" charset="-122"/>
              </a:defRPr>
            </a:lvl2pPr>
            <a:lvl3pPr algn="ctr" rtl="0" eaLnBrk="0" fontAlgn="base" hangingPunct="0">
              <a:spcBef>
                <a:spcPct val="0"/>
              </a:spcBef>
              <a:spcAft>
                <a:spcPct val="0"/>
              </a:spcAft>
              <a:defRPr kumimoji="1" sz="3600" b="1">
                <a:solidFill>
                  <a:srgbClr val="FF0000"/>
                </a:solidFill>
                <a:latin typeface="Arial" charset="0"/>
                <a:ea typeface="楷体_GB2312" pitchFamily="49" charset="-122"/>
              </a:defRPr>
            </a:lvl3pPr>
            <a:lvl4pPr algn="ctr" rtl="0" eaLnBrk="0" fontAlgn="base" hangingPunct="0">
              <a:spcBef>
                <a:spcPct val="0"/>
              </a:spcBef>
              <a:spcAft>
                <a:spcPct val="0"/>
              </a:spcAft>
              <a:defRPr kumimoji="1" sz="3600" b="1">
                <a:solidFill>
                  <a:srgbClr val="FF0000"/>
                </a:solidFill>
                <a:latin typeface="Arial" charset="0"/>
                <a:ea typeface="楷体_GB2312" pitchFamily="49" charset="-122"/>
              </a:defRPr>
            </a:lvl4pPr>
            <a:lvl5pPr algn="ctr" rtl="0" eaLnBrk="0" fontAlgn="base" hangingPunct="0">
              <a:spcBef>
                <a:spcPct val="0"/>
              </a:spcBef>
              <a:spcAft>
                <a:spcPct val="0"/>
              </a:spcAft>
              <a:defRPr kumimoji="1" sz="3600" b="1">
                <a:solidFill>
                  <a:srgbClr val="FF0000"/>
                </a:solidFill>
                <a:latin typeface="Arial" charset="0"/>
                <a:ea typeface="楷体_GB2312" pitchFamily="49" charset="-122"/>
              </a:defRPr>
            </a:lvl5pPr>
            <a:lvl6pPr marL="457200" algn="ctr" rtl="0" fontAlgn="base">
              <a:spcBef>
                <a:spcPct val="0"/>
              </a:spcBef>
              <a:spcAft>
                <a:spcPct val="0"/>
              </a:spcAft>
              <a:defRPr kumimoji="1" sz="3600" b="1">
                <a:solidFill>
                  <a:srgbClr val="FF0000"/>
                </a:solidFill>
                <a:latin typeface="Arial" charset="0"/>
                <a:ea typeface="楷体_GB2312" pitchFamily="49" charset="-122"/>
              </a:defRPr>
            </a:lvl6pPr>
            <a:lvl7pPr marL="914400" algn="ctr" rtl="0" fontAlgn="base">
              <a:spcBef>
                <a:spcPct val="0"/>
              </a:spcBef>
              <a:spcAft>
                <a:spcPct val="0"/>
              </a:spcAft>
              <a:defRPr kumimoji="1" sz="3600" b="1">
                <a:solidFill>
                  <a:srgbClr val="FF0000"/>
                </a:solidFill>
                <a:latin typeface="Arial" charset="0"/>
                <a:ea typeface="楷体_GB2312" pitchFamily="49" charset="-122"/>
              </a:defRPr>
            </a:lvl7pPr>
            <a:lvl8pPr marL="1371600" algn="ctr" rtl="0" fontAlgn="base">
              <a:spcBef>
                <a:spcPct val="0"/>
              </a:spcBef>
              <a:spcAft>
                <a:spcPct val="0"/>
              </a:spcAft>
              <a:defRPr kumimoji="1" sz="3600" b="1">
                <a:solidFill>
                  <a:srgbClr val="FF0000"/>
                </a:solidFill>
                <a:latin typeface="Arial" charset="0"/>
                <a:ea typeface="楷体_GB2312" pitchFamily="49" charset="-122"/>
              </a:defRPr>
            </a:lvl8pPr>
            <a:lvl9pPr marL="1828800" algn="ctr" rtl="0" fontAlgn="base">
              <a:spcBef>
                <a:spcPct val="0"/>
              </a:spcBef>
              <a:spcAft>
                <a:spcPct val="0"/>
              </a:spcAft>
              <a:defRPr kumimoji="1" sz="3600" b="1">
                <a:solidFill>
                  <a:srgbClr val="FF0000"/>
                </a:solidFill>
                <a:latin typeface="Arial" charset="0"/>
                <a:ea typeface="楷体_GB2312" pitchFamily="49" charset="-122"/>
              </a:defRPr>
            </a:lvl9pPr>
          </a:lstStyle>
          <a:p>
            <a:pPr algn="l"/>
            <a:r>
              <a:rPr kumimoji="0" lang="zh-CN" altLang="en-US" kern="0" dirty="0">
                <a:solidFill>
                  <a:schemeClr val="tx1"/>
                </a:solidFill>
                <a:sym typeface="+mn-ea"/>
              </a:rPr>
              <a:t>（一）大数据背景</a:t>
            </a:r>
            <a:endParaRPr kumimoji="0" lang="zh-CN" altLang="en-US" kern="0" dirty="0">
              <a:solidFill>
                <a:schemeClr val="tx1"/>
              </a:solidFill>
              <a:latin typeface="微软雅黑" panose="020B0503020204020204" pitchFamily="34" charset="-122"/>
              <a:ea typeface="微软雅黑" panose="020B0503020204020204" pitchFamily="34" charset="-122"/>
            </a:endParaRPr>
          </a:p>
        </p:txBody>
      </p:sp>
      <p:sp>
        <p:nvSpPr>
          <p:cNvPr id="11" name="灯片编号占位符 5">
            <a:extLst>
              <a:ext uri="{FF2B5EF4-FFF2-40B4-BE49-F238E27FC236}">
                <a16:creationId xmlns:a16="http://schemas.microsoft.com/office/drawing/2014/main" id="{5324310C-A271-B60F-4940-BF77A11DB278}"/>
              </a:ext>
            </a:extLst>
          </p:cNvPr>
          <p:cNvSpPr txBox="1">
            <a:spLocks/>
          </p:cNvSpPr>
          <p:nvPr/>
        </p:nvSpPr>
        <p:spPr>
          <a:xfrm>
            <a:off x="9220200" y="6356350"/>
            <a:ext cx="2743200" cy="365125"/>
          </a:xfrm>
        </p:spPr>
        <p:txBody>
          <a:bodyPr/>
          <a:lstStyle>
            <a:defPPr>
              <a:defRPr lang="zh-CN"/>
            </a:defPPr>
            <a:lvl1pPr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1pPr>
            <a:lvl2pPr marL="4572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2pPr>
            <a:lvl3pPr marL="9144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3pPr>
            <a:lvl4pPr marL="13716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4pPr>
            <a:lvl5pPr marL="18288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9pPr>
          </a:lstStyle>
          <a:p>
            <a:pPr>
              <a:defRPr/>
            </a:pPr>
            <a:fld id="{E41A5DFF-0927-4B7A-94B2-734DA9634F93}" type="slidenum">
              <a:rPr lang="en-US" altLang="zh-CN" smtClean="0"/>
              <a:pPr>
                <a:defRPr/>
              </a:pPr>
              <a:t>50</a:t>
            </a:fld>
            <a:endParaRPr lang="en-US" altLang="zh-CN" dirty="0"/>
          </a:p>
        </p:txBody>
      </p:sp>
      <p:sp>
        <p:nvSpPr>
          <p:cNvPr id="2" name="文本框 1">
            <a:extLst>
              <a:ext uri="{FF2B5EF4-FFF2-40B4-BE49-F238E27FC236}">
                <a16:creationId xmlns:a16="http://schemas.microsoft.com/office/drawing/2014/main" id="{1FD8C93F-8BAF-991A-3B21-B44FF90F3C89}"/>
              </a:ext>
            </a:extLst>
          </p:cNvPr>
          <p:cNvSpPr txBox="1"/>
          <p:nvPr/>
        </p:nvSpPr>
        <p:spPr>
          <a:xfrm>
            <a:off x="30833" y="973209"/>
            <a:ext cx="8754236" cy="961289"/>
          </a:xfrm>
          <a:prstGeom prst="rect">
            <a:avLst/>
          </a:prstGeom>
          <a:noFill/>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1" lang="en-US" altLang="zh-CN"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2016 </a:t>
            </a:r>
            <a:r>
              <a:rPr kumimoji="1" lang="zh-CN" altLang="en-US"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年的</a:t>
            </a:r>
            <a:r>
              <a:rPr kumimoji="1" lang="en-US" altLang="zh-CN"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ImageNet </a:t>
            </a:r>
            <a:r>
              <a:rPr kumimoji="1" lang="zh-CN" altLang="en-US"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竞赛上，基于卷积神经网络（</a:t>
            </a:r>
            <a:r>
              <a:rPr kumimoji="1" lang="en-US" altLang="zh-CN"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CNN</a:t>
            </a:r>
            <a:r>
              <a:rPr kumimoji="1" lang="zh-CN" altLang="en-US"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）的人工智能模型的图像识别错误率已经降低到约 </a:t>
            </a:r>
            <a:r>
              <a:rPr kumimoji="1" lang="en-US" altLang="zh-CN"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2.9%</a:t>
            </a:r>
            <a:r>
              <a:rPr kumimoji="1" lang="zh-CN" altLang="en-US"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1"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远远超越人类（</a:t>
            </a:r>
            <a:r>
              <a:rPr kumimoji="1" lang="en-US" altLang="zh-CN"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5.1%</a:t>
            </a:r>
            <a:r>
              <a:rPr kumimoji="1"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p>
        </p:txBody>
      </p:sp>
      <p:pic>
        <p:nvPicPr>
          <p:cNvPr id="3" name="图片 2">
            <a:extLst>
              <a:ext uri="{FF2B5EF4-FFF2-40B4-BE49-F238E27FC236}">
                <a16:creationId xmlns:a16="http://schemas.microsoft.com/office/drawing/2014/main" id="{FBFDA929-1AD6-E375-C333-446A7B138E7C}"/>
              </a:ext>
            </a:extLst>
          </p:cNvPr>
          <p:cNvPicPr>
            <a:picLocks noChangeAspect="1"/>
          </p:cNvPicPr>
          <p:nvPr/>
        </p:nvPicPr>
        <p:blipFill>
          <a:blip r:embed="rId3"/>
          <a:stretch>
            <a:fillRect/>
          </a:stretch>
        </p:blipFill>
        <p:spPr>
          <a:xfrm>
            <a:off x="420178" y="3012604"/>
            <a:ext cx="4136095" cy="2056768"/>
          </a:xfrm>
          <a:prstGeom prst="rect">
            <a:avLst/>
          </a:prstGeom>
          <a:ln w="22225">
            <a:solidFill>
              <a:srgbClr val="003399"/>
            </a:solidFill>
          </a:ln>
        </p:spPr>
      </p:pic>
      <p:grpSp>
        <p:nvGrpSpPr>
          <p:cNvPr id="4" name="组合 3">
            <a:extLst>
              <a:ext uri="{FF2B5EF4-FFF2-40B4-BE49-F238E27FC236}">
                <a16:creationId xmlns:a16="http://schemas.microsoft.com/office/drawing/2014/main" id="{F612D68B-5323-D019-6846-C361F52B45F9}"/>
              </a:ext>
            </a:extLst>
          </p:cNvPr>
          <p:cNvGrpSpPr/>
          <p:nvPr/>
        </p:nvGrpSpPr>
        <p:grpSpPr>
          <a:xfrm>
            <a:off x="107504" y="5884609"/>
            <a:ext cx="8760236" cy="646331"/>
            <a:chOff x="2147250" y="6097936"/>
            <a:chExt cx="8760236" cy="646331"/>
          </a:xfrm>
        </p:grpSpPr>
        <p:sp>
          <p:nvSpPr>
            <p:cNvPr id="5" name="文本框 4">
              <a:extLst>
                <a:ext uri="{FF2B5EF4-FFF2-40B4-BE49-F238E27FC236}">
                  <a16:creationId xmlns:a16="http://schemas.microsoft.com/office/drawing/2014/main" id="{905C2873-8983-1F0C-A542-4F3DC895EED3}"/>
                </a:ext>
              </a:extLst>
            </p:cNvPr>
            <p:cNvSpPr txBox="1"/>
            <p:nvPr/>
          </p:nvSpPr>
          <p:spPr>
            <a:xfrm>
              <a:off x="2985911" y="6097936"/>
              <a:ext cx="1411920" cy="533845"/>
            </a:xfrm>
            <a:prstGeom prst="rect">
              <a:avLst/>
            </a:prstGeom>
            <a:solidFill>
              <a:schemeClr val="accent1">
                <a:lumMod val="20000"/>
                <a:lumOff val="80000"/>
              </a:schemeClr>
            </a:solidFill>
          </p:spPr>
          <p:style>
            <a:lnRef idx="0">
              <a:schemeClr val="accent1"/>
            </a:lnRef>
            <a:fillRef idx="3">
              <a:schemeClr val="accent1"/>
            </a:fillRef>
            <a:effectRef idx="3">
              <a:schemeClr val="accent1"/>
            </a:effectRef>
            <a:fontRef idx="minor">
              <a:schemeClr val="lt1"/>
            </a:fontRef>
          </p:style>
          <p:txBody>
            <a:bodyPr wrap="square" anchor="ctr">
              <a:noAutofit/>
            </a:bodyPr>
            <a:lstStyle>
              <a:defPPr>
                <a:defRPr lang="en-US"/>
              </a:defPPr>
              <a:lvl1pPr algn="ctr">
                <a:lnSpc>
                  <a:spcPct val="150000"/>
                </a:lnSpc>
                <a:defRPr sz="1600" b="1">
                  <a:solidFill>
                    <a:srgbClr val="4472C4">
                      <a:lumMod val="50000"/>
                    </a:srgbClr>
                  </a:solidFill>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4472C4">
                      <a:lumMod val="50000"/>
                    </a:srgbClr>
                  </a:solidFill>
                  <a:effectLst/>
                  <a:uLnTx/>
                  <a:uFillTx/>
                  <a:latin typeface="Calibri" panose="020F0502020204030204"/>
                  <a:ea typeface="微软雅黑" panose="020B0503020204020204" pitchFamily="34" charset="-122"/>
                  <a:cs typeface="+mn-cs"/>
                </a:rPr>
                <a:t>稀疏参数共享</a:t>
              </a:r>
            </a:p>
          </p:txBody>
        </p:sp>
        <p:sp>
          <p:nvSpPr>
            <p:cNvPr id="6" name="文本框 5">
              <a:extLst>
                <a:ext uri="{FF2B5EF4-FFF2-40B4-BE49-F238E27FC236}">
                  <a16:creationId xmlns:a16="http://schemas.microsoft.com/office/drawing/2014/main" id="{82143D6C-91D4-5F49-EDE3-307035C8C40E}"/>
                </a:ext>
              </a:extLst>
            </p:cNvPr>
            <p:cNvSpPr txBox="1"/>
            <p:nvPr/>
          </p:nvSpPr>
          <p:spPr>
            <a:xfrm>
              <a:off x="4947759" y="6097936"/>
              <a:ext cx="1411920" cy="533845"/>
            </a:xfrm>
            <a:prstGeom prst="rect">
              <a:avLst/>
            </a:prstGeom>
            <a:solidFill>
              <a:schemeClr val="accent1">
                <a:lumMod val="20000"/>
                <a:lumOff val="80000"/>
              </a:schemeClr>
            </a:solidFill>
          </p:spPr>
          <p:style>
            <a:lnRef idx="0">
              <a:schemeClr val="accent1"/>
            </a:lnRef>
            <a:fillRef idx="3">
              <a:schemeClr val="accent1"/>
            </a:fillRef>
            <a:effectRef idx="3">
              <a:schemeClr val="accent1"/>
            </a:effectRef>
            <a:fontRef idx="minor">
              <a:schemeClr val="lt1"/>
            </a:fontRef>
          </p:style>
          <p:txBody>
            <a:bodyPr wrap="square" anchor="ctr">
              <a:noAutofit/>
            </a:bodyPr>
            <a:lstStyle>
              <a:defPPr>
                <a:defRPr lang="en-US"/>
              </a:defPPr>
              <a:lvl1pPr algn="ctr">
                <a:lnSpc>
                  <a:spcPct val="150000"/>
                </a:lnSpc>
                <a:defRPr sz="1600" b="1">
                  <a:solidFill>
                    <a:srgbClr val="4472C4">
                      <a:lumMod val="50000"/>
                    </a:srgbClr>
                  </a:solidFill>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4472C4">
                      <a:lumMod val="50000"/>
                    </a:srgbClr>
                  </a:solidFill>
                  <a:effectLst/>
                  <a:uLnTx/>
                  <a:uFillTx/>
                  <a:latin typeface="Calibri" panose="020F0502020204030204"/>
                  <a:ea typeface="微软雅黑" panose="020B0503020204020204" pitchFamily="34" charset="-122"/>
                  <a:cs typeface="+mn-cs"/>
                </a:rPr>
                <a:t>视野局部感知</a:t>
              </a:r>
            </a:p>
          </p:txBody>
        </p:sp>
        <p:sp>
          <p:nvSpPr>
            <p:cNvPr id="7" name="文本框 6">
              <a:extLst>
                <a:ext uri="{FF2B5EF4-FFF2-40B4-BE49-F238E27FC236}">
                  <a16:creationId xmlns:a16="http://schemas.microsoft.com/office/drawing/2014/main" id="{AB57C3D6-D4C0-5951-E91F-97B77E48082C}"/>
                </a:ext>
              </a:extLst>
            </p:cNvPr>
            <p:cNvSpPr txBox="1"/>
            <p:nvPr/>
          </p:nvSpPr>
          <p:spPr>
            <a:xfrm>
              <a:off x="6909607" y="6097936"/>
              <a:ext cx="1723975" cy="533845"/>
            </a:xfrm>
            <a:prstGeom prst="rect">
              <a:avLst/>
            </a:prstGeom>
            <a:solidFill>
              <a:schemeClr val="accent1">
                <a:lumMod val="20000"/>
                <a:lumOff val="80000"/>
              </a:schemeClr>
            </a:solidFill>
          </p:spPr>
          <p:style>
            <a:lnRef idx="0">
              <a:schemeClr val="accent1"/>
            </a:lnRef>
            <a:fillRef idx="3">
              <a:schemeClr val="accent1"/>
            </a:fillRef>
            <a:effectRef idx="3">
              <a:schemeClr val="accent1"/>
            </a:effectRef>
            <a:fontRef idx="minor">
              <a:schemeClr val="lt1"/>
            </a:fontRef>
          </p:style>
          <p:txBody>
            <a:bodyPr wrap="square" anchor="ctr">
              <a:noAutofit/>
            </a:bodyPr>
            <a:lstStyle>
              <a:defPPr>
                <a:defRPr lang="en-US"/>
              </a:defPPr>
              <a:lvl1pPr algn="ctr">
                <a:lnSpc>
                  <a:spcPct val="150000"/>
                </a:lnSpc>
                <a:defRPr sz="1600" b="1">
                  <a:solidFill>
                    <a:srgbClr val="4472C4">
                      <a:lumMod val="50000"/>
                    </a:srgbClr>
                  </a:solidFill>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4472C4">
                      <a:lumMod val="50000"/>
                    </a:srgbClr>
                  </a:solidFill>
                  <a:effectLst/>
                  <a:uLnTx/>
                  <a:uFillTx/>
                  <a:latin typeface="Calibri" panose="020F0502020204030204"/>
                  <a:ea typeface="微软雅黑" panose="020B0503020204020204" pitchFamily="34" charset="-122"/>
                  <a:cs typeface="+mn-cs"/>
                </a:rPr>
                <a:t>层次化特征表达</a:t>
              </a:r>
            </a:p>
          </p:txBody>
        </p:sp>
        <p:sp>
          <p:nvSpPr>
            <p:cNvPr id="12" name="文本框 11">
              <a:extLst>
                <a:ext uri="{FF2B5EF4-FFF2-40B4-BE49-F238E27FC236}">
                  <a16:creationId xmlns:a16="http://schemas.microsoft.com/office/drawing/2014/main" id="{6B147BFB-D49F-E9B0-4C9B-DF243E305AC1}"/>
                </a:ext>
              </a:extLst>
            </p:cNvPr>
            <p:cNvSpPr txBox="1"/>
            <p:nvPr/>
          </p:nvSpPr>
          <p:spPr>
            <a:xfrm>
              <a:off x="9183511" y="6097936"/>
              <a:ext cx="1723975" cy="533845"/>
            </a:xfrm>
            <a:prstGeom prst="rect">
              <a:avLst/>
            </a:prstGeom>
            <a:solidFill>
              <a:schemeClr val="accent1">
                <a:lumMod val="20000"/>
                <a:lumOff val="80000"/>
              </a:schemeClr>
            </a:solidFill>
          </p:spPr>
          <p:style>
            <a:lnRef idx="0">
              <a:schemeClr val="accent1"/>
            </a:lnRef>
            <a:fillRef idx="3">
              <a:schemeClr val="accent1"/>
            </a:fillRef>
            <a:effectRef idx="3">
              <a:schemeClr val="accent1"/>
            </a:effectRef>
            <a:fontRef idx="minor">
              <a:schemeClr val="lt1"/>
            </a:fontRef>
          </p:style>
          <p:txBody>
            <a:bodyPr wrap="square" anchor="ctr">
              <a:noAutofit/>
            </a:bodyPr>
            <a:lstStyle>
              <a:defPPr>
                <a:defRPr lang="en-US"/>
              </a:defPPr>
              <a:lvl1pPr algn="ctr">
                <a:lnSpc>
                  <a:spcPct val="150000"/>
                </a:lnSpc>
                <a:defRPr sz="1600" b="1">
                  <a:solidFill>
                    <a:srgbClr val="4472C4">
                      <a:lumMod val="50000"/>
                    </a:srgbClr>
                  </a:solidFill>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4472C4">
                      <a:lumMod val="50000"/>
                    </a:srgbClr>
                  </a:solidFill>
                  <a:effectLst/>
                  <a:uLnTx/>
                  <a:uFillTx/>
                  <a:latin typeface="Calibri" panose="020F0502020204030204"/>
                  <a:ea typeface="微软雅黑" panose="020B0503020204020204" pitchFamily="34" charset="-122"/>
                  <a:cs typeface="+mn-cs"/>
                </a:rPr>
                <a:t>特征图下采样</a:t>
              </a:r>
            </a:p>
          </p:txBody>
        </p:sp>
        <p:sp>
          <p:nvSpPr>
            <p:cNvPr id="13" name="文本框 12">
              <a:extLst>
                <a:ext uri="{FF2B5EF4-FFF2-40B4-BE49-F238E27FC236}">
                  <a16:creationId xmlns:a16="http://schemas.microsoft.com/office/drawing/2014/main" id="{29A9B9DE-E51C-3B5F-B564-FDF1FC313BFC}"/>
                </a:ext>
              </a:extLst>
            </p:cNvPr>
            <p:cNvSpPr txBox="1"/>
            <p:nvPr/>
          </p:nvSpPr>
          <p:spPr>
            <a:xfrm>
              <a:off x="2147250" y="6097936"/>
              <a:ext cx="776515" cy="6463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主要特征</a:t>
              </a: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grpSp>
      <p:pic>
        <p:nvPicPr>
          <p:cNvPr id="14" name="Picture 2">
            <a:extLst>
              <a:ext uri="{FF2B5EF4-FFF2-40B4-BE49-F238E27FC236}">
                <a16:creationId xmlns:a16="http://schemas.microsoft.com/office/drawing/2014/main" id="{C9A54887-6DA9-70AD-CE45-80F94D5916D2}"/>
              </a:ext>
            </a:extLst>
          </p:cNvPr>
          <p:cNvPicPr>
            <a:picLocks noChangeAspect="1" noChangeArrowheads="1"/>
          </p:cNvPicPr>
          <p:nvPr/>
        </p:nvPicPr>
        <p:blipFill>
          <a:blip r:embed="rId4"/>
          <a:srcRect/>
          <a:stretch>
            <a:fillRect/>
          </a:stretch>
        </p:blipFill>
        <p:spPr bwMode="auto">
          <a:xfrm>
            <a:off x="5652120" y="2820217"/>
            <a:ext cx="2804678" cy="2809843"/>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14">
            <a:extLst>
              <a:ext uri="{FF2B5EF4-FFF2-40B4-BE49-F238E27FC236}">
                <a16:creationId xmlns:a16="http://schemas.microsoft.com/office/drawing/2014/main" id="{4E8A4895-9279-F535-A99B-B27C7C820A89}"/>
              </a:ext>
            </a:extLst>
          </p:cNvPr>
          <p:cNvSpPr txBox="1"/>
          <p:nvPr/>
        </p:nvSpPr>
        <p:spPr>
          <a:xfrm>
            <a:off x="6222308" y="2712731"/>
            <a:ext cx="1846944"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卷积算子示意图</a:t>
            </a: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17" name="文本框 16">
            <a:extLst>
              <a:ext uri="{FF2B5EF4-FFF2-40B4-BE49-F238E27FC236}">
                <a16:creationId xmlns:a16="http://schemas.microsoft.com/office/drawing/2014/main" id="{99CBE79A-1F38-2B91-E855-7B0D3D449EA2}"/>
              </a:ext>
            </a:extLst>
          </p:cNvPr>
          <p:cNvSpPr txBox="1"/>
          <p:nvPr/>
        </p:nvSpPr>
        <p:spPr>
          <a:xfrm>
            <a:off x="427074" y="2451917"/>
            <a:ext cx="3777346" cy="3683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卷积神经网络结构</a:t>
            </a: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2162394576"/>
      </p:ext>
    </p:extLst>
  </p:cSld>
  <p:clrMapOvr>
    <a:masterClrMapping/>
  </p:clrMapOvr>
  <p:transition spd="slow">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2">
            <a:extLst>
              <a:ext uri="{FF2B5EF4-FFF2-40B4-BE49-F238E27FC236}">
                <a16:creationId xmlns:a16="http://schemas.microsoft.com/office/drawing/2014/main" id="{9692D81A-B659-052C-6F43-CDD0A24221A5}"/>
              </a:ext>
            </a:extLst>
          </p:cNvPr>
          <p:cNvSpPr txBox="1">
            <a:spLocks/>
          </p:cNvSpPr>
          <p:nvPr/>
        </p:nvSpPr>
        <p:spPr>
          <a:xfrm>
            <a:off x="-36512" y="21206"/>
            <a:ext cx="7621017" cy="1014730"/>
          </a:xfrm>
          <a:prstGeom prst="rect">
            <a:avLst/>
          </a:prstGeom>
        </p:spPr>
        <p:txBody>
          <a:bodyPr/>
          <a:lstStyle>
            <a:lvl1pPr algn="ctr" rtl="0" eaLnBrk="0" fontAlgn="base" hangingPunct="0">
              <a:spcBef>
                <a:spcPct val="0"/>
              </a:spcBef>
              <a:spcAft>
                <a:spcPct val="0"/>
              </a:spcAft>
              <a:defRPr kumimoji="1" sz="3600" b="1">
                <a:solidFill>
                  <a:srgbClr val="FF0000"/>
                </a:solidFill>
                <a:latin typeface="+mj-lt"/>
                <a:ea typeface="+mj-ea"/>
                <a:cs typeface="+mj-cs"/>
              </a:defRPr>
            </a:lvl1pPr>
            <a:lvl2pPr algn="ctr" rtl="0" eaLnBrk="0" fontAlgn="base" hangingPunct="0">
              <a:spcBef>
                <a:spcPct val="0"/>
              </a:spcBef>
              <a:spcAft>
                <a:spcPct val="0"/>
              </a:spcAft>
              <a:defRPr kumimoji="1" sz="3600" b="1">
                <a:solidFill>
                  <a:srgbClr val="FF0000"/>
                </a:solidFill>
                <a:latin typeface="Arial" charset="0"/>
                <a:ea typeface="楷体_GB2312" pitchFamily="49" charset="-122"/>
              </a:defRPr>
            </a:lvl2pPr>
            <a:lvl3pPr algn="ctr" rtl="0" eaLnBrk="0" fontAlgn="base" hangingPunct="0">
              <a:spcBef>
                <a:spcPct val="0"/>
              </a:spcBef>
              <a:spcAft>
                <a:spcPct val="0"/>
              </a:spcAft>
              <a:defRPr kumimoji="1" sz="3600" b="1">
                <a:solidFill>
                  <a:srgbClr val="FF0000"/>
                </a:solidFill>
                <a:latin typeface="Arial" charset="0"/>
                <a:ea typeface="楷体_GB2312" pitchFamily="49" charset="-122"/>
              </a:defRPr>
            </a:lvl3pPr>
            <a:lvl4pPr algn="ctr" rtl="0" eaLnBrk="0" fontAlgn="base" hangingPunct="0">
              <a:spcBef>
                <a:spcPct val="0"/>
              </a:spcBef>
              <a:spcAft>
                <a:spcPct val="0"/>
              </a:spcAft>
              <a:defRPr kumimoji="1" sz="3600" b="1">
                <a:solidFill>
                  <a:srgbClr val="FF0000"/>
                </a:solidFill>
                <a:latin typeface="Arial" charset="0"/>
                <a:ea typeface="楷体_GB2312" pitchFamily="49" charset="-122"/>
              </a:defRPr>
            </a:lvl4pPr>
            <a:lvl5pPr algn="ctr" rtl="0" eaLnBrk="0" fontAlgn="base" hangingPunct="0">
              <a:spcBef>
                <a:spcPct val="0"/>
              </a:spcBef>
              <a:spcAft>
                <a:spcPct val="0"/>
              </a:spcAft>
              <a:defRPr kumimoji="1" sz="3600" b="1">
                <a:solidFill>
                  <a:srgbClr val="FF0000"/>
                </a:solidFill>
                <a:latin typeface="Arial" charset="0"/>
                <a:ea typeface="楷体_GB2312" pitchFamily="49" charset="-122"/>
              </a:defRPr>
            </a:lvl5pPr>
            <a:lvl6pPr marL="457200" algn="ctr" rtl="0" fontAlgn="base">
              <a:spcBef>
                <a:spcPct val="0"/>
              </a:spcBef>
              <a:spcAft>
                <a:spcPct val="0"/>
              </a:spcAft>
              <a:defRPr kumimoji="1" sz="3600" b="1">
                <a:solidFill>
                  <a:srgbClr val="FF0000"/>
                </a:solidFill>
                <a:latin typeface="Arial" charset="0"/>
                <a:ea typeface="楷体_GB2312" pitchFamily="49" charset="-122"/>
              </a:defRPr>
            </a:lvl6pPr>
            <a:lvl7pPr marL="914400" algn="ctr" rtl="0" fontAlgn="base">
              <a:spcBef>
                <a:spcPct val="0"/>
              </a:spcBef>
              <a:spcAft>
                <a:spcPct val="0"/>
              </a:spcAft>
              <a:defRPr kumimoji="1" sz="3600" b="1">
                <a:solidFill>
                  <a:srgbClr val="FF0000"/>
                </a:solidFill>
                <a:latin typeface="Arial" charset="0"/>
                <a:ea typeface="楷体_GB2312" pitchFamily="49" charset="-122"/>
              </a:defRPr>
            </a:lvl7pPr>
            <a:lvl8pPr marL="1371600" algn="ctr" rtl="0" fontAlgn="base">
              <a:spcBef>
                <a:spcPct val="0"/>
              </a:spcBef>
              <a:spcAft>
                <a:spcPct val="0"/>
              </a:spcAft>
              <a:defRPr kumimoji="1" sz="3600" b="1">
                <a:solidFill>
                  <a:srgbClr val="FF0000"/>
                </a:solidFill>
                <a:latin typeface="Arial" charset="0"/>
                <a:ea typeface="楷体_GB2312" pitchFamily="49" charset="-122"/>
              </a:defRPr>
            </a:lvl8pPr>
            <a:lvl9pPr marL="1828800" algn="ctr" rtl="0" fontAlgn="base">
              <a:spcBef>
                <a:spcPct val="0"/>
              </a:spcBef>
              <a:spcAft>
                <a:spcPct val="0"/>
              </a:spcAft>
              <a:defRPr kumimoji="1" sz="3600" b="1">
                <a:solidFill>
                  <a:srgbClr val="FF0000"/>
                </a:solidFill>
                <a:latin typeface="Arial" charset="0"/>
                <a:ea typeface="楷体_GB2312" pitchFamily="49" charset="-122"/>
              </a:defRPr>
            </a:lvl9pPr>
          </a:lstStyle>
          <a:p>
            <a:pPr algn="l"/>
            <a:r>
              <a:rPr kumimoji="0" lang="zh-CN" altLang="en-US" kern="0" dirty="0">
                <a:solidFill>
                  <a:schemeClr val="tx1"/>
                </a:solidFill>
                <a:sym typeface="+mn-ea"/>
              </a:rPr>
              <a:t>（一）大数据背景</a:t>
            </a:r>
            <a:endParaRPr kumimoji="0" lang="zh-CN" altLang="en-US" kern="0" dirty="0">
              <a:solidFill>
                <a:schemeClr val="tx1"/>
              </a:solidFill>
              <a:latin typeface="微软雅黑" panose="020B0503020204020204" pitchFamily="34" charset="-122"/>
              <a:ea typeface="微软雅黑" panose="020B0503020204020204" pitchFamily="34" charset="-122"/>
            </a:endParaRPr>
          </a:p>
        </p:txBody>
      </p:sp>
      <p:sp>
        <p:nvSpPr>
          <p:cNvPr id="11" name="灯片编号占位符 5">
            <a:extLst>
              <a:ext uri="{FF2B5EF4-FFF2-40B4-BE49-F238E27FC236}">
                <a16:creationId xmlns:a16="http://schemas.microsoft.com/office/drawing/2014/main" id="{5324310C-A271-B60F-4940-BF77A11DB278}"/>
              </a:ext>
            </a:extLst>
          </p:cNvPr>
          <p:cNvSpPr txBox="1">
            <a:spLocks/>
          </p:cNvSpPr>
          <p:nvPr/>
        </p:nvSpPr>
        <p:spPr>
          <a:xfrm>
            <a:off x="9220200" y="6356350"/>
            <a:ext cx="2743200" cy="365125"/>
          </a:xfrm>
        </p:spPr>
        <p:txBody>
          <a:bodyPr/>
          <a:lstStyle>
            <a:defPPr>
              <a:defRPr lang="zh-CN"/>
            </a:defPPr>
            <a:lvl1pPr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1pPr>
            <a:lvl2pPr marL="4572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2pPr>
            <a:lvl3pPr marL="9144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3pPr>
            <a:lvl4pPr marL="13716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4pPr>
            <a:lvl5pPr marL="18288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9pPr>
          </a:lstStyle>
          <a:p>
            <a:pPr>
              <a:defRPr/>
            </a:pPr>
            <a:fld id="{E41A5DFF-0927-4B7A-94B2-734DA9634F93}" type="slidenum">
              <a:rPr lang="en-US" altLang="zh-CN" smtClean="0"/>
              <a:pPr>
                <a:defRPr/>
              </a:pPr>
              <a:t>51</a:t>
            </a:fld>
            <a:endParaRPr lang="en-US" altLang="zh-CN" dirty="0"/>
          </a:p>
        </p:txBody>
      </p:sp>
      <p:sp>
        <p:nvSpPr>
          <p:cNvPr id="9" name="textbox 42">
            <a:extLst>
              <a:ext uri="{FF2B5EF4-FFF2-40B4-BE49-F238E27FC236}">
                <a16:creationId xmlns:a16="http://schemas.microsoft.com/office/drawing/2014/main" id="{0CE95EE2-1477-92C4-FCA8-4F20E5F895CF}"/>
              </a:ext>
            </a:extLst>
          </p:cNvPr>
          <p:cNvSpPr/>
          <p:nvPr/>
        </p:nvSpPr>
        <p:spPr>
          <a:xfrm>
            <a:off x="365760" y="1031874"/>
            <a:ext cx="8454712" cy="1605037"/>
          </a:xfrm>
          <a:prstGeom prst="rect">
            <a:avLst/>
          </a:prstGeom>
          <a:noFill/>
          <a:ln w="0" cap="flat">
            <a:noFill/>
            <a:prstDash val="solid"/>
            <a:miter lim="0"/>
          </a:ln>
        </p:spPr>
        <p:txBody>
          <a:bodyPr vert="horz" wrap="square" lIns="0" tIns="0" rIns="0" bIns="0"/>
          <a:lstStyle/>
          <a:p>
            <a:pPr indent="0" algn="l" rtl="0" eaLnBrk="0" fontAlgn="auto">
              <a:lnSpc>
                <a:spcPct val="120000"/>
              </a:lnSpc>
            </a:pPr>
            <a:endParaRPr sz="100" b="1" dirty="0">
              <a:latin typeface="微软雅黑" panose="020B0503020204020204" pitchFamily="34" charset="-122"/>
              <a:ea typeface="微软雅黑" panose="020B0503020204020204" pitchFamily="34" charset="-122"/>
              <a:cs typeface="微软雅黑" panose="020B0503020204020204" pitchFamily="34" charset="-122"/>
            </a:endParaRPr>
          </a:p>
          <a:p>
            <a:pPr marL="12700" indent="0" algn="l" rtl="0" eaLnBrk="0" fontAlgn="auto">
              <a:lnSpc>
                <a:spcPct val="120000"/>
              </a:lnSpc>
              <a:tabLst>
                <a:tab pos="258445" algn="l"/>
              </a:tabLst>
            </a:pPr>
            <a:r>
              <a:rPr lang="zh-CN" sz="2400" b="1"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由于数据的激增，以及深度神经网络的成功，</a:t>
            </a:r>
            <a:r>
              <a:rPr sz="2400" b="1" kern="0" spc="-50" dirty="0">
                <a:solidFill>
                  <a:srgbClr val="C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通用人工智能时代</a:t>
            </a:r>
            <a:r>
              <a:rPr sz="2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（AGI）</a:t>
            </a:r>
            <a:r>
              <a:rPr lang="zh-CN" sz="2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开始进入以</a:t>
            </a:r>
            <a:r>
              <a:rPr lang="en-US" altLang="zh-CN" sz="2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OpenAI</a:t>
            </a:r>
            <a:r>
              <a:rPr lang="zh-CN" altLang="en-US" sz="2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核心团队为代表的一批</a:t>
            </a:r>
            <a:r>
              <a:rPr lang="en-US" altLang="zh-CN" sz="2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技术远见家</a:t>
            </a:r>
            <a:r>
              <a:rPr lang="en-US" altLang="zh-CN" sz="2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2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的视野</a:t>
            </a:r>
          </a:p>
        </p:txBody>
      </p:sp>
      <p:pic>
        <p:nvPicPr>
          <p:cNvPr id="18" name="图片 17">
            <a:extLst>
              <a:ext uri="{FF2B5EF4-FFF2-40B4-BE49-F238E27FC236}">
                <a16:creationId xmlns:a16="http://schemas.microsoft.com/office/drawing/2014/main" id="{FF62BC40-F9F3-1821-925E-D528CB907D13}"/>
              </a:ext>
            </a:extLst>
          </p:cNvPr>
          <p:cNvPicPr>
            <a:picLocks noChangeAspect="1"/>
          </p:cNvPicPr>
          <p:nvPr/>
        </p:nvPicPr>
        <p:blipFill>
          <a:blip r:embed="rId3"/>
          <a:srcRect t="3244"/>
          <a:stretch>
            <a:fillRect/>
          </a:stretch>
        </p:blipFill>
        <p:spPr>
          <a:xfrm>
            <a:off x="5148064" y="2780928"/>
            <a:ext cx="3528392" cy="3190792"/>
          </a:xfrm>
          <a:prstGeom prst="rect">
            <a:avLst/>
          </a:prstGeom>
        </p:spPr>
      </p:pic>
      <p:pic>
        <p:nvPicPr>
          <p:cNvPr id="19" name="图片 18">
            <a:extLst>
              <a:ext uri="{FF2B5EF4-FFF2-40B4-BE49-F238E27FC236}">
                <a16:creationId xmlns:a16="http://schemas.microsoft.com/office/drawing/2014/main" id="{ABD605BE-F771-9D0F-DE40-96E6F728AB07}"/>
              </a:ext>
            </a:extLst>
          </p:cNvPr>
          <p:cNvPicPr>
            <a:picLocks noChangeAspect="1"/>
          </p:cNvPicPr>
          <p:nvPr/>
        </p:nvPicPr>
        <p:blipFill>
          <a:blip r:embed="rId4"/>
          <a:stretch>
            <a:fillRect/>
          </a:stretch>
        </p:blipFill>
        <p:spPr>
          <a:xfrm>
            <a:off x="467543" y="2730351"/>
            <a:ext cx="3569093" cy="3247688"/>
          </a:xfrm>
          <a:prstGeom prst="rect">
            <a:avLst/>
          </a:prstGeom>
        </p:spPr>
      </p:pic>
      <p:sp>
        <p:nvSpPr>
          <p:cNvPr id="20" name="textbox 42">
            <a:extLst>
              <a:ext uri="{FF2B5EF4-FFF2-40B4-BE49-F238E27FC236}">
                <a16:creationId xmlns:a16="http://schemas.microsoft.com/office/drawing/2014/main" id="{E3FE482A-C7E8-1B68-1B84-C76921492844}"/>
              </a:ext>
            </a:extLst>
          </p:cNvPr>
          <p:cNvSpPr/>
          <p:nvPr/>
        </p:nvSpPr>
        <p:spPr>
          <a:xfrm>
            <a:off x="221744" y="6237312"/>
            <a:ext cx="8454712" cy="709688"/>
          </a:xfrm>
          <a:prstGeom prst="rect">
            <a:avLst/>
          </a:prstGeom>
          <a:noFill/>
          <a:ln w="0" cap="flat">
            <a:noFill/>
            <a:prstDash val="solid"/>
            <a:miter lim="0"/>
          </a:ln>
        </p:spPr>
        <p:txBody>
          <a:bodyPr vert="horz" wrap="square" lIns="0" tIns="0" rIns="0" bIns="0"/>
          <a:lstStyle/>
          <a:p>
            <a:pPr indent="0" algn="ctr" rtl="0" eaLnBrk="0" fontAlgn="auto">
              <a:lnSpc>
                <a:spcPct val="120000"/>
              </a:lnSpc>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数据规模和模型参数规模增长迅速</a:t>
            </a:r>
            <a:endParaRPr lang="zh-CN" altLang="en-US"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973273612"/>
      </p:ext>
    </p:extLst>
  </p:cSld>
  <p:clrMapOvr>
    <a:masterClrMapping/>
  </p:clrMapOvr>
  <p:transition spd="slow">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2">
            <a:extLst>
              <a:ext uri="{FF2B5EF4-FFF2-40B4-BE49-F238E27FC236}">
                <a16:creationId xmlns:a16="http://schemas.microsoft.com/office/drawing/2014/main" id="{9692D81A-B659-052C-6F43-CDD0A24221A5}"/>
              </a:ext>
            </a:extLst>
          </p:cNvPr>
          <p:cNvSpPr txBox="1">
            <a:spLocks/>
          </p:cNvSpPr>
          <p:nvPr/>
        </p:nvSpPr>
        <p:spPr>
          <a:xfrm>
            <a:off x="-36512" y="21206"/>
            <a:ext cx="7621017" cy="1014730"/>
          </a:xfrm>
          <a:prstGeom prst="rect">
            <a:avLst/>
          </a:prstGeom>
        </p:spPr>
        <p:txBody>
          <a:bodyPr/>
          <a:lstStyle>
            <a:lvl1pPr algn="ctr" rtl="0" eaLnBrk="0" fontAlgn="base" hangingPunct="0">
              <a:spcBef>
                <a:spcPct val="0"/>
              </a:spcBef>
              <a:spcAft>
                <a:spcPct val="0"/>
              </a:spcAft>
              <a:defRPr kumimoji="1" sz="3600" b="1">
                <a:solidFill>
                  <a:srgbClr val="FF0000"/>
                </a:solidFill>
                <a:latin typeface="+mj-lt"/>
                <a:ea typeface="+mj-ea"/>
                <a:cs typeface="+mj-cs"/>
              </a:defRPr>
            </a:lvl1pPr>
            <a:lvl2pPr algn="ctr" rtl="0" eaLnBrk="0" fontAlgn="base" hangingPunct="0">
              <a:spcBef>
                <a:spcPct val="0"/>
              </a:spcBef>
              <a:spcAft>
                <a:spcPct val="0"/>
              </a:spcAft>
              <a:defRPr kumimoji="1" sz="3600" b="1">
                <a:solidFill>
                  <a:srgbClr val="FF0000"/>
                </a:solidFill>
                <a:latin typeface="Arial" charset="0"/>
                <a:ea typeface="楷体_GB2312" pitchFamily="49" charset="-122"/>
              </a:defRPr>
            </a:lvl2pPr>
            <a:lvl3pPr algn="ctr" rtl="0" eaLnBrk="0" fontAlgn="base" hangingPunct="0">
              <a:spcBef>
                <a:spcPct val="0"/>
              </a:spcBef>
              <a:spcAft>
                <a:spcPct val="0"/>
              </a:spcAft>
              <a:defRPr kumimoji="1" sz="3600" b="1">
                <a:solidFill>
                  <a:srgbClr val="FF0000"/>
                </a:solidFill>
                <a:latin typeface="Arial" charset="0"/>
                <a:ea typeface="楷体_GB2312" pitchFamily="49" charset="-122"/>
              </a:defRPr>
            </a:lvl3pPr>
            <a:lvl4pPr algn="ctr" rtl="0" eaLnBrk="0" fontAlgn="base" hangingPunct="0">
              <a:spcBef>
                <a:spcPct val="0"/>
              </a:spcBef>
              <a:spcAft>
                <a:spcPct val="0"/>
              </a:spcAft>
              <a:defRPr kumimoji="1" sz="3600" b="1">
                <a:solidFill>
                  <a:srgbClr val="FF0000"/>
                </a:solidFill>
                <a:latin typeface="Arial" charset="0"/>
                <a:ea typeface="楷体_GB2312" pitchFamily="49" charset="-122"/>
              </a:defRPr>
            </a:lvl4pPr>
            <a:lvl5pPr algn="ctr" rtl="0" eaLnBrk="0" fontAlgn="base" hangingPunct="0">
              <a:spcBef>
                <a:spcPct val="0"/>
              </a:spcBef>
              <a:spcAft>
                <a:spcPct val="0"/>
              </a:spcAft>
              <a:defRPr kumimoji="1" sz="3600" b="1">
                <a:solidFill>
                  <a:srgbClr val="FF0000"/>
                </a:solidFill>
                <a:latin typeface="Arial" charset="0"/>
                <a:ea typeface="楷体_GB2312" pitchFamily="49" charset="-122"/>
              </a:defRPr>
            </a:lvl5pPr>
            <a:lvl6pPr marL="457200" algn="ctr" rtl="0" fontAlgn="base">
              <a:spcBef>
                <a:spcPct val="0"/>
              </a:spcBef>
              <a:spcAft>
                <a:spcPct val="0"/>
              </a:spcAft>
              <a:defRPr kumimoji="1" sz="3600" b="1">
                <a:solidFill>
                  <a:srgbClr val="FF0000"/>
                </a:solidFill>
                <a:latin typeface="Arial" charset="0"/>
                <a:ea typeface="楷体_GB2312" pitchFamily="49" charset="-122"/>
              </a:defRPr>
            </a:lvl6pPr>
            <a:lvl7pPr marL="914400" algn="ctr" rtl="0" fontAlgn="base">
              <a:spcBef>
                <a:spcPct val="0"/>
              </a:spcBef>
              <a:spcAft>
                <a:spcPct val="0"/>
              </a:spcAft>
              <a:defRPr kumimoji="1" sz="3600" b="1">
                <a:solidFill>
                  <a:srgbClr val="FF0000"/>
                </a:solidFill>
                <a:latin typeface="Arial" charset="0"/>
                <a:ea typeface="楷体_GB2312" pitchFamily="49" charset="-122"/>
              </a:defRPr>
            </a:lvl7pPr>
            <a:lvl8pPr marL="1371600" algn="ctr" rtl="0" fontAlgn="base">
              <a:spcBef>
                <a:spcPct val="0"/>
              </a:spcBef>
              <a:spcAft>
                <a:spcPct val="0"/>
              </a:spcAft>
              <a:defRPr kumimoji="1" sz="3600" b="1">
                <a:solidFill>
                  <a:srgbClr val="FF0000"/>
                </a:solidFill>
                <a:latin typeface="Arial" charset="0"/>
                <a:ea typeface="楷体_GB2312" pitchFamily="49" charset="-122"/>
              </a:defRPr>
            </a:lvl8pPr>
            <a:lvl9pPr marL="1828800" algn="ctr" rtl="0" fontAlgn="base">
              <a:spcBef>
                <a:spcPct val="0"/>
              </a:spcBef>
              <a:spcAft>
                <a:spcPct val="0"/>
              </a:spcAft>
              <a:defRPr kumimoji="1" sz="3600" b="1">
                <a:solidFill>
                  <a:srgbClr val="FF0000"/>
                </a:solidFill>
                <a:latin typeface="Arial" charset="0"/>
                <a:ea typeface="楷体_GB2312" pitchFamily="49" charset="-122"/>
              </a:defRPr>
            </a:lvl9pPr>
          </a:lstStyle>
          <a:p>
            <a:pPr algn="l"/>
            <a:r>
              <a:rPr kumimoji="0" lang="zh-CN" altLang="en-US" kern="0" dirty="0">
                <a:solidFill>
                  <a:schemeClr val="tx1"/>
                </a:solidFill>
                <a:sym typeface="+mn-ea"/>
              </a:rPr>
              <a:t>（一）大数据背景</a:t>
            </a:r>
            <a:endParaRPr kumimoji="0" lang="zh-CN" altLang="en-US" kern="0" dirty="0">
              <a:solidFill>
                <a:schemeClr val="tx1"/>
              </a:solidFill>
              <a:latin typeface="微软雅黑" panose="020B0503020204020204" pitchFamily="34" charset="-122"/>
              <a:ea typeface="微软雅黑" panose="020B0503020204020204" pitchFamily="34" charset="-122"/>
            </a:endParaRPr>
          </a:p>
        </p:txBody>
      </p:sp>
      <p:sp>
        <p:nvSpPr>
          <p:cNvPr id="11" name="灯片编号占位符 5">
            <a:extLst>
              <a:ext uri="{FF2B5EF4-FFF2-40B4-BE49-F238E27FC236}">
                <a16:creationId xmlns:a16="http://schemas.microsoft.com/office/drawing/2014/main" id="{5324310C-A271-B60F-4940-BF77A11DB278}"/>
              </a:ext>
            </a:extLst>
          </p:cNvPr>
          <p:cNvSpPr txBox="1">
            <a:spLocks/>
          </p:cNvSpPr>
          <p:nvPr/>
        </p:nvSpPr>
        <p:spPr>
          <a:xfrm>
            <a:off x="9220200" y="6356350"/>
            <a:ext cx="2743200" cy="365125"/>
          </a:xfrm>
        </p:spPr>
        <p:txBody>
          <a:bodyPr/>
          <a:lstStyle>
            <a:defPPr>
              <a:defRPr lang="zh-CN"/>
            </a:defPPr>
            <a:lvl1pPr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1pPr>
            <a:lvl2pPr marL="4572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2pPr>
            <a:lvl3pPr marL="9144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3pPr>
            <a:lvl4pPr marL="13716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4pPr>
            <a:lvl5pPr marL="18288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9pPr>
          </a:lstStyle>
          <a:p>
            <a:pPr>
              <a:defRPr/>
            </a:pPr>
            <a:fld id="{E41A5DFF-0927-4B7A-94B2-734DA9634F93}" type="slidenum">
              <a:rPr lang="en-US" altLang="zh-CN" smtClean="0"/>
              <a:pPr>
                <a:defRPr/>
              </a:pPr>
              <a:t>52</a:t>
            </a:fld>
            <a:endParaRPr lang="en-US" altLang="zh-CN" dirty="0"/>
          </a:p>
        </p:txBody>
      </p:sp>
      <p:pic>
        <p:nvPicPr>
          <p:cNvPr id="23" name="图片 22">
            <a:extLst>
              <a:ext uri="{FF2B5EF4-FFF2-40B4-BE49-F238E27FC236}">
                <a16:creationId xmlns:a16="http://schemas.microsoft.com/office/drawing/2014/main" id="{3ED42CC4-E302-76A4-59E3-E241A79F941D}"/>
              </a:ext>
            </a:extLst>
          </p:cNvPr>
          <p:cNvPicPr>
            <a:picLocks noChangeAspect="1"/>
          </p:cNvPicPr>
          <p:nvPr/>
        </p:nvPicPr>
        <p:blipFill>
          <a:blip r:embed="rId3"/>
          <a:stretch>
            <a:fillRect/>
          </a:stretch>
        </p:blipFill>
        <p:spPr>
          <a:xfrm>
            <a:off x="68387" y="1196752"/>
            <a:ext cx="9144000" cy="4318646"/>
          </a:xfrm>
          <a:prstGeom prst="rect">
            <a:avLst/>
          </a:prstGeom>
        </p:spPr>
      </p:pic>
      <p:sp>
        <p:nvSpPr>
          <p:cNvPr id="24" name="textbox 42">
            <a:extLst>
              <a:ext uri="{FF2B5EF4-FFF2-40B4-BE49-F238E27FC236}">
                <a16:creationId xmlns:a16="http://schemas.microsoft.com/office/drawing/2014/main" id="{07B54418-550B-F217-E5F4-E974CD2B0C19}"/>
              </a:ext>
            </a:extLst>
          </p:cNvPr>
          <p:cNvSpPr/>
          <p:nvPr/>
        </p:nvSpPr>
        <p:spPr>
          <a:xfrm>
            <a:off x="221744" y="6237312"/>
            <a:ext cx="8454712" cy="709688"/>
          </a:xfrm>
          <a:prstGeom prst="rect">
            <a:avLst/>
          </a:prstGeom>
          <a:noFill/>
          <a:ln w="0" cap="flat">
            <a:noFill/>
            <a:prstDash val="solid"/>
            <a:miter lim="0"/>
          </a:ln>
        </p:spPr>
        <p:txBody>
          <a:bodyPr vert="horz" wrap="square" lIns="0" tIns="0" rIns="0" bIns="0"/>
          <a:lstStyle/>
          <a:p>
            <a:pPr indent="0" algn="ctr" rtl="0" eaLnBrk="0" fontAlgn="auto">
              <a:lnSpc>
                <a:spcPct val="12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Transformer</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的架构一统天下</a:t>
            </a:r>
            <a:endParaRPr lang="zh-CN" altLang="en-US"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28565441"/>
      </p:ext>
    </p:extLst>
  </p:cSld>
  <p:clrMapOvr>
    <a:masterClrMapping/>
  </p:clrMapOvr>
  <p:transition spd="slow">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E129A755-6B1F-7899-352E-E7951F76C8C2}"/>
              </a:ext>
            </a:extLst>
          </p:cNvPr>
          <p:cNvSpPr txBox="1">
            <a:spLocks/>
          </p:cNvSpPr>
          <p:nvPr/>
        </p:nvSpPr>
        <p:spPr>
          <a:xfrm>
            <a:off x="323528" y="820670"/>
            <a:ext cx="8712968" cy="664114"/>
          </a:xfrm>
          <a:prstGeom prst="rect">
            <a:avLst/>
          </a:prstGeom>
        </p:spPr>
        <p:txBody>
          <a:bodyPr/>
          <a:lstStyle>
            <a:lvl1pPr algn="ctr" rtl="0" eaLnBrk="0" fontAlgn="base" hangingPunct="0">
              <a:spcBef>
                <a:spcPct val="0"/>
              </a:spcBef>
              <a:spcAft>
                <a:spcPct val="0"/>
              </a:spcAft>
              <a:defRPr kumimoji="1" sz="3600" b="1">
                <a:solidFill>
                  <a:srgbClr val="FF0000"/>
                </a:solidFill>
                <a:latin typeface="+mj-lt"/>
                <a:ea typeface="+mj-ea"/>
                <a:cs typeface="+mj-cs"/>
              </a:defRPr>
            </a:lvl1pPr>
            <a:lvl2pPr algn="ctr" rtl="0" eaLnBrk="0" fontAlgn="base" hangingPunct="0">
              <a:spcBef>
                <a:spcPct val="0"/>
              </a:spcBef>
              <a:spcAft>
                <a:spcPct val="0"/>
              </a:spcAft>
              <a:defRPr kumimoji="1" sz="3600" b="1">
                <a:solidFill>
                  <a:srgbClr val="FF0000"/>
                </a:solidFill>
                <a:latin typeface="Arial" charset="0"/>
                <a:ea typeface="楷体_GB2312" pitchFamily="49" charset="-122"/>
              </a:defRPr>
            </a:lvl2pPr>
            <a:lvl3pPr algn="ctr" rtl="0" eaLnBrk="0" fontAlgn="base" hangingPunct="0">
              <a:spcBef>
                <a:spcPct val="0"/>
              </a:spcBef>
              <a:spcAft>
                <a:spcPct val="0"/>
              </a:spcAft>
              <a:defRPr kumimoji="1" sz="3600" b="1">
                <a:solidFill>
                  <a:srgbClr val="FF0000"/>
                </a:solidFill>
                <a:latin typeface="Arial" charset="0"/>
                <a:ea typeface="楷体_GB2312" pitchFamily="49" charset="-122"/>
              </a:defRPr>
            </a:lvl3pPr>
            <a:lvl4pPr algn="ctr" rtl="0" eaLnBrk="0" fontAlgn="base" hangingPunct="0">
              <a:spcBef>
                <a:spcPct val="0"/>
              </a:spcBef>
              <a:spcAft>
                <a:spcPct val="0"/>
              </a:spcAft>
              <a:defRPr kumimoji="1" sz="3600" b="1">
                <a:solidFill>
                  <a:srgbClr val="FF0000"/>
                </a:solidFill>
                <a:latin typeface="Arial" charset="0"/>
                <a:ea typeface="楷体_GB2312" pitchFamily="49" charset="-122"/>
              </a:defRPr>
            </a:lvl4pPr>
            <a:lvl5pPr algn="ctr" rtl="0" eaLnBrk="0" fontAlgn="base" hangingPunct="0">
              <a:spcBef>
                <a:spcPct val="0"/>
              </a:spcBef>
              <a:spcAft>
                <a:spcPct val="0"/>
              </a:spcAft>
              <a:defRPr kumimoji="1" sz="3600" b="1">
                <a:solidFill>
                  <a:srgbClr val="FF0000"/>
                </a:solidFill>
                <a:latin typeface="Arial" charset="0"/>
                <a:ea typeface="楷体_GB2312" pitchFamily="49" charset="-122"/>
              </a:defRPr>
            </a:lvl5pPr>
            <a:lvl6pPr marL="457200" algn="ctr" rtl="0" fontAlgn="base">
              <a:spcBef>
                <a:spcPct val="0"/>
              </a:spcBef>
              <a:spcAft>
                <a:spcPct val="0"/>
              </a:spcAft>
              <a:defRPr kumimoji="1" sz="3600" b="1">
                <a:solidFill>
                  <a:srgbClr val="FF0000"/>
                </a:solidFill>
                <a:latin typeface="Arial" charset="0"/>
                <a:ea typeface="楷体_GB2312" pitchFamily="49" charset="-122"/>
              </a:defRPr>
            </a:lvl6pPr>
            <a:lvl7pPr marL="914400" algn="ctr" rtl="0" fontAlgn="base">
              <a:spcBef>
                <a:spcPct val="0"/>
              </a:spcBef>
              <a:spcAft>
                <a:spcPct val="0"/>
              </a:spcAft>
              <a:defRPr kumimoji="1" sz="3600" b="1">
                <a:solidFill>
                  <a:srgbClr val="FF0000"/>
                </a:solidFill>
                <a:latin typeface="Arial" charset="0"/>
                <a:ea typeface="楷体_GB2312" pitchFamily="49" charset="-122"/>
              </a:defRPr>
            </a:lvl7pPr>
            <a:lvl8pPr marL="1371600" algn="ctr" rtl="0" fontAlgn="base">
              <a:spcBef>
                <a:spcPct val="0"/>
              </a:spcBef>
              <a:spcAft>
                <a:spcPct val="0"/>
              </a:spcAft>
              <a:defRPr kumimoji="1" sz="3600" b="1">
                <a:solidFill>
                  <a:srgbClr val="FF0000"/>
                </a:solidFill>
                <a:latin typeface="Arial" charset="0"/>
                <a:ea typeface="楷体_GB2312" pitchFamily="49" charset="-122"/>
              </a:defRPr>
            </a:lvl8pPr>
            <a:lvl9pPr marL="1828800" algn="ctr" rtl="0" fontAlgn="base">
              <a:spcBef>
                <a:spcPct val="0"/>
              </a:spcBef>
              <a:spcAft>
                <a:spcPct val="0"/>
              </a:spcAft>
              <a:defRPr kumimoji="1" sz="3600" b="1">
                <a:solidFill>
                  <a:srgbClr val="FF0000"/>
                </a:solidFill>
                <a:latin typeface="Arial" charset="0"/>
                <a:ea typeface="楷体_GB2312" pitchFamily="49" charset="-122"/>
              </a:defRPr>
            </a:lvl9pPr>
          </a:lstStyle>
          <a:p>
            <a:pPr algn="l"/>
            <a:r>
              <a:rPr lang="zh-CN" altLang="en-US" sz="2400" kern="0" dirty="0">
                <a:solidFill>
                  <a:schemeClr val="tx1"/>
                </a:solidFill>
              </a:rPr>
              <a:t>数据和人工智能模型一起产生价值，需要合法合规</a:t>
            </a:r>
          </a:p>
        </p:txBody>
      </p:sp>
      <p:sp>
        <p:nvSpPr>
          <p:cNvPr id="6" name="textbox 72">
            <a:extLst>
              <a:ext uri="{FF2B5EF4-FFF2-40B4-BE49-F238E27FC236}">
                <a16:creationId xmlns:a16="http://schemas.microsoft.com/office/drawing/2014/main" id="{3FCA0953-EB13-740B-6EC3-11E774193675}"/>
              </a:ext>
            </a:extLst>
          </p:cNvPr>
          <p:cNvSpPr/>
          <p:nvPr/>
        </p:nvSpPr>
        <p:spPr>
          <a:xfrm>
            <a:off x="107504" y="5719830"/>
            <a:ext cx="8856984" cy="635000"/>
          </a:xfrm>
          <a:prstGeom prst="rect">
            <a:avLst/>
          </a:prstGeom>
          <a:noFill/>
          <a:ln w="0" cap="flat">
            <a:noFill/>
            <a:prstDash val="solid"/>
            <a:miter lim="0"/>
          </a:ln>
        </p:spPr>
        <p:txBody>
          <a:bodyPr vert="horz" wrap="square"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rtl="0" eaLnBrk="0">
              <a:lnSpc>
                <a:spcPct val="14000"/>
              </a:lnSpc>
            </a:pPr>
            <a:endParaRPr sz="100" dirty="0">
              <a:latin typeface="Arial" panose="020B0604020202020204"/>
              <a:ea typeface="Arial" panose="020B0604020202020204"/>
              <a:cs typeface="Arial" panose="020B0604020202020204"/>
            </a:endParaRPr>
          </a:p>
          <a:p>
            <a:pPr marL="12065" algn="l" rtl="0" eaLnBrk="0">
              <a:lnSpc>
                <a:spcPct val="113000"/>
              </a:lnSpc>
            </a:pPr>
            <a:r>
              <a:rPr sz="1800" b="1" kern="0" spc="10" dirty="0" err="1">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自我国将数据上升为生产要素以来</a:t>
            </a:r>
            <a:r>
              <a:rPr sz="1800" b="1" kern="0" spc="-2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800"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，持续探索后获得巨大成效</a:t>
            </a:r>
            <a:r>
              <a:rPr sz="1800" b="1" kern="0" spc="-2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800"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，但数据安全、高效、可信流通及</a:t>
            </a:r>
            <a:r>
              <a:rPr sz="1800"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创新落地等技术问题亟待</a:t>
            </a:r>
            <a:r>
              <a:rPr sz="1800"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解决</a:t>
            </a:r>
            <a:endParaRPr sz="18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7" name="picture 150">
            <a:extLst>
              <a:ext uri="{FF2B5EF4-FFF2-40B4-BE49-F238E27FC236}">
                <a16:creationId xmlns:a16="http://schemas.microsoft.com/office/drawing/2014/main" id="{63BEA005-C8B2-37F7-900E-5EA64672A900}"/>
              </a:ext>
            </a:extLst>
          </p:cNvPr>
          <p:cNvPicPr>
            <a:picLocks noChangeAspect="1"/>
          </p:cNvPicPr>
          <p:nvPr/>
        </p:nvPicPr>
        <p:blipFill>
          <a:blip r:embed="rId2"/>
          <a:stretch>
            <a:fillRect/>
          </a:stretch>
        </p:blipFill>
        <p:spPr>
          <a:xfrm rot="21600000">
            <a:off x="11449383" y="6699533"/>
            <a:ext cx="12686" cy="10136"/>
          </a:xfrm>
          <a:prstGeom prst="rect">
            <a:avLst/>
          </a:prstGeom>
        </p:spPr>
      </p:pic>
      <p:sp>
        <p:nvSpPr>
          <p:cNvPr id="48" name="标题 2">
            <a:extLst>
              <a:ext uri="{FF2B5EF4-FFF2-40B4-BE49-F238E27FC236}">
                <a16:creationId xmlns:a16="http://schemas.microsoft.com/office/drawing/2014/main" id="{7C3FD394-C322-E173-2451-72A9D16FE19F}"/>
              </a:ext>
            </a:extLst>
          </p:cNvPr>
          <p:cNvSpPr txBox="1">
            <a:spLocks/>
          </p:cNvSpPr>
          <p:nvPr/>
        </p:nvSpPr>
        <p:spPr>
          <a:xfrm>
            <a:off x="-36512" y="21206"/>
            <a:ext cx="7621017" cy="1014730"/>
          </a:xfrm>
          <a:prstGeom prst="rect">
            <a:avLst/>
          </a:prstGeom>
        </p:spPr>
        <p:txBody>
          <a:bodyPr/>
          <a:lstStyle>
            <a:lvl1pPr algn="ctr" rtl="0" eaLnBrk="0" fontAlgn="base" hangingPunct="0">
              <a:spcBef>
                <a:spcPct val="0"/>
              </a:spcBef>
              <a:spcAft>
                <a:spcPct val="0"/>
              </a:spcAft>
              <a:defRPr kumimoji="1" sz="3600" b="1">
                <a:solidFill>
                  <a:srgbClr val="FF0000"/>
                </a:solidFill>
                <a:latin typeface="+mj-lt"/>
                <a:ea typeface="+mj-ea"/>
                <a:cs typeface="+mj-cs"/>
              </a:defRPr>
            </a:lvl1pPr>
            <a:lvl2pPr algn="ctr" rtl="0" eaLnBrk="0" fontAlgn="base" hangingPunct="0">
              <a:spcBef>
                <a:spcPct val="0"/>
              </a:spcBef>
              <a:spcAft>
                <a:spcPct val="0"/>
              </a:spcAft>
              <a:defRPr kumimoji="1" sz="3600" b="1">
                <a:solidFill>
                  <a:srgbClr val="FF0000"/>
                </a:solidFill>
                <a:latin typeface="Arial" charset="0"/>
                <a:ea typeface="楷体_GB2312" pitchFamily="49" charset="-122"/>
              </a:defRPr>
            </a:lvl2pPr>
            <a:lvl3pPr algn="ctr" rtl="0" eaLnBrk="0" fontAlgn="base" hangingPunct="0">
              <a:spcBef>
                <a:spcPct val="0"/>
              </a:spcBef>
              <a:spcAft>
                <a:spcPct val="0"/>
              </a:spcAft>
              <a:defRPr kumimoji="1" sz="3600" b="1">
                <a:solidFill>
                  <a:srgbClr val="FF0000"/>
                </a:solidFill>
                <a:latin typeface="Arial" charset="0"/>
                <a:ea typeface="楷体_GB2312" pitchFamily="49" charset="-122"/>
              </a:defRPr>
            </a:lvl3pPr>
            <a:lvl4pPr algn="ctr" rtl="0" eaLnBrk="0" fontAlgn="base" hangingPunct="0">
              <a:spcBef>
                <a:spcPct val="0"/>
              </a:spcBef>
              <a:spcAft>
                <a:spcPct val="0"/>
              </a:spcAft>
              <a:defRPr kumimoji="1" sz="3600" b="1">
                <a:solidFill>
                  <a:srgbClr val="FF0000"/>
                </a:solidFill>
                <a:latin typeface="Arial" charset="0"/>
                <a:ea typeface="楷体_GB2312" pitchFamily="49" charset="-122"/>
              </a:defRPr>
            </a:lvl4pPr>
            <a:lvl5pPr algn="ctr" rtl="0" eaLnBrk="0" fontAlgn="base" hangingPunct="0">
              <a:spcBef>
                <a:spcPct val="0"/>
              </a:spcBef>
              <a:spcAft>
                <a:spcPct val="0"/>
              </a:spcAft>
              <a:defRPr kumimoji="1" sz="3600" b="1">
                <a:solidFill>
                  <a:srgbClr val="FF0000"/>
                </a:solidFill>
                <a:latin typeface="Arial" charset="0"/>
                <a:ea typeface="楷体_GB2312" pitchFamily="49" charset="-122"/>
              </a:defRPr>
            </a:lvl5pPr>
            <a:lvl6pPr marL="457200" algn="ctr" rtl="0" fontAlgn="base">
              <a:spcBef>
                <a:spcPct val="0"/>
              </a:spcBef>
              <a:spcAft>
                <a:spcPct val="0"/>
              </a:spcAft>
              <a:defRPr kumimoji="1" sz="3600" b="1">
                <a:solidFill>
                  <a:srgbClr val="FF0000"/>
                </a:solidFill>
                <a:latin typeface="Arial" charset="0"/>
                <a:ea typeface="楷体_GB2312" pitchFamily="49" charset="-122"/>
              </a:defRPr>
            </a:lvl6pPr>
            <a:lvl7pPr marL="914400" algn="ctr" rtl="0" fontAlgn="base">
              <a:spcBef>
                <a:spcPct val="0"/>
              </a:spcBef>
              <a:spcAft>
                <a:spcPct val="0"/>
              </a:spcAft>
              <a:defRPr kumimoji="1" sz="3600" b="1">
                <a:solidFill>
                  <a:srgbClr val="FF0000"/>
                </a:solidFill>
                <a:latin typeface="Arial" charset="0"/>
                <a:ea typeface="楷体_GB2312" pitchFamily="49" charset="-122"/>
              </a:defRPr>
            </a:lvl7pPr>
            <a:lvl8pPr marL="1371600" algn="ctr" rtl="0" fontAlgn="base">
              <a:spcBef>
                <a:spcPct val="0"/>
              </a:spcBef>
              <a:spcAft>
                <a:spcPct val="0"/>
              </a:spcAft>
              <a:defRPr kumimoji="1" sz="3600" b="1">
                <a:solidFill>
                  <a:srgbClr val="FF0000"/>
                </a:solidFill>
                <a:latin typeface="Arial" charset="0"/>
                <a:ea typeface="楷体_GB2312" pitchFamily="49" charset="-122"/>
              </a:defRPr>
            </a:lvl8pPr>
            <a:lvl9pPr marL="1828800" algn="ctr" rtl="0" fontAlgn="base">
              <a:spcBef>
                <a:spcPct val="0"/>
              </a:spcBef>
              <a:spcAft>
                <a:spcPct val="0"/>
              </a:spcAft>
              <a:defRPr kumimoji="1" sz="3600" b="1">
                <a:solidFill>
                  <a:srgbClr val="FF0000"/>
                </a:solidFill>
                <a:latin typeface="Arial" charset="0"/>
                <a:ea typeface="楷体_GB2312" pitchFamily="49" charset="-122"/>
              </a:defRPr>
            </a:lvl9pPr>
          </a:lstStyle>
          <a:p>
            <a:pPr algn="l"/>
            <a:r>
              <a:rPr kumimoji="0" lang="zh-CN" altLang="en-US" kern="0" dirty="0">
                <a:solidFill>
                  <a:schemeClr val="tx1"/>
                </a:solidFill>
                <a:sym typeface="+mn-ea"/>
              </a:rPr>
              <a:t>（一）大数据背景</a:t>
            </a:r>
            <a:endParaRPr kumimoji="0" lang="zh-CN" altLang="en-US" kern="0" dirty="0">
              <a:solidFill>
                <a:schemeClr val="tx1"/>
              </a:solidFill>
              <a:latin typeface="微软雅黑" panose="020B0503020204020204" pitchFamily="34" charset="-122"/>
              <a:ea typeface="微软雅黑" panose="020B0503020204020204" pitchFamily="34" charset="-122"/>
            </a:endParaRPr>
          </a:p>
        </p:txBody>
      </p:sp>
      <p:pic>
        <p:nvPicPr>
          <p:cNvPr id="91" name="图片 90">
            <a:extLst>
              <a:ext uri="{FF2B5EF4-FFF2-40B4-BE49-F238E27FC236}">
                <a16:creationId xmlns:a16="http://schemas.microsoft.com/office/drawing/2014/main" id="{3B6D0A77-4B7E-653B-136F-49F07C4550F9}"/>
              </a:ext>
            </a:extLst>
          </p:cNvPr>
          <p:cNvPicPr>
            <a:picLocks noChangeAspect="1"/>
          </p:cNvPicPr>
          <p:nvPr/>
        </p:nvPicPr>
        <p:blipFill>
          <a:blip r:embed="rId3"/>
          <a:stretch>
            <a:fillRect/>
          </a:stretch>
        </p:blipFill>
        <p:spPr>
          <a:xfrm>
            <a:off x="0" y="2093270"/>
            <a:ext cx="9144000" cy="3067980"/>
          </a:xfrm>
          <a:prstGeom prst="rect">
            <a:avLst/>
          </a:prstGeom>
        </p:spPr>
      </p:pic>
    </p:spTree>
    <p:extLst>
      <p:ext uri="{BB962C8B-B14F-4D97-AF65-F5344CB8AC3E}">
        <p14:creationId xmlns:p14="http://schemas.microsoft.com/office/powerpoint/2010/main" val="776651502"/>
      </p:ext>
    </p:extLst>
  </p:cSld>
  <p:clrMapOvr>
    <a:masterClrMapping/>
  </p:clrMapOvr>
  <p:transition spd="slow">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45AE879-4583-4EFF-9FA7-A25AA7DFEF26}"/>
              </a:ext>
            </a:extLst>
          </p:cNvPr>
          <p:cNvSpPr/>
          <p:nvPr/>
        </p:nvSpPr>
        <p:spPr>
          <a:xfrm>
            <a:off x="3347864" y="260648"/>
            <a:ext cx="6246440" cy="523220"/>
          </a:xfrm>
          <a:prstGeom prst="rect">
            <a:avLst/>
          </a:prstGeom>
        </p:spPr>
        <p:txBody>
          <a:bodyPr wrap="square">
            <a:spAutoFit/>
          </a:bodyPr>
          <a:lstStyle/>
          <a:p>
            <a:r>
              <a:rPr lang="en-US" altLang="zh-CN" dirty="0"/>
              <a:t>AI</a:t>
            </a:r>
            <a:r>
              <a:rPr lang="zh-CN" altLang="en-US" dirty="0"/>
              <a:t>系统在设计上面临五大安全挑战</a:t>
            </a:r>
          </a:p>
        </p:txBody>
      </p:sp>
      <p:pic>
        <p:nvPicPr>
          <p:cNvPr id="3" name="图片 2">
            <a:extLst>
              <a:ext uri="{FF2B5EF4-FFF2-40B4-BE49-F238E27FC236}">
                <a16:creationId xmlns:a16="http://schemas.microsoft.com/office/drawing/2014/main" id="{D514FA7D-4236-4401-BF4F-29DA0E56FEEF}"/>
              </a:ext>
            </a:extLst>
          </p:cNvPr>
          <p:cNvPicPr>
            <a:picLocks noChangeAspect="1"/>
          </p:cNvPicPr>
          <p:nvPr/>
        </p:nvPicPr>
        <p:blipFill>
          <a:blip r:embed="rId3"/>
          <a:stretch>
            <a:fillRect/>
          </a:stretch>
        </p:blipFill>
        <p:spPr>
          <a:xfrm>
            <a:off x="0" y="1340768"/>
            <a:ext cx="9144000" cy="3090402"/>
          </a:xfrm>
          <a:prstGeom prst="rect">
            <a:avLst/>
          </a:prstGeom>
        </p:spPr>
      </p:pic>
      <p:sp>
        <p:nvSpPr>
          <p:cNvPr id="4" name="矩形 3">
            <a:extLst>
              <a:ext uri="{FF2B5EF4-FFF2-40B4-BE49-F238E27FC236}">
                <a16:creationId xmlns:a16="http://schemas.microsoft.com/office/drawing/2014/main" id="{B8E45F70-21CC-46A4-82BD-74B8F656D390}"/>
              </a:ext>
            </a:extLst>
          </p:cNvPr>
          <p:cNvSpPr/>
          <p:nvPr/>
        </p:nvSpPr>
        <p:spPr>
          <a:xfrm>
            <a:off x="273702" y="5255622"/>
            <a:ext cx="3097323" cy="523220"/>
          </a:xfrm>
          <a:prstGeom prst="rect">
            <a:avLst/>
          </a:prstGeom>
        </p:spPr>
        <p:txBody>
          <a:bodyPr wrap="none">
            <a:spAutoFit/>
          </a:bodyPr>
          <a:lstStyle/>
          <a:p>
            <a:r>
              <a:rPr lang="zh-CN" altLang="en-US" dirty="0"/>
              <a:t>华为</a:t>
            </a:r>
            <a:r>
              <a:rPr lang="en-US" altLang="zh-CN" dirty="0"/>
              <a:t>AI</a:t>
            </a:r>
            <a:r>
              <a:rPr lang="zh-CN" altLang="en-US" dirty="0"/>
              <a:t>安全白皮书</a:t>
            </a:r>
          </a:p>
        </p:txBody>
      </p:sp>
    </p:spTree>
    <p:extLst>
      <p:ext uri="{BB962C8B-B14F-4D97-AF65-F5344CB8AC3E}">
        <p14:creationId xmlns:p14="http://schemas.microsoft.com/office/powerpoint/2010/main" val="2755602528"/>
      </p:ext>
    </p:extLst>
  </p:cSld>
  <p:clrMapOvr>
    <a:masterClrMapping/>
  </p:clrMapOvr>
  <p:transition spd="slow">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C65C928-B8DF-426B-A8DD-B512C466AB48}"/>
              </a:ext>
            </a:extLst>
          </p:cNvPr>
          <p:cNvSpPr/>
          <p:nvPr/>
        </p:nvSpPr>
        <p:spPr>
          <a:xfrm>
            <a:off x="3923928" y="116632"/>
            <a:ext cx="3456395" cy="523220"/>
          </a:xfrm>
          <a:prstGeom prst="rect">
            <a:avLst/>
          </a:prstGeom>
        </p:spPr>
        <p:txBody>
          <a:bodyPr wrap="none">
            <a:spAutoFit/>
          </a:bodyPr>
          <a:lstStyle/>
          <a:p>
            <a:r>
              <a:rPr lang="en-US" altLang="zh-CN" dirty="0"/>
              <a:t>AI</a:t>
            </a:r>
            <a:r>
              <a:rPr lang="zh-CN" altLang="en-US" dirty="0"/>
              <a:t>安全典型攻击方式</a:t>
            </a:r>
          </a:p>
        </p:txBody>
      </p:sp>
      <p:sp>
        <p:nvSpPr>
          <p:cNvPr id="3" name="矩形 2">
            <a:extLst>
              <a:ext uri="{FF2B5EF4-FFF2-40B4-BE49-F238E27FC236}">
                <a16:creationId xmlns:a16="http://schemas.microsoft.com/office/drawing/2014/main" id="{BC066D4C-2BDE-40D8-9426-BF9BB5CA2CE2}"/>
              </a:ext>
            </a:extLst>
          </p:cNvPr>
          <p:cNvSpPr/>
          <p:nvPr/>
        </p:nvSpPr>
        <p:spPr>
          <a:xfrm>
            <a:off x="0" y="918302"/>
            <a:ext cx="9396536" cy="523220"/>
          </a:xfrm>
          <a:prstGeom prst="rect">
            <a:avLst/>
          </a:prstGeom>
        </p:spPr>
        <p:txBody>
          <a:bodyPr wrap="square">
            <a:spAutoFit/>
          </a:bodyPr>
          <a:lstStyle/>
          <a:p>
            <a:r>
              <a:rPr lang="zh-CN" altLang="en-US" dirty="0">
                <a:solidFill>
                  <a:srgbClr val="FF0000"/>
                </a:solidFill>
              </a:rPr>
              <a:t>闪避攻击</a:t>
            </a:r>
            <a:r>
              <a:rPr lang="zh-CN" altLang="en-US" dirty="0"/>
              <a:t>是指通过修改输入，让</a:t>
            </a:r>
            <a:r>
              <a:rPr lang="en-US" altLang="zh-CN" dirty="0"/>
              <a:t>AI</a:t>
            </a:r>
            <a:r>
              <a:rPr lang="zh-CN" altLang="en-US" dirty="0"/>
              <a:t>模型无法对其正确识别</a:t>
            </a:r>
          </a:p>
        </p:txBody>
      </p:sp>
      <p:pic>
        <p:nvPicPr>
          <p:cNvPr id="4" name="图片 3">
            <a:extLst>
              <a:ext uri="{FF2B5EF4-FFF2-40B4-BE49-F238E27FC236}">
                <a16:creationId xmlns:a16="http://schemas.microsoft.com/office/drawing/2014/main" id="{AD22CE31-E2FA-4843-98EA-19BEE62A613B}"/>
              </a:ext>
            </a:extLst>
          </p:cNvPr>
          <p:cNvPicPr>
            <a:picLocks noChangeAspect="1"/>
          </p:cNvPicPr>
          <p:nvPr/>
        </p:nvPicPr>
        <p:blipFill>
          <a:blip r:embed="rId3"/>
          <a:stretch>
            <a:fillRect/>
          </a:stretch>
        </p:blipFill>
        <p:spPr>
          <a:xfrm>
            <a:off x="0" y="1719972"/>
            <a:ext cx="9144000" cy="5165717"/>
          </a:xfrm>
          <a:prstGeom prst="rect">
            <a:avLst/>
          </a:prstGeom>
        </p:spPr>
      </p:pic>
    </p:spTree>
    <p:extLst>
      <p:ext uri="{BB962C8B-B14F-4D97-AF65-F5344CB8AC3E}">
        <p14:creationId xmlns:p14="http://schemas.microsoft.com/office/powerpoint/2010/main" val="1500336840"/>
      </p:ext>
    </p:extLst>
  </p:cSld>
  <p:clrMapOvr>
    <a:masterClrMapping/>
  </p:clrMapOvr>
  <p:transition spd="slow">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477D0BF-C8A0-4141-B611-59DE4AC768AF}"/>
              </a:ext>
            </a:extLst>
          </p:cNvPr>
          <p:cNvSpPr/>
          <p:nvPr/>
        </p:nvSpPr>
        <p:spPr>
          <a:xfrm>
            <a:off x="150671" y="1052736"/>
            <a:ext cx="1620957" cy="523220"/>
          </a:xfrm>
          <a:prstGeom prst="rect">
            <a:avLst/>
          </a:prstGeom>
        </p:spPr>
        <p:txBody>
          <a:bodyPr wrap="none">
            <a:spAutoFit/>
          </a:bodyPr>
          <a:lstStyle/>
          <a:p>
            <a:r>
              <a:rPr lang="zh-CN" altLang="en-US" dirty="0">
                <a:solidFill>
                  <a:srgbClr val="FF0000"/>
                </a:solidFill>
              </a:rPr>
              <a:t>药饵攻击</a:t>
            </a:r>
          </a:p>
        </p:txBody>
      </p:sp>
      <p:sp>
        <p:nvSpPr>
          <p:cNvPr id="3" name="矩形 2">
            <a:extLst>
              <a:ext uri="{FF2B5EF4-FFF2-40B4-BE49-F238E27FC236}">
                <a16:creationId xmlns:a16="http://schemas.microsoft.com/office/drawing/2014/main" id="{1C3147B8-AFAD-4FA2-A2C9-C0CF93E44F4A}"/>
              </a:ext>
            </a:extLst>
          </p:cNvPr>
          <p:cNvSpPr/>
          <p:nvPr/>
        </p:nvSpPr>
        <p:spPr>
          <a:xfrm>
            <a:off x="125666" y="1916832"/>
            <a:ext cx="8856984" cy="1815882"/>
          </a:xfrm>
          <a:prstGeom prst="rect">
            <a:avLst/>
          </a:prstGeom>
        </p:spPr>
        <p:txBody>
          <a:bodyPr wrap="square">
            <a:spAutoFit/>
          </a:bodyPr>
          <a:lstStyle/>
          <a:p>
            <a:r>
              <a:rPr lang="zh-CN" altLang="en-US" dirty="0"/>
              <a:t>可以在训练样本中掺杂少量的恶意样本，就能很大程度干扰</a:t>
            </a:r>
            <a:r>
              <a:rPr lang="en-US" altLang="zh-CN" dirty="0"/>
              <a:t>AI</a:t>
            </a:r>
            <a:r>
              <a:rPr lang="zh-CN" altLang="en-US" dirty="0"/>
              <a:t>模型准确率。</a:t>
            </a:r>
            <a:endParaRPr lang="en-US" altLang="zh-CN" dirty="0"/>
          </a:p>
          <a:p>
            <a:endParaRPr lang="en-US" altLang="zh-CN" dirty="0"/>
          </a:p>
          <a:p>
            <a:r>
              <a:rPr lang="zh-CN" altLang="en-US" dirty="0"/>
              <a:t>最优坡度攻击、全局最优攻击、统计优化攻击三种</a:t>
            </a:r>
          </a:p>
        </p:txBody>
      </p:sp>
      <p:sp>
        <p:nvSpPr>
          <p:cNvPr id="4" name="矩形 3">
            <a:extLst>
              <a:ext uri="{FF2B5EF4-FFF2-40B4-BE49-F238E27FC236}">
                <a16:creationId xmlns:a16="http://schemas.microsoft.com/office/drawing/2014/main" id="{BB5764DC-FEA8-4E18-9945-F1615088218D}"/>
              </a:ext>
            </a:extLst>
          </p:cNvPr>
          <p:cNvSpPr/>
          <p:nvPr/>
        </p:nvSpPr>
        <p:spPr>
          <a:xfrm>
            <a:off x="150671" y="4221088"/>
            <a:ext cx="1620957" cy="523220"/>
          </a:xfrm>
          <a:prstGeom prst="rect">
            <a:avLst/>
          </a:prstGeom>
        </p:spPr>
        <p:txBody>
          <a:bodyPr wrap="none">
            <a:spAutoFit/>
          </a:bodyPr>
          <a:lstStyle/>
          <a:p>
            <a:r>
              <a:rPr lang="zh-CN" altLang="en-US">
                <a:solidFill>
                  <a:srgbClr val="FF0000"/>
                </a:solidFill>
              </a:rPr>
              <a:t>后门攻击</a:t>
            </a:r>
            <a:endParaRPr lang="zh-CN" altLang="en-US" dirty="0">
              <a:solidFill>
                <a:srgbClr val="FF0000"/>
              </a:solidFill>
            </a:endParaRPr>
          </a:p>
        </p:txBody>
      </p:sp>
      <p:sp>
        <p:nvSpPr>
          <p:cNvPr id="5" name="矩形 4">
            <a:extLst>
              <a:ext uri="{FF2B5EF4-FFF2-40B4-BE49-F238E27FC236}">
                <a16:creationId xmlns:a16="http://schemas.microsoft.com/office/drawing/2014/main" id="{B37955D4-224A-451E-9E3B-4C59ED878867}"/>
              </a:ext>
            </a:extLst>
          </p:cNvPr>
          <p:cNvSpPr/>
          <p:nvPr/>
        </p:nvSpPr>
        <p:spPr>
          <a:xfrm>
            <a:off x="150671" y="5013176"/>
            <a:ext cx="8568952" cy="1384995"/>
          </a:xfrm>
          <a:prstGeom prst="rect">
            <a:avLst/>
          </a:prstGeom>
        </p:spPr>
        <p:txBody>
          <a:bodyPr wrap="square">
            <a:spAutoFit/>
          </a:bodyPr>
          <a:lstStyle/>
          <a:p>
            <a:r>
              <a:rPr lang="zh-CN" altLang="en-US" dirty="0"/>
              <a:t>在神经网络模型中植入特定的神经元生成带有后门的模型，使得模型虽然对正常输入与原模型判断 一致，但对特殊输入的判断会受攻击者控制。</a:t>
            </a:r>
          </a:p>
        </p:txBody>
      </p:sp>
      <p:sp>
        <p:nvSpPr>
          <p:cNvPr id="6" name="矩形 5">
            <a:extLst>
              <a:ext uri="{FF2B5EF4-FFF2-40B4-BE49-F238E27FC236}">
                <a16:creationId xmlns:a16="http://schemas.microsoft.com/office/drawing/2014/main" id="{AAFB973A-E8F3-490F-AADC-15694AF40CB9}"/>
              </a:ext>
            </a:extLst>
          </p:cNvPr>
          <p:cNvSpPr/>
          <p:nvPr/>
        </p:nvSpPr>
        <p:spPr>
          <a:xfrm>
            <a:off x="3923928" y="116632"/>
            <a:ext cx="3456395" cy="523220"/>
          </a:xfrm>
          <a:prstGeom prst="rect">
            <a:avLst/>
          </a:prstGeom>
        </p:spPr>
        <p:txBody>
          <a:bodyPr wrap="none">
            <a:spAutoFit/>
          </a:bodyPr>
          <a:lstStyle/>
          <a:p>
            <a:r>
              <a:rPr lang="en-US" altLang="zh-CN" dirty="0"/>
              <a:t>AI</a:t>
            </a:r>
            <a:r>
              <a:rPr lang="zh-CN" altLang="en-US" dirty="0"/>
              <a:t>安全典型攻击方式</a:t>
            </a:r>
          </a:p>
        </p:txBody>
      </p:sp>
    </p:spTree>
    <p:extLst>
      <p:ext uri="{BB962C8B-B14F-4D97-AF65-F5344CB8AC3E}">
        <p14:creationId xmlns:p14="http://schemas.microsoft.com/office/powerpoint/2010/main" val="413321718"/>
      </p:ext>
    </p:extLst>
  </p:cSld>
  <p:clrMapOvr>
    <a:masterClrMapping/>
  </p:clrMapOvr>
  <p:transition spd="slow">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C02317D-C1DF-4362-9E8D-3F76B9F287E2}"/>
              </a:ext>
            </a:extLst>
          </p:cNvPr>
          <p:cNvSpPr/>
          <p:nvPr/>
        </p:nvSpPr>
        <p:spPr>
          <a:xfrm>
            <a:off x="179512" y="1268760"/>
            <a:ext cx="2339102" cy="523220"/>
          </a:xfrm>
          <a:prstGeom prst="rect">
            <a:avLst/>
          </a:prstGeom>
        </p:spPr>
        <p:txBody>
          <a:bodyPr wrap="none">
            <a:spAutoFit/>
          </a:bodyPr>
          <a:lstStyle/>
          <a:p>
            <a:r>
              <a:rPr lang="zh-CN" altLang="en-US" dirty="0">
                <a:solidFill>
                  <a:srgbClr val="FF0000"/>
                </a:solidFill>
              </a:rPr>
              <a:t>模型窃取攻击</a:t>
            </a:r>
          </a:p>
        </p:txBody>
      </p:sp>
      <p:sp>
        <p:nvSpPr>
          <p:cNvPr id="3" name="矩形 2">
            <a:extLst>
              <a:ext uri="{FF2B5EF4-FFF2-40B4-BE49-F238E27FC236}">
                <a16:creationId xmlns:a16="http://schemas.microsoft.com/office/drawing/2014/main" id="{7316CFD6-93AD-4DD9-A253-44A596D3B66A}"/>
              </a:ext>
            </a:extLst>
          </p:cNvPr>
          <p:cNvSpPr/>
          <p:nvPr/>
        </p:nvSpPr>
        <p:spPr>
          <a:xfrm>
            <a:off x="3923928" y="116632"/>
            <a:ext cx="3456395" cy="523220"/>
          </a:xfrm>
          <a:prstGeom prst="rect">
            <a:avLst/>
          </a:prstGeom>
        </p:spPr>
        <p:txBody>
          <a:bodyPr wrap="none">
            <a:spAutoFit/>
          </a:bodyPr>
          <a:lstStyle/>
          <a:p>
            <a:r>
              <a:rPr lang="en-US" altLang="zh-CN" dirty="0"/>
              <a:t>AI</a:t>
            </a:r>
            <a:r>
              <a:rPr lang="zh-CN" altLang="en-US" dirty="0"/>
              <a:t>安全典型攻击方式</a:t>
            </a:r>
          </a:p>
        </p:txBody>
      </p:sp>
      <p:sp>
        <p:nvSpPr>
          <p:cNvPr id="4" name="矩形 3">
            <a:extLst>
              <a:ext uri="{FF2B5EF4-FFF2-40B4-BE49-F238E27FC236}">
                <a16:creationId xmlns:a16="http://schemas.microsoft.com/office/drawing/2014/main" id="{8965B815-FBA7-4C18-9850-F70BAC65F9B9}"/>
              </a:ext>
            </a:extLst>
          </p:cNvPr>
          <p:cNvSpPr/>
          <p:nvPr/>
        </p:nvSpPr>
        <p:spPr>
          <a:xfrm>
            <a:off x="107504" y="2060848"/>
            <a:ext cx="8928992" cy="1384995"/>
          </a:xfrm>
          <a:prstGeom prst="rect">
            <a:avLst/>
          </a:prstGeom>
        </p:spPr>
        <p:txBody>
          <a:bodyPr wrap="square">
            <a:spAutoFit/>
          </a:bodyPr>
          <a:lstStyle/>
          <a:p>
            <a:r>
              <a:rPr lang="zh-CN" altLang="en-US" dirty="0"/>
              <a:t>模型</a:t>
            </a:r>
            <a:r>
              <a:rPr lang="en-US" altLang="zh-CN" dirty="0"/>
              <a:t>/</a:t>
            </a:r>
            <a:r>
              <a:rPr lang="zh-CN" altLang="en-US" dirty="0"/>
              <a:t>训练数据窃取攻击是指攻击者通过查询，分析系统的输入输出和其他外部信息，推测系统模型的参数及训练数据信息。</a:t>
            </a:r>
          </a:p>
        </p:txBody>
      </p:sp>
    </p:spTree>
    <p:extLst>
      <p:ext uri="{BB962C8B-B14F-4D97-AF65-F5344CB8AC3E}">
        <p14:creationId xmlns:p14="http://schemas.microsoft.com/office/powerpoint/2010/main" val="4079290555"/>
      </p:ext>
    </p:extLst>
  </p:cSld>
  <p:clrMapOvr>
    <a:masterClrMapping/>
  </p:clrMapOvr>
  <p:transition spd="slow">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4B236A5-AF91-4973-B836-791B82D5CE0A}"/>
              </a:ext>
            </a:extLst>
          </p:cNvPr>
          <p:cNvSpPr/>
          <p:nvPr/>
        </p:nvSpPr>
        <p:spPr>
          <a:xfrm>
            <a:off x="3995936" y="188640"/>
            <a:ext cx="2738250" cy="523220"/>
          </a:xfrm>
          <a:prstGeom prst="rect">
            <a:avLst/>
          </a:prstGeom>
        </p:spPr>
        <p:txBody>
          <a:bodyPr wrap="none">
            <a:spAutoFit/>
          </a:bodyPr>
          <a:lstStyle/>
          <a:p>
            <a:r>
              <a:rPr lang="en-US" altLang="zh-CN" dirty="0"/>
              <a:t>AI</a:t>
            </a:r>
            <a:r>
              <a:rPr lang="zh-CN" altLang="en-US" dirty="0"/>
              <a:t>安全防御手段</a:t>
            </a:r>
          </a:p>
        </p:txBody>
      </p:sp>
      <p:pic>
        <p:nvPicPr>
          <p:cNvPr id="3" name="图片 2">
            <a:extLst>
              <a:ext uri="{FF2B5EF4-FFF2-40B4-BE49-F238E27FC236}">
                <a16:creationId xmlns:a16="http://schemas.microsoft.com/office/drawing/2014/main" id="{A063F860-90D9-4ED8-A8D3-1875678136D7}"/>
              </a:ext>
            </a:extLst>
          </p:cNvPr>
          <p:cNvPicPr>
            <a:picLocks noChangeAspect="1"/>
          </p:cNvPicPr>
          <p:nvPr/>
        </p:nvPicPr>
        <p:blipFill>
          <a:blip r:embed="rId3"/>
          <a:stretch>
            <a:fillRect/>
          </a:stretch>
        </p:blipFill>
        <p:spPr>
          <a:xfrm>
            <a:off x="899592" y="886506"/>
            <a:ext cx="7560840" cy="5782854"/>
          </a:xfrm>
          <a:prstGeom prst="rect">
            <a:avLst/>
          </a:prstGeom>
        </p:spPr>
      </p:pic>
    </p:spTree>
    <p:extLst>
      <p:ext uri="{BB962C8B-B14F-4D97-AF65-F5344CB8AC3E}">
        <p14:creationId xmlns:p14="http://schemas.microsoft.com/office/powerpoint/2010/main" val="413078888"/>
      </p:ext>
    </p:extLst>
  </p:cSld>
  <p:clrMapOvr>
    <a:masterClrMapping/>
  </p:clrMapOvr>
  <p:transition spd="slow">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EDA6D51-2B0C-42DC-9A26-6D4157FD007B}"/>
              </a:ext>
            </a:extLst>
          </p:cNvPr>
          <p:cNvSpPr/>
          <p:nvPr/>
        </p:nvSpPr>
        <p:spPr>
          <a:xfrm>
            <a:off x="4139952" y="188640"/>
            <a:ext cx="2020105" cy="523220"/>
          </a:xfrm>
          <a:prstGeom prst="rect">
            <a:avLst/>
          </a:prstGeom>
        </p:spPr>
        <p:txBody>
          <a:bodyPr wrap="none">
            <a:spAutoFit/>
          </a:bodyPr>
          <a:lstStyle/>
          <a:p>
            <a:r>
              <a:rPr lang="en-US" altLang="zh-CN" dirty="0"/>
              <a:t>AI</a:t>
            </a:r>
            <a:r>
              <a:rPr lang="zh-CN" altLang="en-US" dirty="0"/>
              <a:t>安全攻防</a:t>
            </a:r>
          </a:p>
        </p:txBody>
      </p:sp>
      <p:pic>
        <p:nvPicPr>
          <p:cNvPr id="3" name="图片 2">
            <a:extLst>
              <a:ext uri="{FF2B5EF4-FFF2-40B4-BE49-F238E27FC236}">
                <a16:creationId xmlns:a16="http://schemas.microsoft.com/office/drawing/2014/main" id="{B9BB5873-517E-4BA6-B7E7-EB2ED1028BFD}"/>
              </a:ext>
            </a:extLst>
          </p:cNvPr>
          <p:cNvPicPr>
            <a:picLocks noChangeAspect="1"/>
          </p:cNvPicPr>
          <p:nvPr/>
        </p:nvPicPr>
        <p:blipFill>
          <a:blip r:embed="rId2"/>
          <a:stretch>
            <a:fillRect/>
          </a:stretch>
        </p:blipFill>
        <p:spPr>
          <a:xfrm>
            <a:off x="179512" y="1268760"/>
            <a:ext cx="8804331" cy="4536504"/>
          </a:xfrm>
          <a:prstGeom prst="rect">
            <a:avLst/>
          </a:prstGeom>
        </p:spPr>
      </p:pic>
    </p:spTree>
    <p:extLst>
      <p:ext uri="{BB962C8B-B14F-4D97-AF65-F5344CB8AC3E}">
        <p14:creationId xmlns:p14="http://schemas.microsoft.com/office/powerpoint/2010/main" val="4217267982"/>
      </p:ext>
    </p:extLst>
  </p:cSld>
  <p:clrMapOvr>
    <a:masterClrMapping/>
  </p:clrMapOvr>
  <p:transition spd="slow">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878B80C-D33A-4CE4-9404-C3E335FE866C}"/>
              </a:ext>
            </a:extLst>
          </p:cNvPr>
          <p:cNvSpPr/>
          <p:nvPr/>
        </p:nvSpPr>
        <p:spPr>
          <a:xfrm>
            <a:off x="3923928" y="188640"/>
            <a:ext cx="2698175" cy="523220"/>
          </a:xfrm>
          <a:prstGeom prst="rect">
            <a:avLst/>
          </a:prstGeom>
        </p:spPr>
        <p:txBody>
          <a:bodyPr wrap="none">
            <a:spAutoFit/>
          </a:bodyPr>
          <a:lstStyle/>
          <a:p>
            <a:r>
              <a:rPr lang="zh-CN" altLang="en-US" dirty="0"/>
              <a:t>模型安全性分析</a:t>
            </a:r>
          </a:p>
        </p:txBody>
      </p:sp>
      <p:pic>
        <p:nvPicPr>
          <p:cNvPr id="3" name="图片 2">
            <a:extLst>
              <a:ext uri="{FF2B5EF4-FFF2-40B4-BE49-F238E27FC236}">
                <a16:creationId xmlns:a16="http://schemas.microsoft.com/office/drawing/2014/main" id="{E9119855-5B4A-4F3B-9CD9-5E735F806BCA}"/>
              </a:ext>
            </a:extLst>
          </p:cNvPr>
          <p:cNvPicPr>
            <a:picLocks noChangeAspect="1"/>
          </p:cNvPicPr>
          <p:nvPr/>
        </p:nvPicPr>
        <p:blipFill>
          <a:blip r:embed="rId3"/>
          <a:stretch>
            <a:fillRect/>
          </a:stretch>
        </p:blipFill>
        <p:spPr>
          <a:xfrm>
            <a:off x="251520" y="1062236"/>
            <a:ext cx="8221222" cy="2372056"/>
          </a:xfrm>
          <a:prstGeom prst="rect">
            <a:avLst/>
          </a:prstGeom>
        </p:spPr>
      </p:pic>
      <p:sp>
        <p:nvSpPr>
          <p:cNvPr id="4" name="矩形 3">
            <a:extLst>
              <a:ext uri="{FF2B5EF4-FFF2-40B4-BE49-F238E27FC236}">
                <a16:creationId xmlns:a16="http://schemas.microsoft.com/office/drawing/2014/main" id="{94E2CFF0-1E8B-48C0-8860-291E7BF8B1FD}"/>
              </a:ext>
            </a:extLst>
          </p:cNvPr>
          <p:cNvSpPr/>
          <p:nvPr/>
        </p:nvSpPr>
        <p:spPr>
          <a:xfrm>
            <a:off x="274353" y="3606723"/>
            <a:ext cx="2339102" cy="523220"/>
          </a:xfrm>
          <a:prstGeom prst="rect">
            <a:avLst/>
          </a:prstGeom>
        </p:spPr>
        <p:txBody>
          <a:bodyPr wrap="none">
            <a:spAutoFit/>
          </a:bodyPr>
          <a:lstStyle/>
          <a:p>
            <a:r>
              <a:rPr lang="zh-CN" altLang="en-US"/>
              <a:t>模型可检测性</a:t>
            </a:r>
            <a:endParaRPr lang="zh-CN" altLang="en-US" dirty="0"/>
          </a:p>
        </p:txBody>
      </p:sp>
      <p:sp>
        <p:nvSpPr>
          <p:cNvPr id="5" name="矩形 4">
            <a:extLst>
              <a:ext uri="{FF2B5EF4-FFF2-40B4-BE49-F238E27FC236}">
                <a16:creationId xmlns:a16="http://schemas.microsoft.com/office/drawing/2014/main" id="{C65FBD9C-04AE-442C-BC69-35618A158754}"/>
              </a:ext>
            </a:extLst>
          </p:cNvPr>
          <p:cNvSpPr/>
          <p:nvPr/>
        </p:nvSpPr>
        <p:spPr>
          <a:xfrm>
            <a:off x="2933913" y="4581128"/>
            <a:ext cx="2339102" cy="523220"/>
          </a:xfrm>
          <a:prstGeom prst="rect">
            <a:avLst/>
          </a:prstGeom>
        </p:spPr>
        <p:txBody>
          <a:bodyPr wrap="none">
            <a:spAutoFit/>
          </a:bodyPr>
          <a:lstStyle/>
          <a:p>
            <a:r>
              <a:rPr lang="zh-CN" altLang="en-US" dirty="0"/>
              <a:t>模型可验证性</a:t>
            </a:r>
          </a:p>
        </p:txBody>
      </p:sp>
      <p:sp>
        <p:nvSpPr>
          <p:cNvPr id="6" name="矩形 5">
            <a:extLst>
              <a:ext uri="{FF2B5EF4-FFF2-40B4-BE49-F238E27FC236}">
                <a16:creationId xmlns:a16="http://schemas.microsoft.com/office/drawing/2014/main" id="{1690B7EB-77AB-4171-A875-C10EA5DB250C}"/>
              </a:ext>
            </a:extLst>
          </p:cNvPr>
          <p:cNvSpPr/>
          <p:nvPr/>
        </p:nvSpPr>
        <p:spPr>
          <a:xfrm>
            <a:off x="6516216" y="5534154"/>
            <a:ext cx="2339102" cy="523220"/>
          </a:xfrm>
          <a:prstGeom prst="rect">
            <a:avLst/>
          </a:prstGeom>
        </p:spPr>
        <p:txBody>
          <a:bodyPr wrap="none">
            <a:spAutoFit/>
          </a:bodyPr>
          <a:lstStyle/>
          <a:p>
            <a:r>
              <a:rPr lang="zh-CN" altLang="en-US" dirty="0"/>
              <a:t>模型可解释性</a:t>
            </a:r>
          </a:p>
        </p:txBody>
      </p:sp>
    </p:spTree>
    <p:extLst>
      <p:ext uri="{BB962C8B-B14F-4D97-AF65-F5344CB8AC3E}">
        <p14:creationId xmlns:p14="http://schemas.microsoft.com/office/powerpoint/2010/main" val="2766811537"/>
      </p:ext>
    </p:extLst>
  </p:cSld>
  <p:clrMapOvr>
    <a:masterClrMapping/>
  </p:clrMapOvr>
  <p:transition spd="slow">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878B80C-D33A-4CE4-9404-C3E335FE866C}"/>
              </a:ext>
            </a:extLst>
          </p:cNvPr>
          <p:cNvSpPr/>
          <p:nvPr/>
        </p:nvSpPr>
        <p:spPr>
          <a:xfrm>
            <a:off x="3923928" y="188640"/>
            <a:ext cx="1988045" cy="523220"/>
          </a:xfrm>
          <a:prstGeom prst="rect">
            <a:avLst/>
          </a:prstGeom>
        </p:spPr>
        <p:txBody>
          <a:bodyPr wrap="none">
            <a:spAutoFit/>
          </a:bodyPr>
          <a:lstStyle/>
          <a:p>
            <a:r>
              <a:rPr lang="zh-CN" altLang="en-US" dirty="0"/>
              <a:t>大模型安全</a:t>
            </a:r>
          </a:p>
        </p:txBody>
      </p:sp>
      <p:pic>
        <p:nvPicPr>
          <p:cNvPr id="7" name="图片 6">
            <a:extLst>
              <a:ext uri="{FF2B5EF4-FFF2-40B4-BE49-F238E27FC236}">
                <a16:creationId xmlns:a16="http://schemas.microsoft.com/office/drawing/2014/main" id="{70D5741C-9371-43DE-B04C-9872F4471C60}"/>
              </a:ext>
            </a:extLst>
          </p:cNvPr>
          <p:cNvPicPr>
            <a:picLocks noChangeAspect="1"/>
          </p:cNvPicPr>
          <p:nvPr/>
        </p:nvPicPr>
        <p:blipFill>
          <a:blip r:embed="rId3"/>
          <a:stretch>
            <a:fillRect/>
          </a:stretch>
        </p:blipFill>
        <p:spPr>
          <a:xfrm>
            <a:off x="0" y="1442312"/>
            <a:ext cx="9144000" cy="3973375"/>
          </a:xfrm>
          <a:prstGeom prst="rect">
            <a:avLst/>
          </a:prstGeom>
        </p:spPr>
      </p:pic>
    </p:spTree>
    <p:extLst>
      <p:ext uri="{BB962C8B-B14F-4D97-AF65-F5344CB8AC3E}">
        <p14:creationId xmlns:p14="http://schemas.microsoft.com/office/powerpoint/2010/main" val="3495699484"/>
      </p:ext>
    </p:extLst>
  </p:cSld>
  <p:clrMapOvr>
    <a:masterClrMapping/>
  </p:clrMapOvr>
  <p:transition spd="slow">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878B80C-D33A-4CE4-9404-C3E335FE866C}"/>
              </a:ext>
            </a:extLst>
          </p:cNvPr>
          <p:cNvSpPr/>
          <p:nvPr/>
        </p:nvSpPr>
        <p:spPr>
          <a:xfrm>
            <a:off x="3923928" y="188640"/>
            <a:ext cx="1988045" cy="523220"/>
          </a:xfrm>
          <a:prstGeom prst="rect">
            <a:avLst/>
          </a:prstGeom>
        </p:spPr>
        <p:txBody>
          <a:bodyPr wrap="none">
            <a:spAutoFit/>
          </a:bodyPr>
          <a:lstStyle/>
          <a:p>
            <a:r>
              <a:rPr lang="zh-CN" altLang="en-US" dirty="0"/>
              <a:t>大模型安全</a:t>
            </a:r>
          </a:p>
        </p:txBody>
      </p:sp>
      <p:pic>
        <p:nvPicPr>
          <p:cNvPr id="3" name="图片 2">
            <a:extLst>
              <a:ext uri="{FF2B5EF4-FFF2-40B4-BE49-F238E27FC236}">
                <a16:creationId xmlns:a16="http://schemas.microsoft.com/office/drawing/2014/main" id="{55818DCE-0CA5-40A4-8E20-3AD4B918F557}"/>
              </a:ext>
            </a:extLst>
          </p:cNvPr>
          <p:cNvPicPr>
            <a:picLocks noChangeAspect="1"/>
          </p:cNvPicPr>
          <p:nvPr/>
        </p:nvPicPr>
        <p:blipFill>
          <a:blip r:embed="rId3"/>
          <a:stretch>
            <a:fillRect/>
          </a:stretch>
        </p:blipFill>
        <p:spPr>
          <a:xfrm>
            <a:off x="1187624" y="980728"/>
            <a:ext cx="6268325" cy="5306165"/>
          </a:xfrm>
          <a:prstGeom prst="rect">
            <a:avLst/>
          </a:prstGeom>
        </p:spPr>
      </p:pic>
    </p:spTree>
    <p:extLst>
      <p:ext uri="{BB962C8B-B14F-4D97-AF65-F5344CB8AC3E}">
        <p14:creationId xmlns:p14="http://schemas.microsoft.com/office/powerpoint/2010/main" val="3524165785"/>
      </p:ext>
    </p:extLst>
  </p:cSld>
  <p:clrMapOvr>
    <a:masterClrMapping/>
  </p:clrMapOvr>
  <p:transition spd="slow">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0BCF23D-9052-4009-AB77-259C08E3DDB7}"/>
              </a:ext>
            </a:extLst>
          </p:cNvPr>
          <p:cNvPicPr>
            <a:picLocks noChangeAspect="1"/>
          </p:cNvPicPr>
          <p:nvPr/>
        </p:nvPicPr>
        <p:blipFill>
          <a:blip r:embed="rId2"/>
          <a:stretch>
            <a:fillRect/>
          </a:stretch>
        </p:blipFill>
        <p:spPr>
          <a:xfrm>
            <a:off x="0" y="2132856"/>
            <a:ext cx="9144000" cy="4664649"/>
          </a:xfrm>
          <a:prstGeom prst="rect">
            <a:avLst/>
          </a:prstGeom>
        </p:spPr>
      </p:pic>
      <p:sp>
        <p:nvSpPr>
          <p:cNvPr id="3" name="矩形 2">
            <a:extLst>
              <a:ext uri="{FF2B5EF4-FFF2-40B4-BE49-F238E27FC236}">
                <a16:creationId xmlns:a16="http://schemas.microsoft.com/office/drawing/2014/main" id="{8055FAED-C61E-40E6-A6A0-4314590E14C7}"/>
              </a:ext>
            </a:extLst>
          </p:cNvPr>
          <p:cNvSpPr/>
          <p:nvPr/>
        </p:nvSpPr>
        <p:spPr>
          <a:xfrm>
            <a:off x="3923928" y="188640"/>
            <a:ext cx="3070071" cy="523220"/>
          </a:xfrm>
          <a:prstGeom prst="rect">
            <a:avLst/>
          </a:prstGeom>
        </p:spPr>
        <p:txBody>
          <a:bodyPr wrap="none">
            <a:spAutoFit/>
          </a:bodyPr>
          <a:lstStyle/>
          <a:p>
            <a:r>
              <a:rPr lang="zh-CN" altLang="en-US" dirty="0"/>
              <a:t>典型对抗样本攻击</a:t>
            </a:r>
          </a:p>
        </p:txBody>
      </p:sp>
    </p:spTree>
    <p:extLst>
      <p:ext uri="{BB962C8B-B14F-4D97-AF65-F5344CB8AC3E}">
        <p14:creationId xmlns:p14="http://schemas.microsoft.com/office/powerpoint/2010/main" val="1680933106"/>
      </p:ext>
    </p:extLst>
  </p:cSld>
  <p:clrMapOvr>
    <a:masterClrMapping/>
  </p:clrMapOvr>
  <p:transition spd="slow">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8055FAED-C61E-40E6-A6A0-4314590E14C7}"/>
              </a:ext>
            </a:extLst>
          </p:cNvPr>
          <p:cNvSpPr/>
          <p:nvPr/>
        </p:nvSpPr>
        <p:spPr>
          <a:xfrm>
            <a:off x="3923928" y="188640"/>
            <a:ext cx="3070071" cy="523220"/>
          </a:xfrm>
          <a:prstGeom prst="rect">
            <a:avLst/>
          </a:prstGeom>
        </p:spPr>
        <p:txBody>
          <a:bodyPr wrap="none">
            <a:spAutoFit/>
          </a:bodyPr>
          <a:lstStyle/>
          <a:p>
            <a:r>
              <a:rPr lang="zh-CN" altLang="en-US" dirty="0"/>
              <a:t>典型后门攻击场景</a:t>
            </a:r>
          </a:p>
        </p:txBody>
      </p:sp>
      <p:pic>
        <p:nvPicPr>
          <p:cNvPr id="4" name="图片 3">
            <a:extLst>
              <a:ext uri="{FF2B5EF4-FFF2-40B4-BE49-F238E27FC236}">
                <a16:creationId xmlns:a16="http://schemas.microsoft.com/office/drawing/2014/main" id="{91DD371B-5C8C-48F9-9D4B-E940062385CC}"/>
              </a:ext>
            </a:extLst>
          </p:cNvPr>
          <p:cNvPicPr>
            <a:picLocks noChangeAspect="1"/>
          </p:cNvPicPr>
          <p:nvPr/>
        </p:nvPicPr>
        <p:blipFill>
          <a:blip r:embed="rId2"/>
          <a:stretch>
            <a:fillRect/>
          </a:stretch>
        </p:blipFill>
        <p:spPr>
          <a:xfrm>
            <a:off x="0" y="1470211"/>
            <a:ext cx="9144000" cy="5395362"/>
          </a:xfrm>
          <a:prstGeom prst="rect">
            <a:avLst/>
          </a:prstGeom>
        </p:spPr>
      </p:pic>
    </p:spTree>
    <p:extLst>
      <p:ext uri="{BB962C8B-B14F-4D97-AF65-F5344CB8AC3E}">
        <p14:creationId xmlns:p14="http://schemas.microsoft.com/office/powerpoint/2010/main" val="2879375456"/>
      </p:ext>
    </p:extLst>
  </p:cSld>
  <p:clrMapOvr>
    <a:masterClrMapping/>
  </p:clrMapOvr>
  <p:transition spd="slow">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28AAA2A-A212-4241-96E2-9D40F2D37D52}"/>
              </a:ext>
            </a:extLst>
          </p:cNvPr>
          <p:cNvSpPr/>
          <p:nvPr/>
        </p:nvSpPr>
        <p:spPr>
          <a:xfrm>
            <a:off x="3923928" y="188640"/>
            <a:ext cx="1627369" cy="523220"/>
          </a:xfrm>
          <a:prstGeom prst="rect">
            <a:avLst/>
          </a:prstGeom>
        </p:spPr>
        <p:txBody>
          <a:bodyPr wrap="none">
            <a:spAutoFit/>
          </a:bodyPr>
          <a:lstStyle/>
          <a:p>
            <a:r>
              <a:rPr lang="zh-CN" altLang="en-US" dirty="0"/>
              <a:t>防御策略</a:t>
            </a:r>
          </a:p>
        </p:txBody>
      </p:sp>
      <p:sp>
        <p:nvSpPr>
          <p:cNvPr id="3" name="矩形 2">
            <a:extLst>
              <a:ext uri="{FF2B5EF4-FFF2-40B4-BE49-F238E27FC236}">
                <a16:creationId xmlns:a16="http://schemas.microsoft.com/office/drawing/2014/main" id="{55775F4D-F8DA-40FF-A6E5-B43C45C1B72A}"/>
              </a:ext>
            </a:extLst>
          </p:cNvPr>
          <p:cNvSpPr/>
          <p:nvPr/>
        </p:nvSpPr>
        <p:spPr>
          <a:xfrm>
            <a:off x="251520" y="1412776"/>
            <a:ext cx="7383753" cy="4093428"/>
          </a:xfrm>
          <a:prstGeom prst="rect">
            <a:avLst/>
          </a:prstGeom>
        </p:spPr>
        <p:txBody>
          <a:bodyPr wrap="none">
            <a:spAutoFit/>
          </a:bodyPr>
          <a:lstStyle/>
          <a:p>
            <a:r>
              <a:rPr lang="zh-CN" altLang="en-US" dirty="0"/>
              <a:t>训练阶段：</a:t>
            </a:r>
            <a:endParaRPr lang="en-US" altLang="zh-CN" dirty="0"/>
          </a:p>
          <a:p>
            <a:pPr marL="514350" indent="-514350">
              <a:buAutoNum type="arabicPeriod"/>
            </a:pPr>
            <a:r>
              <a:rPr lang="zh-CN" altLang="en-US" dirty="0"/>
              <a:t>数据验证与核实</a:t>
            </a:r>
            <a:endParaRPr lang="en-US" altLang="zh-CN" dirty="0"/>
          </a:p>
          <a:p>
            <a:pPr lvl="1"/>
            <a:r>
              <a:rPr lang="zh-CN" altLang="en-US" sz="1800" dirty="0"/>
              <a:t>通过自动化或者手动检查数据的不一致性、异常值和不正确标签</a:t>
            </a:r>
            <a:endParaRPr lang="en-US" altLang="zh-CN" sz="1800" dirty="0"/>
          </a:p>
          <a:p>
            <a:endParaRPr lang="en-US" altLang="zh-CN" dirty="0"/>
          </a:p>
          <a:p>
            <a:r>
              <a:rPr lang="en-US" altLang="zh-CN" dirty="0"/>
              <a:t>2. </a:t>
            </a:r>
            <a:r>
              <a:rPr lang="zh-CN" altLang="en-US" dirty="0"/>
              <a:t>数据安全存储</a:t>
            </a:r>
            <a:endParaRPr lang="en-US" altLang="zh-CN" dirty="0"/>
          </a:p>
          <a:p>
            <a:r>
              <a:rPr lang="en-US" altLang="zh-CN" dirty="0"/>
              <a:t>	</a:t>
            </a:r>
            <a:r>
              <a:rPr lang="zh-CN" altLang="en-US" sz="1800" dirty="0"/>
              <a:t>采用加密、访问控制和安全传输协议，防止数据非法访问</a:t>
            </a:r>
            <a:endParaRPr lang="en-US" altLang="zh-CN" sz="1800" dirty="0"/>
          </a:p>
          <a:p>
            <a:endParaRPr lang="en-US" altLang="zh-CN" dirty="0"/>
          </a:p>
          <a:p>
            <a:r>
              <a:rPr lang="en-US" altLang="zh-CN" dirty="0"/>
              <a:t>3. </a:t>
            </a:r>
            <a:r>
              <a:rPr lang="zh-CN" altLang="en-US" dirty="0"/>
              <a:t>模型验证与集成</a:t>
            </a:r>
            <a:endParaRPr lang="en-US" altLang="zh-CN" dirty="0"/>
          </a:p>
          <a:p>
            <a:r>
              <a:rPr lang="en-US" altLang="zh-CN" sz="1800" dirty="0"/>
              <a:t>	</a:t>
            </a:r>
            <a:r>
              <a:rPr lang="zh-CN" altLang="en-US" sz="1800" dirty="0"/>
              <a:t>在不同的数据集上训练多个模型，提高对数据投毒的抵抗能力</a:t>
            </a:r>
            <a:endParaRPr lang="en-US" altLang="zh-CN" sz="1800" dirty="0"/>
          </a:p>
          <a:p>
            <a:endParaRPr lang="zh-CN" altLang="en-US" dirty="0"/>
          </a:p>
        </p:txBody>
      </p:sp>
    </p:spTree>
    <p:extLst>
      <p:ext uri="{BB962C8B-B14F-4D97-AF65-F5344CB8AC3E}">
        <p14:creationId xmlns:p14="http://schemas.microsoft.com/office/powerpoint/2010/main" val="2696632920"/>
      </p:ext>
    </p:extLst>
  </p:cSld>
  <p:clrMapOvr>
    <a:masterClrMapping/>
  </p:clrMapOvr>
  <p:transition spd="slow">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28AAA2A-A212-4241-96E2-9D40F2D37D52}"/>
              </a:ext>
            </a:extLst>
          </p:cNvPr>
          <p:cNvSpPr/>
          <p:nvPr/>
        </p:nvSpPr>
        <p:spPr>
          <a:xfrm>
            <a:off x="3923928" y="188640"/>
            <a:ext cx="1627369" cy="523220"/>
          </a:xfrm>
          <a:prstGeom prst="rect">
            <a:avLst/>
          </a:prstGeom>
        </p:spPr>
        <p:txBody>
          <a:bodyPr wrap="none">
            <a:spAutoFit/>
          </a:bodyPr>
          <a:lstStyle/>
          <a:p>
            <a:r>
              <a:rPr lang="zh-CN" altLang="en-US" dirty="0"/>
              <a:t>防御策略</a:t>
            </a:r>
          </a:p>
        </p:txBody>
      </p:sp>
      <p:sp>
        <p:nvSpPr>
          <p:cNvPr id="3" name="矩形 2">
            <a:extLst>
              <a:ext uri="{FF2B5EF4-FFF2-40B4-BE49-F238E27FC236}">
                <a16:creationId xmlns:a16="http://schemas.microsoft.com/office/drawing/2014/main" id="{55775F4D-F8DA-40FF-A6E5-B43C45C1B72A}"/>
              </a:ext>
            </a:extLst>
          </p:cNvPr>
          <p:cNvSpPr/>
          <p:nvPr/>
        </p:nvSpPr>
        <p:spPr>
          <a:xfrm>
            <a:off x="251520" y="1412776"/>
            <a:ext cx="6224781" cy="4093428"/>
          </a:xfrm>
          <a:prstGeom prst="rect">
            <a:avLst/>
          </a:prstGeom>
        </p:spPr>
        <p:txBody>
          <a:bodyPr wrap="none">
            <a:spAutoFit/>
          </a:bodyPr>
          <a:lstStyle/>
          <a:p>
            <a:r>
              <a:rPr lang="zh-CN" altLang="en-US" dirty="0"/>
              <a:t>使用阶段：</a:t>
            </a:r>
            <a:endParaRPr lang="en-US" altLang="zh-CN" dirty="0"/>
          </a:p>
          <a:p>
            <a:pPr marL="514350" indent="-514350">
              <a:buAutoNum type="arabicPeriod"/>
            </a:pPr>
            <a:r>
              <a:rPr lang="zh-CN" altLang="en-US" dirty="0"/>
              <a:t>输入检查和清理</a:t>
            </a:r>
            <a:endParaRPr lang="en-US" altLang="zh-CN" dirty="0"/>
          </a:p>
          <a:p>
            <a:pPr lvl="1"/>
            <a:r>
              <a:rPr lang="zh-CN" altLang="en-US" sz="1800" dirty="0"/>
              <a:t>通过自动化检查和清理用户输入，防止提示词注入攻击</a:t>
            </a:r>
            <a:endParaRPr lang="en-US" altLang="zh-CN" sz="1800" dirty="0"/>
          </a:p>
          <a:p>
            <a:endParaRPr lang="en-US" altLang="zh-CN" dirty="0"/>
          </a:p>
          <a:p>
            <a:r>
              <a:rPr lang="en-US" altLang="zh-CN" dirty="0"/>
              <a:t>2. </a:t>
            </a:r>
            <a:r>
              <a:rPr lang="zh-CN" altLang="en-US" dirty="0"/>
              <a:t>访问控制</a:t>
            </a:r>
            <a:endParaRPr lang="en-US" altLang="zh-CN" dirty="0"/>
          </a:p>
          <a:p>
            <a:r>
              <a:rPr lang="en-US" altLang="zh-CN" dirty="0"/>
              <a:t>	</a:t>
            </a:r>
            <a:r>
              <a:rPr lang="zh-CN" altLang="en-US" sz="1800" dirty="0"/>
              <a:t>防止敏感词非法访问</a:t>
            </a:r>
            <a:endParaRPr lang="en-US" altLang="zh-CN" sz="1800" dirty="0"/>
          </a:p>
          <a:p>
            <a:endParaRPr lang="en-US" altLang="zh-CN" dirty="0"/>
          </a:p>
          <a:p>
            <a:r>
              <a:rPr lang="en-US" altLang="zh-CN" dirty="0"/>
              <a:t>3. </a:t>
            </a:r>
            <a:r>
              <a:rPr lang="zh-CN" altLang="en-US" dirty="0"/>
              <a:t>输出过滤和清理</a:t>
            </a:r>
            <a:endParaRPr lang="en-US" altLang="zh-CN" dirty="0"/>
          </a:p>
          <a:p>
            <a:r>
              <a:rPr lang="en-US" altLang="zh-CN" sz="1800" dirty="0"/>
              <a:t>	</a:t>
            </a:r>
            <a:r>
              <a:rPr lang="zh-CN" altLang="en-US" sz="1800" dirty="0"/>
              <a:t>在内容审核，减轻下游漏洞</a:t>
            </a:r>
            <a:endParaRPr lang="en-US" altLang="zh-CN" sz="1800" dirty="0"/>
          </a:p>
          <a:p>
            <a:endParaRPr lang="zh-CN" altLang="en-US" dirty="0"/>
          </a:p>
        </p:txBody>
      </p:sp>
      <p:pic>
        <p:nvPicPr>
          <p:cNvPr id="4" name="图片 3">
            <a:extLst>
              <a:ext uri="{FF2B5EF4-FFF2-40B4-BE49-F238E27FC236}">
                <a16:creationId xmlns:a16="http://schemas.microsoft.com/office/drawing/2014/main" id="{4798221B-4AA8-470E-A178-7CF3DC64B13B}"/>
              </a:ext>
            </a:extLst>
          </p:cNvPr>
          <p:cNvPicPr>
            <a:picLocks noChangeAspect="1"/>
          </p:cNvPicPr>
          <p:nvPr/>
        </p:nvPicPr>
        <p:blipFill>
          <a:blip r:embed="rId2"/>
          <a:stretch>
            <a:fillRect/>
          </a:stretch>
        </p:blipFill>
        <p:spPr>
          <a:xfrm>
            <a:off x="6084168" y="3284984"/>
            <a:ext cx="2353003" cy="2343477"/>
          </a:xfrm>
          <a:prstGeom prst="rect">
            <a:avLst/>
          </a:prstGeom>
        </p:spPr>
      </p:pic>
    </p:spTree>
    <p:extLst>
      <p:ext uri="{BB962C8B-B14F-4D97-AF65-F5344CB8AC3E}">
        <p14:creationId xmlns:p14="http://schemas.microsoft.com/office/powerpoint/2010/main" val="1902377974"/>
      </p:ext>
    </p:extLst>
  </p:cSld>
  <p:clrMapOvr>
    <a:masterClrMapping/>
  </p:clrMapOvr>
  <p:transition spd="slow">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28AAA2A-A212-4241-96E2-9D40F2D37D52}"/>
              </a:ext>
            </a:extLst>
          </p:cNvPr>
          <p:cNvSpPr/>
          <p:nvPr/>
        </p:nvSpPr>
        <p:spPr>
          <a:xfrm>
            <a:off x="251520" y="188640"/>
            <a:ext cx="3416320" cy="523220"/>
          </a:xfrm>
          <a:prstGeom prst="rect">
            <a:avLst/>
          </a:prstGeom>
        </p:spPr>
        <p:txBody>
          <a:bodyPr wrap="none">
            <a:spAutoFit/>
          </a:bodyPr>
          <a:lstStyle/>
          <a:p>
            <a:r>
              <a:rPr lang="zh-CN" altLang="en-US" sz="2800" dirty="0">
                <a:latin typeface="微软雅黑" panose="020B0503020204020204" pitchFamily="34" charset="-122"/>
                <a:ea typeface="微软雅黑" panose="020B0503020204020204" pitchFamily="34" charset="-122"/>
                <a:sym typeface="微软雅黑" panose="020B0503020204020204" pitchFamily="34" charset="-122"/>
              </a:rPr>
              <a:t>边缘智能的安全问题</a:t>
            </a:r>
            <a:endParaRPr lang="zh-CN" altLang="en-US" dirty="0"/>
          </a:p>
        </p:txBody>
      </p:sp>
      <p:sp>
        <p:nvSpPr>
          <p:cNvPr id="5" name="文本框 3">
            <a:extLst>
              <a:ext uri="{FF2B5EF4-FFF2-40B4-BE49-F238E27FC236}">
                <a16:creationId xmlns:a16="http://schemas.microsoft.com/office/drawing/2014/main" id="{840791E3-E03D-748B-1656-32B629976A2B}"/>
              </a:ext>
            </a:extLst>
          </p:cNvPr>
          <p:cNvSpPr>
            <a:spLocks noChangeArrowheads="1"/>
          </p:cNvSpPr>
          <p:nvPr/>
        </p:nvSpPr>
        <p:spPr bwMode="auto">
          <a:xfrm>
            <a:off x="251520" y="908720"/>
            <a:ext cx="878497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57150" indent="-342900">
              <a:buFont typeface="Wingdings" pitchFamily="2" charset="2"/>
              <a:buChar char="l"/>
            </a:pPr>
            <a:r>
              <a:rPr lang="zh-CN" altLang="en-US" sz="2400" dirty="0">
                <a:solidFill>
                  <a:srgbClr val="000000"/>
                </a:solidFill>
                <a:latin typeface="微软雅黑" panose="020B0503020204020204" pitchFamily="34" charset="-122"/>
                <a:ea typeface="微软雅黑" panose="020B0503020204020204" pitchFamily="34" charset="-122"/>
              </a:rPr>
              <a:t>边缘智能（</a:t>
            </a:r>
            <a:r>
              <a:rPr lang="en-US" altLang="zh-CN" sz="2400" dirty="0">
                <a:solidFill>
                  <a:srgbClr val="000000"/>
                </a:solidFill>
                <a:latin typeface="微软雅黑" panose="020B0503020204020204" pitchFamily="34" charset="-122"/>
                <a:ea typeface="微软雅黑" panose="020B0503020204020204" pitchFamily="34" charset="-122"/>
              </a:rPr>
              <a:t>Edge Intelligence</a:t>
            </a:r>
            <a:r>
              <a:rPr lang="zh-CN" altLang="en-US" sz="2400" dirty="0">
                <a:solidFill>
                  <a:srgbClr val="000000"/>
                </a:solidFill>
                <a:latin typeface="微软雅黑" panose="020B0503020204020204" pitchFamily="34" charset="-122"/>
                <a:ea typeface="微软雅黑" panose="020B0503020204020204" pitchFamily="34" charset="-122"/>
              </a:rPr>
              <a:t>）</a:t>
            </a:r>
            <a:endParaRPr lang="en-US" altLang="zh-CN" sz="2400" dirty="0">
              <a:solidFill>
                <a:srgbClr val="000000"/>
              </a:solidFill>
              <a:latin typeface="微软雅黑" panose="020B0503020204020204" pitchFamily="34" charset="-122"/>
              <a:ea typeface="微软雅黑" panose="020B0503020204020204" pitchFamily="34" charset="-122"/>
            </a:endParaRPr>
          </a:p>
          <a:p>
            <a:pPr marL="0" indent="0"/>
            <a:r>
              <a:rPr lang="zh-CN" altLang="en-US" sz="2400" dirty="0">
                <a:solidFill>
                  <a:srgbClr val="000000"/>
                </a:solidFill>
                <a:latin typeface="微软雅黑" panose="020B0503020204020204" pitchFamily="34" charset="-122"/>
                <a:ea typeface="微软雅黑" panose="020B0503020204020204" pitchFamily="34" charset="-122"/>
              </a:rPr>
              <a:t>    是指从中心化的数据中心或云端迁移到网络边缘设备的就近智能化数据收集、缓存、处理和分析的过程。</a:t>
            </a:r>
            <a:endParaRPr lang="en-US" altLang="zh-CN" sz="2400" dirty="0">
              <a:solidFill>
                <a:srgbClr val="000000"/>
              </a:solidFill>
              <a:latin typeface="微软雅黑" panose="020B0503020204020204" pitchFamily="34" charset="-122"/>
              <a:ea typeface="微软雅黑" panose="020B0503020204020204" pitchFamily="34" charset="-122"/>
            </a:endParaRPr>
          </a:p>
        </p:txBody>
      </p:sp>
      <p:pic>
        <p:nvPicPr>
          <p:cNvPr id="6" name="Picture 2">
            <a:extLst>
              <a:ext uri="{FF2B5EF4-FFF2-40B4-BE49-F238E27FC236}">
                <a16:creationId xmlns:a16="http://schemas.microsoft.com/office/drawing/2014/main" id="{AED5222A-0DAB-68B5-380E-7C6634AAE0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2204864"/>
            <a:ext cx="7429584" cy="3848937"/>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3">
            <a:extLst>
              <a:ext uri="{FF2B5EF4-FFF2-40B4-BE49-F238E27FC236}">
                <a16:creationId xmlns:a16="http://schemas.microsoft.com/office/drawing/2014/main" id="{95F16569-A4AC-B7A4-F617-B0A6F9028110}"/>
              </a:ext>
            </a:extLst>
          </p:cNvPr>
          <p:cNvSpPr>
            <a:spLocks noChangeArrowheads="1"/>
          </p:cNvSpPr>
          <p:nvPr/>
        </p:nvSpPr>
        <p:spPr bwMode="auto">
          <a:xfrm>
            <a:off x="3595463" y="6257639"/>
            <a:ext cx="2097089" cy="411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indent="0" algn="ctr"/>
            <a:r>
              <a:rPr lang="zh-CN" altLang="en-US" sz="2000" dirty="0">
                <a:solidFill>
                  <a:srgbClr val="000000"/>
                </a:solidFill>
                <a:latin typeface="微软雅黑" panose="020B0503020204020204" pitchFamily="34" charset="-122"/>
                <a:ea typeface="微软雅黑" panose="020B0503020204020204" pitchFamily="34" charset="-122"/>
              </a:rPr>
              <a:t>自动驾驶示例</a:t>
            </a:r>
            <a:endParaRPr lang="en-US" altLang="zh-CN" sz="20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97027266"/>
      </p:ext>
    </p:extLst>
  </p:cSld>
  <p:clrMapOvr>
    <a:masterClrMapping/>
  </p:clrMapOvr>
  <p:transition spd="slow">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a:extLst>
              <a:ext uri="{FF2B5EF4-FFF2-40B4-BE49-F238E27FC236}">
                <a16:creationId xmlns:a16="http://schemas.microsoft.com/office/drawing/2014/main" id="{F2AED762-F540-76B7-605F-EC3280EC7D3A}"/>
              </a:ext>
            </a:extLst>
          </p:cNvPr>
          <p:cNvSpPr>
            <a:spLocks noChangeArrowheads="1"/>
          </p:cNvSpPr>
          <p:nvPr/>
        </p:nvSpPr>
        <p:spPr bwMode="auto">
          <a:xfrm>
            <a:off x="251520" y="908720"/>
            <a:ext cx="7924800"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indent="0"/>
            <a:r>
              <a:rPr lang="zh-CN" altLang="en-US" dirty="0">
                <a:solidFill>
                  <a:srgbClr val="000000"/>
                </a:solidFill>
                <a:latin typeface="微软雅黑" panose="020B0503020204020204" pitchFamily="34" charset="-122"/>
                <a:ea typeface="微软雅黑" panose="020B0503020204020204" pitchFamily="34" charset="-122"/>
              </a:rPr>
              <a:t>边缘智能的特点：</a:t>
            </a:r>
            <a:endParaRPr lang="en-US" altLang="zh-CN" dirty="0">
              <a:solidFill>
                <a:srgbClr val="000000"/>
              </a:solidFill>
              <a:latin typeface="微软雅黑" panose="020B0503020204020204" pitchFamily="34" charset="-122"/>
              <a:ea typeface="微软雅黑" panose="020B0503020204020204" pitchFamily="34" charset="-122"/>
            </a:endParaRPr>
          </a:p>
          <a:p>
            <a:pPr marL="0" indent="0"/>
            <a:endParaRPr lang="en-US" altLang="zh-CN" sz="2400" dirty="0">
              <a:solidFill>
                <a:srgbClr val="000000"/>
              </a:solidFill>
              <a:latin typeface="微软雅黑" panose="020B0503020204020204" pitchFamily="34" charset="-122"/>
              <a:ea typeface="微软雅黑" panose="020B0503020204020204" pitchFamily="34" charset="-122"/>
            </a:endParaRPr>
          </a:p>
          <a:p>
            <a:pPr marL="0" indent="0"/>
            <a:r>
              <a:rPr lang="zh-CN" altLang="en-US" sz="2400" dirty="0">
                <a:solidFill>
                  <a:srgbClr val="000000"/>
                </a:solidFill>
                <a:latin typeface="微软雅黑" panose="020B0503020204020204" pitchFamily="34" charset="-122"/>
                <a:ea typeface="微软雅黑" panose="020B0503020204020204" pitchFamily="34" charset="-122"/>
              </a:rPr>
              <a:t>    边缘设备在本地处理数据、运行人工智能模型、进行决策和执行任务</a:t>
            </a:r>
            <a:endParaRPr lang="en-US" altLang="zh-CN" sz="2400" dirty="0">
              <a:solidFill>
                <a:srgbClr val="000000"/>
              </a:solidFill>
              <a:latin typeface="微软雅黑" panose="020B0503020204020204" pitchFamily="34" charset="-122"/>
              <a:ea typeface="微软雅黑" panose="020B0503020204020204" pitchFamily="34" charset="-122"/>
            </a:endParaRPr>
          </a:p>
          <a:p>
            <a:pPr marL="0" indent="0"/>
            <a:endParaRPr lang="en-US" altLang="zh-CN" dirty="0"/>
          </a:p>
          <a:p>
            <a:pPr marL="0" indent="0"/>
            <a:endPar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矩形 2">
            <a:extLst>
              <a:ext uri="{FF2B5EF4-FFF2-40B4-BE49-F238E27FC236}">
                <a16:creationId xmlns:a16="http://schemas.microsoft.com/office/drawing/2014/main" id="{728AAA2A-A212-4241-96E2-9D40F2D37D52}"/>
              </a:ext>
            </a:extLst>
          </p:cNvPr>
          <p:cNvSpPr/>
          <p:nvPr/>
        </p:nvSpPr>
        <p:spPr>
          <a:xfrm>
            <a:off x="179512" y="116632"/>
            <a:ext cx="3416320" cy="523220"/>
          </a:xfrm>
          <a:prstGeom prst="rect">
            <a:avLst/>
          </a:prstGeom>
        </p:spPr>
        <p:txBody>
          <a:bodyPr wrap="none">
            <a:spAutoFit/>
          </a:bodyPr>
          <a:lstStyle>
            <a:defPPr>
              <a:defRPr lang="zh-CN"/>
            </a:defPPr>
            <a:lvl1pPr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1pPr>
            <a:lvl2pPr marL="4572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2pPr>
            <a:lvl3pPr marL="9144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3pPr>
            <a:lvl4pPr marL="13716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4pPr>
            <a:lvl5pPr marL="18288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9pPr>
          </a:lstStyle>
          <a:p>
            <a:r>
              <a:rPr lang="zh-CN" altLang="en-US" sz="2800" dirty="0">
                <a:latin typeface="微软雅黑" panose="020B0503020204020204" pitchFamily="34" charset="-122"/>
                <a:ea typeface="微软雅黑" panose="020B0503020204020204" pitchFamily="34" charset="-122"/>
                <a:sym typeface="微软雅黑" panose="020B0503020204020204" pitchFamily="34" charset="-122"/>
              </a:rPr>
              <a:t>边缘智能的安全问题</a:t>
            </a:r>
            <a:endParaRPr lang="zh-CN" altLang="en-US" dirty="0"/>
          </a:p>
        </p:txBody>
      </p:sp>
      <p:pic>
        <p:nvPicPr>
          <p:cNvPr id="4" name="图片 3">
            <a:extLst>
              <a:ext uri="{FF2B5EF4-FFF2-40B4-BE49-F238E27FC236}">
                <a16:creationId xmlns:a16="http://schemas.microsoft.com/office/drawing/2014/main" id="{82EDA747-B024-80EF-95EA-76BF456E8780}"/>
              </a:ext>
            </a:extLst>
          </p:cNvPr>
          <p:cNvPicPr>
            <a:picLocks noChangeAspect="1"/>
          </p:cNvPicPr>
          <p:nvPr/>
        </p:nvPicPr>
        <p:blipFill>
          <a:blip r:embed="rId2"/>
          <a:stretch>
            <a:fillRect/>
          </a:stretch>
        </p:blipFill>
        <p:spPr>
          <a:xfrm>
            <a:off x="539552" y="2565763"/>
            <a:ext cx="7772400" cy="3734325"/>
          </a:xfrm>
          <a:prstGeom prst="rect">
            <a:avLst/>
          </a:prstGeom>
        </p:spPr>
      </p:pic>
      <p:sp>
        <p:nvSpPr>
          <p:cNvPr id="5" name="文本框 3">
            <a:extLst>
              <a:ext uri="{FF2B5EF4-FFF2-40B4-BE49-F238E27FC236}">
                <a16:creationId xmlns:a16="http://schemas.microsoft.com/office/drawing/2014/main" id="{A86635B8-A766-C333-5F1D-D46F317EB2AD}"/>
              </a:ext>
            </a:extLst>
          </p:cNvPr>
          <p:cNvSpPr>
            <a:spLocks noChangeArrowheads="1"/>
          </p:cNvSpPr>
          <p:nvPr/>
        </p:nvSpPr>
        <p:spPr bwMode="auto">
          <a:xfrm>
            <a:off x="128919" y="6349091"/>
            <a:ext cx="89238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indent="0"/>
            <a:r>
              <a:rPr lang="en-US" altLang="zh-CN" sz="2000" dirty="0">
                <a:solidFill>
                  <a:srgbClr val="000000"/>
                </a:solidFill>
                <a:latin typeface="微软雅黑" panose="020B0503020204020204" pitchFamily="34" charset="-122"/>
                <a:ea typeface="微软雅黑" panose="020B0503020204020204" pitchFamily="34" charset="-122"/>
              </a:rPr>
              <a:t>                        </a:t>
            </a:r>
            <a:r>
              <a:rPr lang="zh-CN" altLang="en-US" sz="2000" dirty="0">
                <a:solidFill>
                  <a:srgbClr val="000000"/>
                </a:solidFill>
                <a:latin typeface="微软雅黑" panose="020B0503020204020204" pitchFamily="34" charset="-122"/>
                <a:ea typeface="微软雅黑" panose="020B0503020204020204" pitchFamily="34" charset="-122"/>
              </a:rPr>
              <a:t>中心智能</a:t>
            </a:r>
            <a:r>
              <a:rPr lang="en-US" altLang="zh-CN" sz="2000" dirty="0">
                <a:solidFill>
                  <a:srgbClr val="000000"/>
                </a:solidFill>
                <a:latin typeface="微软雅黑" panose="020B0503020204020204" pitchFamily="34" charset="-122"/>
                <a:ea typeface="微软雅黑" panose="020B0503020204020204" pitchFamily="34" charset="-122"/>
              </a:rPr>
              <a:t>                                 </a:t>
            </a:r>
            <a:r>
              <a:rPr lang="zh-CN" altLang="en-US" sz="2000" dirty="0">
                <a:solidFill>
                  <a:srgbClr val="000000"/>
                </a:solidFill>
                <a:latin typeface="微软雅黑" panose="020B0503020204020204" pitchFamily="34" charset="-122"/>
                <a:ea typeface="微软雅黑" panose="020B0503020204020204" pitchFamily="34" charset="-122"/>
              </a:rPr>
              <a:t>边缘智能</a:t>
            </a:r>
            <a:endParaRPr lang="en-US" altLang="zh-CN" sz="20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21609455"/>
      </p:ext>
    </p:extLst>
  </p:cSld>
  <p:clrMapOvr>
    <a:masterClrMapping/>
  </p:clrMapOvr>
  <p:transition spd="slow">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34B2A66-058A-48D7-C112-76A713FB6477}"/>
              </a:ext>
            </a:extLst>
          </p:cNvPr>
          <p:cNvSpPr/>
          <p:nvPr/>
        </p:nvSpPr>
        <p:spPr>
          <a:xfrm>
            <a:off x="179512" y="116632"/>
            <a:ext cx="3416320" cy="523220"/>
          </a:xfrm>
          <a:prstGeom prst="rect">
            <a:avLst/>
          </a:prstGeom>
        </p:spPr>
        <p:txBody>
          <a:bodyPr wrap="none">
            <a:spAutoFit/>
          </a:bodyPr>
          <a:lstStyle>
            <a:defPPr>
              <a:defRPr lang="zh-CN"/>
            </a:defPPr>
            <a:lvl1pPr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1pPr>
            <a:lvl2pPr marL="4572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2pPr>
            <a:lvl3pPr marL="9144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3pPr>
            <a:lvl4pPr marL="13716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4pPr>
            <a:lvl5pPr marL="18288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9pPr>
          </a:lstStyle>
          <a:p>
            <a:r>
              <a:rPr lang="zh-CN" altLang="en-US" sz="2800" dirty="0">
                <a:latin typeface="微软雅黑" panose="020B0503020204020204" pitchFamily="34" charset="-122"/>
                <a:ea typeface="微软雅黑" panose="020B0503020204020204" pitchFamily="34" charset="-122"/>
                <a:sym typeface="微软雅黑" panose="020B0503020204020204" pitchFamily="34" charset="-122"/>
              </a:rPr>
              <a:t>边缘智能的安全问题</a:t>
            </a:r>
            <a:endParaRPr lang="zh-CN" altLang="en-US" dirty="0"/>
          </a:p>
        </p:txBody>
      </p:sp>
      <p:sp>
        <p:nvSpPr>
          <p:cNvPr id="3" name="文本框 2">
            <a:extLst>
              <a:ext uri="{FF2B5EF4-FFF2-40B4-BE49-F238E27FC236}">
                <a16:creationId xmlns:a16="http://schemas.microsoft.com/office/drawing/2014/main" id="{38960228-4FFF-A8E1-772B-61A1AAD1C6E9}"/>
              </a:ext>
            </a:extLst>
          </p:cNvPr>
          <p:cNvSpPr txBox="1"/>
          <p:nvPr/>
        </p:nvSpPr>
        <p:spPr>
          <a:xfrm>
            <a:off x="197708" y="1700808"/>
            <a:ext cx="8478748" cy="2925416"/>
          </a:xfrm>
          <a:prstGeom prst="rect">
            <a:avLst/>
          </a:prstGeom>
          <a:noFill/>
        </p:spPr>
        <p:txBody>
          <a:bodyPr wrap="square">
            <a:spAutoFit/>
          </a:bodyPr>
          <a:lstStyle/>
          <a:p>
            <a:pPr indent="457200" algn="just">
              <a:lnSpc>
                <a:spcPct val="130000"/>
              </a:lnSpc>
            </a:pPr>
            <a:r>
              <a:rPr lang="zh-CN" altLang="en-US" sz="2400" b="0" dirty="0">
                <a:latin typeface="Comic Sans MS" panose="030F0702030302020204" pitchFamily="66" charset="0"/>
                <a:ea typeface="SimHei" panose="02010609060101010101" pitchFamily="49" charset="-122"/>
              </a:rPr>
              <a:t>边缘侧设备参与实体类型多、数量大，信任情况非常复杂。攻击者可能将恶意边缘节点伪装成合法的边缘节点，诱使终端用户连接到恶意边缘节点，隐秘地收集用户数据。此外，边缘节点通常被放置在用户附近，在基站或路由器等位置，甚至在 </a:t>
            </a:r>
            <a:r>
              <a:rPr lang="en-US" altLang="zh-CN" sz="2400" b="0" dirty="0">
                <a:latin typeface="Comic Sans MS" panose="030F0702030302020204" pitchFamily="66" charset="0"/>
                <a:ea typeface="SimHei" panose="02010609060101010101" pitchFamily="49" charset="-122"/>
              </a:rPr>
              <a:t>Wi-Fi </a:t>
            </a:r>
            <a:r>
              <a:rPr lang="zh-CN" altLang="en-US" sz="2400" b="0" dirty="0">
                <a:latin typeface="Comic Sans MS" panose="030F0702030302020204" pitchFamily="66" charset="0"/>
                <a:ea typeface="SimHei" panose="02010609060101010101" pitchFamily="49" charset="-122"/>
              </a:rPr>
              <a:t>接入点的极端网络边缘，这使得为其提供安全防护变得非常困难，更易受到物理攻击。</a:t>
            </a:r>
            <a:endParaRPr lang="zh-CN" altLang="en-US" sz="2400" b="0" dirty="0">
              <a:effectLst/>
              <a:latin typeface="Comic Sans MS" panose="030F0702030302020204" pitchFamily="66" charset="0"/>
              <a:ea typeface="SimHei" panose="02010609060101010101" pitchFamily="49" charset="-122"/>
            </a:endParaRPr>
          </a:p>
        </p:txBody>
      </p:sp>
      <p:sp>
        <p:nvSpPr>
          <p:cNvPr id="4" name="文本框 3">
            <a:extLst>
              <a:ext uri="{FF2B5EF4-FFF2-40B4-BE49-F238E27FC236}">
                <a16:creationId xmlns:a16="http://schemas.microsoft.com/office/drawing/2014/main" id="{FBEB3966-C663-71AB-2268-117D0BC3E09D}"/>
              </a:ext>
            </a:extLst>
          </p:cNvPr>
          <p:cNvSpPr txBox="1"/>
          <p:nvPr/>
        </p:nvSpPr>
        <p:spPr>
          <a:xfrm>
            <a:off x="344154" y="881652"/>
            <a:ext cx="3658870" cy="461665"/>
          </a:xfrm>
          <a:prstGeom prst="rect">
            <a:avLst/>
          </a:prstGeom>
          <a:solidFill>
            <a:schemeClr val="accent2"/>
          </a:solidFill>
          <a:ln w="38100">
            <a:solidFill>
              <a:schemeClr val="accent2">
                <a:lumMod val="75000"/>
              </a:schemeClr>
            </a:solidFill>
          </a:ln>
        </p:spPr>
        <p:txBody>
          <a:bodyPr wrap="square" anchor="ctr">
            <a:spAutoFit/>
          </a:bodyPr>
          <a:lstStyle/>
          <a:p>
            <a:pPr marL="0" lvl="1" algn="ctr"/>
            <a:r>
              <a:rPr lang="en-US" altLang="zh-CN" sz="2400" b="1" dirty="0">
                <a:solidFill>
                  <a:schemeClr val="bg1"/>
                </a:solidFill>
                <a:latin typeface="Comic Sans MS" panose="030F0702030302020204" pitchFamily="66" charset="0"/>
                <a:ea typeface="SimHei" panose="02010609060101010101" pitchFamily="49" charset="-122"/>
              </a:rPr>
              <a:t>1.</a:t>
            </a:r>
            <a:r>
              <a:rPr lang="zh-CN" altLang="en-US" sz="2400" b="1" dirty="0">
                <a:solidFill>
                  <a:schemeClr val="bg1"/>
                </a:solidFill>
                <a:latin typeface="Comic Sans MS" panose="030F0702030302020204" pitchFamily="66" charset="0"/>
                <a:ea typeface="SimHei" panose="02010609060101010101" pitchFamily="49" charset="-122"/>
              </a:rPr>
              <a:t>边缘节点的设备安全</a:t>
            </a:r>
            <a:endParaRPr lang="en-US" altLang="zh-CN" sz="2400" b="1" dirty="0">
              <a:solidFill>
                <a:schemeClr val="bg1"/>
              </a:solidFill>
              <a:latin typeface="Comic Sans MS" panose="030F0702030302020204" pitchFamily="66" charset="0"/>
              <a:ea typeface="SimHei" panose="02010609060101010101" pitchFamily="49" charset="-122"/>
            </a:endParaRPr>
          </a:p>
        </p:txBody>
      </p:sp>
    </p:spTree>
    <p:extLst>
      <p:ext uri="{BB962C8B-B14F-4D97-AF65-F5344CB8AC3E}">
        <p14:creationId xmlns:p14="http://schemas.microsoft.com/office/powerpoint/2010/main" val="2091536619"/>
      </p:ext>
    </p:extLst>
  </p:cSld>
  <p:clrMapOvr>
    <a:masterClrMapping/>
  </p:clrMapOvr>
  <p:transition spd="slow">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34B2A66-058A-48D7-C112-76A713FB6477}"/>
              </a:ext>
            </a:extLst>
          </p:cNvPr>
          <p:cNvSpPr/>
          <p:nvPr/>
        </p:nvSpPr>
        <p:spPr>
          <a:xfrm>
            <a:off x="179512" y="116632"/>
            <a:ext cx="3416320" cy="523220"/>
          </a:xfrm>
          <a:prstGeom prst="rect">
            <a:avLst/>
          </a:prstGeom>
        </p:spPr>
        <p:txBody>
          <a:bodyPr wrap="none">
            <a:spAutoFit/>
          </a:bodyPr>
          <a:lstStyle>
            <a:defPPr>
              <a:defRPr lang="zh-CN"/>
            </a:defPPr>
            <a:lvl1pPr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1pPr>
            <a:lvl2pPr marL="4572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2pPr>
            <a:lvl3pPr marL="9144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3pPr>
            <a:lvl4pPr marL="13716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4pPr>
            <a:lvl5pPr marL="18288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9pPr>
          </a:lstStyle>
          <a:p>
            <a:r>
              <a:rPr lang="zh-CN" altLang="en-US" sz="2800" dirty="0">
                <a:latin typeface="微软雅黑" panose="020B0503020204020204" pitchFamily="34" charset="-122"/>
                <a:ea typeface="微软雅黑" panose="020B0503020204020204" pitchFamily="34" charset="-122"/>
                <a:sym typeface="微软雅黑" panose="020B0503020204020204" pitchFamily="34" charset="-122"/>
              </a:rPr>
              <a:t>边缘智能的安全问题</a:t>
            </a:r>
            <a:endParaRPr lang="zh-CN" altLang="en-US" dirty="0"/>
          </a:p>
        </p:txBody>
      </p:sp>
      <p:sp>
        <p:nvSpPr>
          <p:cNvPr id="5" name="文本框 4">
            <a:extLst>
              <a:ext uri="{FF2B5EF4-FFF2-40B4-BE49-F238E27FC236}">
                <a16:creationId xmlns:a16="http://schemas.microsoft.com/office/drawing/2014/main" id="{E8A0532B-960D-DE35-A4F7-39EB24E5358D}"/>
              </a:ext>
            </a:extLst>
          </p:cNvPr>
          <p:cNvSpPr txBox="1"/>
          <p:nvPr/>
        </p:nvSpPr>
        <p:spPr>
          <a:xfrm>
            <a:off x="35496" y="1556792"/>
            <a:ext cx="9001000" cy="5326971"/>
          </a:xfrm>
          <a:prstGeom prst="rect">
            <a:avLst/>
          </a:prstGeom>
          <a:noFill/>
        </p:spPr>
        <p:txBody>
          <a:bodyPr wrap="square">
            <a:spAutoFit/>
          </a:bodyPr>
          <a:lstStyle/>
          <a:p>
            <a:pPr marL="342900" indent="-342900" algn="just">
              <a:lnSpc>
                <a:spcPct val="130000"/>
              </a:lnSpc>
              <a:buFont typeface="Wingdings" panose="05000000000000000000" pitchFamily="2" charset="2"/>
              <a:buChar char="Ø"/>
            </a:pPr>
            <a:r>
              <a:rPr lang="zh-CN" altLang="en-US" sz="2400" dirty="0">
                <a:latin typeface="Comic Sans MS" panose="030F0702030302020204" pitchFamily="66" charset="0"/>
                <a:ea typeface="SimHei" panose="02010609060101010101" pitchFamily="49" charset="-122"/>
              </a:rPr>
              <a:t>数据损失</a:t>
            </a:r>
            <a:endParaRPr lang="en-US" altLang="zh-CN" sz="2400" dirty="0">
              <a:latin typeface="Comic Sans MS" panose="030F0702030302020204" pitchFamily="66" charset="0"/>
              <a:ea typeface="SimHei" panose="02010609060101010101" pitchFamily="49" charset="-122"/>
            </a:endParaRPr>
          </a:p>
          <a:p>
            <a:pPr indent="457200" algn="just">
              <a:lnSpc>
                <a:spcPct val="130000"/>
              </a:lnSpc>
            </a:pPr>
            <a:r>
              <a:rPr lang="zh-CN" altLang="en-US" sz="2400" b="0" dirty="0">
                <a:latin typeface="+mn-ea"/>
              </a:rPr>
              <a:t>边缘计算的基础设施位于网络边缘，缺少数据备份、恢复、以及审计措施。攻击者可能修改或删除用户在边缘节点上的数据来销毁某些证据。</a:t>
            </a:r>
          </a:p>
          <a:p>
            <a:pPr indent="457200" algn="just">
              <a:lnSpc>
                <a:spcPct val="130000"/>
              </a:lnSpc>
            </a:pPr>
            <a:r>
              <a:rPr lang="zh-CN" altLang="en-US" sz="2400" b="0" dirty="0">
                <a:latin typeface="+mn-ea"/>
              </a:rPr>
              <a:t>边缘节点端没有提供有效机制恢复数据。如果工业边缘计算场景下发生数据损失，边缘节点上数据的丢失或损坏将直接影响大量的工业生产及重要决策过程。</a:t>
            </a:r>
            <a:endParaRPr lang="en-US" altLang="zh-CN" sz="2400" b="0" dirty="0">
              <a:latin typeface="+mn-ea"/>
            </a:endParaRPr>
          </a:p>
          <a:p>
            <a:pPr marL="342900" indent="-342900" algn="just">
              <a:lnSpc>
                <a:spcPct val="130000"/>
              </a:lnSpc>
              <a:buFont typeface="Wingdings" panose="05000000000000000000" pitchFamily="2" charset="2"/>
              <a:buChar char="Ø"/>
            </a:pPr>
            <a:r>
              <a:rPr lang="zh-CN" altLang="en-US" sz="2400" dirty="0">
                <a:latin typeface="Comic Sans MS" panose="030F0702030302020204" pitchFamily="66" charset="0"/>
                <a:ea typeface="SimHei" panose="02010609060101010101" pitchFamily="49" charset="-122"/>
              </a:rPr>
              <a:t>数据泄露</a:t>
            </a:r>
          </a:p>
          <a:p>
            <a:pPr indent="457200" algn="just">
              <a:lnSpc>
                <a:spcPct val="130000"/>
              </a:lnSpc>
            </a:pPr>
            <a:r>
              <a:rPr lang="zh-CN" altLang="en-US" sz="2400" b="0" dirty="0">
                <a:latin typeface="+mn-ea"/>
              </a:rPr>
              <a:t>边缘设备获取的是用户第一手数据，包含大量的敏感数据。</a:t>
            </a:r>
          </a:p>
          <a:p>
            <a:pPr indent="457200" algn="just">
              <a:lnSpc>
                <a:spcPct val="130000"/>
              </a:lnSpc>
            </a:pPr>
            <a:r>
              <a:rPr lang="zh-CN" altLang="en-US" sz="2400" b="0" dirty="0">
                <a:latin typeface="+mn-ea"/>
              </a:rPr>
              <a:t>边缘节点相较于传统的云中心，缺少有效的加密或脱敏措施。</a:t>
            </a:r>
          </a:p>
          <a:p>
            <a:pPr indent="457200" algn="just">
              <a:lnSpc>
                <a:spcPct val="130000"/>
              </a:lnSpc>
            </a:pPr>
            <a:endParaRPr lang="zh-CN" altLang="en-US" sz="2400" b="0" dirty="0">
              <a:latin typeface="+mn-ea"/>
            </a:endParaRPr>
          </a:p>
        </p:txBody>
      </p:sp>
      <p:sp>
        <p:nvSpPr>
          <p:cNvPr id="6" name="文本框 5">
            <a:extLst>
              <a:ext uri="{FF2B5EF4-FFF2-40B4-BE49-F238E27FC236}">
                <a16:creationId xmlns:a16="http://schemas.microsoft.com/office/drawing/2014/main" id="{51B048A0-44B1-2945-90B7-8156F76A0E30}"/>
              </a:ext>
            </a:extLst>
          </p:cNvPr>
          <p:cNvSpPr txBox="1"/>
          <p:nvPr/>
        </p:nvSpPr>
        <p:spPr>
          <a:xfrm>
            <a:off x="311134" y="908720"/>
            <a:ext cx="3658870" cy="461665"/>
          </a:xfrm>
          <a:prstGeom prst="rect">
            <a:avLst/>
          </a:prstGeom>
          <a:solidFill>
            <a:schemeClr val="accent2"/>
          </a:solidFill>
          <a:ln w="38100">
            <a:solidFill>
              <a:schemeClr val="accent2">
                <a:lumMod val="75000"/>
              </a:schemeClr>
            </a:solidFill>
          </a:ln>
        </p:spPr>
        <p:txBody>
          <a:bodyPr wrap="square" anchor="ctr">
            <a:spAutoFit/>
          </a:bodyPr>
          <a:lstStyle/>
          <a:p>
            <a:pPr marL="0" lvl="1" algn="ctr"/>
            <a:r>
              <a:rPr lang="en-US" altLang="zh-CN" sz="2400" b="1" dirty="0">
                <a:solidFill>
                  <a:schemeClr val="bg1"/>
                </a:solidFill>
                <a:latin typeface="Comic Sans MS" panose="030F0702030302020204" pitchFamily="66" charset="0"/>
                <a:ea typeface="SimHei" panose="02010609060101010101" pitchFamily="49" charset="-122"/>
              </a:rPr>
              <a:t>2.</a:t>
            </a:r>
            <a:r>
              <a:rPr lang="zh-CN" altLang="en-US" sz="2400" b="1" dirty="0">
                <a:solidFill>
                  <a:schemeClr val="bg1"/>
                </a:solidFill>
                <a:latin typeface="Comic Sans MS" panose="030F0702030302020204" pitchFamily="66" charset="0"/>
                <a:ea typeface="SimHei" panose="02010609060101010101" pitchFamily="49" charset="-122"/>
              </a:rPr>
              <a:t>边缘节点的数据安全</a:t>
            </a:r>
            <a:endParaRPr lang="en-US" altLang="zh-CN" sz="2400" b="1" dirty="0">
              <a:solidFill>
                <a:schemeClr val="bg1"/>
              </a:solidFill>
              <a:latin typeface="Comic Sans MS" panose="030F0702030302020204" pitchFamily="66" charset="0"/>
              <a:ea typeface="SimHei" panose="02010609060101010101" pitchFamily="49" charset="-122"/>
            </a:endParaRPr>
          </a:p>
        </p:txBody>
      </p:sp>
    </p:spTree>
    <p:extLst>
      <p:ext uri="{BB962C8B-B14F-4D97-AF65-F5344CB8AC3E}">
        <p14:creationId xmlns:p14="http://schemas.microsoft.com/office/powerpoint/2010/main" val="1745251331"/>
      </p:ext>
    </p:extLst>
  </p:cSld>
  <p:clrMapOvr>
    <a:masterClrMapping/>
  </p:clrMapOvr>
  <p:transition spd="slow">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34B2A66-058A-48D7-C112-76A713FB6477}"/>
              </a:ext>
            </a:extLst>
          </p:cNvPr>
          <p:cNvSpPr/>
          <p:nvPr/>
        </p:nvSpPr>
        <p:spPr>
          <a:xfrm>
            <a:off x="179512" y="116632"/>
            <a:ext cx="3416320" cy="523220"/>
          </a:xfrm>
          <a:prstGeom prst="rect">
            <a:avLst/>
          </a:prstGeom>
        </p:spPr>
        <p:txBody>
          <a:bodyPr wrap="none">
            <a:spAutoFit/>
          </a:bodyPr>
          <a:lstStyle>
            <a:defPPr>
              <a:defRPr lang="zh-CN"/>
            </a:defPPr>
            <a:lvl1pPr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1pPr>
            <a:lvl2pPr marL="4572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2pPr>
            <a:lvl3pPr marL="9144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3pPr>
            <a:lvl4pPr marL="13716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4pPr>
            <a:lvl5pPr marL="18288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9pPr>
          </a:lstStyle>
          <a:p>
            <a:r>
              <a:rPr lang="zh-CN" altLang="en-US" sz="2800" dirty="0">
                <a:latin typeface="微软雅黑" panose="020B0503020204020204" pitchFamily="34" charset="-122"/>
                <a:ea typeface="微软雅黑" panose="020B0503020204020204" pitchFamily="34" charset="-122"/>
                <a:sym typeface="微软雅黑" panose="020B0503020204020204" pitchFamily="34" charset="-122"/>
              </a:rPr>
              <a:t>边缘智能的安全问题</a:t>
            </a:r>
            <a:endParaRPr lang="zh-CN" altLang="en-US" dirty="0"/>
          </a:p>
        </p:txBody>
      </p:sp>
      <p:sp>
        <p:nvSpPr>
          <p:cNvPr id="3" name="文本框 2">
            <a:extLst>
              <a:ext uri="{FF2B5EF4-FFF2-40B4-BE49-F238E27FC236}">
                <a16:creationId xmlns:a16="http://schemas.microsoft.com/office/drawing/2014/main" id="{57CDF47F-BD39-FD17-43D9-F4109C8270B1}"/>
              </a:ext>
            </a:extLst>
          </p:cNvPr>
          <p:cNvSpPr txBox="1"/>
          <p:nvPr/>
        </p:nvSpPr>
        <p:spPr>
          <a:xfrm>
            <a:off x="-57138" y="1605140"/>
            <a:ext cx="9237650" cy="2926314"/>
          </a:xfrm>
          <a:prstGeom prst="rect">
            <a:avLst/>
          </a:prstGeom>
          <a:noFill/>
        </p:spPr>
        <p:txBody>
          <a:bodyPr wrap="square">
            <a:spAutoFit/>
          </a:bodyPr>
          <a:lstStyle/>
          <a:p>
            <a:pPr marL="342900" indent="-342900" algn="just">
              <a:lnSpc>
                <a:spcPct val="130000"/>
              </a:lnSpc>
              <a:buFont typeface="Wingdings" panose="05000000000000000000" pitchFamily="2" charset="2"/>
              <a:buChar char="Ø"/>
            </a:pPr>
            <a:r>
              <a:rPr lang="zh-CN" altLang="en-US" sz="2400" b="0" dirty="0">
                <a:latin typeface="Comic Sans MS" panose="030F0702030302020204" pitchFamily="66" charset="0"/>
                <a:ea typeface="SimHei" panose="02010609060101010101" pitchFamily="49" charset="-122"/>
              </a:rPr>
              <a:t>边缘节点可能从云端下载的是非安全的定制操作系统，或者系统调用的是被敌手腐蚀了的供应链上的第三方软件或硬件组件。</a:t>
            </a:r>
          </a:p>
          <a:p>
            <a:pPr marL="342900" indent="-342900" algn="just">
              <a:lnSpc>
                <a:spcPct val="130000"/>
              </a:lnSpc>
              <a:buFont typeface="Wingdings" panose="05000000000000000000" pitchFamily="2" charset="2"/>
              <a:buChar char="Ø"/>
            </a:pPr>
            <a:r>
              <a:rPr lang="zh-CN" altLang="en-US" sz="2400" b="0" dirty="0">
                <a:latin typeface="Comic Sans MS" panose="030F0702030302020204" pitchFamily="66" charset="0"/>
                <a:ea typeface="SimHei" panose="02010609060101010101" pitchFamily="49" charset="-122"/>
              </a:rPr>
              <a:t>缺少有效的，用于验证系统和组件的完整性以及计算结果的准确性的机制。</a:t>
            </a:r>
          </a:p>
          <a:p>
            <a:pPr marL="342900" indent="-342900" algn="just">
              <a:lnSpc>
                <a:spcPct val="130000"/>
              </a:lnSpc>
              <a:buFont typeface="Wingdings" panose="05000000000000000000" pitchFamily="2" charset="2"/>
              <a:buChar char="Ø"/>
            </a:pPr>
            <a:r>
              <a:rPr lang="zh-CN" altLang="en-US" sz="2400" b="0" dirty="0">
                <a:latin typeface="Comic Sans MS" panose="030F0702030302020204" pitchFamily="66" charset="0"/>
                <a:ea typeface="SimHei" panose="02010609060101010101" pitchFamily="49" charset="-122"/>
              </a:rPr>
              <a:t>边缘系统</a:t>
            </a:r>
            <a:r>
              <a:rPr lang="en-US" altLang="zh-CN" sz="2400" b="0" dirty="0">
                <a:latin typeface="Comic Sans MS" panose="030F0702030302020204" pitchFamily="66" charset="0"/>
                <a:ea typeface="SimHei" panose="02010609060101010101" pitchFamily="49" charset="-122"/>
              </a:rPr>
              <a:t>API</a:t>
            </a:r>
            <a:r>
              <a:rPr lang="zh-CN" altLang="en-US" sz="2400" b="0" dirty="0">
                <a:latin typeface="Comic Sans MS" panose="030F0702030302020204" pitchFamily="66" charset="0"/>
                <a:ea typeface="SimHei" panose="02010609060101010101" pitchFamily="49" charset="-122"/>
              </a:rPr>
              <a:t>设计复杂，却忽视了安全性设计。</a:t>
            </a:r>
          </a:p>
          <a:p>
            <a:pPr indent="457200" algn="just">
              <a:lnSpc>
                <a:spcPct val="130000"/>
              </a:lnSpc>
            </a:pPr>
            <a:endParaRPr lang="zh-CN" altLang="en-US" sz="2400" b="0" dirty="0">
              <a:latin typeface="+mn-ea"/>
            </a:endParaRPr>
          </a:p>
        </p:txBody>
      </p:sp>
      <p:sp>
        <p:nvSpPr>
          <p:cNvPr id="4" name="文本框 3">
            <a:extLst>
              <a:ext uri="{FF2B5EF4-FFF2-40B4-BE49-F238E27FC236}">
                <a16:creationId xmlns:a16="http://schemas.microsoft.com/office/drawing/2014/main" id="{E5F97400-AD26-30B9-4CBE-38937B87F55B}"/>
              </a:ext>
            </a:extLst>
          </p:cNvPr>
          <p:cNvSpPr txBox="1"/>
          <p:nvPr/>
        </p:nvSpPr>
        <p:spPr>
          <a:xfrm>
            <a:off x="395536" y="836712"/>
            <a:ext cx="4386398" cy="461665"/>
          </a:xfrm>
          <a:prstGeom prst="rect">
            <a:avLst/>
          </a:prstGeom>
          <a:solidFill>
            <a:schemeClr val="accent2"/>
          </a:solidFill>
          <a:ln w="38100">
            <a:solidFill>
              <a:schemeClr val="accent2">
                <a:lumMod val="75000"/>
              </a:schemeClr>
            </a:solidFill>
          </a:ln>
        </p:spPr>
        <p:txBody>
          <a:bodyPr wrap="square" anchor="ctr">
            <a:spAutoFit/>
          </a:bodyPr>
          <a:lstStyle/>
          <a:p>
            <a:pPr marL="0" lvl="1" algn="ctr"/>
            <a:r>
              <a:rPr lang="en-US" altLang="zh-CN" sz="2400" b="1" dirty="0">
                <a:solidFill>
                  <a:schemeClr val="bg1"/>
                </a:solidFill>
                <a:latin typeface="Comic Sans MS" panose="030F0702030302020204" pitchFamily="66" charset="0"/>
                <a:ea typeface="SimHei" panose="02010609060101010101" pitchFamily="49" charset="-122"/>
              </a:rPr>
              <a:t>3.</a:t>
            </a:r>
            <a:r>
              <a:rPr lang="zh-CN" altLang="en-US" sz="2400" b="1" dirty="0">
                <a:solidFill>
                  <a:schemeClr val="bg1"/>
                </a:solidFill>
                <a:latin typeface="Comic Sans MS" panose="030F0702030302020204" pitchFamily="66" charset="0"/>
                <a:ea typeface="SimHei" panose="02010609060101010101" pitchFamily="49" charset="-122"/>
              </a:rPr>
              <a:t>边缘节点的系统与组件安全</a:t>
            </a:r>
            <a:endParaRPr lang="en-US" altLang="zh-CN" sz="2400" b="1" dirty="0">
              <a:solidFill>
                <a:schemeClr val="bg1"/>
              </a:solidFill>
              <a:latin typeface="Comic Sans MS" panose="030F0702030302020204" pitchFamily="66" charset="0"/>
              <a:ea typeface="SimHei" panose="02010609060101010101" pitchFamily="49" charset="-122"/>
            </a:endParaRPr>
          </a:p>
        </p:txBody>
      </p:sp>
    </p:spTree>
    <p:extLst>
      <p:ext uri="{BB962C8B-B14F-4D97-AF65-F5344CB8AC3E}">
        <p14:creationId xmlns:p14="http://schemas.microsoft.com/office/powerpoint/2010/main" val="1422889620"/>
      </p:ext>
    </p:extLst>
  </p:cSld>
  <p:clrMapOvr>
    <a:masterClrMapping/>
  </p:clrMapOvr>
  <p:transition spd="slow">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053407B-D940-DCDA-309F-E03CBE47AE26}"/>
              </a:ext>
            </a:extLst>
          </p:cNvPr>
          <p:cNvSpPr txBox="1"/>
          <p:nvPr/>
        </p:nvSpPr>
        <p:spPr>
          <a:xfrm>
            <a:off x="35496" y="1916832"/>
            <a:ext cx="9001000" cy="3882601"/>
          </a:xfrm>
          <a:prstGeom prst="rect">
            <a:avLst/>
          </a:prstGeom>
          <a:noFill/>
        </p:spPr>
        <p:txBody>
          <a:bodyPr wrap="square">
            <a:spAutoFit/>
          </a:bodyPr>
          <a:lstStyle/>
          <a:p>
            <a:pPr marL="342900" indent="-342900" algn="just">
              <a:lnSpc>
                <a:spcPct val="130000"/>
              </a:lnSpc>
              <a:buFont typeface="Wingdings" panose="05000000000000000000" pitchFamily="2" charset="2"/>
              <a:buChar char="Ø"/>
            </a:pPr>
            <a:r>
              <a:rPr lang="zh-CN" altLang="en-US" sz="2400" b="0" dirty="0">
                <a:latin typeface="Comic Sans MS" panose="030F0702030302020204" pitchFamily="66" charset="0"/>
                <a:ea typeface="SimHei" panose="02010609060101010101" pitchFamily="49" charset="-122"/>
              </a:rPr>
              <a:t>边缘系统使用简单的操作系统与处理器，难以支持复杂的安全防御手段。</a:t>
            </a:r>
          </a:p>
          <a:p>
            <a:pPr marL="342900" indent="-342900" algn="just">
              <a:lnSpc>
                <a:spcPct val="130000"/>
              </a:lnSpc>
              <a:buFont typeface="Wingdings" panose="05000000000000000000" pitchFamily="2" charset="2"/>
              <a:buChar char="Ø"/>
            </a:pPr>
            <a:r>
              <a:rPr lang="zh-CN" altLang="en-US" sz="2400" b="0" dirty="0">
                <a:latin typeface="Comic Sans MS" panose="030F0702030302020204" pitchFamily="66" charset="0"/>
                <a:ea typeface="SimHei" panose="02010609060101010101" pitchFamily="49" charset="-122"/>
              </a:rPr>
              <a:t>边缘节点与其他节点，以及与云中心之间的信息传递所使用的协议存在安全方面的不足。</a:t>
            </a:r>
          </a:p>
          <a:p>
            <a:pPr marL="342900" indent="-342900" algn="just">
              <a:lnSpc>
                <a:spcPct val="130000"/>
              </a:lnSpc>
              <a:buFont typeface="Wingdings" panose="05000000000000000000" pitchFamily="2" charset="2"/>
              <a:buChar char="Ø"/>
            </a:pPr>
            <a:r>
              <a:rPr lang="zh-CN" altLang="en-US" sz="2400" b="0" dirty="0">
                <a:latin typeface="Comic Sans MS" panose="030F0702030302020204" pitchFamily="66" charset="0"/>
                <a:ea typeface="SimHei" panose="02010609060101010101" pitchFamily="49" charset="-122"/>
              </a:rPr>
              <a:t>云服务器与边缘节点采用基于即时消息协议的消息中间件，通过网络 </a:t>
            </a:r>
            <a:r>
              <a:rPr lang="en-US" altLang="zh-CN" sz="2400" b="0" dirty="0">
                <a:latin typeface="Comic Sans MS" panose="030F0702030302020204" pitchFamily="66" charset="0"/>
                <a:ea typeface="SimHei" panose="02010609060101010101" pitchFamily="49" charset="-122"/>
              </a:rPr>
              <a:t>Overlay </a:t>
            </a:r>
            <a:r>
              <a:rPr lang="zh-CN" altLang="en-US" sz="2400" b="0" dirty="0">
                <a:latin typeface="Comic Sans MS" panose="030F0702030302020204" pitchFamily="66" charset="0"/>
                <a:ea typeface="SimHei" panose="02010609060101010101" pitchFamily="49" charset="-122"/>
              </a:rPr>
              <a:t>控制协议对边缘的网络设备进行网络构建和扩展，侧重于性能，但忽视了消息的机密性、完整性、真实性和不可否认性。</a:t>
            </a:r>
            <a:endParaRPr lang="zh-CN" altLang="en-US" sz="2400" b="0" dirty="0">
              <a:latin typeface="+mn-ea"/>
            </a:endParaRPr>
          </a:p>
        </p:txBody>
      </p:sp>
      <p:sp>
        <p:nvSpPr>
          <p:cNvPr id="3" name="文本框 2">
            <a:extLst>
              <a:ext uri="{FF2B5EF4-FFF2-40B4-BE49-F238E27FC236}">
                <a16:creationId xmlns:a16="http://schemas.microsoft.com/office/drawing/2014/main" id="{9417A959-FB82-3826-28C9-15C08AFF10B1}"/>
              </a:ext>
            </a:extLst>
          </p:cNvPr>
          <p:cNvSpPr txBox="1"/>
          <p:nvPr/>
        </p:nvSpPr>
        <p:spPr>
          <a:xfrm>
            <a:off x="305952" y="1196752"/>
            <a:ext cx="2484446" cy="461665"/>
          </a:xfrm>
          <a:prstGeom prst="rect">
            <a:avLst/>
          </a:prstGeom>
          <a:solidFill>
            <a:schemeClr val="accent2"/>
          </a:solidFill>
          <a:ln w="38100">
            <a:solidFill>
              <a:schemeClr val="accent2">
                <a:lumMod val="75000"/>
              </a:schemeClr>
            </a:solidFill>
          </a:ln>
        </p:spPr>
        <p:txBody>
          <a:bodyPr wrap="square" anchor="ctr">
            <a:spAutoFit/>
          </a:bodyPr>
          <a:lstStyle/>
          <a:p>
            <a:pPr marL="0" lvl="1" algn="ctr"/>
            <a:r>
              <a:rPr lang="en-US" altLang="zh-CN" sz="2400" b="1" dirty="0">
                <a:solidFill>
                  <a:schemeClr val="bg1"/>
                </a:solidFill>
                <a:latin typeface="Comic Sans MS" panose="030F0702030302020204" pitchFamily="66" charset="0"/>
                <a:ea typeface="SimHei" panose="02010609060101010101" pitchFamily="49" charset="-122"/>
              </a:rPr>
              <a:t>4.</a:t>
            </a:r>
            <a:r>
              <a:rPr lang="zh-CN" altLang="en-US" sz="2400" b="1" dirty="0">
                <a:solidFill>
                  <a:schemeClr val="bg1"/>
                </a:solidFill>
                <a:latin typeface="Comic Sans MS" panose="030F0702030302020204" pitchFamily="66" charset="0"/>
                <a:ea typeface="SimHei" panose="02010609060101010101" pitchFamily="49" charset="-122"/>
              </a:rPr>
              <a:t>边缘接入安全</a:t>
            </a:r>
            <a:endParaRPr lang="en-US" altLang="zh-CN" sz="2400" b="1" dirty="0">
              <a:solidFill>
                <a:schemeClr val="bg1"/>
              </a:solidFill>
              <a:latin typeface="Comic Sans MS" panose="030F0702030302020204" pitchFamily="66" charset="0"/>
              <a:ea typeface="SimHei" panose="02010609060101010101" pitchFamily="49" charset="-122"/>
            </a:endParaRPr>
          </a:p>
        </p:txBody>
      </p:sp>
      <p:sp>
        <p:nvSpPr>
          <p:cNvPr id="4" name="矩形 3">
            <a:extLst>
              <a:ext uri="{FF2B5EF4-FFF2-40B4-BE49-F238E27FC236}">
                <a16:creationId xmlns:a16="http://schemas.microsoft.com/office/drawing/2014/main" id="{C64D5F0E-5A4D-6640-252B-352E39DF9486}"/>
              </a:ext>
            </a:extLst>
          </p:cNvPr>
          <p:cNvSpPr/>
          <p:nvPr/>
        </p:nvSpPr>
        <p:spPr>
          <a:xfrm>
            <a:off x="179512" y="116632"/>
            <a:ext cx="3416320" cy="523220"/>
          </a:xfrm>
          <a:prstGeom prst="rect">
            <a:avLst/>
          </a:prstGeom>
        </p:spPr>
        <p:txBody>
          <a:bodyPr wrap="none">
            <a:spAutoFit/>
          </a:bodyPr>
          <a:lstStyle>
            <a:defPPr>
              <a:defRPr lang="zh-CN"/>
            </a:defPPr>
            <a:lvl1pPr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1pPr>
            <a:lvl2pPr marL="4572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2pPr>
            <a:lvl3pPr marL="9144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3pPr>
            <a:lvl4pPr marL="13716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4pPr>
            <a:lvl5pPr marL="18288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9pPr>
          </a:lstStyle>
          <a:p>
            <a:r>
              <a:rPr lang="zh-CN" altLang="en-US" sz="2800" dirty="0">
                <a:latin typeface="微软雅黑" panose="020B0503020204020204" pitchFamily="34" charset="-122"/>
                <a:ea typeface="微软雅黑" panose="020B0503020204020204" pitchFamily="34" charset="-122"/>
                <a:sym typeface="微软雅黑" panose="020B0503020204020204" pitchFamily="34" charset="-122"/>
              </a:rPr>
              <a:t>边缘智能的安全问题</a:t>
            </a:r>
            <a:endParaRPr lang="zh-CN" altLang="en-US" dirty="0"/>
          </a:p>
        </p:txBody>
      </p:sp>
    </p:spTree>
    <p:extLst>
      <p:ext uri="{BB962C8B-B14F-4D97-AF65-F5344CB8AC3E}">
        <p14:creationId xmlns:p14="http://schemas.microsoft.com/office/powerpoint/2010/main" val="3532048948"/>
      </p:ext>
    </p:extLst>
  </p:cSld>
  <p:clrMapOvr>
    <a:masterClrMapping/>
  </p:clrMapOvr>
  <p:transition spd="slow">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54210DA-BB1D-9A58-CD61-1B7ADCA15EF3}"/>
              </a:ext>
            </a:extLst>
          </p:cNvPr>
          <p:cNvSpPr txBox="1"/>
          <p:nvPr/>
        </p:nvSpPr>
        <p:spPr>
          <a:xfrm>
            <a:off x="206728" y="1988840"/>
            <a:ext cx="8730544" cy="3886577"/>
          </a:xfrm>
          <a:prstGeom prst="rect">
            <a:avLst/>
          </a:prstGeom>
          <a:noFill/>
        </p:spPr>
        <p:txBody>
          <a:bodyPr wrap="square">
            <a:spAutoFit/>
          </a:bodyPr>
          <a:lstStyle/>
          <a:p>
            <a:pPr marL="342900" indent="-342900" algn="just">
              <a:lnSpc>
                <a:spcPct val="130000"/>
              </a:lnSpc>
              <a:buFont typeface="Wingdings" panose="05000000000000000000" pitchFamily="2" charset="2"/>
              <a:buChar char="Ø"/>
            </a:pPr>
            <a:r>
              <a:rPr lang="zh-CN" altLang="en-US" sz="2400" b="0" dirty="0">
                <a:latin typeface="Comic Sans MS" panose="030F0702030302020204" pitchFamily="66" charset="0"/>
                <a:ea typeface="SimHei" panose="02010609060101010101" pitchFamily="49" charset="-122"/>
              </a:rPr>
              <a:t>实现认证的复杂性</a:t>
            </a:r>
          </a:p>
          <a:p>
            <a:pPr marL="800100" lvl="1" indent="-342900" algn="just">
              <a:lnSpc>
                <a:spcPct val="130000"/>
              </a:lnSpc>
              <a:buFont typeface="Arial" panose="020B0604020202020204" pitchFamily="34" charset="0"/>
              <a:buChar char="•"/>
            </a:pPr>
            <a:r>
              <a:rPr lang="zh-CN" altLang="en-US" sz="2400" b="0" dirty="0">
                <a:latin typeface="+mn-ea"/>
              </a:rPr>
              <a:t>将执行认证协议所需的加密操作外包给边缘节点后，难以管理安全凭证。</a:t>
            </a:r>
          </a:p>
          <a:p>
            <a:pPr marL="800100" lvl="1" indent="-342900" algn="just">
              <a:lnSpc>
                <a:spcPct val="130000"/>
              </a:lnSpc>
              <a:buFont typeface="Arial" panose="020B0604020202020204" pitchFamily="34" charset="0"/>
              <a:buChar char="•"/>
            </a:pPr>
            <a:r>
              <a:rPr lang="zh-CN" altLang="en-US" sz="2400" b="0" dirty="0">
                <a:latin typeface="+mn-ea"/>
              </a:rPr>
              <a:t>难以在大量分布式边缘节点和云中心之间实现统一的身份认证和高效的密钥管理。</a:t>
            </a:r>
          </a:p>
          <a:p>
            <a:pPr marL="800100" lvl="1" indent="-342900" algn="just">
              <a:lnSpc>
                <a:spcPct val="130000"/>
              </a:lnSpc>
              <a:buFont typeface="Arial" panose="020B0604020202020204" pitchFamily="34" charset="0"/>
              <a:buChar char="•"/>
            </a:pPr>
            <a:r>
              <a:rPr lang="zh-CN" altLang="en-US" sz="2400" b="0" dirty="0">
                <a:latin typeface="+mn-ea"/>
              </a:rPr>
              <a:t>难以为动态、异构的大规模设备及终端用户提供精准、有效且安全的访问控制功能，并在分布式远程场景中保证用户基本信息及策略信息的定期更新。</a:t>
            </a:r>
          </a:p>
        </p:txBody>
      </p:sp>
      <p:sp>
        <p:nvSpPr>
          <p:cNvPr id="3" name="文本框 2">
            <a:extLst>
              <a:ext uri="{FF2B5EF4-FFF2-40B4-BE49-F238E27FC236}">
                <a16:creationId xmlns:a16="http://schemas.microsoft.com/office/drawing/2014/main" id="{3DE03BD1-1879-08AB-ACA8-D636DF2B3E89}"/>
              </a:ext>
            </a:extLst>
          </p:cNvPr>
          <p:cNvSpPr txBox="1"/>
          <p:nvPr/>
        </p:nvSpPr>
        <p:spPr>
          <a:xfrm>
            <a:off x="323528" y="1083513"/>
            <a:ext cx="2484446" cy="461665"/>
          </a:xfrm>
          <a:prstGeom prst="rect">
            <a:avLst/>
          </a:prstGeom>
          <a:solidFill>
            <a:schemeClr val="accent2"/>
          </a:solidFill>
          <a:ln w="38100">
            <a:solidFill>
              <a:schemeClr val="accent2">
                <a:lumMod val="75000"/>
              </a:schemeClr>
            </a:solidFill>
          </a:ln>
        </p:spPr>
        <p:txBody>
          <a:bodyPr wrap="square" anchor="ctr">
            <a:spAutoFit/>
          </a:bodyPr>
          <a:lstStyle/>
          <a:p>
            <a:pPr marL="0" lvl="1" algn="ctr"/>
            <a:r>
              <a:rPr lang="en-US" altLang="zh-CN" sz="2400" b="1" dirty="0">
                <a:solidFill>
                  <a:schemeClr val="bg1"/>
                </a:solidFill>
                <a:latin typeface="Comic Sans MS" panose="030F0702030302020204" pitchFamily="66" charset="0"/>
                <a:ea typeface="SimHei" panose="02010609060101010101" pitchFamily="49" charset="-122"/>
              </a:rPr>
              <a:t>5.</a:t>
            </a:r>
            <a:r>
              <a:rPr lang="zh-CN" altLang="en-US" sz="2400" b="1" dirty="0">
                <a:solidFill>
                  <a:schemeClr val="bg1"/>
                </a:solidFill>
                <a:latin typeface="Comic Sans MS" panose="030F0702030302020204" pitchFamily="66" charset="0"/>
                <a:ea typeface="SimHei" panose="02010609060101010101" pitchFamily="49" charset="-122"/>
              </a:rPr>
              <a:t>身份认证安全</a:t>
            </a:r>
            <a:endParaRPr lang="en-US" altLang="zh-CN" sz="2400" b="1" dirty="0">
              <a:solidFill>
                <a:schemeClr val="bg1"/>
              </a:solidFill>
              <a:latin typeface="Comic Sans MS" panose="030F0702030302020204" pitchFamily="66" charset="0"/>
              <a:ea typeface="SimHei" panose="02010609060101010101" pitchFamily="49" charset="-122"/>
            </a:endParaRPr>
          </a:p>
        </p:txBody>
      </p:sp>
      <p:sp>
        <p:nvSpPr>
          <p:cNvPr id="4" name="矩形 3">
            <a:extLst>
              <a:ext uri="{FF2B5EF4-FFF2-40B4-BE49-F238E27FC236}">
                <a16:creationId xmlns:a16="http://schemas.microsoft.com/office/drawing/2014/main" id="{FB5B76C9-F577-D310-DEB3-6C1F69E12E87}"/>
              </a:ext>
            </a:extLst>
          </p:cNvPr>
          <p:cNvSpPr/>
          <p:nvPr/>
        </p:nvSpPr>
        <p:spPr>
          <a:xfrm>
            <a:off x="179512" y="116632"/>
            <a:ext cx="3416320" cy="523220"/>
          </a:xfrm>
          <a:prstGeom prst="rect">
            <a:avLst/>
          </a:prstGeom>
        </p:spPr>
        <p:txBody>
          <a:bodyPr wrap="none">
            <a:spAutoFit/>
          </a:bodyPr>
          <a:lstStyle>
            <a:defPPr>
              <a:defRPr lang="zh-CN"/>
            </a:defPPr>
            <a:lvl1pPr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1pPr>
            <a:lvl2pPr marL="4572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2pPr>
            <a:lvl3pPr marL="9144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3pPr>
            <a:lvl4pPr marL="13716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4pPr>
            <a:lvl5pPr marL="1828800" algn="l" rtl="0" eaLnBrk="0" fontAlgn="base" hangingPunct="0">
              <a:spcBef>
                <a:spcPct val="0"/>
              </a:spcBef>
              <a:spcAft>
                <a:spcPct val="0"/>
              </a:spcAft>
              <a:defRPr kumimoji="1" sz="2800" b="1" kern="1200">
                <a:solidFill>
                  <a:schemeClr val="tx1"/>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800" b="1" kern="1200">
                <a:solidFill>
                  <a:schemeClr val="tx1"/>
                </a:solidFill>
                <a:latin typeface="Times New Roman" panose="02020603050405020304" pitchFamily="18" charset="0"/>
                <a:ea typeface="楷体_GB2312" pitchFamily="49" charset="-122"/>
                <a:cs typeface="+mn-cs"/>
              </a:defRPr>
            </a:lvl9pPr>
          </a:lstStyle>
          <a:p>
            <a:r>
              <a:rPr lang="zh-CN" altLang="en-US" sz="2800" dirty="0">
                <a:latin typeface="微软雅黑" panose="020B0503020204020204" pitchFamily="34" charset="-122"/>
                <a:ea typeface="微软雅黑" panose="020B0503020204020204" pitchFamily="34" charset="-122"/>
                <a:sym typeface="微软雅黑" panose="020B0503020204020204" pitchFamily="34" charset="-122"/>
              </a:rPr>
              <a:t>边缘智能的安全问题</a:t>
            </a:r>
            <a:endParaRPr lang="zh-CN" altLang="en-US" dirty="0"/>
          </a:p>
        </p:txBody>
      </p:sp>
    </p:spTree>
    <p:extLst>
      <p:ext uri="{BB962C8B-B14F-4D97-AF65-F5344CB8AC3E}">
        <p14:creationId xmlns:p14="http://schemas.microsoft.com/office/powerpoint/2010/main" val="770694853"/>
      </p:ext>
    </p:extLst>
  </p:cSld>
  <p:clrMapOvr>
    <a:masterClrMapping/>
  </p:clrMapOvr>
  <p:transition spd="slow">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878B80C-D33A-4CE4-9404-C3E335FE866C}"/>
              </a:ext>
            </a:extLst>
          </p:cNvPr>
          <p:cNvSpPr/>
          <p:nvPr/>
        </p:nvSpPr>
        <p:spPr>
          <a:xfrm>
            <a:off x="3923928" y="188640"/>
            <a:ext cx="1627369" cy="523220"/>
          </a:xfrm>
          <a:prstGeom prst="rect">
            <a:avLst/>
          </a:prstGeom>
        </p:spPr>
        <p:txBody>
          <a:bodyPr wrap="none">
            <a:spAutoFit/>
          </a:bodyPr>
          <a:lstStyle/>
          <a:p>
            <a:r>
              <a:rPr lang="zh-CN" altLang="en-US" dirty="0"/>
              <a:t>问题思考</a:t>
            </a:r>
          </a:p>
        </p:txBody>
      </p:sp>
      <p:sp>
        <p:nvSpPr>
          <p:cNvPr id="4" name="矩形 3">
            <a:extLst>
              <a:ext uri="{FF2B5EF4-FFF2-40B4-BE49-F238E27FC236}">
                <a16:creationId xmlns:a16="http://schemas.microsoft.com/office/drawing/2014/main" id="{94E2CFF0-1E8B-48C0-8860-291E7BF8B1FD}"/>
              </a:ext>
            </a:extLst>
          </p:cNvPr>
          <p:cNvSpPr/>
          <p:nvPr/>
        </p:nvSpPr>
        <p:spPr>
          <a:xfrm>
            <a:off x="154789" y="1309902"/>
            <a:ext cx="4190571" cy="523220"/>
          </a:xfrm>
          <a:prstGeom prst="rect">
            <a:avLst/>
          </a:prstGeom>
        </p:spPr>
        <p:txBody>
          <a:bodyPr wrap="none">
            <a:spAutoFit/>
          </a:bodyPr>
          <a:lstStyle/>
          <a:p>
            <a:r>
              <a:rPr lang="zh-CN" altLang="en-US" dirty="0"/>
              <a:t>为什么</a:t>
            </a:r>
            <a:r>
              <a:rPr lang="en-US" altLang="zh-CN" dirty="0"/>
              <a:t>AI</a:t>
            </a:r>
            <a:r>
              <a:rPr lang="zh-CN" altLang="en-US" dirty="0"/>
              <a:t>安全受到关注？</a:t>
            </a:r>
          </a:p>
        </p:txBody>
      </p:sp>
      <p:sp>
        <p:nvSpPr>
          <p:cNvPr id="5" name="矩形 4">
            <a:extLst>
              <a:ext uri="{FF2B5EF4-FFF2-40B4-BE49-F238E27FC236}">
                <a16:creationId xmlns:a16="http://schemas.microsoft.com/office/drawing/2014/main" id="{C65FBD9C-04AE-442C-BC69-35618A158754}"/>
              </a:ext>
            </a:extLst>
          </p:cNvPr>
          <p:cNvSpPr/>
          <p:nvPr/>
        </p:nvSpPr>
        <p:spPr>
          <a:xfrm>
            <a:off x="209930" y="2420888"/>
            <a:ext cx="9240030" cy="523220"/>
          </a:xfrm>
          <a:prstGeom prst="rect">
            <a:avLst/>
          </a:prstGeom>
        </p:spPr>
        <p:txBody>
          <a:bodyPr wrap="none">
            <a:spAutoFit/>
          </a:bodyPr>
          <a:lstStyle/>
          <a:p>
            <a:r>
              <a:rPr lang="en-US" altLang="zh-CN" dirty="0"/>
              <a:t>AI</a:t>
            </a:r>
            <a:r>
              <a:rPr lang="zh-CN" altLang="en-US" dirty="0"/>
              <a:t>安全和数据安全、系统安全、应用安全的区别是什么？</a:t>
            </a:r>
          </a:p>
        </p:txBody>
      </p:sp>
      <p:sp>
        <p:nvSpPr>
          <p:cNvPr id="6" name="矩形 5">
            <a:extLst>
              <a:ext uri="{FF2B5EF4-FFF2-40B4-BE49-F238E27FC236}">
                <a16:creationId xmlns:a16="http://schemas.microsoft.com/office/drawing/2014/main" id="{1690B7EB-77AB-4171-A875-C10EA5DB250C}"/>
              </a:ext>
            </a:extLst>
          </p:cNvPr>
          <p:cNvSpPr/>
          <p:nvPr/>
        </p:nvSpPr>
        <p:spPr>
          <a:xfrm>
            <a:off x="209930" y="3458953"/>
            <a:ext cx="6715300" cy="523220"/>
          </a:xfrm>
          <a:prstGeom prst="rect">
            <a:avLst/>
          </a:prstGeom>
        </p:spPr>
        <p:txBody>
          <a:bodyPr wrap="none">
            <a:spAutoFit/>
          </a:bodyPr>
          <a:lstStyle/>
          <a:p>
            <a:r>
              <a:rPr lang="en-US" altLang="zh-CN" dirty="0"/>
              <a:t>AI</a:t>
            </a:r>
            <a:r>
              <a:rPr lang="zh-CN" altLang="en-US" dirty="0"/>
              <a:t>安全可能的防御手段，切入点有哪些？</a:t>
            </a:r>
          </a:p>
        </p:txBody>
      </p:sp>
    </p:spTree>
    <p:extLst>
      <p:ext uri="{BB962C8B-B14F-4D97-AF65-F5344CB8AC3E}">
        <p14:creationId xmlns:p14="http://schemas.microsoft.com/office/powerpoint/2010/main" val="3489374268"/>
      </p:ext>
    </p:extLst>
  </p:cSld>
  <p:clrMapOvr>
    <a:masterClrMapping/>
  </p:clrMapOvr>
  <p:transition spd="slow">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endParaRPr lang="zh-CN" altLang="zh-CN"/>
          </a:p>
        </p:txBody>
      </p:sp>
      <p:sp>
        <p:nvSpPr>
          <p:cNvPr id="55299" name="Rectangle 3"/>
          <p:cNvSpPr>
            <a:spLocks noGrp="1" noChangeArrowheads="1"/>
          </p:cNvSpPr>
          <p:nvPr>
            <p:ph type="body" idx="1"/>
          </p:nvPr>
        </p:nvSpPr>
        <p:spPr>
          <a:xfrm>
            <a:off x="179512" y="1981200"/>
            <a:ext cx="8964488" cy="4114800"/>
          </a:xfrm>
        </p:spPr>
        <p:txBody>
          <a:bodyPr/>
          <a:lstStyle/>
          <a:p>
            <a:pPr eaLnBrk="1" hangingPunct="1"/>
            <a:r>
              <a:rPr lang="zh-CN" altLang="en-US" sz="2400" dirty="0"/>
              <a:t>带着这些问题，各位回去仔细思考一下，</a:t>
            </a:r>
          </a:p>
          <a:p>
            <a:pPr eaLnBrk="1" hangingPunct="1"/>
            <a:r>
              <a:rPr lang="zh-CN" altLang="en-US" sz="2400" dirty="0"/>
              <a:t>请阅读信息安全相关的综述文章，寻找自己的研究兴趣点，或者项目应用兴趣点。</a:t>
            </a:r>
            <a:endParaRPr lang="en-US" altLang="zh-CN" sz="2400" dirty="0"/>
          </a:p>
          <a:p>
            <a:pPr eaLnBrk="1" hangingPunct="1"/>
            <a:endParaRPr lang="en-US" altLang="zh-CN" sz="2400" dirty="0"/>
          </a:p>
          <a:p>
            <a:pPr eaLnBrk="1" hangingPunct="1"/>
            <a:r>
              <a:rPr lang="zh-CN" altLang="en-US" sz="2400" dirty="0"/>
              <a:t>第三周上课，提交各自拟定的学期报告题目！</a:t>
            </a:r>
          </a:p>
          <a:p>
            <a:pPr eaLnBrk="1" hangingPunct="1"/>
            <a:endParaRPr lang="zh-CN" altLang="en-US" sz="2400" dirty="0"/>
          </a:p>
          <a:p>
            <a:pPr eaLnBrk="1" hangingPunct="1"/>
            <a:r>
              <a:rPr lang="zh-CN" altLang="en-US" sz="2400" dirty="0"/>
              <a:t>谢谢！</a:t>
            </a:r>
          </a:p>
        </p:txBody>
      </p:sp>
    </p:spTree>
    <p:extLst>
      <p:ext uri="{BB962C8B-B14F-4D97-AF65-F5344CB8AC3E}">
        <p14:creationId xmlns:p14="http://schemas.microsoft.com/office/powerpoint/2010/main" val="1863597381"/>
      </p:ext>
    </p:extLst>
  </p:cSld>
  <p:clrMapOvr>
    <a:masterClrMapping/>
  </p:clrMapOvr>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Arial"/>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742950" marR="0" indent="-285750" algn="l" defTabSz="914400" rtl="0" eaLnBrk="1" fontAlgn="base" latinLnBrk="0" hangingPunct="1">
          <a:lnSpc>
            <a:spcPct val="100000"/>
          </a:lnSpc>
          <a:spcBef>
            <a:spcPct val="20000"/>
          </a:spcBef>
          <a:spcAft>
            <a:spcPct val="0"/>
          </a:spcAft>
          <a:buClrTx/>
          <a:buSzTx/>
          <a:buFontTx/>
          <a:buChar char="–"/>
          <a:tabLst/>
          <a:defRPr kumimoji="1" lang="zh-CN" altLang="en-US" sz="2800" b="1" i="0" u="none" strike="noStrike" cap="none" normalizeH="0" baseline="0" smtClean="0">
            <a:ln>
              <a:noFill/>
            </a:ln>
            <a:solidFill>
              <a:schemeClr val="tx1"/>
            </a:solidFill>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742950" marR="0" indent="-285750" algn="l" defTabSz="914400" rtl="0" eaLnBrk="1" fontAlgn="base" latinLnBrk="0" hangingPunct="1">
          <a:lnSpc>
            <a:spcPct val="100000"/>
          </a:lnSpc>
          <a:spcBef>
            <a:spcPct val="20000"/>
          </a:spcBef>
          <a:spcAft>
            <a:spcPct val="0"/>
          </a:spcAft>
          <a:buClrTx/>
          <a:buSzTx/>
          <a:buFontTx/>
          <a:buChar char="–"/>
          <a:tabLst/>
          <a:defRPr kumimoji="1" lang="zh-CN" altLang="en-US" sz="2800" b="1" i="0" u="none" strike="noStrike" cap="none" normalizeH="0" baseline="0" smtClean="0">
            <a:ln>
              <a:noFill/>
            </a:ln>
            <a:solidFill>
              <a:schemeClr val="tx1"/>
            </a:solidFill>
            <a:effectLst/>
            <a:latin typeface="Times New Roman" pitchFamily="18" charset="0"/>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17393</TotalTime>
  <Words>4212</Words>
  <Application>Microsoft Office PowerPoint</Application>
  <PresentationFormat>全屏显示(4:3)</PresentationFormat>
  <Paragraphs>267</Paragraphs>
  <Slides>75</Slides>
  <Notes>18</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75</vt:i4>
      </vt:variant>
    </vt:vector>
  </HeadingPairs>
  <TitlesOfParts>
    <vt:vector size="86" baseType="lpstr">
      <vt:lpstr>黑体</vt:lpstr>
      <vt:lpstr>华文行楷</vt:lpstr>
      <vt:lpstr>楷体_GB2312</vt:lpstr>
      <vt:lpstr>宋体</vt:lpstr>
      <vt:lpstr>微软雅黑</vt:lpstr>
      <vt:lpstr>Arial</vt:lpstr>
      <vt:lpstr>Calibri</vt:lpstr>
      <vt:lpstr>Comic Sans MS</vt:lpstr>
      <vt:lpstr>Times New Roman</vt:lpstr>
      <vt:lpstr>Wingdings</vt:lpstr>
      <vt:lpstr>默认设计模板</vt:lpstr>
      <vt:lpstr>信息保护理论与技术</vt:lpstr>
      <vt:lpstr>课程介绍</vt:lpstr>
      <vt:lpstr>课程介绍</vt:lpstr>
      <vt:lpstr>课程学习参考书</vt:lpstr>
      <vt:lpstr>授课和考核方式</vt:lpstr>
      <vt:lpstr>教师联系地址</vt:lpstr>
      <vt:lpstr>第一章   网络空间安全概述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topedu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nqliu</dc:creator>
  <cp:lastModifiedBy>Yong Wang</cp:lastModifiedBy>
  <cp:revision>176</cp:revision>
  <dcterms:created xsi:type="dcterms:W3CDTF">2003-11-10T13:58:45Z</dcterms:created>
  <dcterms:modified xsi:type="dcterms:W3CDTF">2026-09-01T09:17:08Z</dcterms:modified>
</cp:coreProperties>
</file>