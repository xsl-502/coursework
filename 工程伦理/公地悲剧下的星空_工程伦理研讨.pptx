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c4e4fbc9f384c6f" /><Relationship Type="http://schemas.openxmlformats.org/officeDocument/2006/relationships/extended-properties" Target="/docProps/app.xml" Id="Ref95c43202754339" /><Relationship Type="http://schemas.openxmlformats.org/officeDocument/2006/relationships/officeDocument" Target="/ppt/presentation.xml" Id="R61558ef4909c436d" /></Relationships>
</file>

<file path=ppt/presentation.xml><?xml version="1.0" encoding="utf-8"?>
<p:presentation xmlns:p="http://schemas.openxmlformats.org/presentationml/2006/main">
  <p:sldMasterIdLst>
    <p:sldMasterId xmlns:r="http://schemas.openxmlformats.org/officeDocument/2006/relationships" id="2147483648" r:id="R220a319d2b034590"/>
  </p:sldMasterIdLst>
  <p:notesMasterIdLst>
    <p:notesMasterId xmlns:r="http://schemas.openxmlformats.org/officeDocument/2006/relationships" r:id="Rb5d076af554845c5"/>
  </p:notesMasterIdLst>
  <p:sldIdLst>
    <p:sldId xmlns:r="http://schemas.openxmlformats.org/officeDocument/2006/relationships" id="256" r:id="Readea3a5971b4b9b"/>
    <p:sldId xmlns:r="http://schemas.openxmlformats.org/officeDocument/2006/relationships" id="257" r:id="Rb121568628da473d"/>
    <p:sldId xmlns:r="http://schemas.openxmlformats.org/officeDocument/2006/relationships" id="258" r:id="R720f4fb80d3d4697"/>
    <p:sldId xmlns:r="http://schemas.openxmlformats.org/officeDocument/2006/relationships" id="259" r:id="R427bb1cc0a69402a"/>
    <p:sldId xmlns:r="http://schemas.openxmlformats.org/officeDocument/2006/relationships" id="260" r:id="R42b20f80957c483a"/>
    <p:sldId xmlns:r="http://schemas.openxmlformats.org/officeDocument/2006/relationships" id="261" r:id="R0dc4e345dddd407f"/>
    <p:sldId xmlns:r="http://schemas.openxmlformats.org/officeDocument/2006/relationships" id="262" r:id="R41a31abf4ecd427c"/>
    <p:sldId xmlns:r="http://schemas.openxmlformats.org/officeDocument/2006/relationships" id="263" r:id="Rcc60a8a2d1b94798"/>
    <p:sldId xmlns:r="http://schemas.openxmlformats.org/officeDocument/2006/relationships" id="264" r:id="R9552ca041fc14a90"/>
    <p:sldId xmlns:r="http://schemas.openxmlformats.org/officeDocument/2006/relationships" id="265" r:id="Rc3efc988e8f04a4e"/>
    <p:sldId xmlns:r="http://schemas.openxmlformats.org/officeDocument/2006/relationships" id="266" r:id="R75ec230d999b42d5"/>
    <p:sldId xmlns:r="http://schemas.openxmlformats.org/officeDocument/2006/relationships" id="267" r:id="R4c3a583d096141c0"/>
    <p:sldId xmlns:r="http://schemas.openxmlformats.org/officeDocument/2006/relationships" id="268" r:id="R7e8ff2d370c746b5"/>
    <p:sldId xmlns:r="http://schemas.openxmlformats.org/officeDocument/2006/relationships" id="269" r:id="R4b43e575b053415e"/>
    <p:sldId xmlns:r="http://schemas.openxmlformats.org/officeDocument/2006/relationships" id="270" r:id="R77fd0c78502b4908"/>
    <p:sldId xmlns:r="http://schemas.openxmlformats.org/officeDocument/2006/relationships" id="271" r:id="R4b066aa5986a48f6"/>
    <p:sldId xmlns:r="http://schemas.openxmlformats.org/officeDocument/2006/relationships" id="272" r:id="Re1c53738534a45c0"/>
    <p:sldId xmlns:r="http://schemas.openxmlformats.org/officeDocument/2006/relationships" id="273" r:id="R2611cbbfae74482d"/>
    <p:sldId xmlns:r="http://schemas.openxmlformats.org/officeDocument/2006/relationships" id="274" r:id="R4000678ac05e491c"/>
    <p:sldId xmlns:r="http://schemas.openxmlformats.org/officeDocument/2006/relationships" id="275" r:id="R927bd0d3a9f74221"/>
    <p:sldId xmlns:r="http://schemas.openxmlformats.org/officeDocument/2006/relationships" id="276" r:id="R8f245a3511e54489"/>
    <p:sldId xmlns:r="http://schemas.openxmlformats.org/officeDocument/2006/relationships" id="277" r:id="R301050384afe440e"/>
    <p:sldId xmlns:r="http://schemas.openxmlformats.org/officeDocument/2006/relationships" id="278" r:id="R1d1ff20e6e1840c0"/>
    <p:sldId xmlns:r="http://schemas.openxmlformats.org/officeDocument/2006/relationships" id="279" r:id="R9b00e0df35494548"/>
    <p:sldId xmlns:r="http://schemas.openxmlformats.org/officeDocument/2006/relationships" id="280" r:id="R524f57d955a84609"/>
    <p:sldId xmlns:r="http://schemas.openxmlformats.org/officeDocument/2006/relationships" id="281" r:id="R52bd060382454563"/>
    <p:sldId xmlns:r="http://schemas.openxmlformats.org/officeDocument/2006/relationships" id="282" r:id="R9a27f0bc023c46d5"/>
    <p:sldId xmlns:r="http://schemas.openxmlformats.org/officeDocument/2006/relationships" id="283" r:id="R881169df44244d2d"/>
    <p:sldId xmlns:r="http://schemas.openxmlformats.org/officeDocument/2006/relationships" id="284" r:id="R60334295de054c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90d59b6ede59475d" /><Relationship Type="http://schemas.openxmlformats.org/officeDocument/2006/relationships/slideMaster" Target="/ppt/slideMasters/slideMaster1.xml" Id="R220a319d2b034590" /><Relationship Type="http://schemas.openxmlformats.org/officeDocument/2006/relationships/notesMaster" Target="/ppt/notesMasters/notesMaster1.xml" Id="Rb5d076af554845c5" /><Relationship Type="http://schemas.openxmlformats.org/officeDocument/2006/relationships/presProps" Target="/ppt/presProps.xml" Id="R0f20c64e2755446b" /><Relationship Type="http://schemas.openxmlformats.org/officeDocument/2006/relationships/viewProps" Target="/ppt/viewProps.xml" Id="Rdd78697bd78d4269" /><Relationship Type="http://schemas.openxmlformats.org/officeDocument/2006/relationships/tableStyles" Target="/ppt/tableStyles.xml" Id="Rf232399f6c964d34" /><Relationship Type="http://schemas.openxmlformats.org/officeDocument/2006/relationships/slide" Target="/ppt/slides/slide1.xml" Id="Readea3a5971b4b9b" /><Relationship Type="http://schemas.openxmlformats.org/officeDocument/2006/relationships/slide" Target="/ppt/slides/slide2.xml" Id="Rb121568628da473d" /><Relationship Type="http://schemas.openxmlformats.org/officeDocument/2006/relationships/slide" Target="/ppt/slides/slide3.xml" Id="R720f4fb80d3d4697" /><Relationship Type="http://schemas.openxmlformats.org/officeDocument/2006/relationships/slide" Target="/ppt/slides/slide4.xml" Id="R427bb1cc0a69402a" /><Relationship Type="http://schemas.openxmlformats.org/officeDocument/2006/relationships/slide" Target="/ppt/slides/slide5.xml" Id="R42b20f80957c483a" /><Relationship Type="http://schemas.openxmlformats.org/officeDocument/2006/relationships/slide" Target="/ppt/slides/slide6.xml" Id="R0dc4e345dddd407f" /><Relationship Type="http://schemas.openxmlformats.org/officeDocument/2006/relationships/slide" Target="/ppt/slides/slide7.xml" Id="R41a31abf4ecd427c" /><Relationship Type="http://schemas.openxmlformats.org/officeDocument/2006/relationships/slide" Target="/ppt/slides/slide8.xml" Id="Rcc60a8a2d1b94798" /><Relationship Type="http://schemas.openxmlformats.org/officeDocument/2006/relationships/slide" Target="/ppt/slides/slide9.xml" Id="R9552ca041fc14a90" /><Relationship Type="http://schemas.openxmlformats.org/officeDocument/2006/relationships/slide" Target="/ppt/slides/slide10.xml" Id="Rc3efc988e8f04a4e" /><Relationship Type="http://schemas.openxmlformats.org/officeDocument/2006/relationships/slide" Target="/ppt/slides/slide11.xml" Id="R75ec230d999b42d5" /><Relationship Type="http://schemas.openxmlformats.org/officeDocument/2006/relationships/slide" Target="/ppt/slides/slide12.xml" Id="R4c3a583d096141c0" /><Relationship Type="http://schemas.openxmlformats.org/officeDocument/2006/relationships/slide" Target="/ppt/slides/slide13.xml" Id="R7e8ff2d370c746b5" /><Relationship Type="http://schemas.openxmlformats.org/officeDocument/2006/relationships/slide" Target="/ppt/slides/slide14.xml" Id="R4b43e575b053415e" /><Relationship Type="http://schemas.openxmlformats.org/officeDocument/2006/relationships/slide" Target="/ppt/slides/slide15.xml" Id="R77fd0c78502b4908" /><Relationship Type="http://schemas.openxmlformats.org/officeDocument/2006/relationships/slide" Target="/ppt/slides/slide16.xml" Id="R4b066aa5986a48f6" /><Relationship Type="http://schemas.openxmlformats.org/officeDocument/2006/relationships/slide" Target="/ppt/slides/slide17.xml" Id="Re1c53738534a45c0" /><Relationship Type="http://schemas.openxmlformats.org/officeDocument/2006/relationships/slide" Target="/ppt/slides/slide18.xml" Id="R2611cbbfae74482d" /><Relationship Type="http://schemas.openxmlformats.org/officeDocument/2006/relationships/slide" Target="/ppt/slides/slide19.xml" Id="R4000678ac05e491c" /><Relationship Type="http://schemas.openxmlformats.org/officeDocument/2006/relationships/slide" Target="/ppt/slides/slide20.xml" Id="R927bd0d3a9f74221" /><Relationship Type="http://schemas.openxmlformats.org/officeDocument/2006/relationships/slide" Target="/ppt/slides/slide21.xml" Id="R8f245a3511e54489" /><Relationship Type="http://schemas.openxmlformats.org/officeDocument/2006/relationships/slide" Target="/ppt/slides/slide22.xml" Id="R301050384afe440e" /><Relationship Type="http://schemas.openxmlformats.org/officeDocument/2006/relationships/slide" Target="/ppt/slides/slide23.xml" Id="R1d1ff20e6e1840c0" /><Relationship Type="http://schemas.openxmlformats.org/officeDocument/2006/relationships/slide" Target="/ppt/slides/slide24.xml" Id="R9b00e0df35494548" /><Relationship Type="http://schemas.openxmlformats.org/officeDocument/2006/relationships/slide" Target="/ppt/slides/slide25.xml" Id="R524f57d955a84609" /><Relationship Type="http://schemas.openxmlformats.org/officeDocument/2006/relationships/slide" Target="/ppt/slides/slide26.xml" Id="R52bd060382454563" /><Relationship Type="http://schemas.openxmlformats.org/officeDocument/2006/relationships/slide" Target="/ppt/slides/slide27.xml" Id="R9a27f0bc023c46d5" /><Relationship Type="http://schemas.openxmlformats.org/officeDocument/2006/relationships/slide" Target="/ppt/slides/slide28.xml" Id="R881169df44244d2d" /><Relationship Type="http://schemas.openxmlformats.org/officeDocument/2006/relationships/slide" Target="/ppt/slides/slide29.xml" Id="R60334295de054c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c0bd8ddb424f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主题5">
  <a:themeElements>
    <a:clrScheme name="四月主题色">
      <a:dk1>
        <a:srgbClr val="000000"/>
      </a:dk1>
      <a:lt1>
        <a:srgbClr val="FFFFFF"/>
      </a:lt1>
      <a:dk2>
        <a:srgbClr val="778495"/>
      </a:dk2>
      <a:lt2>
        <a:srgbClr val="F0F0F0"/>
      </a:lt2>
      <a:accent1>
        <a:srgbClr val="003478"/>
      </a:accent1>
      <a:accent2>
        <a:srgbClr val="F08300"/>
      </a:accent2>
      <a:accent3>
        <a:srgbClr val="5063F8"/>
      </a:accent3>
      <a:accent4>
        <a:srgbClr val="AFBBCF"/>
      </a:accent4>
      <a:accent5>
        <a:srgbClr val="343D74"/>
      </a:accent5>
      <a:accent6>
        <a:srgbClr val="778495"/>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四月主题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c27daa0e3c4c7b" /><Relationship Type="http://schemas.openxmlformats.org/officeDocument/2006/relationships/notesMaster" Target="/ppt/notesMasters/notesMaster1.xml" Id="R9c601bb72b1649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d73a82838646d4" /><Relationship Type="http://schemas.openxmlformats.org/officeDocument/2006/relationships/notesMaster" Target="/ppt/notesMasters/notesMaster1.xml" Id="R85d8a2c7c3774c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2864ad155e41df" /><Relationship Type="http://schemas.openxmlformats.org/officeDocument/2006/relationships/notesMaster" Target="/ppt/notesMasters/notesMaster1.xml" Id="R746b969f63d847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0920745aab49e4" /><Relationship Type="http://schemas.openxmlformats.org/officeDocument/2006/relationships/notesMaster" Target="/ppt/notesMasters/notesMaster1.xml" Id="R335c11ee995947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49f25d55ee4ac7" /><Relationship Type="http://schemas.openxmlformats.org/officeDocument/2006/relationships/notesMaster" Target="/ppt/notesMasters/notesMaster1.xml" Id="R6ee482f88a5748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693e0582e6412e" /><Relationship Type="http://schemas.openxmlformats.org/officeDocument/2006/relationships/notesMaster" Target="/ppt/notesMasters/notesMaster1.xml" Id="R0327deb812c549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75e1bdc28443de" /><Relationship Type="http://schemas.openxmlformats.org/officeDocument/2006/relationships/notesMaster" Target="/ppt/notesMasters/notesMaster1.xml" Id="R5f29a63a3d044f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92174b6ddb4214" /><Relationship Type="http://schemas.openxmlformats.org/officeDocument/2006/relationships/notesMaster" Target="/ppt/notesMasters/notesMaster1.xml" Id="R296599cb58d344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2455c804954b09" /><Relationship Type="http://schemas.openxmlformats.org/officeDocument/2006/relationships/notesMaster" Target="/ppt/notesMasters/notesMaster1.xml" Id="R742da361a08e4d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eeebfcf089436a" /><Relationship Type="http://schemas.openxmlformats.org/officeDocument/2006/relationships/notesMaster" Target="/ppt/notesMasters/notesMaster1.xml" Id="R5d082b74b52d4b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1fe37c9fbf4e18" /><Relationship Type="http://schemas.openxmlformats.org/officeDocument/2006/relationships/notesMaster" Target="/ppt/notesMasters/notesMaster1.xml" Id="Rba5af533912542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03cac6d2ca4923" /><Relationship Type="http://schemas.openxmlformats.org/officeDocument/2006/relationships/notesMaster" Target="/ppt/notesMasters/notesMaster1.xml" Id="R639aca7f7e8c46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1eb936f8a74641" /><Relationship Type="http://schemas.openxmlformats.org/officeDocument/2006/relationships/notesMaster" Target="/ppt/notesMasters/notesMaster1.xml" Id="R10fce94b868d431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c3a1d8aa1f4665" /><Relationship Type="http://schemas.openxmlformats.org/officeDocument/2006/relationships/notesMaster" Target="/ppt/notesMasters/notesMaster1.xml" Id="R4d443f8648324c6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b8a4749882042c7" /><Relationship Type="http://schemas.openxmlformats.org/officeDocument/2006/relationships/notesMaster" Target="/ppt/notesMasters/notesMaster1.xml" Id="R1736dd409e6643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32ae48a59eb4842" /><Relationship Type="http://schemas.openxmlformats.org/officeDocument/2006/relationships/notesMaster" Target="/ppt/notesMasters/notesMaster1.xml" Id="R1c0e41e7ddc141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9233e2fa934b11" /><Relationship Type="http://schemas.openxmlformats.org/officeDocument/2006/relationships/notesMaster" Target="/ppt/notesMasters/notesMaster1.xml" Id="R29e78ee27656412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2149a8783c641dd" /><Relationship Type="http://schemas.openxmlformats.org/officeDocument/2006/relationships/notesMaster" Target="/ppt/notesMasters/notesMaster1.xml" Id="R1d75bc6039af47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bec0205029f43ef" /><Relationship Type="http://schemas.openxmlformats.org/officeDocument/2006/relationships/notesMaster" Target="/ppt/notesMasters/notesMaster1.xml" Id="R15bc8072820641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88c5d0bab814bfe" /><Relationship Type="http://schemas.openxmlformats.org/officeDocument/2006/relationships/notesMaster" Target="/ppt/notesMasters/notesMaster1.xml" Id="R260611d731fc43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9cac10e26b845c0" /><Relationship Type="http://schemas.openxmlformats.org/officeDocument/2006/relationships/notesMaster" Target="/ppt/notesMasters/notesMaster1.xml" Id="R869664e4890f428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fa758a57cc94c1a" /><Relationship Type="http://schemas.openxmlformats.org/officeDocument/2006/relationships/notesMaster" Target="/ppt/notesMasters/notesMaster1.xml" Id="R31cafb64bf79442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f94d50173964070" /><Relationship Type="http://schemas.openxmlformats.org/officeDocument/2006/relationships/notesMaster" Target="/ppt/notesMasters/notesMaster1.xml" Id="Rbb5bcc35e7834b7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205df2493ac4eb8" /><Relationship Type="http://schemas.openxmlformats.org/officeDocument/2006/relationships/notesMaster" Target="/ppt/notesMasters/notesMaster1.xml" Id="Re74eb0612c55499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c2a18c686ff450b" /><Relationship Type="http://schemas.openxmlformats.org/officeDocument/2006/relationships/notesMaster" Target="/ppt/notesMasters/notesMaster1.xml" Id="Ree1a5ec9b5dc44a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ec6debac9cb4b75" /><Relationship Type="http://schemas.openxmlformats.org/officeDocument/2006/relationships/notesMaster" Target="/ppt/notesMasters/notesMaster1.xml" Id="Rec81c0b6300d462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d1ca17c18444f9e" /><Relationship Type="http://schemas.openxmlformats.org/officeDocument/2006/relationships/notesMaster" Target="/ppt/notesMasters/notesMaster1.xml" Id="Raa6afef6daee4b0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5b60f4746304599" /><Relationship Type="http://schemas.openxmlformats.org/officeDocument/2006/relationships/notesMaster" Target="/ppt/notesMasters/notesMaster1.xml" Id="Re18813820ab843b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1f9cf20f1284162" /><Relationship Type="http://schemas.openxmlformats.org/officeDocument/2006/relationships/notesMaster" Target="/ppt/notesMasters/notesMaster1.xml" Id="R9f9299ca69074a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汇报标题：“公地悲剧”下的星空：巨型星座计划引发的空间碎片伦理危机</a:t>
            </a:r>
          </a:p>
          <a:p xmlns:a="http://schemas.openxmlformats.org/drawingml/2006/main">
            <a:r>
              <a:t>副标题是治理失败的警示情景。组号和日期沿用待填信息。共27页正文，另含封面与目录。模板：用户提供的电子科技大学PPT模板。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九个角色依次展开，每部分三页。页码以正文1—27编号，对应文件第3—29页。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正文第1页　主持人</a:t>
            </a:r>
          </a:p>
          <a:p xmlns:a="http://schemas.openxmlformats.org/drawingml/2006/main">
            <a:r>
              <a:t>开场与命题提出</a:t>
            </a:r>
          </a:p>
          <a:p xmlns:a="http://schemas.openxmlformats.org/drawingml/2006/main">
            <a:r>
              <a:t/>
            </a:r>
          </a:p>
          <a:p xmlns:a="http://schemas.openxmlformats.org/drawingml/2006/main">
            <a:r>
              <a:t>讲解补充</a:t>
            </a:r>
          </a:p>
          <a:p xmlns:a="http://schemas.openxmlformats.org/drawingml/2006/main">
            <a:r>
              <a:t>本次采用多角色圆桌研讨。先承认商业航天的社会价值，再讨论新增活动的成本由谁承担。副标题“一场没有赢家的轨道圈地运动”是对治理失败的警示情景，不表示每位当下用户均未获益。不要将空间环境风险讲成灾难已经全面发生。</a:t>
            </a:r>
          </a:p>
          <a:p xmlns:a="http://schemas.openxmlformats.org/drawingml/2006/main">
            <a:r>
              <a:t/>
            </a:r>
          </a:p>
          <a:p xmlns:a="http://schemas.openxmlformats.org/drawingml/2006/main">
            <a:r>
              <a:t>资料来源</a:t>
            </a:r>
          </a:p>
          <a:p xmlns:a="http://schemas.openxmlformats.org/drawingml/2006/main">
            <a:r>
              <a:t>Hardin, Science (1968)</a:t>
            </a:r>
          </a:p>
          <a:p xmlns:a="http://schemas.openxmlformats.org/drawingml/2006/main">
            <a:r>
              <a:t>https://doi.org/10.1126/science.162.3859.1243</a:t>
            </a:r>
          </a:p>
          <a:p xmlns:a="http://schemas.openxmlformats.org/drawingml/2006/main">
            <a:r>
              <a:t/>
            </a:r>
          </a:p>
          <a:p xmlns:a="http://schemas.openxmlformats.org/drawingml/2006/main">
            <a:r>
              <a:t>ESA Space Environment Report 2025</a:t>
            </a:r>
          </a:p>
          <a:p xmlns:a="http://schemas.openxmlformats.org/drawingml/2006/main">
            <a:r>
              <a:t>https://www.esa.int/Space_Safety/Space_Debris/ESA_Space_Environment_Report_2025</a:t>
            </a:r>
          </a:p>
          <a:p xmlns:a="http://schemas.openxmlformats.org/drawingml/2006/main">
            <a:r>
              <a:t/>
            </a:r>
          </a:p>
          <a:p xmlns:a="http://schemas.openxmlformats.org/drawingml/2006/main">
            <a:r>
              <a:t>F. Kamphues, ESO/M. Kornmesser，2025-10-15一小时叠加图</a:t>
            </a:r>
          </a:p>
          <a:p xmlns:a="http://schemas.openxmlformats.org/drawingml/2006/main">
            <a:r>
              <a:t>https://www.eso.org/public/images/eso2607a/</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正文第2页　主持人</a:t>
            </a:r>
          </a:p>
          <a:p xmlns:a="http://schemas.openxmlformats.org/drawingml/2006/main">
            <a:r>
              <a:t>理论框架：哈丁“公地悲剧”</a:t>
            </a:r>
          </a:p>
          <a:p xmlns:a="http://schemas.openxmlformats.org/drawingml/2006/main">
            <a:r>
              <a:t/>
            </a:r>
          </a:p>
          <a:p xmlns:a="http://schemas.openxmlformats.org/drawingml/2006/main">
            <a:r>
              <a:t>讲解补充</a:t>
            </a:r>
          </a:p>
          <a:p xmlns:a="http://schemas.openxmlformats.org/drawingml/2006/main">
            <a:r>
              <a:t>哈丁模型分析的是缺乏有效共同管理时的激励问题，悲剧不是公地的必然结局。近地轨道不是“完全无准入门槛”：国家许可、频谱协调和部分离轨要求已经存在。凯斯勒效应随高度和时间尺度而异，不能据此宣布全球轨道已到同一临界点或人类即将无法离开地球。</a:t>
            </a:r>
          </a:p>
          <a:p xmlns:a="http://schemas.openxmlformats.org/drawingml/2006/main">
            <a:r>
              <a:t/>
            </a:r>
          </a:p>
          <a:p xmlns:a="http://schemas.openxmlformats.org/drawingml/2006/main">
            <a:r>
              <a:t>资料来源</a:t>
            </a:r>
          </a:p>
          <a:p xmlns:a="http://schemas.openxmlformats.org/drawingml/2006/main">
            <a:r>
              <a:t>Hardin, Science (1968)</a:t>
            </a:r>
          </a:p>
          <a:p xmlns:a="http://schemas.openxmlformats.org/drawingml/2006/main">
            <a:r>
              <a:t>https://doi.org/10.1126/science.162.3859.1243</a:t>
            </a:r>
          </a:p>
          <a:p xmlns:a="http://schemas.openxmlformats.org/drawingml/2006/main">
            <a:r>
              <a:t/>
            </a:r>
          </a:p>
          <a:p xmlns:a="http://schemas.openxmlformats.org/drawingml/2006/main">
            <a:r>
              <a:t>UNOOSA，《外空条约》全文</a:t>
            </a:r>
          </a:p>
          <a:p xmlns:a="http://schemas.openxmlformats.org/drawingml/2006/main">
            <a:r>
              <a:t>https://www.unoosa.org/oosa/en/ourwork/spacelaw/treaties/outerspacetreaty.html</a:t>
            </a:r>
          </a:p>
          <a:p xmlns:a="http://schemas.openxmlformats.org/drawingml/2006/main">
            <a:r>
              <a:t/>
            </a:r>
          </a:p>
          <a:p xmlns:a="http://schemas.openxmlformats.org/drawingml/2006/main">
            <a:r>
              <a:t>FCC，低轨卫星五年离轨规则，2022-09-29</a:t>
            </a:r>
          </a:p>
          <a:p xmlns:a="http://schemas.openxmlformats.org/drawingml/2006/main">
            <a:r>
              <a:t>https://docs.fcc.gov/public/attachments/DOC-387720A1.pdf</a:t>
            </a:r>
          </a:p>
          <a:p xmlns:a="http://schemas.openxmlformats.org/drawingml/2006/main">
            <a:r>
              <a:t/>
            </a:r>
          </a:p>
          <a:p xmlns:a="http://schemas.openxmlformats.org/drawingml/2006/main">
            <a:r>
              <a:t>ESA Space Environment Report 2025</a:t>
            </a:r>
          </a:p>
          <a:p xmlns:a="http://schemas.openxmlformats.org/drawingml/2006/main">
            <a:r>
              <a:t>https://www.esa.int/Space_Safety/Space_Debris/ESA_Space_Environment_Report_2025</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正文第3页　主持人</a:t>
            </a:r>
          </a:p>
          <a:p xmlns:a="http://schemas.openxmlformats.org/drawingml/2006/main">
            <a:r>
              <a:t>议程与角色分工</a:t>
            </a:r>
          </a:p>
          <a:p xmlns:a="http://schemas.openxmlformats.org/drawingml/2006/main">
            <a:r>
              <a:t/>
            </a:r>
          </a:p>
          <a:p xmlns:a="http://schemas.openxmlformats.org/drawingml/2006/main">
            <a:r>
              <a:t>讲解补充</a:t>
            </a:r>
          </a:p>
          <a:p xmlns:a="http://schemas.openxmlformats.org/drawingml/2006/main">
            <a:r>
              <a:t>各角色的三页分别承担问题定义、证据展开和判断或建议，避免反复陈述同一结论。微软仅作为平台责任的比较案例，不能直接列作空间碎片事件责任方。</a:t>
            </a:r>
          </a:p>
          <a:p xmlns:a="http://schemas.openxmlformats.org/drawingml/2006/main">
            <a:r>
              <a:t/>
            </a:r>
          </a:p>
          <a:p xmlns:a="http://schemas.openxmlformats.org/drawingml/2006/main">
            <a:r>
              <a:t>资料来源</a:t>
            </a:r>
          </a:p>
          <a:p xmlns:a="http://schemas.openxmlformats.org/drawingml/2006/main">
            <a:r>
              <a:t>根据课程大纲与本组分析整理。</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正文第4页　调查组负责人</a:t>
            </a:r>
          </a:p>
          <a:p xmlns:a="http://schemas.openxmlformats.org/drawingml/2006/main">
            <a:r>
              <a:t>案例背景：巨型星座的“圈地运动”</a:t>
            </a:r>
          </a:p>
          <a:p xmlns:a="http://schemas.openxmlformats.org/drawingml/2006/main">
            <a:r>
              <a:t/>
            </a:r>
          </a:p>
          <a:p xmlns:a="http://schemas.openxmlformats.org/drawingml/2006/main">
            <a:r>
              <a:t>讲解补充</a:t>
            </a:r>
          </a:p>
          <a:p xmlns:a="http://schemas.openxmlformats.org/drawingml/2006/main">
            <a:r>
              <a:t>传统通信星座还包括Amazon Kuiper、中国国网与OneWeb等。大纲中34,400颗涉及不同代际和申请口径，不宜作为现行统一许可数。这里强调规模层级而不把不同时间的快照直接相加。“先到先得”描述抢占部署与商业优势的激励，不意味着获得轨道所有权。万颗级规模是量级表述，不作为实时精确统计。</a:t>
            </a:r>
          </a:p>
          <a:p xmlns:a="http://schemas.openxmlformats.org/drawingml/2006/main">
            <a:r>
              <a:t/>
            </a:r>
          </a:p>
          <a:p xmlns:a="http://schemas.openxmlformats.org/drawingml/2006/main">
            <a:r>
              <a:t>资料来源</a:t>
            </a:r>
          </a:p>
          <a:p xmlns:a="http://schemas.openxmlformats.org/drawingml/2006/main">
            <a:r>
              <a:t>SpaceX Gen1/Gen2 半年报，2026-07-01（原报告公开镜像）</a:t>
            </a:r>
          </a:p>
          <a:p xmlns:a="http://schemas.openxmlformats.org/drawingml/2006/main">
            <a:r>
              <a:t>https://www.scribd.com/document/1057502572/SpaceX-Gen1-Gen2-Semi-Annual-Report-7-1-26</a:t>
            </a:r>
          </a:p>
          <a:p xmlns:a="http://schemas.openxmlformats.org/drawingml/2006/main">
            <a:r>
              <a:t/>
            </a:r>
          </a:p>
          <a:p xmlns:a="http://schemas.openxmlformats.org/drawingml/2006/main">
            <a:r>
              <a:t>FCC，DA 26-113，2026-02-04</a:t>
            </a:r>
          </a:p>
          <a:p xmlns:a="http://schemas.openxmlformats.org/drawingml/2006/main">
            <a:r>
              <a:t>https://docs.fcc.gov/public/attachments/DA-26-113A1.pdf</a:t>
            </a:r>
          </a:p>
          <a:p xmlns:a="http://schemas.openxmlformats.org/drawingml/2006/main">
            <a:r>
              <a:t/>
            </a:r>
          </a:p>
          <a:p xmlns:a="http://schemas.openxmlformats.org/drawingml/2006/main">
            <a:r>
              <a:t>Hainaut (2026)，arXiv:2604.09427</a:t>
            </a:r>
          </a:p>
          <a:p xmlns:a="http://schemas.openxmlformats.org/drawingml/2006/main">
            <a:r>
              <a:t>https://arxiv.org/abs/2604.09427</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正文第5页　调查组负责人</a:t>
            </a:r>
          </a:p>
          <a:p xmlns:a="http://schemas.openxmlformats.org/drawingml/2006/main">
            <a:r>
              <a:t>危机时间线复盘</a:t>
            </a:r>
          </a:p>
          <a:p xmlns:a="http://schemas.openxmlformats.org/drawingml/2006/main">
            <a:r>
              <a:t/>
            </a:r>
          </a:p>
          <a:p xmlns:a="http://schemas.openxmlformats.org/drawingml/2006/main">
            <a:r>
              <a:t>讲解补充</a:t>
            </a:r>
          </a:p>
          <a:p xmlns:a="http://schemas.openxmlformats.org/drawingml/2006/main">
            <a:r>
              <a:t>207,152明确对应2025年12月1日至2026年5月31日，不应笼统标为2024—2026。2019年Aeolus事件没有发生碰撞。新系统同时可能降低风险和增加平台依赖，应分别评估。机动总数受到卫星数量、阈值、数据质量、第三方轨迹和统计方式共同影响。</a:t>
            </a:r>
          </a:p>
          <a:p xmlns:a="http://schemas.openxmlformats.org/drawingml/2006/main">
            <a:r>
              <a:t/>
            </a:r>
          </a:p>
          <a:p xmlns:a="http://schemas.openxmlformats.org/drawingml/2006/main">
            <a:r>
              <a:t>资料来源</a:t>
            </a:r>
          </a:p>
          <a:p xmlns:a="http://schemas.openxmlformats.org/drawingml/2006/main">
            <a:r>
              <a:t>Victoria Girgis / Lowell Observatory，2019-05-25，IAU图片</a:t>
            </a:r>
          </a:p>
          <a:p xmlns:a="http://schemas.openxmlformats.org/drawingml/2006/main">
            <a:r>
              <a:t>https://iauarchive.eso.org/public/images/detail/ann19035a/</a:t>
            </a:r>
          </a:p>
          <a:p xmlns:a="http://schemas.openxmlformats.org/drawingml/2006/main">
            <a:r>
              <a:t/>
            </a:r>
          </a:p>
          <a:p xmlns:a="http://schemas.openxmlformats.org/drawingml/2006/main">
            <a:r>
              <a:t>ESA，Aeolus 避碰事件，2019-09-03</a:t>
            </a:r>
          </a:p>
          <a:p xmlns:a="http://schemas.openxmlformats.org/drawingml/2006/main">
            <a:r>
              <a:t>https://www.esa.int/Space_Safety/ESA_spacecraft_dodges_large_constellation</a:t>
            </a:r>
          </a:p>
          <a:p xmlns:a="http://schemas.openxmlformats.org/drawingml/2006/main">
            <a:r>
              <a:t/>
            </a:r>
          </a:p>
          <a:p xmlns:a="http://schemas.openxmlformats.org/drawingml/2006/main">
            <a:r>
              <a:t>SpaceX Gen1/Gen2 半年报，2026-07-01（原报告公开镜像）</a:t>
            </a:r>
          </a:p>
          <a:p xmlns:a="http://schemas.openxmlformats.org/drawingml/2006/main">
            <a:r>
              <a:t>https://www.scribd.com/document/1057502572/SpaceX-Gen1-Gen2-Semi-Annual-Report-7-1-26</a:t>
            </a:r>
          </a:p>
          <a:p xmlns:a="http://schemas.openxmlformats.org/drawingml/2006/main">
            <a:r>
              <a:t/>
            </a:r>
          </a:p>
          <a:p xmlns:a="http://schemas.openxmlformats.org/drawingml/2006/main">
            <a:r>
              <a:t>FCC，DA 26-113，2026-02-04</a:t>
            </a:r>
          </a:p>
          <a:p xmlns:a="http://schemas.openxmlformats.org/drawingml/2006/main">
            <a:r>
              <a:t>https://docs.fcc.gov/public/attachments/DA-26-113A1.pdf</a:t>
            </a:r>
          </a:p>
          <a:p xmlns:a="http://schemas.openxmlformats.org/drawingml/2006/main">
            <a:r>
              <a:t/>
            </a:r>
          </a:p>
          <a:p xmlns:a="http://schemas.openxmlformats.org/drawingml/2006/main">
            <a:r>
              <a:t>SpaceX / Starlink，Stargaze 系统说明</a:t>
            </a:r>
          </a:p>
          <a:p xmlns:a="http://schemas.openxmlformats.org/drawingml/2006/main">
            <a:r>
              <a:t>https://starlink.com/al/updates/stargaze</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正文第6页　调查组负责人</a:t>
            </a:r>
          </a:p>
          <a:p xmlns:a="http://schemas.openxmlformats.org/drawingml/2006/main">
            <a:r>
              <a:t>关键数据：风险需要分层解读</a:t>
            </a:r>
          </a:p>
          <a:p xmlns:a="http://schemas.openxmlformats.org/drawingml/2006/main">
            <a:r>
              <a:t/>
            </a:r>
          </a:p>
          <a:p xmlns:a="http://schemas.openxmlformats.org/drawingml/2006/main">
            <a:r>
              <a:t>讲解补充</a:t>
            </a:r>
          </a:p>
          <a:p xmlns:a="http://schemas.openxmlformats.org/drawingml/2006/main">
            <a:r>
              <a:t>按SpaceX报告口径，1×10⁻⁴除以3×10⁻⁷约为333，表示触发阈值更保守，不能说最终系统风险因此低333倍。ESA数字是模型估算。机动不是一次原本必然发生的撞击。Delta经济损失类比集中在第11页说明，不将其混写成航天领域的现有损失。</a:t>
            </a:r>
          </a:p>
          <a:p xmlns:a="http://schemas.openxmlformats.org/drawingml/2006/main">
            <a:r>
              <a:t/>
            </a:r>
          </a:p>
          <a:p xmlns:a="http://schemas.openxmlformats.org/drawingml/2006/main">
            <a:r>
              <a:t>资料来源</a:t>
            </a:r>
          </a:p>
          <a:p xmlns:a="http://schemas.openxmlformats.org/drawingml/2006/main">
            <a:r>
              <a:t>SpaceX Gen1/Gen2 半年报，2026-07-01（原报告公开镜像）</a:t>
            </a:r>
          </a:p>
          <a:p xmlns:a="http://schemas.openxmlformats.org/drawingml/2006/main">
            <a:r>
              <a:t>https://www.scribd.com/document/1057502572/SpaceX-Gen1-Gen2-Semi-Annual-Report-7-1-26</a:t>
            </a:r>
          </a:p>
          <a:p xmlns:a="http://schemas.openxmlformats.org/drawingml/2006/main">
            <a:r>
              <a:t/>
            </a:r>
          </a:p>
          <a:p xmlns:a="http://schemas.openxmlformats.org/drawingml/2006/main">
            <a:r>
              <a:t>Starlink Collision Avoidance CONOPS，访问于2026-09-29</a:t>
            </a:r>
          </a:p>
          <a:p xmlns:a="http://schemas.openxmlformats.org/drawingml/2006/main">
            <a:r>
              <a:t>https://space-safety.starlink.com/docs/space-safety-articles/starlink_cola_conops/</a:t>
            </a:r>
          </a:p>
          <a:p xmlns:a="http://schemas.openxmlformats.org/drawingml/2006/main">
            <a:r>
              <a:t/>
            </a:r>
          </a:p>
          <a:p xmlns:a="http://schemas.openxmlformats.org/drawingml/2006/main">
            <a:r>
              <a:t>ESA Space Environment Report 2025</a:t>
            </a:r>
          </a:p>
          <a:p xmlns:a="http://schemas.openxmlformats.org/drawingml/2006/main">
            <a:r>
              <a:t>https://www.esa.int/Space_Safety/Space_Debris/ESA_Space_Environment_Report_2025</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正文第7页　技术专家</a:t>
            </a:r>
          </a:p>
          <a:p xmlns:a="http://schemas.openxmlformats.org/drawingml/2006/main">
            <a:r>
              <a:t>技术机制：自动避碰如何运作</a:t>
            </a:r>
          </a:p>
          <a:p xmlns:a="http://schemas.openxmlformats.org/drawingml/2006/main">
            <a:r>
              <a:t/>
            </a:r>
          </a:p>
          <a:p xmlns:a="http://schemas.openxmlformats.org/drawingml/2006/main">
            <a:r>
              <a:t>讲解补充</a:t>
            </a:r>
          </a:p>
          <a:p xmlns:a="http://schemas.openxmlformats.org/drawingml/2006/main">
            <a:r>
              <a:t>Stargaze是空间态势感知系统，汇总星敏感器观测并进行地面轨道估计。星链的GNSS定位、地面筛查和星上自主机动是相互连接但不同的环节，不能笼统说成全部由“云端算法”完成。Falcon在CrowdStrike案例中是终端安全平台，不是此处避碰系统名称。</a:t>
            </a:r>
          </a:p>
          <a:p xmlns:a="http://schemas.openxmlformats.org/drawingml/2006/main">
            <a:r>
              <a:t/>
            </a:r>
          </a:p>
          <a:p xmlns:a="http://schemas.openxmlformats.org/drawingml/2006/main">
            <a:r>
              <a:t>资料来源</a:t>
            </a:r>
          </a:p>
          <a:p xmlns:a="http://schemas.openxmlformats.org/drawingml/2006/main">
            <a:r>
              <a:t>Starlink Collision Avoidance CONOPS，访问于2026-09-29</a:t>
            </a:r>
          </a:p>
          <a:p xmlns:a="http://schemas.openxmlformats.org/drawingml/2006/main">
            <a:r>
              <a:t>https://space-safety.starlink.com/docs/space-safety-articles/starlink_cola_conops/</a:t>
            </a:r>
          </a:p>
          <a:p xmlns:a="http://schemas.openxmlformats.org/drawingml/2006/main">
            <a:r>
              <a:t/>
            </a:r>
          </a:p>
          <a:p xmlns:a="http://schemas.openxmlformats.org/drawingml/2006/main">
            <a:r>
              <a:t>SpaceX / Starlink，Stargaze 系统说明</a:t>
            </a:r>
          </a:p>
          <a:p xmlns:a="http://schemas.openxmlformats.org/drawingml/2006/main">
            <a:r>
              <a:t>https://starlink.com/al/updates/stargaze</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正文第8页　技术专家</a:t>
            </a:r>
          </a:p>
          <a:p xmlns:a="http://schemas.openxmlformats.org/drawingml/2006/main">
            <a:r>
              <a:t>技术黑箱：高频机动的外部性</a:t>
            </a:r>
          </a:p>
          <a:p xmlns:a="http://schemas.openxmlformats.org/drawingml/2006/main">
            <a:r>
              <a:t/>
            </a:r>
          </a:p>
          <a:p xmlns:a="http://schemas.openxmlformats.org/drawingml/2006/main">
            <a:r>
              <a:t>讲解补充</a:t>
            </a:r>
          </a:p>
          <a:p xmlns:a="http://schemas.openxmlformats.org/drawingml/2006/main">
            <a:r>
              <a:t>本页把“过度机动”作为待评估问题，而不预设SpaceX安全策略净增风险。SpaceX公开流程说明会同时考虑时间窗内的多次交会，也公布了部分阈值，所以“黑箱”主要指外部验证、参数变更审计和跨主体协调的局限。建议报告每千星日机动次数、通知提前量、剩余推进剂与未缓解高风险交会。</a:t>
            </a:r>
          </a:p>
          <a:p xmlns:a="http://schemas.openxmlformats.org/drawingml/2006/main">
            <a:r>
              <a:t/>
            </a:r>
          </a:p>
          <a:p xmlns:a="http://schemas.openxmlformats.org/drawingml/2006/main">
            <a:r>
              <a:t>资料来源</a:t>
            </a:r>
          </a:p>
          <a:p xmlns:a="http://schemas.openxmlformats.org/drawingml/2006/main">
            <a:r>
              <a:t>Starlink Collision Avoidance CONOPS，访问于2026-09-29</a:t>
            </a:r>
          </a:p>
          <a:p xmlns:a="http://schemas.openxmlformats.org/drawingml/2006/main">
            <a:r>
              <a:t>https://space-safety.starlink.com/docs/space-safety-articles/starlink_cola_conops/</a:t>
            </a:r>
          </a:p>
          <a:p xmlns:a="http://schemas.openxmlformats.org/drawingml/2006/main">
            <a:r>
              <a:t/>
            </a:r>
          </a:p>
          <a:p xmlns:a="http://schemas.openxmlformats.org/drawingml/2006/main">
            <a:r>
              <a:t>SpaceX Gen1/Gen2 半年报，2026-07-01（原报告公开镜像）</a:t>
            </a:r>
          </a:p>
          <a:p xmlns:a="http://schemas.openxmlformats.org/drawingml/2006/main">
            <a:r>
              <a:t>https://www.scribd.com/document/1057502572/SpaceX-Gen1-Gen2-Semi-Annual-Report-7-1-26</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正文第9页　技术专家</a:t>
            </a:r>
          </a:p>
          <a:p xmlns:a="http://schemas.openxmlformats.org/drawingml/2006/main">
            <a:r>
              <a:t>数据换安全：Stargaze的双重角色</a:t>
            </a:r>
          </a:p>
          <a:p xmlns:a="http://schemas.openxmlformats.org/drawingml/2006/main">
            <a:r>
              <a:t/>
            </a:r>
          </a:p>
          <a:p xmlns:a="http://schemas.openxmlformats.org/drawingml/2006/main">
            <a:r>
              <a:t>讲解补充</a:t>
            </a:r>
          </a:p>
          <a:p xmlns:a="http://schemas.openxmlformats.org/drawingml/2006/main">
            <a:r>
              <a:t>SpaceX官方表示参与者提交星历即可接收Stargaze筛查结果。其公共星历也有其他获取渠道，不能断言其他运营者只能依赖单一私有入口。CrowdStrike只能类比集中式软件分发与验证风险，现有材料不能证明Stargaze存在同样代码缺陷。</a:t>
            </a:r>
          </a:p>
          <a:p xmlns:a="http://schemas.openxmlformats.org/drawingml/2006/main">
            <a:r>
              <a:t/>
            </a:r>
          </a:p>
          <a:p xmlns:a="http://schemas.openxmlformats.org/drawingml/2006/main">
            <a:r>
              <a:t>资料来源</a:t>
            </a:r>
          </a:p>
          <a:p xmlns:a="http://schemas.openxmlformats.org/drawingml/2006/main">
            <a:r>
              <a:t>SpaceX / Starlink，Stargaze 系统说明</a:t>
            </a:r>
          </a:p>
          <a:p xmlns:a="http://schemas.openxmlformats.org/drawingml/2006/main">
            <a:r>
              <a:t>https://starlink.com/al/updates/stargaze</a:t>
            </a:r>
          </a:p>
          <a:p xmlns:a="http://schemas.openxmlformats.org/drawingml/2006/main">
            <a:r>
              <a:t/>
            </a:r>
          </a:p>
          <a:p xmlns:a="http://schemas.openxmlformats.org/drawingml/2006/main">
            <a:r>
              <a:t>Starlink Space Safety，服务条款与技术说明</a:t>
            </a:r>
          </a:p>
          <a:p xmlns:a="http://schemas.openxmlformats.org/drawingml/2006/main">
            <a:r>
              <a:t>https://space-safety.starlink.com/terms</a:t>
            </a:r>
          </a:p>
          <a:p xmlns:a="http://schemas.openxmlformats.org/drawingml/2006/main">
            <a:r>
              <a:t/>
            </a:r>
          </a:p>
          <a:p xmlns:a="http://schemas.openxmlformats.org/drawingml/2006/main">
            <a:r>
              <a:t>Starlink Collision Avoidance CONOPS，访问于2026-09-29</a:t>
            </a:r>
          </a:p>
          <a:p xmlns:a="http://schemas.openxmlformats.org/drawingml/2006/main">
            <a:r>
              <a:t>https://space-safety.starlink.com/docs/space-safety-articles/starlink_cola_conops/</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正文第10页　影响专家</a:t>
            </a:r>
          </a:p>
          <a:p xmlns:a="http://schemas.openxmlformats.org/drawingml/2006/main">
            <a:r>
              <a:t>天文观测：拖线与天空增亮</a:t>
            </a:r>
          </a:p>
          <a:p xmlns:a="http://schemas.openxmlformats.org/drawingml/2006/main">
            <a:r>
              <a:t/>
            </a:r>
          </a:p>
          <a:p xmlns:a="http://schemas.openxmlformats.org/drawingml/2006/main">
            <a:r>
              <a:t>讲解补充</a:t>
            </a:r>
          </a:p>
          <a:p xmlns:a="http://schemas.openxmlformats.org/drawingml/2006/main">
            <a:r>
              <a:t>Hainaut研究使用散射模型分析亮度和数量的共同作用。5,000个Reflect Orbital类极亮反射物体对应约20–30%散射天空背景增量，50,000个对应约200–300%。这不是已发生观测值。研究同时发现，遵守V550km&gt;7建议的约60,000颗较暗卫星对背景光的贡献很小，但仍需单独评价拖线与探测器饱和。</a:t>
            </a:r>
          </a:p>
          <a:p xmlns:a="http://schemas.openxmlformats.org/drawingml/2006/main">
            <a:r>
              <a:t/>
            </a:r>
          </a:p>
          <a:p xmlns:a="http://schemas.openxmlformats.org/drawingml/2006/main">
            <a:r>
              <a:t>资料来源</a:t>
            </a:r>
          </a:p>
          <a:p xmlns:a="http://schemas.openxmlformats.org/drawingml/2006/main">
            <a:r>
              <a:t>Hainaut (2026)，arXiv:2604.09427</a:t>
            </a:r>
          </a:p>
          <a:p xmlns:a="http://schemas.openxmlformats.org/drawingml/2006/main">
            <a:r>
              <a:t>https://arxiv.org/abs/2604.09427</a:t>
            </a:r>
          </a:p>
          <a:p xmlns:a="http://schemas.openxmlformats.org/drawingml/2006/main">
            <a:r>
              <a:t/>
            </a:r>
          </a:p>
          <a:p xmlns:a="http://schemas.openxmlformats.org/drawingml/2006/main">
            <a:r>
              <a:t>ESO，百万卫星与反射镜星座影响，2026-07-01</a:t>
            </a:r>
          </a:p>
          <a:p xmlns:a="http://schemas.openxmlformats.org/drawingml/2006/main">
            <a:r>
              <a:t>https://www.eso.org/public/news/eso2607/</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正文第11页　影响专家</a:t>
            </a:r>
          </a:p>
          <a:p xmlns:a="http://schemas.openxmlformats.org/drawingml/2006/main">
            <a:r>
              <a:t>经济损失与风险外溢</a:t>
            </a:r>
          </a:p>
          <a:p xmlns:a="http://schemas.openxmlformats.org/drawingml/2006/main">
            <a:r>
              <a:t/>
            </a:r>
          </a:p>
          <a:p xmlns:a="http://schemas.openxmlformats.org/drawingml/2006/main">
            <a:r>
              <a:t>讲解补充</a:t>
            </a:r>
          </a:p>
          <a:p xmlns:a="http://schemas.openxmlformats.org/drawingml/2006/main">
            <a:r>
              <a:t>Delta 8-K另披露约0.5亿美元燃油支出下降，因此5.5亿美元是两项不利影响合计，不等于扣除节省后的净损失。航天风险路径需要按轨道与服务依赖分析：低轨通信或遥感受损，不意味着处于中高轨的导航等系统会同时全部瘫痪。应评估替代链路、服务中断时长与恢复能力。</a:t>
            </a:r>
          </a:p>
          <a:p xmlns:a="http://schemas.openxmlformats.org/drawingml/2006/main">
            <a:r>
              <a:t/>
            </a:r>
          </a:p>
          <a:p xmlns:a="http://schemas.openxmlformats.org/drawingml/2006/main">
            <a:r>
              <a:t>资料来源</a:t>
            </a:r>
          </a:p>
          <a:p xmlns:a="http://schemas.openxmlformats.org/drawingml/2006/main">
            <a:r>
              <a:t>Parametrix，2024-07-24损失估算</a:t>
            </a:r>
          </a:p>
          <a:p xmlns:a="http://schemas.openxmlformats.org/drawingml/2006/main">
            <a:r>
              <a:t>https://parametrix-new-website.webflow.io/in-the-news/crowdstrike-to-cost-fortune-500-5-4-billion-insured-loss-range-of-540-million-to-1-08-billion</a:t>
            </a:r>
          </a:p>
          <a:p xmlns:a="http://schemas.openxmlformats.org/drawingml/2006/main">
            <a:r>
              <a:t/>
            </a:r>
          </a:p>
          <a:p xmlns:a="http://schemas.openxmlformats.org/drawingml/2006/main">
            <a:r>
              <a:t>Delta，2024-08-08 SEC 8-K</a:t>
            </a:r>
          </a:p>
          <a:p xmlns:a="http://schemas.openxmlformats.org/drawingml/2006/main">
            <a:r>
              <a:t>https://www.sec.gov/Archives/edgar/data/27904/000168316824005369/delta_8k.htm</a:t>
            </a:r>
          </a:p>
          <a:p xmlns:a="http://schemas.openxmlformats.org/drawingml/2006/main">
            <a:r>
              <a:t/>
            </a:r>
          </a:p>
          <a:p xmlns:a="http://schemas.openxmlformats.org/drawingml/2006/main">
            <a:r>
              <a:t>Microsoft，2024-07-20事件影响说明</a:t>
            </a:r>
          </a:p>
          <a:p xmlns:a="http://schemas.openxmlformats.org/drawingml/2006/main">
            <a:r>
              <a:t>https://blogs.microsoft.com/blog/2024/07/20/helping-our-customers-through-the-crowdstrike-outage/</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正文第12页　影响专家</a:t>
            </a:r>
          </a:p>
          <a:p xmlns:a="http://schemas.openxmlformats.org/drawingml/2006/main">
            <a:r>
              <a:t>负外部性与代际公平</a:t>
            </a:r>
          </a:p>
          <a:p xmlns:a="http://schemas.openxmlformats.org/drawingml/2006/main">
            <a:r>
              <a:t/>
            </a:r>
          </a:p>
          <a:p xmlns:a="http://schemas.openxmlformats.org/drawingml/2006/main">
            <a:r>
              <a:t>讲解补充</a:t>
            </a:r>
          </a:p>
          <a:p xmlns:a="http://schemas.openxmlformats.org/drawingml/2006/main">
            <a:r>
              <a:t>NASA标准指出，较高轨道上的物体可能自然存留数百年，但低轨寿命随高度、面积质量比与太阳活动显著变化，不能把所有星链卫星统一描述为存留数百年。代际公平要求将长期暴露时间纳入今天的设计和许可，而不只考虑当期回报。</a:t>
            </a:r>
          </a:p>
          <a:p xmlns:a="http://schemas.openxmlformats.org/drawingml/2006/main">
            <a:r>
              <a:t/>
            </a:r>
          </a:p>
          <a:p xmlns:a="http://schemas.openxmlformats.org/drawingml/2006/main">
            <a:r>
              <a:t>资料来源</a:t>
            </a:r>
          </a:p>
          <a:p xmlns:a="http://schemas.openxmlformats.org/drawingml/2006/main">
            <a:r>
              <a:t>Hardin, Science (1968)</a:t>
            </a:r>
          </a:p>
          <a:p xmlns:a="http://schemas.openxmlformats.org/drawingml/2006/main">
            <a:r>
              <a:t>https://doi.org/10.1126/science.162.3859.1243</a:t>
            </a:r>
          </a:p>
          <a:p xmlns:a="http://schemas.openxmlformats.org/drawingml/2006/main">
            <a:r>
              <a:t/>
            </a:r>
          </a:p>
          <a:p xmlns:a="http://schemas.openxmlformats.org/drawingml/2006/main">
            <a:r>
              <a:t>NASA-STD-8719.14C，§4.3.3.2</a:t>
            </a:r>
          </a:p>
          <a:p xmlns:a="http://schemas.openxmlformats.org/drawingml/2006/main">
            <a:r>
              <a:t>https://standards.nasa.gov/sites/default/files/standards/NASA/C/0/nasa-std-871914c.pdf</a:t>
            </a:r>
          </a:p>
          <a:p xmlns:a="http://schemas.openxmlformats.org/drawingml/2006/main">
            <a:r>
              <a:t/>
            </a:r>
          </a:p>
          <a:p xmlns:a="http://schemas.openxmlformats.org/drawingml/2006/main">
            <a:r>
              <a:t>Hainaut (2026)，arXiv:2604.09427</a:t>
            </a:r>
          </a:p>
          <a:p xmlns:a="http://schemas.openxmlformats.org/drawingml/2006/main">
            <a:r>
              <a:t>https://arxiv.org/abs/2604.09427</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正文第13页　伦理专家</a:t>
            </a:r>
          </a:p>
          <a:p xmlns:a="http://schemas.openxmlformats.org/drawingml/2006/main">
            <a:r>
              <a:t>安全与风险控制</a:t>
            </a:r>
          </a:p>
          <a:p xmlns:a="http://schemas.openxmlformats.org/drawingml/2006/main">
            <a:r>
              <a:t/>
            </a:r>
          </a:p>
          <a:p xmlns:a="http://schemas.openxmlformats.org/drawingml/2006/main">
            <a:r>
              <a:t>讲解补充</a:t>
            </a:r>
          </a:p>
          <a:p xmlns:a="http://schemas.openxmlformats.org/drawingml/2006/main">
            <a:r>
              <a:t>Dijkstra原文为“Program testing can be used to show the presence of bugs, but never to show their absence!”。安全措施需服从航天实时约束：紧急避碰不能无条件等待人工审批。人工复核重点放在策略变更、异常升级和任务设计。分阶段发布来自软件事故教训，是建议，不声称相关航天运营者目前完全没有实施。</a:t>
            </a:r>
          </a:p>
          <a:p xmlns:a="http://schemas.openxmlformats.org/drawingml/2006/main">
            <a:r>
              <a:t/>
            </a:r>
          </a:p>
          <a:p xmlns:a="http://schemas.openxmlformats.org/drawingml/2006/main">
            <a:r>
              <a:t>资料来源</a:t>
            </a:r>
          </a:p>
          <a:p xmlns:a="http://schemas.openxmlformats.org/drawingml/2006/main">
            <a:r>
              <a:t>Dijkstra，Structured programming，EWD268 (1969)</a:t>
            </a:r>
          </a:p>
          <a:p xmlns:a="http://schemas.openxmlformats.org/drawingml/2006/main">
            <a:r>
              <a:t>https://www.cs.utexas.edu/~EWD/transcriptions/EWD02xx/EWD268.html</a:t>
            </a:r>
          </a:p>
          <a:p xmlns:a="http://schemas.openxmlformats.org/drawingml/2006/main">
            <a:r>
              <a:t/>
            </a:r>
          </a:p>
          <a:p xmlns:a="http://schemas.openxmlformats.org/drawingml/2006/main">
            <a:r>
              <a:t>CrowdStrike，Channel File 291 RCA，2024-08-06</a:t>
            </a:r>
          </a:p>
          <a:p xmlns:a="http://schemas.openxmlformats.org/drawingml/2006/main">
            <a:r>
              <a:t>https://www.crowdstrike.com/wp-content/uploads/2024/08/Channel-File-291-Incident-Root-Cause-Analysis-08.06.2024.pdf</a:t>
            </a:r>
          </a:p>
          <a:p xmlns:a="http://schemas.openxmlformats.org/drawingml/2006/main">
            <a:r>
              <a:t/>
            </a:r>
          </a:p>
          <a:p xmlns:a="http://schemas.openxmlformats.org/drawingml/2006/main">
            <a:r>
              <a:t>Starlink Collision Avoidance CONOPS，访问于2026-09-29</a:t>
            </a:r>
          </a:p>
          <a:p xmlns:a="http://schemas.openxmlformats.org/drawingml/2006/main">
            <a:r>
              <a:t>https://space-safety.starlink.com/docs/space-safety-articles/starlink_cola_conops/</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正文第14页　伦理专家</a:t>
            </a:r>
          </a:p>
          <a:p xmlns:a="http://schemas.openxmlformats.org/drawingml/2006/main">
            <a:r>
              <a:t>工程责任与全生命周期伦理</a:t>
            </a:r>
          </a:p>
          <a:p xmlns:a="http://schemas.openxmlformats.org/drawingml/2006/main">
            <a:r>
              <a:t/>
            </a:r>
          </a:p>
          <a:p xmlns:a="http://schemas.openxmlformats.org/drawingml/2006/main">
            <a:r>
              <a:t>讲解补充</a:t>
            </a:r>
          </a:p>
          <a:p xmlns:a="http://schemas.openxmlformats.org/drawingml/2006/main">
            <a:r>
              <a:t>ESA Design for Demise关注再入过程中减少地面残骸伤害，不是鼓励在轨炸毁。GB/T 45737-2025是中国推荐性国家标准《发射前空间碎片减缓审查要求》，2025年9月1日实施，并非国际强制离轨标准。FCC五年规则适用于其规定范围，不能直接写成全球统一义务。</a:t>
            </a:r>
          </a:p>
          <a:p xmlns:a="http://schemas.openxmlformats.org/drawingml/2006/main">
            <a:r>
              <a:t/>
            </a:r>
          </a:p>
          <a:p xmlns:a="http://schemas.openxmlformats.org/drawingml/2006/main">
            <a:r>
              <a:t>资料来源</a:t>
            </a:r>
          </a:p>
          <a:p xmlns:a="http://schemas.openxmlformats.org/drawingml/2006/main">
            <a:r>
              <a:t>ESA，Design for Demise Guidelines (2025)</a:t>
            </a:r>
          </a:p>
          <a:p xmlns:a="http://schemas.openxmlformats.org/drawingml/2006/main">
            <a:r>
              <a:t>https://sdup.esoc.esa.int/documents/</a:t>
            </a:r>
          </a:p>
          <a:p xmlns:a="http://schemas.openxmlformats.org/drawingml/2006/main">
            <a:r>
              <a:t/>
            </a:r>
          </a:p>
          <a:p xmlns:a="http://schemas.openxmlformats.org/drawingml/2006/main">
            <a:r>
              <a:t>GB/T 45737-2025《发射前空间碎片减缓审查要求》</a:t>
            </a:r>
          </a:p>
          <a:p xmlns:a="http://schemas.openxmlformats.org/drawingml/2006/main">
            <a:r>
              <a:t>https://std.samr.gov.cn/gb/search/gbDetailedCNF?id=36DE96AA3F8ACD71E06397BE0A0A23D9</a:t>
            </a:r>
          </a:p>
          <a:p xmlns:a="http://schemas.openxmlformats.org/drawingml/2006/main">
            <a:r>
              <a:t/>
            </a:r>
          </a:p>
          <a:p xmlns:a="http://schemas.openxmlformats.org/drawingml/2006/main">
            <a:r>
              <a:t>FCC，低轨卫星五年离轨规则，2022-09-29</a:t>
            </a:r>
          </a:p>
          <a:p xmlns:a="http://schemas.openxmlformats.org/drawingml/2006/main">
            <a:r>
              <a:t>https://docs.fcc.gov/public/attachments/DOC-387720A1.pdf</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正文第15页　伦理专家</a:t>
            </a:r>
          </a:p>
          <a:p xmlns:a="http://schemas.openxmlformats.org/drawingml/2006/main">
            <a:r>
              <a:t>用户利益与信息公开</a:t>
            </a:r>
          </a:p>
          <a:p xmlns:a="http://schemas.openxmlformats.org/drawingml/2006/main">
            <a:r>
              <a:t/>
            </a:r>
          </a:p>
          <a:p xmlns:a="http://schemas.openxmlformats.org/drawingml/2006/main">
            <a:r>
              <a:t>讲解补充</a:t>
            </a:r>
          </a:p>
          <a:p xmlns:a="http://schemas.openxmlformats.org/drawingml/2006/main">
            <a:r>
              <a:t>存在选择性披露风险不等于已有证据证明某公司数据造假或学术不端。应使用完整分母、失败样本和一致统计窗口识别偏差，例如区分主动离轨、失效离轨和不可机动卫星。公开报告和星历共享是已有进展，进一步要求是可审计、可比较、可解释。</a:t>
            </a:r>
          </a:p>
          <a:p xmlns:a="http://schemas.openxmlformats.org/drawingml/2006/main">
            <a:r>
              <a:t/>
            </a:r>
          </a:p>
          <a:p xmlns:a="http://schemas.openxmlformats.org/drawingml/2006/main">
            <a:r>
              <a:t>资料来源</a:t>
            </a:r>
          </a:p>
          <a:p xmlns:a="http://schemas.openxmlformats.org/drawingml/2006/main">
            <a:r>
              <a:t>SpaceX Gen1/Gen2 半年报，2026-07-01（原报告公开镜像）</a:t>
            </a:r>
          </a:p>
          <a:p xmlns:a="http://schemas.openxmlformats.org/drawingml/2006/main">
            <a:r>
              <a:t>https://www.scribd.com/document/1057502572/SpaceX-Gen1-Gen2-Semi-Annual-Report-7-1-26</a:t>
            </a:r>
          </a:p>
          <a:p xmlns:a="http://schemas.openxmlformats.org/drawingml/2006/main">
            <a:r>
              <a:t/>
            </a:r>
          </a:p>
          <a:p xmlns:a="http://schemas.openxmlformats.org/drawingml/2006/main">
            <a:r>
              <a:t>Starlink Collision Avoidance CONOPS，访问于2026-09-29</a:t>
            </a:r>
          </a:p>
          <a:p xmlns:a="http://schemas.openxmlformats.org/drawingml/2006/main">
            <a:r>
              <a:t>https://space-safety.starlink.com/docs/space-safety-articles/starlink_cola_conops/</a:t>
            </a:r>
          </a:p>
          <a:p xmlns:a="http://schemas.openxmlformats.org/drawingml/2006/main">
            <a:r>
              <a:t/>
            </a:r>
          </a:p>
          <a:p xmlns:a="http://schemas.openxmlformats.org/drawingml/2006/main">
            <a:r>
              <a:t>UNOOSA，《外空条约》全文</a:t>
            </a:r>
          </a:p>
          <a:p xmlns:a="http://schemas.openxmlformats.org/drawingml/2006/main">
            <a:r>
              <a:t>https://www.unoosa.org/oosa/en/ourwork/spacelaw/treaties/outerspacetreaty.html</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正文第16页　治理专家</a:t>
            </a:r>
          </a:p>
          <a:p xmlns:a="http://schemas.openxmlformats.org/drawingml/2006/main">
            <a:r>
              <a:t>责任部门划分</a:t>
            </a:r>
          </a:p>
          <a:p xmlns:a="http://schemas.openxmlformats.org/drawingml/2006/main">
            <a:r>
              <a:t/>
            </a:r>
          </a:p>
          <a:p xmlns:a="http://schemas.openxmlformats.org/drawingml/2006/main">
            <a:r>
              <a:t>讲解补充</a:t>
            </a:r>
          </a:p>
          <a:p xmlns:a="http://schemas.openxmlformats.org/drawingml/2006/main">
            <a:r>
              <a:t>责任图依照控制能力和活动环节分配职责，不预判任何具体争议的法律责任。外空条约第VI条将本国非政府实体活动纳入国家授权与持续监督，第VII条涉及发射国国际赔偿责任。发射服务商的职责与操作系统平台不完全对应，应采用航天活动本身的责任链。</a:t>
            </a:r>
          </a:p>
          <a:p xmlns:a="http://schemas.openxmlformats.org/drawingml/2006/main">
            <a:r>
              <a:t/>
            </a:r>
          </a:p>
          <a:p xmlns:a="http://schemas.openxmlformats.org/drawingml/2006/main">
            <a:r>
              <a:t>资料来源</a:t>
            </a:r>
          </a:p>
          <a:p xmlns:a="http://schemas.openxmlformats.org/drawingml/2006/main">
            <a:r>
              <a:t>UNOOSA，《外空条约》全文</a:t>
            </a:r>
          </a:p>
          <a:p xmlns:a="http://schemas.openxmlformats.org/drawingml/2006/main">
            <a:r>
              <a:t>https://www.unoosa.org/oosa/en/ourwork/spacelaw/treaties/outerspacetreaty.html</a:t>
            </a:r>
          </a:p>
          <a:p xmlns:a="http://schemas.openxmlformats.org/drawingml/2006/main">
            <a:r>
              <a:t/>
            </a:r>
          </a:p>
          <a:p xmlns:a="http://schemas.openxmlformats.org/drawingml/2006/main">
            <a:r>
              <a:t>FCC，低轨卫星五年离轨规则，2022-09-29</a:t>
            </a:r>
          </a:p>
          <a:p xmlns:a="http://schemas.openxmlformats.org/drawingml/2006/main">
            <a:r>
              <a:t>https://docs.fcc.gov/public/attachments/DOC-387720A1.pdf</a:t>
            </a:r>
          </a:p>
          <a:p xmlns:a="http://schemas.openxmlformats.org/drawingml/2006/main">
            <a:r>
              <a:t/>
            </a:r>
          </a:p>
          <a:p xmlns:a="http://schemas.openxmlformats.org/drawingml/2006/main">
            <a:r>
              <a:t>FCC，DISH空间碎片执法案，2023-10-02</a:t>
            </a:r>
          </a:p>
          <a:p xmlns:a="http://schemas.openxmlformats.org/drawingml/2006/main">
            <a:r>
              <a:t>https://docs.fcc.gov/public/attachments/doc-397412a1.pdf</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正文第17页　治理专家</a:t>
            </a:r>
          </a:p>
          <a:p xmlns:a="http://schemas.openxmlformats.org/drawingml/2006/main">
            <a:r>
              <a:t>SpaceX治理：利益冲突如何约束</a:t>
            </a:r>
          </a:p>
          <a:p xmlns:a="http://schemas.openxmlformats.org/drawingml/2006/main">
            <a:r>
              <a:t/>
            </a:r>
          </a:p>
          <a:p xmlns:a="http://schemas.openxmlformats.org/drawingml/2006/main">
            <a:r>
              <a:t>讲解补充</a:t>
            </a:r>
          </a:p>
          <a:p xmlns:a="http://schemas.openxmlformats.org/drawingml/2006/main">
            <a:r>
              <a:t>“轨道霸权”“私有化公共安全”可作为伦理批评视角，但现有证据支持的是结构性利益冲突风险，不能当作已裁定事实。公共SSA服务与商业服务可并存。要求治理权与商业利益相分离，可以通过外部审计、公开接口和多方参与实现，不必先假定只有单一组织模式。</a:t>
            </a:r>
          </a:p>
          <a:p xmlns:a="http://schemas.openxmlformats.org/drawingml/2006/main">
            <a:r>
              <a:t/>
            </a:r>
          </a:p>
          <a:p xmlns:a="http://schemas.openxmlformats.org/drawingml/2006/main">
            <a:r>
              <a:t>资料来源</a:t>
            </a:r>
          </a:p>
          <a:p xmlns:a="http://schemas.openxmlformats.org/drawingml/2006/main">
            <a:r>
              <a:t>SpaceX / Starlink，Stargaze 系统说明</a:t>
            </a:r>
          </a:p>
          <a:p xmlns:a="http://schemas.openxmlformats.org/drawingml/2006/main">
            <a:r>
              <a:t>https://starlink.com/al/updates/stargaze</a:t>
            </a:r>
          </a:p>
          <a:p xmlns:a="http://schemas.openxmlformats.org/drawingml/2006/main">
            <a:r>
              <a:t/>
            </a:r>
          </a:p>
          <a:p xmlns:a="http://schemas.openxmlformats.org/drawingml/2006/main">
            <a:r>
              <a:t>Starlink Space Safety，服务条款与技术说明</a:t>
            </a:r>
          </a:p>
          <a:p xmlns:a="http://schemas.openxmlformats.org/drawingml/2006/main">
            <a:r>
              <a:t>https://space-safety.starlink.com/terms</a:t>
            </a:r>
          </a:p>
          <a:p xmlns:a="http://schemas.openxmlformats.org/drawingml/2006/main">
            <a:r>
              <a:t/>
            </a:r>
          </a:p>
          <a:p xmlns:a="http://schemas.openxmlformats.org/drawingml/2006/main">
            <a:r>
              <a:t>美国商务部，TraCSS初始服务上线，2024-09-30</a:t>
            </a:r>
          </a:p>
          <a:p xmlns:a="http://schemas.openxmlformats.org/drawingml/2006/main">
            <a:r>
              <a:t>https://space.commerce.gov/commerce-departments-new-traffic-coordination-system-for-space-launches-initial-capabilities/</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正文第18页　治理专家</a:t>
            </a:r>
          </a:p>
          <a:p xmlns:a="http://schemas.openxmlformats.org/drawingml/2006/main">
            <a:r>
              <a:t>平台治理责任：微软类比</a:t>
            </a:r>
          </a:p>
          <a:p xmlns:a="http://schemas.openxmlformats.org/drawingml/2006/main">
            <a:r>
              <a:t/>
            </a:r>
          </a:p>
          <a:p xmlns:a="http://schemas.openxmlformats.org/drawingml/2006/main">
            <a:r>
              <a:t>讲解补充</a:t>
            </a:r>
          </a:p>
          <a:p xmlns:a="http://schemas.openxmlformats.org/drawingml/2006/main">
            <a:r>
              <a:t>2024年CrowdStrike内容更新触发Windows系统崩溃。RCA描述了21个参数定义与运行时20个输入之间的不匹配及越界读取等问题。微软的工程治理职责属于生态系统的韧性设计，不等于它是故障更新的发布者，也不等于其法律责任已经确定。航天系统的具体风险机制必须重新验证，不能复制软件事件结论。</a:t>
            </a:r>
          </a:p>
          <a:p xmlns:a="http://schemas.openxmlformats.org/drawingml/2006/main">
            <a:r>
              <a:t/>
            </a:r>
          </a:p>
          <a:p xmlns:a="http://schemas.openxmlformats.org/drawingml/2006/main">
            <a:r>
              <a:t>资料来源</a:t>
            </a:r>
          </a:p>
          <a:p xmlns:a="http://schemas.openxmlformats.org/drawingml/2006/main">
            <a:r>
              <a:t>CrowdStrike，Channel File 291 RCA，2024-08-06</a:t>
            </a:r>
          </a:p>
          <a:p xmlns:a="http://schemas.openxmlformats.org/drawingml/2006/main">
            <a:r>
              <a:t>https://www.crowdstrike.com/wp-content/uploads/2024/08/Channel-File-291-Incident-Root-Cause-Analysis-08.06.2024.pdf</a:t>
            </a:r>
          </a:p>
          <a:p xmlns:a="http://schemas.openxmlformats.org/drawingml/2006/main">
            <a:r>
              <a:t/>
            </a:r>
          </a:p>
          <a:p xmlns:a="http://schemas.openxmlformats.org/drawingml/2006/main">
            <a:r>
              <a:t>Microsoft，Windows安全工具与韧性，2024-07-27</a:t>
            </a:r>
          </a:p>
          <a:p xmlns:a="http://schemas.openxmlformats.org/drawingml/2006/main">
            <a:r>
              <a:t>https://www.microsoft.com/en-us/security/blog/2024/07/27/windows-security-best-practices-for-integrating-and-managing-security-tools/</a:t>
            </a:r>
          </a:p>
          <a:p xmlns:a="http://schemas.openxmlformats.org/drawingml/2006/main">
            <a:r>
              <a:t/>
            </a:r>
          </a:p>
          <a:p xmlns:a="http://schemas.openxmlformats.org/drawingml/2006/main">
            <a:r>
              <a:t>Microsoft，2024-07-20事件影响说明</a:t>
            </a:r>
          </a:p>
          <a:p xmlns:a="http://schemas.openxmlformats.org/drawingml/2006/main">
            <a:r>
              <a:t>https://blogs.microsoft.com/blog/2024/07/20/helping-our-customers-through-the-crowdstrike-outage/</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正文第19页　客户代表</a:t>
            </a:r>
          </a:p>
          <a:p xmlns:a="http://schemas.openxmlformats.org/drawingml/2006/main">
            <a:r>
              <a:t>受影响主体：天文学家与科研机构</a:t>
            </a:r>
          </a:p>
          <a:p xmlns:a="http://schemas.openxmlformats.org/drawingml/2006/main">
            <a:r>
              <a:t/>
            </a:r>
          </a:p>
          <a:p xmlns:a="http://schemas.openxmlformats.org/drawingml/2006/main">
            <a:r>
              <a:t>讲解补充</a:t>
            </a:r>
          </a:p>
          <a:p xmlns:a="http://schemas.openxmlformats.org/drawingml/2006/main">
            <a:r>
              <a:t>图片：Victoria Girgis / Lowell Observatory，经IAU发布，原始对象是NGC 5353/4星系群，超过25颗新发射星链留下拖线。Hainaut给出的V550km&gt;7是归一化至550 km的可见光亮度建议，并非普遍生效的法律标准。将其转为约束时，还要定义波段、姿态、统计分位数和观测条件。</a:t>
            </a:r>
          </a:p>
          <a:p xmlns:a="http://schemas.openxmlformats.org/drawingml/2006/main">
            <a:r>
              <a:t/>
            </a:r>
          </a:p>
          <a:p xmlns:a="http://schemas.openxmlformats.org/drawingml/2006/main">
            <a:r>
              <a:t>资料来源</a:t>
            </a:r>
          </a:p>
          <a:p xmlns:a="http://schemas.openxmlformats.org/drawingml/2006/main">
            <a:r>
              <a:t>Victoria Girgis / Lowell Observatory，2019-05-25，IAU图片</a:t>
            </a:r>
          </a:p>
          <a:p xmlns:a="http://schemas.openxmlformats.org/drawingml/2006/main">
            <a:r>
              <a:t>https://iauarchive.eso.org/public/images/detail/ann19035a/</a:t>
            </a:r>
          </a:p>
          <a:p xmlns:a="http://schemas.openxmlformats.org/drawingml/2006/main">
            <a:r>
              <a:t/>
            </a:r>
          </a:p>
          <a:p xmlns:a="http://schemas.openxmlformats.org/drawingml/2006/main">
            <a:r>
              <a:t>Hainaut (2026)，arXiv:2604.09427</a:t>
            </a:r>
          </a:p>
          <a:p xmlns:a="http://schemas.openxmlformats.org/drawingml/2006/main">
            <a:r>
              <a:t>https://arxiv.org/abs/2604.09427</a:t>
            </a:r>
          </a:p>
          <a:p xmlns:a="http://schemas.openxmlformats.org/drawingml/2006/main">
            <a:r>
              <a:t/>
            </a:r>
          </a:p>
          <a:p xmlns:a="http://schemas.openxmlformats.org/drawingml/2006/main">
            <a:r>
              <a:t>ESO，百万卫星与反射镜星座影响，2026-07-01</a:t>
            </a:r>
          </a:p>
          <a:p xmlns:a="http://schemas.openxmlformats.org/drawingml/2006/main">
            <a:r>
              <a:t>https://www.eso.org/public/news/eso2607/</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正文第20页　客户代表</a:t>
            </a:r>
          </a:p>
          <a:p xmlns:a="http://schemas.openxmlformats.org/drawingml/2006/main">
            <a:r>
              <a:t>受影响主体：其他航天器运营商</a:t>
            </a:r>
          </a:p>
          <a:p xmlns:a="http://schemas.openxmlformats.org/drawingml/2006/main">
            <a:r>
              <a:t/>
            </a:r>
          </a:p>
          <a:p xmlns:a="http://schemas.openxmlformats.org/drawingml/2006/main">
            <a:r>
              <a:t>讲解补充</a:t>
            </a:r>
          </a:p>
          <a:p xmlns:a="http://schemas.openxmlformats.org/drawingml/2006/main">
            <a:r>
              <a:t>Aeolus案例说明主动协调的重要性，不证明所有运营商都被迫为星链承担全部机动。Starlink公开流程承诺多数可机动卫星默认承担避碰责任，并为不可机动物体安排人工协调。公平治理仍需给资源不足的运营者提供可负担的接入渠道，避免只能依靠商业谈判获得安全信息。</a:t>
            </a:r>
          </a:p>
          <a:p xmlns:a="http://schemas.openxmlformats.org/drawingml/2006/main">
            <a:r>
              <a:t/>
            </a:r>
          </a:p>
          <a:p xmlns:a="http://schemas.openxmlformats.org/drawingml/2006/main">
            <a:r>
              <a:t>资料来源</a:t>
            </a:r>
          </a:p>
          <a:p xmlns:a="http://schemas.openxmlformats.org/drawingml/2006/main">
            <a:r>
              <a:t>ESA，Aeolus 避碰事件，2019-09-03</a:t>
            </a:r>
          </a:p>
          <a:p xmlns:a="http://schemas.openxmlformats.org/drawingml/2006/main">
            <a:r>
              <a:t>https://www.esa.int/Space_Safety/ESA_spacecraft_dodges_large_constellation</a:t>
            </a:r>
          </a:p>
          <a:p xmlns:a="http://schemas.openxmlformats.org/drawingml/2006/main">
            <a:r>
              <a:t/>
            </a:r>
          </a:p>
          <a:p xmlns:a="http://schemas.openxmlformats.org/drawingml/2006/main">
            <a:r>
              <a:t>Starlink Collision Avoidance CONOPS，访问于2026-09-29</a:t>
            </a:r>
          </a:p>
          <a:p xmlns:a="http://schemas.openxmlformats.org/drawingml/2006/main">
            <a:r>
              <a:t>https://space-safety.starlink.com/docs/space-safety-articles/starlink_cola_conops/</a:t>
            </a:r>
          </a:p>
          <a:p xmlns:a="http://schemas.openxmlformats.org/drawingml/2006/main">
            <a:r>
              <a:t/>
            </a:r>
          </a:p>
          <a:p xmlns:a="http://schemas.openxmlformats.org/drawingml/2006/main">
            <a:r>
              <a:t>美国商务部，TraCSS初始服务上线，2024-09-30</a:t>
            </a:r>
          </a:p>
          <a:p xmlns:a="http://schemas.openxmlformats.org/drawingml/2006/main">
            <a:r>
              <a:t>https://space.commerce.gov/commerce-departments-new-traffic-coordination-system-for-space-launches-initial-capabilities/</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正文第21页　客户代表</a:t>
            </a:r>
          </a:p>
          <a:p xmlns:a="http://schemas.openxmlformats.org/drawingml/2006/main">
            <a:r>
              <a:t>受影响主体：公众与未来世代</a:t>
            </a:r>
          </a:p>
          <a:p xmlns:a="http://schemas.openxmlformats.org/drawingml/2006/main">
            <a:r>
              <a:t/>
            </a:r>
          </a:p>
          <a:p xmlns:a="http://schemas.openxmlformats.org/drawingml/2006/main">
            <a:r>
              <a:t>讲解补充</a:t>
            </a:r>
          </a:p>
          <a:p xmlns:a="http://schemas.openxmlformats.org/drawingml/2006/main">
            <a:r>
              <a:t>这里的“未来使用权”是伦理和政策诉求，不宣称后代目前已被法律剥夺全部使用权。对公众的利益分析应同时纳入偏远地区联网和灾害应急的价值。可以通过许可听证、科研机构代表和可持续性指标，使原本分散的利益进入决策程序。</a:t>
            </a:r>
          </a:p>
          <a:p xmlns:a="http://schemas.openxmlformats.org/drawingml/2006/main">
            <a:r>
              <a:t/>
            </a:r>
          </a:p>
          <a:p xmlns:a="http://schemas.openxmlformats.org/drawingml/2006/main">
            <a:r>
              <a:t>资料来源</a:t>
            </a:r>
          </a:p>
          <a:p xmlns:a="http://schemas.openxmlformats.org/drawingml/2006/main">
            <a:r>
              <a:t>NASA-STD-8719.14C，§4.3.3.2</a:t>
            </a:r>
          </a:p>
          <a:p xmlns:a="http://schemas.openxmlformats.org/drawingml/2006/main">
            <a:r>
              <a:t>https://standards.nasa.gov/sites/default/files/standards/NASA/C/0/nasa-std-871914c.pdf</a:t>
            </a:r>
          </a:p>
          <a:p xmlns:a="http://schemas.openxmlformats.org/drawingml/2006/main">
            <a:r>
              <a:t/>
            </a:r>
          </a:p>
          <a:p xmlns:a="http://schemas.openxmlformats.org/drawingml/2006/main">
            <a:r>
              <a:t>UNOOSA，《外空条约》全文</a:t>
            </a:r>
          </a:p>
          <a:p xmlns:a="http://schemas.openxmlformats.org/drawingml/2006/main">
            <a:r>
              <a:t>https://www.unoosa.org/oosa/en/ourwork/spacelaw/treaties/outerspacetreaty.html</a:t>
            </a:r>
          </a:p>
          <a:p xmlns:a="http://schemas.openxmlformats.org/drawingml/2006/main">
            <a:r>
              <a:t/>
            </a:r>
          </a:p>
          <a:p xmlns:a="http://schemas.openxmlformats.org/drawingml/2006/main">
            <a:r>
              <a:t>Hainaut (2026)，arXiv:2604.09427</a:t>
            </a:r>
          </a:p>
          <a:p xmlns:a="http://schemas.openxmlformats.org/drawingml/2006/main">
            <a:r>
              <a:t>https://arxiv.org/abs/2604.09427</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正文第22页　监管专家</a:t>
            </a:r>
          </a:p>
          <a:p xmlns:a="http://schemas.openxmlformats.org/drawingml/2006/main">
            <a:r>
              <a:t>现有国际法困境</a:t>
            </a:r>
          </a:p>
          <a:p xmlns:a="http://schemas.openxmlformats.org/drawingml/2006/main">
            <a:r>
              <a:t/>
            </a:r>
          </a:p>
          <a:p xmlns:a="http://schemas.openxmlformats.org/drawingml/2006/main">
            <a:r>
              <a:t>讲解补充</a:t>
            </a:r>
          </a:p>
          <a:p xmlns:a="http://schemas.openxmlformats.org/drawingml/2006/main">
            <a:r>
              <a:t>外空条约第II条禁止国家据为己有，第VI条要求授权和持续监督，第IX条要求适当顾及他国利益并设有磋商框架。《责任公约》第II条对地表或飞行中航空器损害采用绝对责任，第III条对外空中的空间物体损害采用过错责任。纯轨道环境退化、因果识别与碎片归属的救济仍存在困难。不得将“未普遍强制清理”写成任意制造碎片都不违法。</a:t>
            </a:r>
          </a:p>
          <a:p xmlns:a="http://schemas.openxmlformats.org/drawingml/2006/main">
            <a:r>
              <a:t/>
            </a:r>
          </a:p>
          <a:p xmlns:a="http://schemas.openxmlformats.org/drawingml/2006/main">
            <a:r>
              <a:t>资料来源</a:t>
            </a:r>
          </a:p>
          <a:p xmlns:a="http://schemas.openxmlformats.org/drawingml/2006/main">
            <a:r>
              <a:t>UNOOSA，《外空条约》全文</a:t>
            </a:r>
          </a:p>
          <a:p xmlns:a="http://schemas.openxmlformats.org/drawingml/2006/main">
            <a:r>
              <a:t>https://www.unoosa.org/oosa/en/ourwork/spacelaw/treaties/outerspacetreaty.html</a:t>
            </a:r>
          </a:p>
          <a:p xmlns:a="http://schemas.openxmlformats.org/drawingml/2006/main">
            <a:r>
              <a:t/>
            </a:r>
          </a:p>
          <a:p xmlns:a="http://schemas.openxmlformats.org/drawingml/2006/main">
            <a:r>
              <a:t>UNOOSA，《责任公约》全文</a:t>
            </a:r>
          </a:p>
          <a:p xmlns:a="http://schemas.openxmlformats.org/drawingml/2006/main">
            <a:r>
              <a:t>https://www.unoosa.org/oosa/en/ourwork/spacelaw/treaties/liability-convention.html</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正文第23页　监管专家</a:t>
            </a:r>
          </a:p>
          <a:p xmlns:a="http://schemas.openxmlformats.org/drawingml/2006/main">
            <a:r>
              <a:t>监管响应与制度缺口</a:t>
            </a:r>
          </a:p>
          <a:p xmlns:a="http://schemas.openxmlformats.org/drawingml/2006/main">
            <a:r>
              <a:t/>
            </a:r>
          </a:p>
          <a:p xmlns:a="http://schemas.openxmlformats.org/drawingml/2006/main">
            <a:r>
              <a:t>讲解补充</a:t>
            </a:r>
          </a:p>
          <a:p xmlns:a="http://schemas.openxmlformats.org/drawingml/2006/main">
            <a:r>
              <a:t>DISH案件是地球静止轨道处置案例，不是低轨五年规则的直接执法。CrowdStrike类比中可讨论CISA的网络安全协调、交通部门的服务权益监管、证券监管的信息披露与国会监督，但不能据此证明某一单一监管机构缺位就是事故原因。航天领域同样要处理不同权限之间的协同。</a:t>
            </a:r>
          </a:p>
          <a:p xmlns:a="http://schemas.openxmlformats.org/drawingml/2006/main">
            <a:r>
              <a:t/>
            </a:r>
          </a:p>
          <a:p xmlns:a="http://schemas.openxmlformats.org/drawingml/2006/main">
            <a:r>
              <a:t>资料来源</a:t>
            </a:r>
          </a:p>
          <a:p xmlns:a="http://schemas.openxmlformats.org/drawingml/2006/main">
            <a:r>
              <a:t>FCC，低轨卫星五年离轨规则，2022-09-29</a:t>
            </a:r>
          </a:p>
          <a:p xmlns:a="http://schemas.openxmlformats.org/drawingml/2006/main">
            <a:r>
              <a:t>https://docs.fcc.gov/public/attachments/DOC-387720A1.pdf</a:t>
            </a:r>
          </a:p>
          <a:p xmlns:a="http://schemas.openxmlformats.org/drawingml/2006/main">
            <a:r>
              <a:t/>
            </a:r>
          </a:p>
          <a:p xmlns:a="http://schemas.openxmlformats.org/drawingml/2006/main">
            <a:r>
              <a:t>FCC，DISH空间碎片执法案，2023-10-02</a:t>
            </a:r>
          </a:p>
          <a:p xmlns:a="http://schemas.openxmlformats.org/drawingml/2006/main">
            <a:r>
              <a:t>https://docs.fcc.gov/public/attachments/doc-397412a1.pdf</a:t>
            </a:r>
          </a:p>
          <a:p xmlns:a="http://schemas.openxmlformats.org/drawingml/2006/main">
            <a:r>
              <a:t/>
            </a:r>
          </a:p>
          <a:p xmlns:a="http://schemas.openxmlformats.org/drawingml/2006/main">
            <a:r>
              <a:t>美国商务部，TraCSS初始服务上线，2024-09-30</a:t>
            </a:r>
          </a:p>
          <a:p xmlns:a="http://schemas.openxmlformats.org/drawingml/2006/main">
            <a:r>
              <a:t>https://space.commerce.gov/commerce-departments-new-traffic-coordination-system-for-space-launches-initial-capabilities/</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正文第24页　监管专家</a:t>
            </a:r>
          </a:p>
          <a:p xmlns:a="http://schemas.openxmlformats.org/drawingml/2006/main">
            <a:r>
              <a:t>制度重构建议</a:t>
            </a:r>
          </a:p>
          <a:p xmlns:a="http://schemas.openxmlformats.org/drawingml/2006/main">
            <a:r>
              <a:t/>
            </a:r>
          </a:p>
          <a:p xmlns:a="http://schemas.openxmlformats.org/drawingml/2006/main">
            <a:r>
              <a:t>讲解补充</a:t>
            </a:r>
          </a:p>
          <a:p xmlns:a="http://schemas.openxmlformats.org/drawingml/2006/main">
            <a:r>
              <a:t>这些是制度建议而非已生效的全球法律。PNAS 2020论文用模型讨论国际协调的轨道使用费，可作为激励设计的依据，不应把特定模型收益预测当作确定结果。清理其他主体空间物体还涉及管辖、控制与许可，必须取得适当授权。收费不应替代安全硬约束，也需要考虑科学与公共服务任务的公平接入。</a:t>
            </a:r>
          </a:p>
          <a:p xmlns:a="http://schemas.openxmlformats.org/drawingml/2006/main">
            <a:r>
              <a:t/>
            </a:r>
          </a:p>
          <a:p xmlns:a="http://schemas.openxmlformats.org/drawingml/2006/main">
            <a:r>
              <a:t>资料来源</a:t>
            </a:r>
          </a:p>
          <a:p xmlns:a="http://schemas.openxmlformats.org/drawingml/2006/main">
            <a:r>
              <a:t>Rao, Burgess &amp; Kaffine，PNAS (2020)</a:t>
            </a:r>
          </a:p>
          <a:p xmlns:a="http://schemas.openxmlformats.org/drawingml/2006/main">
            <a:r>
              <a:t>https://pmc.ncbi.nlm.nih.gov/articles/PMC7293599/</a:t>
            </a:r>
          </a:p>
          <a:p xmlns:a="http://schemas.openxmlformats.org/drawingml/2006/main">
            <a:r>
              <a:t/>
            </a:r>
          </a:p>
          <a:p xmlns:a="http://schemas.openxmlformats.org/drawingml/2006/main">
            <a:r>
              <a:t>UNOOSA，《外空条约》全文</a:t>
            </a:r>
          </a:p>
          <a:p xmlns:a="http://schemas.openxmlformats.org/drawingml/2006/main">
            <a:r>
              <a:t>https://www.unoosa.org/oosa/en/ourwork/spacelaw/treaties/outerspacetreaty.html</a:t>
            </a:r>
          </a:p>
          <a:p xmlns:a="http://schemas.openxmlformats.org/drawingml/2006/main">
            <a:r>
              <a:t/>
            </a:r>
          </a:p>
          <a:p xmlns:a="http://schemas.openxmlformats.org/drawingml/2006/main">
            <a:r>
              <a:t>FCC，低轨卫星五年离轨规则，2022-09-29</a:t>
            </a:r>
          </a:p>
          <a:p xmlns:a="http://schemas.openxmlformats.org/drawingml/2006/main">
            <a:r>
              <a:t>https://docs.fcc.gov/public/attachments/DOC-387720A1.pdf</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正文第25页　总结发言人</a:t>
            </a:r>
          </a:p>
          <a:p xmlns:a="http://schemas.openxmlformats.org/drawingml/2006/main">
            <a:r>
              <a:t>轨道扩张带来的工程伦理警示</a:t>
            </a:r>
          </a:p>
          <a:p xmlns:a="http://schemas.openxmlformats.org/drawingml/2006/main">
            <a:r>
              <a:t/>
            </a:r>
          </a:p>
          <a:p xmlns:a="http://schemas.openxmlformats.org/drawingml/2006/main">
            <a:r>
              <a:t>讲解补充</a:t>
            </a:r>
          </a:p>
          <a:p xmlns:a="http://schemas.openxmlformats.org/drawingml/2006/main">
            <a:r>
              <a:t>不能将现有星链一概描述为没有离轨机制。更准确的技术问题是计划是否可信、失效时能否执行、长期累积暴露是否可接受。科研光污染与碎片碰撞是不同机制，治理中需要分别量化，再综合评估。</a:t>
            </a:r>
          </a:p>
          <a:p xmlns:a="http://schemas.openxmlformats.org/drawingml/2006/main">
            <a:r>
              <a:t/>
            </a:r>
          </a:p>
          <a:p xmlns:a="http://schemas.openxmlformats.org/drawingml/2006/main">
            <a:r>
              <a:t>资料来源</a:t>
            </a:r>
          </a:p>
          <a:p xmlns:a="http://schemas.openxmlformats.org/drawingml/2006/main">
            <a:r>
              <a:t>ESA Space Environment Report 2025</a:t>
            </a:r>
          </a:p>
          <a:p xmlns:a="http://schemas.openxmlformats.org/drawingml/2006/main">
            <a:r>
              <a:t>https://www.esa.int/Space_Safety/Space_Debris/ESA_Space_Environment_Report_2025</a:t>
            </a:r>
          </a:p>
          <a:p xmlns:a="http://schemas.openxmlformats.org/drawingml/2006/main">
            <a:r>
              <a:t/>
            </a:r>
          </a:p>
          <a:p xmlns:a="http://schemas.openxmlformats.org/drawingml/2006/main">
            <a:r>
              <a:t>Starlink Collision Avoidance CONOPS，访问于2026-09-29</a:t>
            </a:r>
          </a:p>
          <a:p xmlns:a="http://schemas.openxmlformats.org/drawingml/2006/main">
            <a:r>
              <a:t>https://space-safety.starlink.com/docs/space-safety-articles/starlink_cola_conops/</a:t>
            </a:r>
          </a:p>
          <a:p xmlns:a="http://schemas.openxmlformats.org/drawingml/2006/main">
            <a:r>
              <a:t/>
            </a:r>
          </a:p>
          <a:p xmlns:a="http://schemas.openxmlformats.org/drawingml/2006/main">
            <a:r>
              <a:t>UNOOSA，《外空条约》全文</a:t>
            </a:r>
          </a:p>
          <a:p xmlns:a="http://schemas.openxmlformats.org/drawingml/2006/main">
            <a:r>
              <a:t>https://www.unoosa.org/oosa/en/ourwork/spacelaw/treaties/outerspacetreaty.html</a:t>
            </a:r>
          </a:p>
          <a:p xmlns:a="http://schemas.openxmlformats.org/drawingml/2006/main">
            <a:r>
              <a:t/>
            </a:r>
          </a:p>
          <a:p xmlns:a="http://schemas.openxmlformats.org/drawingml/2006/main">
            <a:r>
              <a:t>Rao, Burgess &amp; Kaffine，PNAS (2020)</a:t>
            </a:r>
          </a:p>
          <a:p xmlns:a="http://schemas.openxmlformats.org/drawingml/2006/main">
            <a:r>
              <a:t>https://pmc.ncbi.nlm.nih.gov/articles/PMC7293599/</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正文第26页　总结发言人</a:t>
            </a:r>
          </a:p>
          <a:p xmlns:a="http://schemas.openxmlformats.org/drawingml/2006/main">
            <a:r>
              <a:t>工程伦理闭环</a:t>
            </a:r>
          </a:p>
          <a:p xmlns:a="http://schemas.openxmlformats.org/drawingml/2006/main">
            <a:r>
              <a:t/>
            </a:r>
          </a:p>
          <a:p xmlns:a="http://schemas.openxmlformats.org/drawingml/2006/main">
            <a:r>
              <a:t>讲解补充</a:t>
            </a:r>
          </a:p>
          <a:p xmlns:a="http://schemas.openxmlformats.org/drawingml/2006/main">
            <a:r>
              <a:t>闭环的反馈不只是“改进技术”口号。每轮应产出具体证据：失效统计、第三方影响评估、责任与赔付方案、修订后的设计和准入要求。改进效果由后续数据检验；如果残余风险依旧不可接受，应减缓部署、修改轨道或限制规模。该闭环是课程分析框架，不是某机构现有标准的逐条复制。</a:t>
            </a:r>
          </a:p>
          <a:p xmlns:a="http://schemas.openxmlformats.org/drawingml/2006/main">
            <a:r>
              <a:t/>
            </a:r>
          </a:p>
          <a:p xmlns:a="http://schemas.openxmlformats.org/drawingml/2006/main">
            <a:r>
              <a:t>资料来源</a:t>
            </a:r>
          </a:p>
          <a:p xmlns:a="http://schemas.openxmlformats.org/drawingml/2006/main">
            <a:r>
              <a:t>CrowdStrike，Channel File 291 RCA，2024-08-06</a:t>
            </a:r>
          </a:p>
          <a:p xmlns:a="http://schemas.openxmlformats.org/drawingml/2006/main">
            <a:r>
              <a:t>https://www.crowdstrike.com/wp-content/uploads/2024/08/Channel-File-291-Incident-Root-Cause-Analysis-08.06.2024.pdf</a:t>
            </a:r>
          </a:p>
          <a:p xmlns:a="http://schemas.openxmlformats.org/drawingml/2006/main">
            <a:r>
              <a:t/>
            </a:r>
          </a:p>
          <a:p xmlns:a="http://schemas.openxmlformats.org/drawingml/2006/main">
            <a:r>
              <a:t>UNOOSA，《外空条约》全文</a:t>
            </a:r>
          </a:p>
          <a:p xmlns:a="http://schemas.openxmlformats.org/drawingml/2006/main">
            <a:r>
              <a:t>https://www.unoosa.org/oosa/en/ourwork/spacelaw/treaties/outerspacetreaty.html</a:t>
            </a:r>
          </a:p>
          <a:p xmlns:a="http://schemas.openxmlformats.org/drawingml/2006/main">
            <a:r>
              <a:t/>
            </a:r>
          </a:p>
          <a:p xmlns:a="http://schemas.openxmlformats.org/drawingml/2006/main">
            <a:r>
              <a:t>Rao, Burgess &amp; Kaffine，PNAS (2020)</a:t>
            </a:r>
          </a:p>
          <a:p xmlns:a="http://schemas.openxmlformats.org/drawingml/2006/main">
            <a:r>
              <a:t>https://pmc.ncbi.nlm.nih.gov/articles/PMC7293599/</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正文第27页　总结发言人</a:t>
            </a:r>
          </a:p>
          <a:p xmlns:a="http://schemas.openxmlformats.org/drawingml/2006/main">
            <a:r>
              <a:t>核心结论与呼吁</a:t>
            </a:r>
          </a:p>
          <a:p xmlns:a="http://schemas.openxmlformats.org/drawingml/2006/main">
            <a:r>
              <a:t/>
            </a:r>
          </a:p>
          <a:p xmlns:a="http://schemas.openxmlformats.org/drawingml/2006/main">
            <a:r>
              <a:t>讲解补充</a:t>
            </a:r>
          </a:p>
          <a:p xmlns:a="http://schemas.openxmlformats.org/drawingml/2006/main">
            <a:r>
              <a:t>结尾呼吁采用警示性修辞，不能当作人类必然无法进入太空的科学预言。可实施的近期开端是统一报告、履约保证和独立数据校验。此后按轨道环境证据持续调整风险上限，既维护空间利用的价值，也保留未来世代的选择。</a:t>
            </a:r>
          </a:p>
          <a:p xmlns:a="http://schemas.openxmlformats.org/drawingml/2006/main">
            <a:r>
              <a:t/>
            </a:r>
          </a:p>
          <a:p xmlns:a="http://schemas.openxmlformats.org/drawingml/2006/main">
            <a:r>
              <a:t>资料来源</a:t>
            </a:r>
          </a:p>
          <a:p xmlns:a="http://schemas.openxmlformats.org/drawingml/2006/main">
            <a:r>
              <a:t>UNOOSA，《外空条约》全文</a:t>
            </a:r>
          </a:p>
          <a:p xmlns:a="http://schemas.openxmlformats.org/drawingml/2006/main">
            <a:r>
              <a:t>https://www.unoosa.org/oosa/en/ourwork/spacelaw/treaties/outerspacetreaty.html</a:t>
            </a:r>
          </a:p>
          <a:p xmlns:a="http://schemas.openxmlformats.org/drawingml/2006/main">
            <a:r>
              <a:t/>
            </a:r>
          </a:p>
          <a:p xmlns:a="http://schemas.openxmlformats.org/drawingml/2006/main">
            <a:r>
              <a:t>ESA Space Environment Report 2025</a:t>
            </a:r>
          </a:p>
          <a:p xmlns:a="http://schemas.openxmlformats.org/drawingml/2006/main">
            <a:r>
              <a:t>https://www.esa.int/Space_Safety/Space_Debris/ESA_Space_Environment_Report_2025</a:t>
            </a:r>
          </a:p>
          <a:p xmlns:a="http://schemas.openxmlformats.org/drawingml/2006/main">
            <a:r>
              <a:t/>
            </a:r>
          </a:p>
          <a:p xmlns:a="http://schemas.openxmlformats.org/drawingml/2006/main">
            <a:r>
              <a:t>Rao, Burgess &amp; Kaffine，PNAS (2020)</a:t>
            </a:r>
          </a:p>
          <a:p xmlns:a="http://schemas.openxmlformats.org/drawingml/2006/main">
            <a:r>
              <a:t>https://pmc.ncbi.nlm.nih.gov/articles/PMC7293599/</a:t>
            </a:r>
          </a:p>
          <a:p xmlns:a="http://schemas.openxmlformats.org/drawingml/2006/main">
            <a:r>
              <a:t/>
            </a:r>
          </a:p>
          <a:p xmlns:a="http://schemas.openxmlformats.org/drawingml/2006/main">
            <a:r>
              <a:t>网页资料访问日期：2026年9月29日。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9b0ecbcc2047c6" /><Relationship Type="http://schemas.openxmlformats.org/officeDocument/2006/relationships/image" Target="/ppt/media/image.jpeg" Id="R2ddb7b8ec0464e40" /><Relationship Type="http://schemas.openxmlformats.org/officeDocument/2006/relationships/image" Target="/ppt/media/image.png" Id="R7435693e3cf541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f1dcb2b3cd34021" /><Relationship Type="http://schemas.openxmlformats.org/officeDocument/2006/relationships/image" Target="/ppt/media/image2.jpeg" Id="R81f3eb6052b24468" /><Relationship Type="http://schemas.openxmlformats.org/officeDocument/2006/relationships/image" Target="/ppt/media/image2.png" Id="Rc4b4fefd85514a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0461f27fdf4d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7dac665ea64b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5740c7fc9794b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0e3a5853854ace" /><Relationship Type="http://schemas.openxmlformats.org/officeDocument/2006/relationships/image" Target="/ppt/media/image.png" Id="Rbd59165248e54c5a" /></Relationships>
</file>

<file path=ppt/slideLayouts/slideLayout1.xml><?xml version="1.0" encoding="utf-8"?>
<p:sldLayout xmlns:p="http://schemas.openxmlformats.org/presentationml/2006/main" showMasterSp="0" type="title" preserve="1" userDrawn="1">
  <p:cSld name="标题幻灯片">
    <p:spTree>
      <p:nvGrpSpPr>
        <p:cNvPr id="1" name=""/>
        <p:cNvGrpSpPr/>
        <p:nvPr/>
      </p:nvGrpSpPr>
      <p:grpSpPr>
        <a:xfrm xmlns:a="http://schemas.openxmlformats.org/drawingml/2006/main"/>
      </p:grpSpPr>
      <p:pic>
        <p:nvPicPr>
          <p:cNvPr id="9804" name="Picture 41"/>
          <p:cNvPicPr>
            <a:picLocks xmlns:a="http://schemas.openxmlformats.org/drawingml/2006/main" noChangeAspect="1"/>
          </p:cNvPicPr>
          <p:nvPr/>
        </p:nvPicPr>
        <p:blipFill>
          <a:blip xmlns:r="http://schemas.openxmlformats.org/officeDocument/2006/relationships" xmlns:a="http://schemas.openxmlformats.org/drawingml/2006/main" r:embed="R2ddb7b8ec0464e4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6" name="í$ľîḓè">
            <a:extLst xmlns:a="http://schemas.openxmlformats.org/drawingml/2006/main">
              <a:ext uri="{FF2B5EF4-FFF2-40B4-BE49-F238E27FC236}">
                <a16:creationId xmlns:a16="http://schemas.microsoft.com/office/drawing/2014/main" id="{39121CC9-492B-472F-AB60-7D1F2427930D}"/>
              </a:ext>
            </a:extLst>
          </p:cNvPr>
          <p:cNvSpPr>
            <a:spLocks xmlns:a="http://schemas.openxmlformats.org/drawingml/2006/main" noGrp="1"/>
          </p:cNvSpPr>
          <p:nvPr/>
        </p:nvSpPr>
        <p:spPr>
          <a:xfrm xmlns:a="http://schemas.openxmlformats.org/drawingml/2006/main">
            <a:off x="-3604" y="0"/>
            <a:ext cx="12192000" cy="6858000"/>
          </a:xfrm>
          <a:prstGeom xmlns:a="http://schemas.openxmlformats.org/drawingml/2006/main" prst="rect">
            <a:avLst/>
          </a:prstGeom>
          <a:solidFill xmlns:a="http://schemas.openxmlformats.org/drawingml/2006/main">
            <a:schemeClr val="bg1">
              <a:alpha val="94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îṩ1idê">
            <a:extLst xmlns:a="http://schemas.openxmlformats.org/drawingml/2006/main">
              <a:ext uri="{FF2B5EF4-FFF2-40B4-BE49-F238E27FC236}">
                <a16:creationId xmlns:a16="http://schemas.microsoft.com/office/drawing/2014/main" id="{DE7B807E-E01A-4AFD-9A50-20210CD7B21B}"/>
              </a:ext>
            </a:extLst>
          </p:cNvPr>
          <p:cNvSpPr>
            <a:spLocks xmlns:a="http://schemas.openxmlformats.org/drawingml/2006/main" noGrp="1"/>
          </p:cNvSpPr>
          <p:nvPr/>
        </p:nvSpPr>
        <p:spPr>
          <a:xfrm xmlns:a="http://schemas.openxmlformats.org/drawingml/2006/main">
            <a:off x="5721772" y="0"/>
            <a:ext cx="6470228" cy="6074237"/>
          </a:xfrm>
          <a:custGeom xmlns:a="http://schemas.openxmlformats.org/drawingml/2006/main">
            <a:gdLst>
              <a:gd name="connsiteX0" fmla="*/ 2441939 w 6470228"/>
              <a:gd name="connsiteY0" fmla="*/ 0 h 6074237"/>
              <a:gd name="connsiteX1" fmla="*/ 6470228 w 6470228"/>
              <a:gd name="connsiteY1" fmla="*/ 0 h 6074237"/>
              <a:gd name="connsiteX2" fmla="*/ 6470228 w 6470228"/>
              <a:gd name="connsiteY2" fmla="*/ 2453916 h 6074237"/>
              <a:gd name="connsiteX3" fmla="*/ 4110930 w 6470228"/>
              <a:gd name="connsiteY3" fmla="*/ 5247423 h 6074237"/>
              <a:gd name="connsiteX4" fmla="*/ 826815 w 6470228"/>
              <a:gd name="connsiteY4" fmla="*/ 5524165 h 6074237"/>
              <a:gd name="connsiteX5" fmla="*/ 826816 w 6470228"/>
              <a:gd name="connsiteY5" fmla="*/ 5524165 h 6074237"/>
              <a:gd name="connsiteX6" fmla="*/ 550073 w 6470228"/>
              <a:gd name="connsiteY6" fmla="*/ 2240050 h 6074237"/>
            </a:gdLst>
            <a:rect l="l" t="t" r="r" b="b"/>
            <a:pathLst>
              <a:path w="6470228" h="6074237">
                <a:moveTo>
                  <a:pt x="2441939" y="0"/>
                </a:moveTo>
                <a:lnTo>
                  <a:pt x="6470228" y="0"/>
                </a:lnTo>
                <a:lnTo>
                  <a:pt x="6470228" y="2453916"/>
                </a:lnTo>
                <a:lnTo>
                  <a:pt x="4110930" y="5247423"/>
                </a:lnTo>
                <a:cubicBezTo>
                  <a:pt x="3280467" y="6230727"/>
                  <a:pt x="1810118" y="6354628"/>
                  <a:pt x="826815" y="5524165"/>
                </a:cubicBezTo>
                <a:lnTo>
                  <a:pt x="826816" y="5524165"/>
                </a:lnTo>
                <a:cubicBezTo>
                  <a:pt x="-156489" y="4693703"/>
                  <a:pt x="-280390" y="3223353"/>
                  <a:pt x="550073" y="2240050"/>
                </a:cubicBezTo>
                <a:close/>
              </a:path>
            </a:pathLst>
          </a:custGeom>
          <a:blipFill xmlns:a="http://schemas.openxmlformats.org/drawingml/2006/main">
            <a:blip xmlns:r="http://schemas.openxmlformats.org/officeDocument/2006/relationships" r:embed="R7435693e3cf54158">
              <a:duotone>
                <a:schemeClr val="accent5">
                  <a:shade val="45000"/>
                  <a:satMod val="135000"/>
                </a:schemeClr>
                <a:prstClr val="white"/>
              </a:duotone>
            </a:blip>
            <a:srcRect l="0" t="0" r="0" b="0"/>
            <a:stretch>
              <a:fillRect l="-10885" t="0" r="-10885"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8" name="ïṣḷíḋé">
            <a:extLst xmlns:a="http://schemas.openxmlformats.org/drawingml/2006/main">
              <a:ext uri="{FF2B5EF4-FFF2-40B4-BE49-F238E27FC236}">
                <a16:creationId xmlns:a16="http://schemas.microsoft.com/office/drawing/2014/main" id="{15D53D93-35DC-4E96-95E2-01CE36D06BED}"/>
              </a:ext>
            </a:extLst>
          </p:cNvPr>
          <p:cNvSpPr>
            <a:spLocks xmlns:a="http://schemas.openxmlformats.org/drawingml/2006/main" noGrp="1"/>
          </p:cNvSpPr>
          <p:nvPr/>
        </p:nvSpPr>
        <p:spPr>
          <a:xfrm xmlns:a="http://schemas.openxmlformats.org/drawingml/2006/main">
            <a:off x="4906913" y="0"/>
            <a:ext cx="3955516" cy="3655904"/>
          </a:xfrm>
          <a:custGeom xmlns:a="http://schemas.openxmlformats.org/drawingml/2006/main">
            <a:gdLst>
              <a:gd name="connsiteX0" fmla="*/ 210268 w 3955516"/>
              <a:gd name="connsiteY0" fmla="*/ 3516016 h 3655904"/>
              <a:gd name="connsiteX1" fmla="*/ 210268 w 3955516"/>
              <a:gd name="connsiteY1" fmla="*/ 3516016 h 3655904"/>
              <a:gd name="connsiteX2" fmla="*/ 210268 w 3955516"/>
              <a:gd name="connsiteY2" fmla="*/ 3516016 h 3655904"/>
              <a:gd name="connsiteX3" fmla="*/ 2404025 w 3955516"/>
              <a:gd name="connsiteY3" fmla="*/ 0 h 3655904"/>
              <a:gd name="connsiteX4" fmla="*/ 3955516 w 3955516"/>
              <a:gd name="connsiteY4" fmla="*/ 0 h 3655904"/>
              <a:gd name="connsiteX5" fmla="*/ 1045452 w 3955516"/>
              <a:gd name="connsiteY5" fmla="*/ 3445637 h 3655904"/>
              <a:gd name="connsiteX6" fmla="*/ 309288 w 3955516"/>
              <a:gd name="connsiteY6" fmla="*/ 3583884 h 3655904"/>
              <a:gd name="connsiteX7" fmla="*/ 210268 w 3955516"/>
              <a:gd name="connsiteY7" fmla="*/ 3516016 h 3655904"/>
              <a:gd name="connsiteX8" fmla="*/ 126786 w 3955516"/>
              <a:gd name="connsiteY8" fmla="*/ 3429750 h 3655904"/>
              <a:gd name="connsiteX9" fmla="*/ 139890 w 3955516"/>
              <a:gd name="connsiteY9" fmla="*/ 2680831 h 3655904"/>
            </a:gdLst>
            <a:rect l="l" t="t" r="r" b="b"/>
            <a:pathLst>
              <a:path w="3955516" h="3655904">
                <a:moveTo>
                  <a:pt x="210268" y="3516016"/>
                </a:moveTo>
                <a:lnTo>
                  <a:pt x="210268" y="3516016"/>
                </a:lnTo>
                <a:lnTo>
                  <a:pt x="210268" y="3516016"/>
                </a:lnTo>
                <a:close/>
                <a:moveTo>
                  <a:pt x="2404025" y="0"/>
                </a:moveTo>
                <a:lnTo>
                  <a:pt x="3955516" y="0"/>
                </a:lnTo>
                <a:lnTo>
                  <a:pt x="1045452" y="3445637"/>
                </a:lnTo>
                <a:cubicBezTo>
                  <a:pt x="860656" y="3664444"/>
                  <a:pt x="551270" y="3715919"/>
                  <a:pt x="309288" y="3583884"/>
                </a:cubicBezTo>
                <a:lnTo>
                  <a:pt x="210268" y="3516016"/>
                </a:lnTo>
                <a:lnTo>
                  <a:pt x="126786" y="3429750"/>
                </a:lnTo>
                <a:cubicBezTo>
                  <a:pt x="-43881" y="3213275"/>
                  <a:pt x="-44906" y="2899638"/>
                  <a:pt x="139890" y="2680831"/>
                </a:cubicBezTo>
                <a:close/>
              </a:path>
            </a:pathLst>
          </a:custGeom>
          <a:solidFill xmlns:a="http://schemas.openxmlformats.org/drawingml/2006/main">
            <a:schemeClr val="accent3">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9" name="iş1îḑé">
            <a:extLst xmlns:a="http://schemas.openxmlformats.org/drawingml/2006/main">
              <a:ext uri="{FF2B5EF4-FFF2-40B4-BE49-F238E27FC236}">
                <a16:creationId xmlns:a16="http://schemas.microsoft.com/office/drawing/2014/main" id="{729DEC4C-6670-452D-9EAA-A600ABE860D6}"/>
              </a:ext>
            </a:extLst>
          </p:cNvPr>
          <p:cNvSpPr>
            <a:spLocks xmlns:a="http://schemas.openxmlformats.org/drawingml/2006/main" noGrp="1"/>
          </p:cNvSpPr>
          <p:nvPr/>
        </p:nvSpPr>
        <p:spPr>
          <a:xfrm xmlns:a="http://schemas.openxmlformats.org/drawingml/2006/main">
            <a:off x="10490882" y="2022031"/>
            <a:ext cx="1697514" cy="2819365"/>
          </a:xfrm>
          <a:custGeom xmlns:a="http://schemas.openxmlformats.org/drawingml/2006/main">
            <a:gdLst>
              <a:gd name="connsiteX0" fmla="*/ 1697514 w 1697514"/>
              <a:gd name="connsiteY0" fmla="*/ 0 h 2819365"/>
              <a:gd name="connsiteX1" fmla="*/ 1697514 w 1697514"/>
              <a:gd name="connsiteY1" fmla="*/ 1837030 h 2819365"/>
              <a:gd name="connsiteX2" fmla="*/ 1045452 w 1697514"/>
              <a:gd name="connsiteY2" fmla="*/ 2609099 h 2819365"/>
              <a:gd name="connsiteX3" fmla="*/ 210267 w 1697514"/>
              <a:gd name="connsiteY3" fmla="*/ 2679477 h 2819365"/>
              <a:gd name="connsiteX4" fmla="*/ 210268 w 1697514"/>
              <a:gd name="connsiteY4" fmla="*/ 2679478 h 2819365"/>
              <a:gd name="connsiteX5" fmla="*/ 139890 w 1697514"/>
              <a:gd name="connsiteY5" fmla="*/ 1844292 h 2819365"/>
            </a:gdLst>
            <a:rect l="l" t="t" r="r" b="b"/>
            <a:pathLst>
              <a:path w="1697514" h="2819365">
                <a:moveTo>
                  <a:pt x="1697514" y="0"/>
                </a:moveTo>
                <a:lnTo>
                  <a:pt x="1697514" y="1837030"/>
                </a:lnTo>
                <a:lnTo>
                  <a:pt x="1045452" y="2609099"/>
                </a:lnTo>
                <a:cubicBezTo>
                  <a:pt x="834257" y="2859163"/>
                  <a:pt x="460332" y="2890672"/>
                  <a:pt x="210267" y="2679477"/>
                </a:cubicBezTo>
                <a:lnTo>
                  <a:pt x="210268" y="2679478"/>
                </a:lnTo>
                <a:cubicBezTo>
                  <a:pt x="-39796" y="2468282"/>
                  <a:pt x="-71306" y="2094357"/>
                  <a:pt x="139890" y="1844292"/>
                </a:cubicBezTo>
                <a:close/>
              </a:path>
            </a:pathLst>
          </a:custGeom>
          <a:solidFill xmlns:a="http://schemas.openxmlformats.org/drawingml/2006/main">
            <a:schemeClr val="accent3">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0" name="í$ḻïḓé">
            <a:extLst xmlns:a="http://schemas.openxmlformats.org/drawingml/2006/main">
              <a:ext uri="{FF2B5EF4-FFF2-40B4-BE49-F238E27FC236}">
                <a16:creationId xmlns:a16="http://schemas.microsoft.com/office/drawing/2014/main" id="{41844EB8-6924-4FA7-BD8C-153CC5338BA7}"/>
              </a:ext>
            </a:extLst>
          </p:cNvPr>
          <p:cNvSpPr>
            <a:spLocks xmlns:a="http://schemas.openxmlformats.org/drawingml/2006/main" noGrp="1"/>
          </p:cNvSpPr>
          <p:nvPr/>
        </p:nvSpPr>
        <p:spPr>
          <a:xfrm xmlns:a="http://schemas.openxmlformats.org/drawingml/2006/main">
            <a:off x="10073794" y="2366994"/>
            <a:ext cx="2118206" cy="3564196"/>
          </a:xfrm>
          <a:custGeom xmlns:a="http://schemas.openxmlformats.org/drawingml/2006/main">
            <a:gdLst>
              <a:gd name="connsiteX0" fmla="*/ 2118206 w 2118206"/>
              <a:gd name="connsiteY0" fmla="*/ 0 h 3564196"/>
              <a:gd name="connsiteX1" fmla="*/ 2118206 w 2118206"/>
              <a:gd name="connsiteY1" fmla="*/ 2396948 h 3564196"/>
              <a:gd name="connsiteX2" fmla="*/ 1364100 w 2118206"/>
              <a:gd name="connsiteY2" fmla="*/ 3289841 h 3564196"/>
              <a:gd name="connsiteX3" fmla="*/ 274355 w 2118206"/>
              <a:gd name="connsiteY3" fmla="*/ 3381670 h 3564196"/>
              <a:gd name="connsiteX4" fmla="*/ 274356 w 2118206"/>
              <a:gd name="connsiteY4" fmla="*/ 3381671 h 3564196"/>
              <a:gd name="connsiteX5" fmla="*/ 182527 w 2118206"/>
              <a:gd name="connsiteY5" fmla="*/ 2291926 h 3564196"/>
            </a:gdLst>
            <a:rect l="l" t="t" r="r" b="b"/>
            <a:pathLst>
              <a:path w="2118206" h="3564196">
                <a:moveTo>
                  <a:pt x="2118206" y="0"/>
                </a:moveTo>
                <a:lnTo>
                  <a:pt x="2118206" y="2396948"/>
                </a:lnTo>
                <a:lnTo>
                  <a:pt x="1364100" y="3289841"/>
                </a:lnTo>
                <a:cubicBezTo>
                  <a:pt x="1088533" y="3616123"/>
                  <a:pt x="600638" y="3657237"/>
                  <a:pt x="274355" y="3381670"/>
                </a:cubicBezTo>
                <a:lnTo>
                  <a:pt x="274356" y="3381671"/>
                </a:lnTo>
                <a:cubicBezTo>
                  <a:pt x="-51927" y="3106104"/>
                  <a:pt x="-93040" y="2618208"/>
                  <a:pt x="182527" y="2291926"/>
                </a:cubicBezTo>
                <a:close/>
              </a:path>
            </a:pathLst>
          </a:custGeom>
          <a:solidFill xmlns:a="http://schemas.openxmlformats.org/drawingml/2006/main">
            <a:schemeClr val="accent3">
              <a:lumMod val="40000"/>
              <a:lumOff val="6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1" name="ïŝļîḍè">
            <a:extLst xmlns:a="http://schemas.openxmlformats.org/drawingml/2006/main">
              <a:ext uri="{FF2B5EF4-FFF2-40B4-BE49-F238E27FC236}">
                <a16:creationId xmlns:a16="http://schemas.microsoft.com/office/drawing/2014/main" id="{C9A33AB4-1CF5-41FD-AFD9-8EAFEBEF518F}"/>
              </a:ext>
            </a:extLst>
          </p:cNvPr>
          <p:cNvSpPr>
            <a:spLocks xmlns:a="http://schemas.openxmlformats.org/drawingml/2006/main" noGrp="1"/>
          </p:cNvSpPr>
          <p:nvPr/>
        </p:nvSpPr>
        <p:spPr>
          <a:xfrm xmlns:a="http://schemas.openxmlformats.org/drawingml/2006/main">
            <a:off x="5721772" y="0"/>
            <a:ext cx="6470228" cy="6074237"/>
          </a:xfrm>
          <a:custGeom xmlns:a="http://schemas.openxmlformats.org/drawingml/2006/main">
            <a:gdLst>
              <a:gd name="connsiteX0" fmla="*/ 2441939 w 6470228"/>
              <a:gd name="connsiteY0" fmla="*/ 0 h 6074237"/>
              <a:gd name="connsiteX1" fmla="*/ 6470228 w 6470228"/>
              <a:gd name="connsiteY1" fmla="*/ 0 h 6074237"/>
              <a:gd name="connsiteX2" fmla="*/ 6470228 w 6470228"/>
              <a:gd name="connsiteY2" fmla="*/ 2453916 h 6074237"/>
              <a:gd name="connsiteX3" fmla="*/ 4110930 w 6470228"/>
              <a:gd name="connsiteY3" fmla="*/ 5247423 h 6074237"/>
              <a:gd name="connsiteX4" fmla="*/ 826815 w 6470228"/>
              <a:gd name="connsiteY4" fmla="*/ 5524165 h 6074237"/>
              <a:gd name="connsiteX5" fmla="*/ 826816 w 6470228"/>
              <a:gd name="connsiteY5" fmla="*/ 5524165 h 6074237"/>
              <a:gd name="connsiteX6" fmla="*/ 550073 w 6470228"/>
              <a:gd name="connsiteY6" fmla="*/ 2240050 h 6074237"/>
            </a:gdLst>
            <a:rect l="l" t="t" r="r" b="b"/>
            <a:pathLst>
              <a:path w="6470228" h="6074237">
                <a:moveTo>
                  <a:pt x="2441939" y="0"/>
                </a:moveTo>
                <a:lnTo>
                  <a:pt x="6470228" y="0"/>
                </a:lnTo>
                <a:lnTo>
                  <a:pt x="6470228" y="2453916"/>
                </a:lnTo>
                <a:lnTo>
                  <a:pt x="4110930" y="5247423"/>
                </a:lnTo>
                <a:cubicBezTo>
                  <a:pt x="3280467" y="6230727"/>
                  <a:pt x="1810118" y="6354628"/>
                  <a:pt x="826815" y="5524165"/>
                </a:cubicBezTo>
                <a:lnTo>
                  <a:pt x="826816" y="5524165"/>
                </a:lnTo>
                <a:cubicBezTo>
                  <a:pt x="-156489" y="4693703"/>
                  <a:pt x="-280390" y="3223353"/>
                  <a:pt x="550073" y="2240050"/>
                </a:cubicBezTo>
                <a:close/>
              </a:path>
            </a:pathLst>
          </a:custGeom>
          <a:solidFill xmlns:a="http://schemas.openxmlformats.org/drawingml/2006/main">
            <a:schemeClr val="accent3">
              <a:alpha val="3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9801" name="副标题 9800">
            <a:extLst xmlns:a="http://schemas.openxmlformats.org/drawingml/2006/main">
              <a:ext uri="{FF2B5EF4-FFF2-40B4-BE49-F238E27FC236}">
                <a16:creationId xmlns:a16="http://schemas.microsoft.com/office/drawing/2014/main" id="{DA6414E8-E8B0-4209-9A36-8E452F67C50F}"/>
              </a:ext>
            </a:extLst>
          </p:cNvPr>
          <p:cNvSpPr>
            <a:spLocks xmlns:a="http://schemas.openxmlformats.org/drawingml/2006/main" noGrp="1"/>
          </p:cNvSpPr>
          <p:nvPr>
            <p:ph type="subTitle" idx="1" hasCustomPrompt="1"/>
          </p:nvPr>
        </p:nvSpPr>
        <p:spPr>
          <a:xfrm xmlns:a="http://schemas.openxmlformats.org/drawingml/2006/main">
            <a:off x="1071789" y="2069508"/>
            <a:ext cx="10447110" cy="558799"/>
          </a:xfrm>
        </p:spPr>
        <p:txBody>
          <a:bodyPr xmlns:a="http://schemas.openxmlformats.org/drawingml/2006/main" vert="horz" lIns="91440" tIns="45720" rIns="91440" bIns="45720" anchor="t">
            <a:normAutofit/>
          </a:bodyPr>
          <a:lstStyle xmlns:a="http://schemas.openxmlformats.org/drawingml/2006/main">
            <a:lvl1pPr marL="0" indent="0">
              <a:buNone/>
              <a:defRPr b="0" i="0" kern="2000" spc="2000">
                <a:solidFill>
                  <a:schemeClr val="accent3"/>
                </a:solidFill>
                <a:latin typeface="Microsoft YaHei"/>
                <a:ea typeface="Microsoft YaHei"/>
                <a:cs typeface="Microsoft YaHei"/>
              </a:defRPr>
            </a:lvl1pPr>
          </a:lstStyle>
          <a:p xmlns:a="http://schemas.openxmlformats.org/drawingml/2006/main">
            <a:pPr marL="228589" lvl="0" indent="-228589">
              <a:buNone/>
            </a:pPr>
            <a:r>
              <a:t>Click to edit Master subtitle style</a:t>
            </a:r>
          </a:p>
        </p:txBody>
      </p:sp>
      <p:sp>
        <p:nvSpPr>
          <p:cNvPr id="9802" name="标题 9801">
            <a:extLst xmlns:a="http://schemas.openxmlformats.org/drawingml/2006/main">
              <a:ext uri="{FF2B5EF4-FFF2-40B4-BE49-F238E27FC236}">
                <a16:creationId xmlns:a16="http://schemas.microsoft.com/office/drawing/2014/main" id="{F146C011-5A76-4D4D-A1E6-25DDE1EA26E3}"/>
              </a:ext>
            </a:extLst>
          </p:cNvPr>
          <p:cNvSpPr>
            <a:spLocks xmlns:a="http://schemas.openxmlformats.org/drawingml/2006/main" noGrp="1"/>
          </p:cNvSpPr>
          <p:nvPr>
            <p:ph type="ctrTitle" idx="0" hasCustomPrompt="1"/>
          </p:nvPr>
        </p:nvSpPr>
        <p:spPr>
          <a:xfrm xmlns:a="http://schemas.openxmlformats.org/drawingml/2006/main">
            <a:off x="1080509" y="2717966"/>
            <a:ext cx="10438390" cy="2087481"/>
          </a:xfrm>
        </p:spPr>
        <p:txBody>
          <a:bodyPr xmlns:a="http://schemas.openxmlformats.org/drawingml/2006/main" vert="horz" lIns="91440" tIns="45720" rIns="91440" bIns="45720" anchor="b">
            <a:normAutofit/>
          </a:bodyPr>
          <a:lstStyle xmlns:a="http://schemas.openxmlformats.org/drawingml/2006/main">
            <a:lvl1pPr marL="571500" indent="-571500">
              <a:buFont typeface="Arial"/>
              <a:buNone/>
              <a:defRPr sz="4000" b="0">
                <a:solidFill>
                  <a:schemeClr val="accent1">
                    <a:lumMod val="50000"/>
                  </a:schemeClr>
                </a:solidFill>
              </a:defRPr>
            </a:lvl1pPr>
          </a:lstStyle>
          <a:p xmlns:a="http://schemas.openxmlformats.org/drawingml/2006/main">
            <a:pPr marL="0" lvl="0" indent="0">
              <a:lnSpc>
                <a:spcPct val="100000"/>
              </a:lnSpc>
              <a:buFont typeface="Arial"/>
              <a:buNone/>
            </a:pPr>
            <a:r>
              <a:t>Click to edit Master title style</a:t>
            </a:r>
            <a:endParaRPr/>
          </a:p>
        </p:txBody>
      </p:sp>
      <p:sp>
        <p:nvSpPr>
          <p:cNvPr id="12" name="文本占位符 11">
            <a:extLst xmlns:a="http://schemas.openxmlformats.org/drawingml/2006/main">
              <a:ext uri="{FF2B5EF4-FFF2-40B4-BE49-F238E27FC236}">
                <a16:creationId xmlns:a16="http://schemas.microsoft.com/office/drawing/2014/main" id="{5EAAAEF1-CC2F-480F-AC80-E28B793721A2}"/>
              </a:ext>
            </a:extLst>
          </p:cNvPr>
          <p:cNvSpPr>
            <a:spLocks xmlns:a="http://schemas.openxmlformats.org/drawingml/2006/main" noGrp="1"/>
          </p:cNvSpPr>
          <p:nvPr>
            <p:ph type="body" idx="10" hasCustomPrompt="1"/>
          </p:nvPr>
        </p:nvSpPr>
        <p:spPr>
          <a:xfrm xmlns:a="http://schemas.openxmlformats.org/drawingml/2006/main">
            <a:off x="1071789" y="5387317"/>
            <a:ext cx="10447110" cy="296271"/>
          </a:xfrm>
        </p:spPr>
        <p:txBody>
          <a:bodyPr xmlns:a="http://schemas.openxmlformats.org/drawingml/2006/main" vert="horz" lIns="91440" tIns="45720" rIns="91440" bIns="45720" anchor="ctr">
            <a:noAutofit/>
          </a:bodyPr>
          <a:lstStyle xmlns:a="http://schemas.openxmlformats.org/drawingml/2006/main">
            <a:lvl1pPr marL="0" indent="0">
              <a:buNone/>
              <a:defRPr sz="1400" b="0">
                <a:solidFill>
                  <a:schemeClr val="tx2"/>
                </a:solidFill>
              </a:defRPr>
            </a:lvl1pPr>
          </a:lstStyle>
          <a:p xmlns:a="http://schemas.openxmlformats.org/drawingml/2006/main">
            <a:pPr marL="228589" lvl="0" indent="-228589">
              <a:buNone/>
            </a:pPr>
            <a:r>
              <a:t>Signature</a:t>
            </a:r>
          </a:p>
        </p:txBody>
      </p:sp>
      <p:sp>
        <p:nvSpPr>
          <p:cNvPr id="13" name="文本占位符 12">
            <a:extLst xmlns:a="http://schemas.openxmlformats.org/drawingml/2006/main">
              <a:ext uri="{FF2B5EF4-FFF2-40B4-BE49-F238E27FC236}">
                <a16:creationId xmlns:a16="http://schemas.microsoft.com/office/drawing/2014/main" id="{2ADDB71F-9566-4F28-B336-5375CEC2CA08}"/>
              </a:ext>
            </a:extLst>
          </p:cNvPr>
          <p:cNvSpPr>
            <a:spLocks xmlns:a="http://schemas.openxmlformats.org/drawingml/2006/main" noGrp="1"/>
          </p:cNvSpPr>
          <p:nvPr>
            <p:ph type="body" idx="11" hasCustomPrompt="1"/>
          </p:nvPr>
        </p:nvSpPr>
        <p:spPr>
          <a:xfrm xmlns:a="http://schemas.openxmlformats.org/drawingml/2006/main">
            <a:off x="1071789" y="5683588"/>
            <a:ext cx="10447110" cy="296271"/>
          </a:xfrm>
        </p:spPr>
        <p:txBody>
          <a:bodyPr xmlns:a="http://schemas.openxmlformats.org/drawingml/2006/main" vert="horz" lIns="91440" tIns="45720" rIns="91440" bIns="45720" anchor="ctr">
            <a:noAutofit/>
          </a:bodyPr>
          <a:lstStyle xmlns:a="http://schemas.openxmlformats.org/drawingml/2006/main">
            <a:lvl1pPr marL="0" indent="0">
              <a:buNone/>
              <a:defRPr sz="1400" b="0">
                <a:solidFill>
                  <a:schemeClr val="tx2"/>
                </a:solidFill>
              </a:defRPr>
            </a:lvl1pPr>
          </a:lstStyle>
          <a:p xmlns:a="http://schemas.openxmlformats.org/drawingml/2006/main">
            <a:pPr marL="228589" lvl="0" indent="-228589">
              <a:buNone/>
            </a:pPr>
            <a:r>
              <a:t>Date</a:t>
            </a:r>
            <a:endParaRPr/>
          </a:p>
        </p:txBody>
      </p:sp>
      <p:sp>
        <p:nvSpPr>
          <p:cNvPr id="16" name="íṡḷïdè">
            <a:extLst xmlns:a="http://schemas.openxmlformats.org/drawingml/2006/main">
              <a:ext uri="{FF2B5EF4-FFF2-40B4-BE49-F238E27FC236}">
                <a16:creationId xmlns:a16="http://schemas.microsoft.com/office/drawing/2014/main" id="{C9C1E94C-2E47-4839-BD57-269DDF0A0248}"/>
              </a:ext>
            </a:extLst>
          </p:cNvPr>
          <p:cNvSpPr>
            <a:spLocks xmlns:a="http://schemas.openxmlformats.org/drawingml/2006/main" noGrp="1"/>
          </p:cNvSpPr>
          <p:nvPr/>
        </p:nvSpPr>
        <p:spPr>
          <a:xfrm xmlns:a="http://schemas.openxmlformats.org/drawingml/2006/main" rot="0" flipH="0" flipV="0">
            <a:off x="1071789" y="916886"/>
            <a:ext cx="496619" cy="499112"/>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íṣ1îḑè">
            <a:extLst xmlns:a="http://schemas.openxmlformats.org/drawingml/2006/main">
              <a:ext uri="{FF2B5EF4-FFF2-40B4-BE49-F238E27FC236}">
                <a16:creationId xmlns:a16="http://schemas.microsoft.com/office/drawing/2014/main" id="{E30692F5-62AB-4E1C-B013-47986D1105E8}"/>
              </a:ext>
            </a:extLst>
          </p:cNvPr>
          <p:cNvSpPr>
            <a:spLocks xmlns:a="http://schemas.openxmlformats.org/drawingml/2006/main" noGrp="1"/>
          </p:cNvSpPr>
          <p:nvPr/>
        </p:nvSpPr>
        <p:spPr>
          <a:xfrm xmlns:a="http://schemas.openxmlformats.org/drawingml/2006/main" rot="0" flipH="0" flipV="0">
            <a:off x="1153591" y="999103"/>
            <a:ext cx="333017" cy="33467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ïs1ïḍê">
            <a:extLst xmlns:a="http://schemas.openxmlformats.org/drawingml/2006/main">
              <a:ext uri="{FF2B5EF4-FFF2-40B4-BE49-F238E27FC236}">
                <a16:creationId xmlns:a16="http://schemas.microsoft.com/office/drawing/2014/main" id="{A2A2899E-53F9-406B-ACFE-E199A7E73BB8}"/>
              </a:ext>
            </a:extLst>
          </p:cNvPr>
          <p:cNvSpPr>
            <a:spLocks xmlns:a="http://schemas.openxmlformats.org/drawingml/2006/main" noGrp="1"/>
          </p:cNvSpPr>
          <p:nvPr/>
        </p:nvSpPr>
        <p:spPr>
          <a:xfrm xmlns:a="http://schemas.openxmlformats.org/drawingml/2006/main" rot="0" flipH="0" flipV="0">
            <a:off x="1080509" y="1149418"/>
            <a:ext cx="60209" cy="40692"/>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išļïḋé">
            <a:extLst xmlns:a="http://schemas.openxmlformats.org/drawingml/2006/main">
              <a:ext uri="{FF2B5EF4-FFF2-40B4-BE49-F238E27FC236}">
                <a16:creationId xmlns:a16="http://schemas.microsoft.com/office/drawing/2014/main" id="{51DBB156-1DE8-48FD-9CB9-9AA3D7180C56}"/>
              </a:ext>
            </a:extLst>
          </p:cNvPr>
          <p:cNvSpPr>
            <a:spLocks xmlns:a="http://schemas.openxmlformats.org/drawingml/2006/main" noGrp="1"/>
          </p:cNvSpPr>
          <p:nvPr/>
        </p:nvSpPr>
        <p:spPr>
          <a:xfrm xmlns:a="http://schemas.openxmlformats.org/drawingml/2006/main" rot="0" flipH="0" flipV="0">
            <a:off x="1123694" y="1038135"/>
            <a:ext cx="43184" cy="38616"/>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íşḷîḋè">
            <a:extLst xmlns:a="http://schemas.openxmlformats.org/drawingml/2006/main">
              <a:ext uri="{FF2B5EF4-FFF2-40B4-BE49-F238E27FC236}">
                <a16:creationId xmlns:a16="http://schemas.microsoft.com/office/drawing/2014/main" id="{91BB4CBC-7C27-4E15-A850-D8401C643978}"/>
              </a:ext>
            </a:extLst>
          </p:cNvPr>
          <p:cNvSpPr>
            <a:spLocks xmlns:a="http://schemas.openxmlformats.org/drawingml/2006/main" noGrp="1"/>
          </p:cNvSpPr>
          <p:nvPr/>
        </p:nvSpPr>
        <p:spPr>
          <a:xfrm xmlns:a="http://schemas.openxmlformats.org/drawingml/2006/main" rot="0" flipH="0" flipV="0">
            <a:off x="1468753" y="1043948"/>
            <a:ext cx="53980" cy="52734"/>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ślídê">
            <a:extLst xmlns:a="http://schemas.openxmlformats.org/drawingml/2006/main">
              <a:ext uri="{FF2B5EF4-FFF2-40B4-BE49-F238E27FC236}">
                <a16:creationId xmlns:a16="http://schemas.microsoft.com/office/drawing/2014/main" id="{311EAFB6-5AA6-4C7B-AA29-57FA3AA5C1C7}"/>
              </a:ext>
            </a:extLst>
          </p:cNvPr>
          <p:cNvSpPr>
            <a:spLocks xmlns:a="http://schemas.openxmlformats.org/drawingml/2006/main" noGrp="1"/>
          </p:cNvSpPr>
          <p:nvPr/>
        </p:nvSpPr>
        <p:spPr>
          <a:xfrm xmlns:a="http://schemas.openxmlformats.org/drawingml/2006/main" rot="0" flipH="0" flipV="0">
            <a:off x="1497820" y="1147757"/>
            <a:ext cx="68928" cy="4318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ï$ḻîḋe">
            <a:extLst xmlns:a="http://schemas.openxmlformats.org/drawingml/2006/main">
              <a:ext uri="{FF2B5EF4-FFF2-40B4-BE49-F238E27FC236}">
                <a16:creationId xmlns:a16="http://schemas.microsoft.com/office/drawing/2014/main" id="{7FC06178-89EF-406E-90A7-6E036FF2E402}"/>
              </a:ext>
            </a:extLst>
          </p:cNvPr>
          <p:cNvSpPr>
            <a:spLocks xmlns:a="http://schemas.openxmlformats.org/drawingml/2006/main" noGrp="1"/>
          </p:cNvSpPr>
          <p:nvPr/>
        </p:nvSpPr>
        <p:spPr>
          <a:xfrm xmlns:a="http://schemas.openxmlformats.org/drawingml/2006/main" rot="0" flipH="0" flipV="0">
            <a:off x="1214215" y="935157"/>
            <a:ext cx="52734" cy="68098"/>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îŝḷîḓé">
            <a:extLst xmlns:a="http://schemas.openxmlformats.org/drawingml/2006/main">
              <a:ext uri="{FF2B5EF4-FFF2-40B4-BE49-F238E27FC236}">
                <a16:creationId xmlns:a16="http://schemas.microsoft.com/office/drawing/2014/main" id="{360A0ED6-F5EB-4B85-8BEB-170C2CA34DFD}"/>
              </a:ext>
            </a:extLst>
          </p:cNvPr>
          <p:cNvSpPr>
            <a:spLocks xmlns:a="http://schemas.openxmlformats.org/drawingml/2006/main" noGrp="1"/>
          </p:cNvSpPr>
          <p:nvPr/>
        </p:nvSpPr>
        <p:spPr>
          <a:xfrm xmlns:a="http://schemas.openxmlformats.org/drawingml/2006/main" rot="0" flipH="0" flipV="0">
            <a:off x="1365775" y="949690"/>
            <a:ext cx="62285" cy="58132"/>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íşlîḑé">
            <a:extLst xmlns:a="http://schemas.openxmlformats.org/drawingml/2006/main">
              <a:ext uri="{FF2B5EF4-FFF2-40B4-BE49-F238E27FC236}">
                <a16:creationId xmlns:a16="http://schemas.microsoft.com/office/drawing/2014/main" id="{5EBE9075-CB89-4B07-BF6B-F76C14A6A250}"/>
              </a:ext>
            </a:extLst>
          </p:cNvPr>
          <p:cNvSpPr>
            <a:spLocks xmlns:a="http://schemas.openxmlformats.org/drawingml/2006/main" noGrp="1"/>
          </p:cNvSpPr>
          <p:nvPr/>
        </p:nvSpPr>
        <p:spPr>
          <a:xfrm xmlns:a="http://schemas.openxmlformats.org/drawingml/2006/main" rot="0" flipH="0" flipV="0">
            <a:off x="1260721" y="1353713"/>
            <a:ext cx="131213" cy="42353"/>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ïṣliḍe">
            <a:extLst xmlns:a="http://schemas.openxmlformats.org/drawingml/2006/main">
              <a:ext uri="{FF2B5EF4-FFF2-40B4-BE49-F238E27FC236}">
                <a16:creationId xmlns:a16="http://schemas.microsoft.com/office/drawing/2014/main" id="{E60C8BD0-583B-4A7B-85AA-4B0DCBCCF7E9}"/>
              </a:ext>
            </a:extLst>
          </p:cNvPr>
          <p:cNvSpPr>
            <a:spLocks xmlns:a="http://schemas.openxmlformats.org/drawingml/2006/main" noGrp="1"/>
          </p:cNvSpPr>
          <p:nvPr/>
        </p:nvSpPr>
        <p:spPr>
          <a:xfrm xmlns:a="http://schemas.openxmlformats.org/drawingml/2006/main" rot="0" flipH="0" flipV="0">
            <a:off x="1194284" y="1012806"/>
            <a:ext cx="276961" cy="278622"/>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îṧľîḍe">
            <a:extLst xmlns:a="http://schemas.openxmlformats.org/drawingml/2006/main">
              <a:ext uri="{FF2B5EF4-FFF2-40B4-BE49-F238E27FC236}">
                <a16:creationId xmlns:a16="http://schemas.microsoft.com/office/drawing/2014/main" id="{F7520B1E-9FF6-4490-9AF5-A6CD7BC5F07A}"/>
              </a:ext>
            </a:extLst>
          </p:cNvPr>
          <p:cNvSpPr>
            <a:spLocks xmlns:a="http://schemas.openxmlformats.org/drawingml/2006/main" noGrp="1"/>
          </p:cNvSpPr>
          <p:nvPr/>
        </p:nvSpPr>
        <p:spPr>
          <a:xfrm xmlns:a="http://schemas.openxmlformats.org/drawingml/2006/main" rot="0" flipH="0" flipV="0">
            <a:off x="1248679" y="1124504"/>
            <a:ext cx="41523" cy="44845"/>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iŝ1iďe">
            <a:extLst xmlns:a="http://schemas.openxmlformats.org/drawingml/2006/main">
              <a:ext uri="{FF2B5EF4-FFF2-40B4-BE49-F238E27FC236}">
                <a16:creationId xmlns:a16="http://schemas.microsoft.com/office/drawing/2014/main" id="{7AF0FB22-382E-4C2F-947B-F3EE610E0E8A}"/>
              </a:ext>
            </a:extLst>
          </p:cNvPr>
          <p:cNvSpPr>
            <a:spLocks xmlns:a="http://schemas.openxmlformats.org/drawingml/2006/main" noGrp="1"/>
          </p:cNvSpPr>
          <p:nvPr/>
        </p:nvSpPr>
        <p:spPr>
          <a:xfrm xmlns:a="http://schemas.openxmlformats.org/drawingml/2006/main" rot="0" flipH="0" flipV="0">
            <a:off x="1203834" y="1170180"/>
            <a:ext cx="179381" cy="87614"/>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iṩļîḋè">
            <a:extLst xmlns:a="http://schemas.openxmlformats.org/drawingml/2006/main">
              <a:ext uri="{FF2B5EF4-FFF2-40B4-BE49-F238E27FC236}">
                <a16:creationId xmlns:a16="http://schemas.microsoft.com/office/drawing/2014/main" id="{6CB97203-D927-4E59-8380-B0F6F4099087}"/>
              </a:ext>
            </a:extLst>
          </p:cNvPr>
          <p:cNvSpPr>
            <a:spLocks xmlns:a="http://schemas.openxmlformats.org/drawingml/2006/main" noGrp="1"/>
          </p:cNvSpPr>
          <p:nvPr/>
        </p:nvSpPr>
        <p:spPr>
          <a:xfrm xmlns:a="http://schemas.openxmlformats.org/drawingml/2006/main" rot="0" flipH="0" flipV="0">
            <a:off x="1278161" y="1040626"/>
            <a:ext cx="165263" cy="710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ïṧlide">
            <a:extLst xmlns:a="http://schemas.openxmlformats.org/drawingml/2006/main">
              <a:ext uri="{FF2B5EF4-FFF2-40B4-BE49-F238E27FC236}">
                <a16:creationId xmlns:a16="http://schemas.microsoft.com/office/drawing/2014/main" id="{C54E38DC-5B65-432F-BDF6-4E99EC2D3B7A}"/>
              </a:ext>
            </a:extLst>
          </p:cNvPr>
          <p:cNvSpPr>
            <a:spLocks xmlns:a="http://schemas.openxmlformats.org/drawingml/2006/main" noGrp="1"/>
          </p:cNvSpPr>
          <p:nvPr/>
        </p:nvSpPr>
        <p:spPr>
          <a:xfrm xmlns:a="http://schemas.openxmlformats.org/drawingml/2006/main" rot="0" flipH="0" flipV="0">
            <a:off x="1185564" y="1127826"/>
            <a:ext cx="36540" cy="42353"/>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iṣḷîḍè">
            <a:extLst xmlns:a="http://schemas.openxmlformats.org/drawingml/2006/main">
              <a:ext uri="{FF2B5EF4-FFF2-40B4-BE49-F238E27FC236}">
                <a16:creationId xmlns:a16="http://schemas.microsoft.com/office/drawing/2014/main" id="{0EF5FD93-45AD-46A4-8202-FF32E73CE5AC}"/>
              </a:ext>
            </a:extLst>
          </p:cNvPr>
          <p:cNvSpPr>
            <a:spLocks xmlns:a="http://schemas.openxmlformats.org/drawingml/2006/main" noGrp="1"/>
          </p:cNvSpPr>
          <p:nvPr/>
        </p:nvSpPr>
        <p:spPr>
          <a:xfrm xmlns:a="http://schemas.openxmlformats.org/drawingml/2006/main" rot="0" flipH="0" flipV="0">
            <a:off x="1318439" y="1124504"/>
            <a:ext cx="36955" cy="47752"/>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ïṧḷîďé">
            <a:extLst xmlns:a="http://schemas.openxmlformats.org/drawingml/2006/main">
              <a:ext uri="{FF2B5EF4-FFF2-40B4-BE49-F238E27FC236}">
                <a16:creationId xmlns:a16="http://schemas.microsoft.com/office/drawing/2014/main" id="{522232E4-4E21-4976-BFF1-3669AE8F576B}"/>
              </a:ext>
            </a:extLst>
          </p:cNvPr>
          <p:cNvSpPr>
            <a:spLocks xmlns:a="http://schemas.openxmlformats.org/drawingml/2006/main" noGrp="1"/>
          </p:cNvSpPr>
          <p:nvPr/>
        </p:nvSpPr>
        <p:spPr>
          <a:xfrm xmlns:a="http://schemas.openxmlformats.org/drawingml/2006/main" rot="0" flipH="0" flipV="0">
            <a:off x="1364945" y="1125334"/>
            <a:ext cx="37371" cy="45675"/>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îšľíḍe">
            <a:extLst xmlns:a="http://schemas.openxmlformats.org/drawingml/2006/main">
              <a:ext uri="{FF2B5EF4-FFF2-40B4-BE49-F238E27FC236}">
                <a16:creationId xmlns:a16="http://schemas.microsoft.com/office/drawing/2014/main" id="{2F9CAD39-E743-47FE-B65F-037B65C92EAD}"/>
              </a:ext>
            </a:extLst>
          </p:cNvPr>
          <p:cNvSpPr>
            <a:spLocks xmlns:a="http://schemas.openxmlformats.org/drawingml/2006/main" noGrp="1"/>
          </p:cNvSpPr>
          <p:nvPr/>
        </p:nvSpPr>
        <p:spPr>
          <a:xfrm xmlns:a="http://schemas.openxmlformats.org/drawingml/2006/main" rot="0" flipH="0" flipV="0">
            <a:off x="1413527" y="1122012"/>
            <a:ext cx="38616" cy="44014"/>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îś1iḑe">
            <a:extLst xmlns:a="http://schemas.openxmlformats.org/drawingml/2006/main">
              <a:ext uri="{FF2B5EF4-FFF2-40B4-BE49-F238E27FC236}">
                <a16:creationId xmlns:a16="http://schemas.microsoft.com/office/drawing/2014/main" id="{B2E0B3C9-EAF4-4A46-8835-CAD2AD4AABEC}"/>
              </a:ext>
            </a:extLst>
          </p:cNvPr>
          <p:cNvSpPr>
            <a:spLocks xmlns:a="http://schemas.openxmlformats.org/drawingml/2006/main" noGrp="1"/>
          </p:cNvSpPr>
          <p:nvPr/>
        </p:nvSpPr>
        <p:spPr>
          <a:xfrm xmlns:a="http://schemas.openxmlformats.org/drawingml/2006/main" rot="0" flipH="0" flipV="0">
            <a:off x="2791019" y="989375"/>
            <a:ext cx="188931" cy="201389"/>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iṡlïḋé">
            <a:extLst xmlns:a="http://schemas.openxmlformats.org/drawingml/2006/main">
              <a:ext uri="{FF2B5EF4-FFF2-40B4-BE49-F238E27FC236}">
                <a16:creationId xmlns:a16="http://schemas.microsoft.com/office/drawing/2014/main" id="{A1DA236C-E443-4CA3-8E69-9ED93BCF8C5B}"/>
              </a:ext>
            </a:extLst>
          </p:cNvPr>
          <p:cNvSpPr>
            <a:spLocks xmlns:a="http://schemas.openxmlformats.org/drawingml/2006/main" noGrp="1"/>
          </p:cNvSpPr>
          <p:nvPr/>
        </p:nvSpPr>
        <p:spPr>
          <a:xfrm xmlns:a="http://schemas.openxmlformats.org/drawingml/2006/main" rot="0" flipH="0" flipV="0">
            <a:off x="3067980" y="962385"/>
            <a:ext cx="221320" cy="268241"/>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ïṣḷiḑé">
            <a:extLst xmlns:a="http://schemas.openxmlformats.org/drawingml/2006/main">
              <a:ext uri="{FF2B5EF4-FFF2-40B4-BE49-F238E27FC236}">
                <a16:creationId xmlns:a16="http://schemas.microsoft.com/office/drawing/2014/main" id="{E15FF73D-F61A-427D-AB3B-511EA8DE1FC5}"/>
              </a:ext>
            </a:extLst>
          </p:cNvPr>
          <p:cNvSpPr>
            <a:spLocks xmlns:a="http://schemas.openxmlformats.org/drawingml/2006/main" noGrp="1"/>
          </p:cNvSpPr>
          <p:nvPr/>
        </p:nvSpPr>
        <p:spPr>
          <a:xfrm xmlns:a="http://schemas.openxmlformats.org/drawingml/2006/main" rot="0" flipH="0" flipV="0">
            <a:off x="1682758" y="976503"/>
            <a:ext cx="158619" cy="241251"/>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îṣlîḍe">
            <a:extLst xmlns:a="http://schemas.openxmlformats.org/drawingml/2006/main">
              <a:ext uri="{FF2B5EF4-FFF2-40B4-BE49-F238E27FC236}">
                <a16:creationId xmlns:a16="http://schemas.microsoft.com/office/drawing/2014/main" id="{D3DE80C0-512C-4411-93F8-E5C37183A47C}"/>
              </a:ext>
            </a:extLst>
          </p:cNvPr>
          <p:cNvSpPr>
            <a:spLocks xmlns:a="http://schemas.openxmlformats.org/drawingml/2006/main" noGrp="1"/>
          </p:cNvSpPr>
          <p:nvPr/>
        </p:nvSpPr>
        <p:spPr>
          <a:xfrm xmlns:a="http://schemas.openxmlformats.org/drawingml/2006/main" rot="0" flipH="0" flipV="0">
            <a:off x="1949339" y="997265"/>
            <a:ext cx="161110" cy="199728"/>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íśļïďè">
            <a:extLst xmlns:a="http://schemas.openxmlformats.org/drawingml/2006/main">
              <a:ext uri="{FF2B5EF4-FFF2-40B4-BE49-F238E27FC236}">
                <a16:creationId xmlns:a16="http://schemas.microsoft.com/office/drawing/2014/main" id="{D47DE5DB-7E72-4C9A-B7B2-CA92AAB3190B}"/>
              </a:ext>
            </a:extLst>
          </p:cNvPr>
          <p:cNvSpPr>
            <a:spLocks xmlns:a="http://schemas.openxmlformats.org/drawingml/2006/main" noGrp="1"/>
          </p:cNvSpPr>
          <p:nvPr/>
        </p:nvSpPr>
        <p:spPr>
          <a:xfrm xmlns:a="http://schemas.openxmlformats.org/drawingml/2006/main" rot="0" flipH="0" flipV="0">
            <a:off x="2188099" y="965291"/>
            <a:ext cx="235438" cy="286927"/>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iṡľiḍê">
            <a:extLst xmlns:a="http://schemas.openxmlformats.org/drawingml/2006/main">
              <a:ext uri="{FF2B5EF4-FFF2-40B4-BE49-F238E27FC236}">
                <a16:creationId xmlns:a16="http://schemas.microsoft.com/office/drawing/2014/main" id="{DCF47C1E-F0A9-4C5C-B389-E0633DB7C343}"/>
              </a:ext>
            </a:extLst>
          </p:cNvPr>
          <p:cNvSpPr>
            <a:spLocks xmlns:a="http://schemas.openxmlformats.org/drawingml/2006/main" noGrp="1"/>
          </p:cNvSpPr>
          <p:nvPr/>
        </p:nvSpPr>
        <p:spPr>
          <a:xfrm xmlns:a="http://schemas.openxmlformats.org/drawingml/2006/main" rot="0" flipH="0" flipV="0">
            <a:off x="2470873" y="974011"/>
            <a:ext cx="276131" cy="22048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1" name="iş1íḍê">
            <a:extLst xmlns:a="http://schemas.openxmlformats.org/drawingml/2006/main">
              <a:ext uri="{FF2B5EF4-FFF2-40B4-BE49-F238E27FC236}">
                <a16:creationId xmlns:a16="http://schemas.microsoft.com/office/drawing/2014/main" id="{5AA59F4F-3BD3-4320-B6EB-A2ED9B1D21E5}"/>
              </a:ext>
            </a:extLst>
          </p:cNvPr>
          <p:cNvSpPr>
            <a:spLocks xmlns:a="http://schemas.openxmlformats.org/drawingml/2006/main" noGrp="1"/>
          </p:cNvSpPr>
          <p:nvPr/>
        </p:nvSpPr>
        <p:spPr>
          <a:xfrm xmlns:a="http://schemas.openxmlformats.org/drawingml/2006/main" rot="0" flipH="0" flipV="0">
            <a:off x="1681928" y="1301968"/>
            <a:ext cx="1279751" cy="99656"/>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2" name="işľiḓe">
            <a:extLst xmlns:a="http://schemas.openxmlformats.org/drawingml/2006/main">
              <a:ext uri="{FF2B5EF4-FFF2-40B4-BE49-F238E27FC236}">
                <a16:creationId xmlns:a16="http://schemas.microsoft.com/office/drawing/2014/main" id="{E2DF964D-7146-4C25-A7D0-A519CF50AA41}"/>
              </a:ext>
            </a:extLst>
          </p:cNvPr>
          <p:cNvSpPr>
            <a:spLocks xmlns:a="http://schemas.openxmlformats.org/drawingml/2006/main" noGrp="1"/>
          </p:cNvSpPr>
          <p:nvPr/>
        </p:nvSpPr>
        <p:spPr>
          <a:xfrm xmlns:a="http://schemas.openxmlformats.org/drawingml/2006/main" rot="0" flipH="0" flipV="0">
            <a:off x="2968739" y="1301968"/>
            <a:ext cx="309349" cy="99656"/>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xml><?xml version="1.0" encoding="utf-8"?>
<p:sldLayout xmlns:p="http://schemas.openxmlformats.org/presentationml/2006/main" showMasterSp="0" type="secHead" preserve="1" userDrawn="1">
  <p:cSld name="节标题">
    <p:spTree>
      <p:nvGrpSpPr>
        <p:cNvPr id="1" name=""/>
        <p:cNvGrpSpPr/>
        <p:nvPr/>
      </p:nvGrpSpPr>
      <p:grpSpPr>
        <a:xfrm xmlns:a="http://schemas.openxmlformats.org/drawingml/2006/main"/>
      </p:grpSpPr>
      <p:pic>
        <p:nvPicPr>
          <p:cNvPr id="43" name="图片 12"/>
          <p:cNvPicPr>
            <a:picLocks xmlns:a="http://schemas.openxmlformats.org/drawingml/2006/main" noChangeAspect="1"/>
          </p:cNvPicPr>
          <p:nvPr/>
        </p:nvPicPr>
        <p:blipFill>
          <a:blip xmlns:r="http://schemas.openxmlformats.org/officeDocument/2006/relationships" xmlns:a="http://schemas.openxmlformats.org/drawingml/2006/main" r:embed="R81f3eb6052b24468">
            <a:alphaModFix amt="7000"/>
            <a:duotone>
              <a:schemeClr val="accent4">
                <a:shade val="45000"/>
                <a:satMod val="135000"/>
              </a:schemeClr>
              <a:prstClr val="white"/>
            </a:duotone>
          </a:blip>
          <a:stretch xmlns:a="http://schemas.openxmlformats.org/drawingml/2006/main">
            <a:fillRect l="0" t="0" r="0" b="0"/>
          </a:stretch>
        </p:blipFill>
        <p:spPr>
          <a:xfrm xmlns:a="http://schemas.openxmlformats.org/drawingml/2006/main">
            <a:off x="18998" y="-1"/>
            <a:ext cx="12173002" cy="6858000"/>
          </a:xfrm>
          <a:prstGeom xmlns:a="http://schemas.openxmlformats.org/drawingml/2006/main" prst="rect">
            <a:avLst/>
          </a:prstGeom>
        </p:spPr>
      </p:pic>
      <p:sp>
        <p:nvSpPr>
          <p:cNvPr id="11" name="ïṣḷïḋe">
            <a:extLst xmlns:a="http://schemas.openxmlformats.org/drawingml/2006/main">
              <a:ext uri="{FF2B5EF4-FFF2-40B4-BE49-F238E27FC236}">
                <a16:creationId xmlns:a16="http://schemas.microsoft.com/office/drawing/2014/main" id="{F45ED433-40CE-4A52-8775-D14AFBBF996A}"/>
              </a:ext>
            </a:extLst>
          </p:cNvPr>
          <p:cNvSpPr>
            <a:spLocks xmlns:a="http://schemas.openxmlformats.org/drawingml/2006/main" noGrp="1"/>
          </p:cNvSpPr>
          <p:nvPr/>
        </p:nvSpPr>
        <p:spPr>
          <a:xfrm xmlns:a="http://schemas.openxmlformats.org/drawingml/2006/main">
            <a:off x="1" y="3553277"/>
            <a:ext cx="3520161" cy="3304722"/>
          </a:xfrm>
          <a:custGeom xmlns:a="http://schemas.openxmlformats.org/drawingml/2006/main">
            <a:gdLst>
              <a:gd name="connsiteX0" fmla="*/ 2267365 w 3520161"/>
              <a:gd name="connsiteY0" fmla="*/ 83 h 3304722"/>
              <a:gd name="connsiteX1" fmla="*/ 3070329 w 3520161"/>
              <a:gd name="connsiteY1" fmla="*/ 299271 h 3304722"/>
              <a:gd name="connsiteX2" fmla="*/ 3070328 w 3520161"/>
              <a:gd name="connsiteY2" fmla="*/ 299271 h 3304722"/>
              <a:gd name="connsiteX3" fmla="*/ 3220892 w 3520161"/>
              <a:gd name="connsiteY3" fmla="*/ 2086011 h 3304722"/>
              <a:gd name="connsiteX4" fmla="*/ 2191612 w 3520161"/>
              <a:gd name="connsiteY4" fmla="*/ 3304722 h 3304722"/>
              <a:gd name="connsiteX5" fmla="*/ 0 w 3520161"/>
              <a:gd name="connsiteY5" fmla="*/ 3304722 h 3304722"/>
              <a:gd name="connsiteX6" fmla="*/ 0 w 3520161"/>
              <a:gd name="connsiteY6" fmla="*/ 1969656 h 3304722"/>
              <a:gd name="connsiteX7" fmla="*/ 1283589 w 3520161"/>
              <a:gd name="connsiteY7" fmla="*/ 449834 h 3304722"/>
              <a:gd name="connsiteX8" fmla="*/ 2267365 w 3520161"/>
              <a:gd name="connsiteY8" fmla="*/ 83 h 3304722"/>
            </a:gdLst>
            <a:rect l="l" t="t" r="r" b="b"/>
            <a:pathLst>
              <a:path w="3520161" h="3304722">
                <a:moveTo>
                  <a:pt x="2267365" y="83"/>
                </a:moveTo>
                <a:cubicBezTo>
                  <a:pt x="2551510" y="3313"/>
                  <a:pt x="2836279" y="101600"/>
                  <a:pt x="3070329" y="299271"/>
                </a:cubicBezTo>
                <a:lnTo>
                  <a:pt x="3070328" y="299271"/>
                </a:lnTo>
                <a:cubicBezTo>
                  <a:pt x="3605301" y="751088"/>
                  <a:pt x="3672710" y="1551040"/>
                  <a:pt x="3220892" y="2086011"/>
                </a:cubicBezTo>
                <a:lnTo>
                  <a:pt x="2191612" y="3304722"/>
                </a:lnTo>
                <a:lnTo>
                  <a:pt x="0" y="3304722"/>
                </a:lnTo>
                <a:lnTo>
                  <a:pt x="0" y="1969656"/>
                </a:lnTo>
                <a:lnTo>
                  <a:pt x="1283589" y="449834"/>
                </a:lnTo>
                <a:cubicBezTo>
                  <a:pt x="1537736" y="148912"/>
                  <a:pt x="1902035" y="-4070"/>
                  <a:pt x="2267365" y="83"/>
                </a:cubicBezTo>
                <a:close/>
              </a:path>
            </a:pathLst>
          </a:custGeom>
          <a:blipFill xmlns:a="http://schemas.openxmlformats.org/drawingml/2006/main">
            <a:blip xmlns:r="http://schemas.openxmlformats.org/officeDocument/2006/relationships" r:embed="Rc4b4fefd85514a5a">
              <a:duotone>
                <a:schemeClr val="accent3">
                  <a:shade val="45000"/>
                  <a:satMod val="135000"/>
                </a:schemeClr>
                <a:prstClr val="white"/>
              </a:duotone>
            </a:blip>
            <a:srcRect l="0" t="0" r="0" b="0"/>
            <a:stretch>
              <a:fillRect l="-33323" t="0" r="-33323"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0" name="标题 19">
            <a:extLst xmlns:a="http://schemas.openxmlformats.org/drawingml/2006/main">
              <a:ext uri="{FF2B5EF4-FFF2-40B4-BE49-F238E27FC236}">
                <a16:creationId xmlns:a16="http://schemas.microsoft.com/office/drawing/2014/main" id="{83C82B4B-B9ED-48B9-9483-CF8ABBCC75D7}"/>
              </a:ext>
            </a:extLst>
          </p:cNvPr>
          <p:cNvSpPr>
            <a:spLocks xmlns:a="http://schemas.openxmlformats.org/drawingml/2006/main" noGrp="1"/>
          </p:cNvSpPr>
          <p:nvPr>
            <p:ph type="title" idx="0"/>
          </p:nvPr>
        </p:nvSpPr>
        <p:spPr>
          <a:xfrm xmlns:a="http://schemas.openxmlformats.org/drawingml/2006/main">
            <a:off x="5552498" y="2533650"/>
            <a:ext cx="5419185" cy="895350"/>
          </a:xfrm>
        </p:spPr>
        <p:txBody>
          <a:bodyPr xmlns:a="http://schemas.openxmlformats.org/drawingml/2006/main" anchor="b">
            <a:normAutofit/>
          </a:bodyPr>
          <a:lstStyle xmlns:a="http://schemas.openxmlformats.org/drawingml/2006/main">
            <a:lvl1pPr algn="l">
              <a:buNone/>
              <a:defRPr sz="2400" b="1">
                <a:solidFill>
                  <a:schemeClr val="tx1"/>
                </a:solidFill>
              </a:defRPr>
            </a:lvl1pPr>
          </a:lstStyle>
          <a:p xmlns:a="http://schemas.openxmlformats.org/drawingml/2006/main">
            <a:r>
              <a:t>Click to edit Master title style</a:t>
            </a:r>
            <a:endParaRPr/>
          </a:p>
        </p:txBody>
      </p:sp>
      <p:sp>
        <p:nvSpPr>
          <p:cNvPr id="21" name="文本占位符 20">
            <a:extLst xmlns:a="http://schemas.openxmlformats.org/drawingml/2006/main">
              <a:ext uri="{FF2B5EF4-FFF2-40B4-BE49-F238E27FC236}">
                <a16:creationId xmlns:a16="http://schemas.microsoft.com/office/drawing/2014/main" id="{B9FD7AD9-01AD-4CC1-BC13-DFBF55BB0626}"/>
              </a:ext>
            </a:extLst>
          </p:cNvPr>
          <p:cNvSpPr>
            <a:spLocks xmlns:a="http://schemas.openxmlformats.org/drawingml/2006/main" noGrp="1"/>
          </p:cNvSpPr>
          <p:nvPr>
            <p:ph type="body" idx="1"/>
          </p:nvPr>
        </p:nvSpPr>
        <p:spPr>
          <a:xfrm xmlns:a="http://schemas.openxmlformats.org/drawingml/2006/main">
            <a:off x="5553614" y="3429000"/>
            <a:ext cx="5419185" cy="1015623"/>
          </a:xfrm>
        </p:spPr>
        <p:txBody>
          <a:bodyPr xmlns:a="http://schemas.openxmlformats.org/drawingml/2006/main" anchor="t">
            <a:normAutofit/>
          </a:bodyPr>
          <a:lstStyle xmlns:a="http://schemas.openxmlformats.org/drawingml/2006/main">
            <a:lvl1pPr marL="0" indent="0" algn="l">
              <a:lnSpc>
                <a:spcPct val="150000"/>
              </a:lnSpc>
              <a:spcBef>
                <a:spcPts val="0"/>
              </a:spcBef>
              <a:buNone/>
              <a:defRPr sz="1100">
                <a:solidFill>
                  <a:schemeClr val="tx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xmlns:a="http://schemas.openxmlformats.org/drawingml/2006/main">
            <a:pPr lvl="0">
              <a:buNone/>
            </a:pPr>
            <a:r>
              <a:t>Edit Master text styles</a:t>
            </a:r>
          </a:p>
        </p:txBody>
      </p:sp>
      <p:sp>
        <p:nvSpPr>
          <p:cNvPr id="6" name="iśľiḓè">
            <a:extLst xmlns:a="http://schemas.openxmlformats.org/drawingml/2006/main">
              <a:ext uri="{FF2B5EF4-FFF2-40B4-BE49-F238E27FC236}">
                <a16:creationId xmlns:a16="http://schemas.microsoft.com/office/drawing/2014/main" id="{123C40B6-E7AA-4DA1-A1EA-507CB8D23762}"/>
              </a:ext>
            </a:extLst>
          </p:cNvPr>
          <p:cNvSpPr>
            <a:spLocks xmlns:a="http://schemas.openxmlformats.org/drawingml/2006/main" noGrp="1"/>
          </p:cNvSpPr>
          <p:nvPr/>
        </p:nvSpPr>
        <p:spPr>
          <a:xfrm xmlns:a="http://schemas.openxmlformats.org/drawingml/2006/main" flipH="1" flipV="1">
            <a:off x="1811471" y="4868985"/>
            <a:ext cx="2152019" cy="1989014"/>
          </a:xfrm>
          <a:custGeom xmlns:a="http://schemas.openxmlformats.org/drawingml/2006/main">
            <a:gdLst>
              <a:gd name="connsiteX0" fmla="*/ 210268 w 3955516"/>
              <a:gd name="connsiteY0" fmla="*/ 3516016 h 3655904"/>
              <a:gd name="connsiteX1" fmla="*/ 210268 w 3955516"/>
              <a:gd name="connsiteY1" fmla="*/ 3516016 h 3655904"/>
              <a:gd name="connsiteX2" fmla="*/ 210268 w 3955516"/>
              <a:gd name="connsiteY2" fmla="*/ 3516016 h 3655904"/>
              <a:gd name="connsiteX3" fmla="*/ 2404025 w 3955516"/>
              <a:gd name="connsiteY3" fmla="*/ 0 h 3655904"/>
              <a:gd name="connsiteX4" fmla="*/ 3955516 w 3955516"/>
              <a:gd name="connsiteY4" fmla="*/ 0 h 3655904"/>
              <a:gd name="connsiteX5" fmla="*/ 1045452 w 3955516"/>
              <a:gd name="connsiteY5" fmla="*/ 3445637 h 3655904"/>
              <a:gd name="connsiteX6" fmla="*/ 309288 w 3955516"/>
              <a:gd name="connsiteY6" fmla="*/ 3583884 h 3655904"/>
              <a:gd name="connsiteX7" fmla="*/ 210268 w 3955516"/>
              <a:gd name="connsiteY7" fmla="*/ 3516016 h 3655904"/>
              <a:gd name="connsiteX8" fmla="*/ 126786 w 3955516"/>
              <a:gd name="connsiteY8" fmla="*/ 3429750 h 3655904"/>
              <a:gd name="connsiteX9" fmla="*/ 139890 w 3955516"/>
              <a:gd name="connsiteY9" fmla="*/ 2680831 h 3655904"/>
            </a:gdLst>
            <a:rect l="l" t="t" r="r" b="b"/>
            <a:pathLst>
              <a:path w="3955516" h="3655904">
                <a:moveTo>
                  <a:pt x="210268" y="3516016"/>
                </a:moveTo>
                <a:lnTo>
                  <a:pt x="210268" y="3516016"/>
                </a:lnTo>
                <a:lnTo>
                  <a:pt x="210268" y="3516016"/>
                </a:lnTo>
                <a:close/>
                <a:moveTo>
                  <a:pt x="2404025" y="0"/>
                </a:moveTo>
                <a:lnTo>
                  <a:pt x="3955516" y="0"/>
                </a:lnTo>
                <a:lnTo>
                  <a:pt x="1045452" y="3445637"/>
                </a:lnTo>
                <a:cubicBezTo>
                  <a:pt x="860656" y="3664444"/>
                  <a:pt x="551270" y="3715919"/>
                  <a:pt x="309288" y="3583884"/>
                </a:cubicBezTo>
                <a:lnTo>
                  <a:pt x="210268" y="3516016"/>
                </a:lnTo>
                <a:lnTo>
                  <a:pt x="126786" y="3429750"/>
                </a:lnTo>
                <a:cubicBezTo>
                  <a:pt x="-43881" y="3213275"/>
                  <a:pt x="-44906" y="2899638"/>
                  <a:pt x="139890" y="2680831"/>
                </a:cubicBezTo>
                <a:close/>
              </a:path>
            </a:pathLst>
          </a:custGeom>
          <a:solidFill xmlns:a="http://schemas.openxmlformats.org/drawingml/2006/main">
            <a:schemeClr val="accent3">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7" name="îṡḷidé">
            <a:extLst xmlns:a="http://schemas.openxmlformats.org/drawingml/2006/main">
              <a:ext uri="{FF2B5EF4-FFF2-40B4-BE49-F238E27FC236}">
                <a16:creationId xmlns:a16="http://schemas.microsoft.com/office/drawing/2014/main" id="{528AD497-350F-4116-A285-5614CF757254}"/>
              </a:ext>
            </a:extLst>
          </p:cNvPr>
          <p:cNvSpPr>
            <a:spLocks xmlns:a="http://schemas.openxmlformats.org/drawingml/2006/main" noGrp="1"/>
          </p:cNvSpPr>
          <p:nvPr/>
        </p:nvSpPr>
        <p:spPr>
          <a:xfrm xmlns:a="http://schemas.openxmlformats.org/drawingml/2006/main" flipH="1" flipV="1">
            <a:off x="1961" y="4224012"/>
            <a:ext cx="923541" cy="1533891"/>
          </a:xfrm>
          <a:custGeom xmlns:a="http://schemas.openxmlformats.org/drawingml/2006/main">
            <a:gdLst>
              <a:gd name="connsiteX0" fmla="*/ 1697514 w 1697514"/>
              <a:gd name="connsiteY0" fmla="*/ 0 h 2819365"/>
              <a:gd name="connsiteX1" fmla="*/ 1697514 w 1697514"/>
              <a:gd name="connsiteY1" fmla="*/ 1837030 h 2819365"/>
              <a:gd name="connsiteX2" fmla="*/ 1045452 w 1697514"/>
              <a:gd name="connsiteY2" fmla="*/ 2609099 h 2819365"/>
              <a:gd name="connsiteX3" fmla="*/ 210267 w 1697514"/>
              <a:gd name="connsiteY3" fmla="*/ 2679477 h 2819365"/>
              <a:gd name="connsiteX4" fmla="*/ 210268 w 1697514"/>
              <a:gd name="connsiteY4" fmla="*/ 2679478 h 2819365"/>
              <a:gd name="connsiteX5" fmla="*/ 139890 w 1697514"/>
              <a:gd name="connsiteY5" fmla="*/ 1844292 h 2819365"/>
            </a:gdLst>
            <a:rect l="l" t="t" r="r" b="b"/>
            <a:pathLst>
              <a:path w="1697514" h="2819365">
                <a:moveTo>
                  <a:pt x="1697514" y="0"/>
                </a:moveTo>
                <a:lnTo>
                  <a:pt x="1697514" y="1837030"/>
                </a:lnTo>
                <a:lnTo>
                  <a:pt x="1045452" y="2609099"/>
                </a:lnTo>
                <a:cubicBezTo>
                  <a:pt x="834257" y="2859163"/>
                  <a:pt x="460332" y="2890672"/>
                  <a:pt x="210267" y="2679477"/>
                </a:cubicBezTo>
                <a:lnTo>
                  <a:pt x="210268" y="2679478"/>
                </a:lnTo>
                <a:cubicBezTo>
                  <a:pt x="-39796" y="2468282"/>
                  <a:pt x="-71306" y="2094357"/>
                  <a:pt x="139890" y="1844292"/>
                </a:cubicBezTo>
                <a:close/>
              </a:path>
            </a:pathLst>
          </a:custGeom>
          <a:solidFill xmlns:a="http://schemas.openxmlformats.org/drawingml/2006/main">
            <a:schemeClr val="accent3">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8" name="íšļiďe">
            <a:extLst xmlns:a="http://schemas.openxmlformats.org/drawingml/2006/main">
              <a:ext uri="{FF2B5EF4-FFF2-40B4-BE49-F238E27FC236}">
                <a16:creationId xmlns:a16="http://schemas.microsoft.com/office/drawing/2014/main" id="{13D6C137-EBF6-4B52-8D00-29B84A407F57}"/>
              </a:ext>
            </a:extLst>
          </p:cNvPr>
          <p:cNvSpPr>
            <a:spLocks xmlns:a="http://schemas.openxmlformats.org/drawingml/2006/main" noGrp="1"/>
          </p:cNvSpPr>
          <p:nvPr/>
        </p:nvSpPr>
        <p:spPr>
          <a:xfrm xmlns:a="http://schemas.openxmlformats.org/drawingml/2006/main" flipH="1" flipV="1">
            <a:off x="0" y="3631103"/>
            <a:ext cx="1152421" cy="1939120"/>
          </a:xfrm>
          <a:custGeom xmlns:a="http://schemas.openxmlformats.org/drawingml/2006/main">
            <a:gdLst>
              <a:gd name="connsiteX0" fmla="*/ 2118206 w 2118206"/>
              <a:gd name="connsiteY0" fmla="*/ 0 h 3564196"/>
              <a:gd name="connsiteX1" fmla="*/ 2118206 w 2118206"/>
              <a:gd name="connsiteY1" fmla="*/ 2396948 h 3564196"/>
              <a:gd name="connsiteX2" fmla="*/ 1364100 w 2118206"/>
              <a:gd name="connsiteY2" fmla="*/ 3289841 h 3564196"/>
              <a:gd name="connsiteX3" fmla="*/ 274355 w 2118206"/>
              <a:gd name="connsiteY3" fmla="*/ 3381670 h 3564196"/>
              <a:gd name="connsiteX4" fmla="*/ 274356 w 2118206"/>
              <a:gd name="connsiteY4" fmla="*/ 3381671 h 3564196"/>
              <a:gd name="connsiteX5" fmla="*/ 182527 w 2118206"/>
              <a:gd name="connsiteY5" fmla="*/ 2291926 h 3564196"/>
            </a:gdLst>
            <a:rect l="l" t="t" r="r" b="b"/>
            <a:pathLst>
              <a:path w="2118206" h="3564196">
                <a:moveTo>
                  <a:pt x="2118206" y="0"/>
                </a:moveTo>
                <a:lnTo>
                  <a:pt x="2118206" y="2396948"/>
                </a:lnTo>
                <a:lnTo>
                  <a:pt x="1364100" y="3289841"/>
                </a:lnTo>
                <a:cubicBezTo>
                  <a:pt x="1088533" y="3616123"/>
                  <a:pt x="600638" y="3657237"/>
                  <a:pt x="274355" y="3381670"/>
                </a:cubicBezTo>
                <a:lnTo>
                  <a:pt x="274356" y="3381671"/>
                </a:lnTo>
                <a:cubicBezTo>
                  <a:pt x="-51927" y="3106104"/>
                  <a:pt x="-93040" y="2618208"/>
                  <a:pt x="182527" y="2291926"/>
                </a:cubicBezTo>
                <a:close/>
              </a:path>
            </a:pathLst>
          </a:custGeom>
          <a:solidFill xmlns:a="http://schemas.openxmlformats.org/drawingml/2006/main">
            <a:schemeClr val="accent3">
              <a:lumMod val="40000"/>
              <a:lumOff val="6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5" name="ïşļiḓe">
            <a:extLst xmlns:a="http://schemas.openxmlformats.org/drawingml/2006/main">
              <a:ext uri="{FF2B5EF4-FFF2-40B4-BE49-F238E27FC236}">
                <a16:creationId xmlns:a16="http://schemas.microsoft.com/office/drawing/2014/main" id="{6938A7AE-6671-43B1-8E1C-E15651CA10A9}"/>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ïsľîḍe">
            <a:extLst xmlns:a="http://schemas.openxmlformats.org/drawingml/2006/main">
              <a:ext uri="{FF2B5EF4-FFF2-40B4-BE49-F238E27FC236}">
                <a16:creationId xmlns:a16="http://schemas.microsoft.com/office/drawing/2014/main" id="{0419830F-0751-4CF3-B14F-C29C2583C5F6}"/>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isḻiḓè">
            <a:extLst xmlns:a="http://schemas.openxmlformats.org/drawingml/2006/main">
              <a:ext uri="{FF2B5EF4-FFF2-40B4-BE49-F238E27FC236}">
                <a16:creationId xmlns:a16="http://schemas.microsoft.com/office/drawing/2014/main" id="{04D17CC4-931C-45A1-A18D-9350E99812F5}"/>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ïṧḷïḍé">
            <a:extLst xmlns:a="http://schemas.openxmlformats.org/drawingml/2006/main">
              <a:ext uri="{FF2B5EF4-FFF2-40B4-BE49-F238E27FC236}">
                <a16:creationId xmlns:a16="http://schemas.microsoft.com/office/drawing/2014/main" id="{222ACFAB-7BF9-49DF-908C-8B639997C4CF}"/>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ïşļidè">
            <a:extLst xmlns:a="http://schemas.openxmlformats.org/drawingml/2006/main">
              <a:ext uri="{FF2B5EF4-FFF2-40B4-BE49-F238E27FC236}">
                <a16:creationId xmlns:a16="http://schemas.microsoft.com/office/drawing/2014/main" id="{5881DE1F-926E-4434-B24B-C193FD00B25A}"/>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ïşḷîde">
            <a:extLst xmlns:a="http://schemas.openxmlformats.org/drawingml/2006/main">
              <a:ext uri="{FF2B5EF4-FFF2-40B4-BE49-F238E27FC236}">
                <a16:creationId xmlns:a16="http://schemas.microsoft.com/office/drawing/2014/main" id="{DDB1C6B8-D9EF-4FBC-AA39-0548B5197C71}"/>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íşľíḋé">
            <a:extLst xmlns:a="http://schemas.openxmlformats.org/drawingml/2006/main">
              <a:ext uri="{FF2B5EF4-FFF2-40B4-BE49-F238E27FC236}">
                <a16:creationId xmlns:a16="http://schemas.microsoft.com/office/drawing/2014/main" id="{95E045EE-4E12-4070-9889-4339B0947CD7}"/>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ïSḻîďê">
            <a:extLst xmlns:a="http://schemas.openxmlformats.org/drawingml/2006/main">
              <a:ext uri="{FF2B5EF4-FFF2-40B4-BE49-F238E27FC236}">
                <a16:creationId xmlns:a16="http://schemas.microsoft.com/office/drawing/2014/main" id="{97E3FB5F-B878-4BD3-B57C-F22DFFF3549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îs1ide">
            <a:extLst xmlns:a="http://schemas.openxmlformats.org/drawingml/2006/main">
              <a:ext uri="{FF2B5EF4-FFF2-40B4-BE49-F238E27FC236}">
                <a16:creationId xmlns:a16="http://schemas.microsoft.com/office/drawing/2014/main" id="{12F38D4F-65AD-4CCD-91E4-71511C5C49F7}"/>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ísļïḍê">
            <a:extLst xmlns:a="http://schemas.openxmlformats.org/drawingml/2006/main">
              <a:ext uri="{FF2B5EF4-FFF2-40B4-BE49-F238E27FC236}">
                <a16:creationId xmlns:a16="http://schemas.microsoft.com/office/drawing/2014/main" id="{893EEA19-7F57-4485-9789-A233D56A51A6}"/>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îṣ1ïḑé">
            <a:extLst xmlns:a="http://schemas.openxmlformats.org/drawingml/2006/main">
              <a:ext uri="{FF2B5EF4-FFF2-40B4-BE49-F238E27FC236}">
                <a16:creationId xmlns:a16="http://schemas.microsoft.com/office/drawing/2014/main" id="{0322BE64-A0E4-4BB3-B5A9-E5D71E2A3B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íṣ1îḓê">
            <a:extLst xmlns:a="http://schemas.openxmlformats.org/drawingml/2006/main">
              <a:ext uri="{FF2B5EF4-FFF2-40B4-BE49-F238E27FC236}">
                <a16:creationId xmlns:a16="http://schemas.microsoft.com/office/drawing/2014/main" id="{D21C742C-7B20-4002-B310-644AFA897359}"/>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ïṥļiďè">
            <a:extLst xmlns:a="http://schemas.openxmlformats.org/drawingml/2006/main">
              <a:ext uri="{FF2B5EF4-FFF2-40B4-BE49-F238E27FC236}">
                <a16:creationId xmlns:a16="http://schemas.microsoft.com/office/drawing/2014/main" id="{CCBF5AB7-D62D-406F-AF12-55657BA37787}"/>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ï$1îḑê">
            <a:extLst xmlns:a="http://schemas.openxmlformats.org/drawingml/2006/main">
              <a:ext uri="{FF2B5EF4-FFF2-40B4-BE49-F238E27FC236}">
                <a16:creationId xmlns:a16="http://schemas.microsoft.com/office/drawing/2014/main" id="{1E039AA3-C512-441B-96EF-01B3C08AE126}"/>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íŝḻîdê">
            <a:extLst xmlns:a="http://schemas.openxmlformats.org/drawingml/2006/main">
              <a:ext uri="{FF2B5EF4-FFF2-40B4-BE49-F238E27FC236}">
                <a16:creationId xmlns:a16="http://schemas.microsoft.com/office/drawing/2014/main" id="{16F6E2BD-1F4B-4129-9B83-C3987963DE8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0" name="îṥļîďé">
            <a:extLst xmlns:a="http://schemas.openxmlformats.org/drawingml/2006/main">
              <a:ext uri="{FF2B5EF4-FFF2-40B4-BE49-F238E27FC236}">
                <a16:creationId xmlns:a16="http://schemas.microsoft.com/office/drawing/2014/main" id="{0D4A6BD9-D7E4-42ED-8822-2697EDB2F6B5}"/>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1" name="íşľídè">
            <a:extLst xmlns:a="http://schemas.openxmlformats.org/drawingml/2006/main">
              <a:ext uri="{FF2B5EF4-FFF2-40B4-BE49-F238E27FC236}">
                <a16:creationId xmlns:a16="http://schemas.microsoft.com/office/drawing/2014/main" id="{DCA58161-1FBE-4A63-B0BF-0DA772E56C82}"/>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îslíḋé">
            <a:extLst xmlns:a="http://schemas.openxmlformats.org/drawingml/2006/main">
              <a:ext uri="{FF2B5EF4-FFF2-40B4-BE49-F238E27FC236}">
                <a16:creationId xmlns:a16="http://schemas.microsoft.com/office/drawing/2014/main" id="{5886D6D7-D3A1-40F1-8B7D-BDF7B68C9273}"/>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îṡlide">
            <a:extLst xmlns:a="http://schemas.openxmlformats.org/drawingml/2006/main">
              <a:ext uri="{FF2B5EF4-FFF2-40B4-BE49-F238E27FC236}">
                <a16:creationId xmlns:a16="http://schemas.microsoft.com/office/drawing/2014/main" id="{277EC223-DC3B-4B0C-9713-D5AC8D09CE33}"/>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ïš1íḑê">
            <a:extLst xmlns:a="http://schemas.openxmlformats.org/drawingml/2006/main">
              <a:ext uri="{FF2B5EF4-FFF2-40B4-BE49-F238E27FC236}">
                <a16:creationId xmlns:a16="http://schemas.microsoft.com/office/drawing/2014/main" id="{84E1A051-514E-4AED-A369-BDCE4A347A9B}"/>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îšļíďè">
            <a:extLst xmlns:a="http://schemas.openxmlformats.org/drawingml/2006/main">
              <a:ext uri="{FF2B5EF4-FFF2-40B4-BE49-F238E27FC236}">
                <a16:creationId xmlns:a16="http://schemas.microsoft.com/office/drawing/2014/main" id="{4E9DACBA-F481-4DFF-9489-CCEDBFF23CA9}"/>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iṡļïḑê">
            <a:extLst xmlns:a="http://schemas.openxmlformats.org/drawingml/2006/main">
              <a:ext uri="{FF2B5EF4-FFF2-40B4-BE49-F238E27FC236}">
                <a16:creationId xmlns:a16="http://schemas.microsoft.com/office/drawing/2014/main" id="{44756734-196B-41F7-ACBF-05AE2BCB115D}"/>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ïṩ1ïďè">
            <a:extLst xmlns:a="http://schemas.openxmlformats.org/drawingml/2006/main">
              <a:ext uri="{FF2B5EF4-FFF2-40B4-BE49-F238E27FC236}">
                <a16:creationId xmlns:a16="http://schemas.microsoft.com/office/drawing/2014/main" id="{B01E906F-F954-42D4-A065-215ACF9519EF}"/>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5" name="îSľíďé">
            <a:extLst xmlns:a="http://schemas.openxmlformats.org/drawingml/2006/main">
              <a:ext uri="{FF2B5EF4-FFF2-40B4-BE49-F238E27FC236}">
                <a16:creationId xmlns:a16="http://schemas.microsoft.com/office/drawing/2014/main" id="{1EC1A250-0861-4A3F-9AFC-1501E377344B}"/>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îṡľíďe">
            <a:extLst xmlns:a="http://schemas.openxmlformats.org/drawingml/2006/main">
              <a:ext uri="{FF2B5EF4-FFF2-40B4-BE49-F238E27FC236}">
                <a16:creationId xmlns:a16="http://schemas.microsoft.com/office/drawing/2014/main" id="{56AC951B-9C04-4B8C-910B-75C20C799C0A}"/>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xml><?xml version="1.0" encoding="utf-8"?>
<p:sldLayout xmlns:p="http://schemas.openxmlformats.org/presentationml/2006/main" preserve="1" userDrawn="1">
  <p:cSld name="标题和内容">
    <p:spTree>
      <p:nvGrpSpPr>
        <p:cNvPr id="1" name=""/>
        <p:cNvGrpSpPr/>
        <p:nvPr/>
      </p:nvGrpSpPr>
      <p:grpSpPr>
        <a:xfrm xmlns:a="http://schemas.openxmlformats.org/drawingml/2006/main"/>
      </p:grpSpPr>
      <p:sp>
        <p:nvSpPr>
          <p:cNvPr id="3" name="日期占位符 2">
            <a:extLst xmlns:a="http://schemas.openxmlformats.org/drawingml/2006/main">
              <a:ext uri="{FF2B5EF4-FFF2-40B4-BE49-F238E27FC236}">
                <a16:creationId xmlns:a16="http://schemas.microsoft.com/office/drawing/2014/main" id="{9888B6D7-9D3F-49D7-BACE-73A9D1149A7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页脚占位符 3">
            <a:extLst xmlns:a="http://schemas.openxmlformats.org/drawingml/2006/main">
              <a:ext uri="{FF2B5EF4-FFF2-40B4-BE49-F238E27FC236}">
                <a16:creationId xmlns:a16="http://schemas.microsoft.com/office/drawing/2014/main" id="{7AC997A4-1DD8-4731-B9FD-42398A20F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请在插入菜单</a:t>
            </a:r>
            <a:r>
              <a:t>—</a:t>
            </a:r>
            <a:r>
              <a:t>页眉和页脚中修改此文本</a:t>
            </a:r>
            <a:endParaRPr/>
          </a:p>
        </p:txBody>
      </p:sp>
      <p:sp>
        <p:nvSpPr>
          <p:cNvPr id="5" name="灯片编号占位符 4">
            <a:extLst xmlns:a="http://schemas.openxmlformats.org/drawingml/2006/main">
              <a:ext uri="{FF2B5EF4-FFF2-40B4-BE49-F238E27FC236}">
                <a16:creationId xmlns:a16="http://schemas.microsoft.com/office/drawing/2014/main" id="{DBA9825E-1876-42AD-ABCF-E0E100F351C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DD3DB80-B894-403A-B48E-6FDC1A72010E}" type="slidenum">
              <a:t>‹#›</a:t>
            </a:fld>
            <a:endParaRPr/>
          </a:p>
        </p:txBody>
      </p:sp>
      <p:sp>
        <p:nvSpPr>
          <p:cNvPr id="6" name="标题 5">
            <a:extLst xmlns:a="http://schemas.openxmlformats.org/drawingml/2006/main">
              <a:ext uri="{FF2B5EF4-FFF2-40B4-BE49-F238E27FC236}">
                <a16:creationId xmlns:a16="http://schemas.microsoft.com/office/drawing/2014/main" id="{D124F9DB-C87A-423F-9657-38C7A2901430}"/>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8" name="内容占位符 7">
            <a:extLst xmlns:a="http://schemas.openxmlformats.org/drawingml/2006/main">
              <a:ext uri="{FF2B5EF4-FFF2-40B4-BE49-F238E27FC236}">
                <a16:creationId xmlns:a16="http://schemas.microsoft.com/office/drawing/2014/main" id="{2070191C-4093-409C-8FD5-7369A79637AD}"/>
              </a:ext>
            </a:extLst>
          </p:cNvPr>
          <p:cNvSpPr>
            <a:spLocks xmlns:a="http://schemas.openxmlformats.org/drawingml/2006/main" noGrp="1"/>
          </p:cNvSpPr>
          <p:nvPr>
            <p:ph idx="13" hasCustomPrompt="1"/>
          </p:nvPr>
        </p:nvSpPr>
        <p:spPr>
          <a:xfrm xmlns:a="http://schemas.openxmlformats.org/drawingml/2006/main">
            <a:off x="669925" y="1130299"/>
            <a:ext cx="10850563" cy="5006975"/>
          </a:xfrm>
        </p:spPr>
        <p:txBody>
          <a:bodyPr xmlns:a="http://schemas.openxmlformats.org/drawingml/2006/main"/>
          <a:lstStyle xmlns:a="http://schemas.openxmlformats.org/drawingml/2006/main">
            <a:lvl1pPr>
              <a:buNone/>
              <a:defRPr/>
            </a:lvl1pPr>
            <a:lvl2pPr>
              <a:buNone/>
              <a:defRPr/>
            </a:lvl2pPr>
            <a:lvl3pPr>
              <a:buNone/>
              <a:defRPr/>
            </a:lvl3pPr>
            <a:lvl4pPr>
              <a:buNone/>
              <a:defRPr/>
            </a:lvl4pPr>
            <a:lvl5pPr>
              <a:buNone/>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Tree>
  </p:cSld>
</p:sldLayout>
</file>

<file path=ppt/slideLayouts/slideLayout4.xml><?xml version="1.0" encoding="utf-8"?>
<p:sldLayout xmlns:p="http://schemas.openxmlformats.org/presentationml/2006/main" type="titleOnly" preserve="1" userDrawn="1">
  <p:cSld name="仅标题页">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21C7A1C-3684-4AAF-A408-C63B6CB64104}"/>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日期占位符 2">
            <a:extLst xmlns:a="http://schemas.openxmlformats.org/drawingml/2006/main">
              <a:ext uri="{FF2B5EF4-FFF2-40B4-BE49-F238E27FC236}">
                <a16:creationId xmlns:a16="http://schemas.microsoft.com/office/drawing/2014/main" id="{8986EA5F-D77D-4318-90E9-C04AA8ADC0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页脚占位符 3">
            <a:extLst xmlns:a="http://schemas.openxmlformats.org/drawingml/2006/main">
              <a:ext uri="{FF2B5EF4-FFF2-40B4-BE49-F238E27FC236}">
                <a16:creationId xmlns:a16="http://schemas.microsoft.com/office/drawing/2014/main" id="{00832621-D9D9-445E-BFF9-F8348FA1E26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请在插入菜单</a:t>
            </a:r>
            <a:r>
              <a:t>—</a:t>
            </a:r>
            <a:r>
              <a:t>页眉和页脚中修改此文本</a:t>
            </a:r>
            <a:endParaRPr/>
          </a:p>
        </p:txBody>
      </p:sp>
      <p:sp>
        <p:nvSpPr>
          <p:cNvPr id="5" name="灯片编号占位符 4">
            <a:extLst xmlns:a="http://schemas.openxmlformats.org/drawingml/2006/main">
              <a:ext uri="{FF2B5EF4-FFF2-40B4-BE49-F238E27FC236}">
                <a16:creationId xmlns:a16="http://schemas.microsoft.com/office/drawing/2014/main" id="{8371151B-F790-4A9F-962F-B8718A9560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DD3DB80-B894-403A-B48E-6FDC1A72010E}" type="slidenum">
              <a:t>‹#›</a:t>
            </a:fld>
            <a:endParaRPr/>
          </a:p>
        </p:txBody>
      </p:sp>
    </p:spTree>
  </p:cSld>
</p:sldLayout>
</file>

<file path=ppt/slideLayouts/slideLayout5.xml><?xml version="1.0" encoding="utf-8"?>
<p:sldLayout xmlns:p="http://schemas.openxmlformats.org/presentationml/2006/main" showMasterSp="0" type="blank" preserve="1">
  <p:cSld name="空白">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showMasterSp="0" preserve="1" userDrawn="1">
  <p:cSld name="末尾幻灯片">
    <p:spTree>
      <p:nvGrpSpPr>
        <p:cNvPr id="1" name=""/>
        <p:cNvGrpSpPr/>
        <p:nvPr/>
      </p:nvGrpSpPr>
      <p:grpSpPr>
        <a:xfrm xmlns:a="http://schemas.openxmlformats.org/drawingml/2006/main"/>
      </p:grpSpPr>
      <p:sp>
        <p:nvSpPr>
          <p:cNvPr id="2" name="ïṡlîďê">
            <a:extLst xmlns:a="http://schemas.openxmlformats.org/drawingml/2006/main">
              <a:ext uri="{FF2B5EF4-FFF2-40B4-BE49-F238E27FC236}">
                <a16:creationId xmlns:a16="http://schemas.microsoft.com/office/drawing/2014/main" id="{E439CD5A-CAF5-45CD-9FCC-504319DAD15E}"/>
              </a:ext>
            </a:extLst>
          </p:cNvPr>
          <p:cNvSpPr>
            <a:spLocks xmlns:a="http://schemas.openxmlformats.org/drawingml/2006/main" noGrp="1"/>
          </p:cNvSpPr>
          <p:nvPr/>
        </p:nvSpPr>
        <p:spPr>
          <a:xfrm xmlns:a="http://schemas.openxmlformats.org/drawingml/2006/main" rot="0" flipH="1" flipV="0">
            <a:off x="-9477507" y="0"/>
            <a:ext cx="5769447" cy="5416345"/>
          </a:xfrm>
          <a:custGeom xmlns:a="http://schemas.openxmlformats.org/drawingml/2006/main">
            <a:gdLst>
              <a:gd name="connsiteX0" fmla="*/ 2441939 w 6470228"/>
              <a:gd name="connsiteY0" fmla="*/ 0 h 6074237"/>
              <a:gd name="connsiteX1" fmla="*/ 6470228 w 6470228"/>
              <a:gd name="connsiteY1" fmla="*/ 0 h 6074237"/>
              <a:gd name="connsiteX2" fmla="*/ 6470228 w 6470228"/>
              <a:gd name="connsiteY2" fmla="*/ 2453916 h 6074237"/>
              <a:gd name="connsiteX3" fmla="*/ 4110930 w 6470228"/>
              <a:gd name="connsiteY3" fmla="*/ 5247423 h 6074237"/>
              <a:gd name="connsiteX4" fmla="*/ 826815 w 6470228"/>
              <a:gd name="connsiteY4" fmla="*/ 5524165 h 6074237"/>
              <a:gd name="connsiteX5" fmla="*/ 826816 w 6470228"/>
              <a:gd name="connsiteY5" fmla="*/ 5524165 h 6074237"/>
              <a:gd name="connsiteX6" fmla="*/ 550073 w 6470228"/>
              <a:gd name="connsiteY6" fmla="*/ 2240050 h 6074237"/>
            </a:gdLst>
            <a:rect l="l" t="t" r="r" b="b"/>
            <a:pathLst>
              <a:path w="6470228" h="6074237">
                <a:moveTo>
                  <a:pt x="2441939" y="0"/>
                </a:moveTo>
                <a:lnTo>
                  <a:pt x="6470228" y="0"/>
                </a:lnTo>
                <a:lnTo>
                  <a:pt x="6470228" y="2453916"/>
                </a:lnTo>
                <a:lnTo>
                  <a:pt x="4110930" y="5247423"/>
                </a:lnTo>
                <a:cubicBezTo>
                  <a:pt x="3280467" y="6230727"/>
                  <a:pt x="1810118" y="6354628"/>
                  <a:pt x="826815" y="5524165"/>
                </a:cubicBezTo>
                <a:lnTo>
                  <a:pt x="826816" y="5524165"/>
                </a:lnTo>
                <a:cubicBezTo>
                  <a:pt x="-156489" y="4693703"/>
                  <a:pt x="-280390" y="3223353"/>
                  <a:pt x="550073" y="2240050"/>
                </a:cubicBezTo>
                <a:close/>
              </a:path>
            </a:pathLst>
          </a:custGeom>
          <a:blipFill xmlns:a="http://schemas.openxmlformats.org/drawingml/2006/main">
            <a:blip xmlns:r="http://schemas.openxmlformats.org/officeDocument/2006/relationships" r:embed="Rbd59165248e54c5a">
              <a:duotone>
                <a:schemeClr val="accent5">
                  <a:shade val="45000"/>
                  <a:satMod val="135000"/>
                </a:schemeClr>
                <a:prstClr val="white"/>
              </a:duotone>
            </a:blip>
            <a:srcRect l="0" t="0" r="0" b="0"/>
            <a:stretch>
              <a:fillRect l="-10885" t="0" r="-10885"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 name="ïšḻïḑè">
            <a:extLst xmlns:a="http://schemas.openxmlformats.org/drawingml/2006/main">
              <a:ext uri="{FF2B5EF4-FFF2-40B4-BE49-F238E27FC236}">
                <a16:creationId xmlns:a16="http://schemas.microsoft.com/office/drawing/2014/main" id="{2CD2485B-6B24-4D35-B778-6A8221AAB7E4}"/>
              </a:ext>
            </a:extLst>
          </p:cNvPr>
          <p:cNvSpPr>
            <a:spLocks xmlns:a="http://schemas.openxmlformats.org/drawingml/2006/main" noGrp="1"/>
          </p:cNvSpPr>
          <p:nvPr/>
        </p:nvSpPr>
        <p:spPr>
          <a:xfrm xmlns:a="http://schemas.openxmlformats.org/drawingml/2006/main" rot="0" flipH="1" flipV="0">
            <a:off x="-8750904" y="0"/>
            <a:ext cx="3527099" cy="3259938"/>
          </a:xfrm>
          <a:custGeom xmlns:a="http://schemas.openxmlformats.org/drawingml/2006/main">
            <a:gdLst>
              <a:gd name="connsiteX0" fmla="*/ 210268 w 3955516"/>
              <a:gd name="connsiteY0" fmla="*/ 3516016 h 3655904"/>
              <a:gd name="connsiteX1" fmla="*/ 210268 w 3955516"/>
              <a:gd name="connsiteY1" fmla="*/ 3516016 h 3655904"/>
              <a:gd name="connsiteX2" fmla="*/ 210268 w 3955516"/>
              <a:gd name="connsiteY2" fmla="*/ 3516016 h 3655904"/>
              <a:gd name="connsiteX3" fmla="*/ 2404025 w 3955516"/>
              <a:gd name="connsiteY3" fmla="*/ 0 h 3655904"/>
              <a:gd name="connsiteX4" fmla="*/ 3955516 w 3955516"/>
              <a:gd name="connsiteY4" fmla="*/ 0 h 3655904"/>
              <a:gd name="connsiteX5" fmla="*/ 1045452 w 3955516"/>
              <a:gd name="connsiteY5" fmla="*/ 3445637 h 3655904"/>
              <a:gd name="connsiteX6" fmla="*/ 309288 w 3955516"/>
              <a:gd name="connsiteY6" fmla="*/ 3583884 h 3655904"/>
              <a:gd name="connsiteX7" fmla="*/ 210268 w 3955516"/>
              <a:gd name="connsiteY7" fmla="*/ 3516016 h 3655904"/>
              <a:gd name="connsiteX8" fmla="*/ 126786 w 3955516"/>
              <a:gd name="connsiteY8" fmla="*/ 3429750 h 3655904"/>
              <a:gd name="connsiteX9" fmla="*/ 139890 w 3955516"/>
              <a:gd name="connsiteY9" fmla="*/ 2680831 h 3655904"/>
            </a:gdLst>
            <a:rect l="l" t="t" r="r" b="b"/>
            <a:pathLst>
              <a:path w="3955516" h="3655904">
                <a:moveTo>
                  <a:pt x="210268" y="3516016"/>
                </a:moveTo>
                <a:lnTo>
                  <a:pt x="210268" y="3516016"/>
                </a:lnTo>
                <a:lnTo>
                  <a:pt x="210268" y="3516016"/>
                </a:lnTo>
                <a:close/>
                <a:moveTo>
                  <a:pt x="2404025" y="0"/>
                </a:moveTo>
                <a:lnTo>
                  <a:pt x="3955516" y="0"/>
                </a:lnTo>
                <a:lnTo>
                  <a:pt x="1045452" y="3445637"/>
                </a:lnTo>
                <a:cubicBezTo>
                  <a:pt x="860656" y="3664444"/>
                  <a:pt x="551270" y="3715919"/>
                  <a:pt x="309288" y="3583884"/>
                </a:cubicBezTo>
                <a:lnTo>
                  <a:pt x="210268" y="3516016"/>
                </a:lnTo>
                <a:lnTo>
                  <a:pt x="126786" y="3429750"/>
                </a:lnTo>
                <a:cubicBezTo>
                  <a:pt x="-43881" y="3213275"/>
                  <a:pt x="-44906" y="2899638"/>
                  <a:pt x="139890" y="2680831"/>
                </a:cubicBezTo>
                <a:close/>
              </a:path>
            </a:pathLst>
          </a:custGeom>
          <a:solidFill xmlns:a="http://schemas.openxmlformats.org/drawingml/2006/main">
            <a:schemeClr val="accent3">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 name="î$ļïḓê">
            <a:extLst xmlns:a="http://schemas.openxmlformats.org/drawingml/2006/main">
              <a:ext uri="{FF2B5EF4-FFF2-40B4-BE49-F238E27FC236}">
                <a16:creationId xmlns:a16="http://schemas.microsoft.com/office/drawing/2014/main" id="{3ECDFD97-F9F8-4458-83C7-75F6A6B9BC7F}"/>
              </a:ext>
            </a:extLst>
          </p:cNvPr>
          <p:cNvSpPr>
            <a:spLocks xmlns:a="http://schemas.openxmlformats.org/drawingml/2006/main" noGrp="1"/>
          </p:cNvSpPr>
          <p:nvPr/>
        </p:nvSpPr>
        <p:spPr>
          <a:xfrm xmlns:a="http://schemas.openxmlformats.org/drawingml/2006/main" rot="0" flipH="1" flipV="0">
            <a:off x="-13730082" y="1803027"/>
            <a:ext cx="1513658" cy="2514003"/>
          </a:xfrm>
          <a:custGeom xmlns:a="http://schemas.openxmlformats.org/drawingml/2006/main">
            <a:gdLst>
              <a:gd name="connsiteX0" fmla="*/ 1697514 w 1697514"/>
              <a:gd name="connsiteY0" fmla="*/ 0 h 2819365"/>
              <a:gd name="connsiteX1" fmla="*/ 1697514 w 1697514"/>
              <a:gd name="connsiteY1" fmla="*/ 1837030 h 2819365"/>
              <a:gd name="connsiteX2" fmla="*/ 1045452 w 1697514"/>
              <a:gd name="connsiteY2" fmla="*/ 2609099 h 2819365"/>
              <a:gd name="connsiteX3" fmla="*/ 210267 w 1697514"/>
              <a:gd name="connsiteY3" fmla="*/ 2679477 h 2819365"/>
              <a:gd name="connsiteX4" fmla="*/ 210268 w 1697514"/>
              <a:gd name="connsiteY4" fmla="*/ 2679478 h 2819365"/>
              <a:gd name="connsiteX5" fmla="*/ 139890 w 1697514"/>
              <a:gd name="connsiteY5" fmla="*/ 1844292 h 2819365"/>
            </a:gdLst>
            <a:rect l="l" t="t" r="r" b="b"/>
            <a:pathLst>
              <a:path w="1697514" h="2819365">
                <a:moveTo>
                  <a:pt x="1697514" y="0"/>
                </a:moveTo>
                <a:lnTo>
                  <a:pt x="1697514" y="1837030"/>
                </a:lnTo>
                <a:lnTo>
                  <a:pt x="1045452" y="2609099"/>
                </a:lnTo>
                <a:cubicBezTo>
                  <a:pt x="834257" y="2859163"/>
                  <a:pt x="460332" y="2890672"/>
                  <a:pt x="210267" y="2679477"/>
                </a:cubicBezTo>
                <a:lnTo>
                  <a:pt x="210268" y="2679478"/>
                </a:lnTo>
                <a:cubicBezTo>
                  <a:pt x="-39796" y="2468282"/>
                  <a:pt x="-71306" y="2094357"/>
                  <a:pt x="139890" y="1844292"/>
                </a:cubicBezTo>
                <a:close/>
              </a:path>
            </a:pathLst>
          </a:custGeom>
          <a:solidFill xmlns:a="http://schemas.openxmlformats.org/drawingml/2006/main">
            <a:schemeClr val="accent3">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8" name="iš1ïdé">
            <a:extLst xmlns:a="http://schemas.openxmlformats.org/drawingml/2006/main">
              <a:ext uri="{FF2B5EF4-FFF2-40B4-BE49-F238E27FC236}">
                <a16:creationId xmlns:a16="http://schemas.microsoft.com/office/drawing/2014/main" id="{2CA04BCD-7F71-4105-83C6-67D474785A06}"/>
              </a:ext>
            </a:extLst>
          </p:cNvPr>
          <p:cNvSpPr>
            <a:spLocks xmlns:a="http://schemas.openxmlformats.org/drawingml/2006/main" noGrp="1"/>
          </p:cNvSpPr>
          <p:nvPr/>
        </p:nvSpPr>
        <p:spPr>
          <a:xfrm xmlns:a="http://schemas.openxmlformats.org/drawingml/2006/main" rot="0" flipH="1" flipV="0">
            <a:off x="-13358168" y="2110628"/>
            <a:ext cx="1888786" cy="3178162"/>
          </a:xfrm>
          <a:custGeom xmlns:a="http://schemas.openxmlformats.org/drawingml/2006/main">
            <a:gdLst>
              <a:gd name="connsiteX0" fmla="*/ 2118206 w 2118206"/>
              <a:gd name="connsiteY0" fmla="*/ 0 h 3564196"/>
              <a:gd name="connsiteX1" fmla="*/ 2118206 w 2118206"/>
              <a:gd name="connsiteY1" fmla="*/ 2396948 h 3564196"/>
              <a:gd name="connsiteX2" fmla="*/ 1364100 w 2118206"/>
              <a:gd name="connsiteY2" fmla="*/ 3289841 h 3564196"/>
              <a:gd name="connsiteX3" fmla="*/ 274355 w 2118206"/>
              <a:gd name="connsiteY3" fmla="*/ 3381670 h 3564196"/>
              <a:gd name="connsiteX4" fmla="*/ 274356 w 2118206"/>
              <a:gd name="connsiteY4" fmla="*/ 3381671 h 3564196"/>
              <a:gd name="connsiteX5" fmla="*/ 182527 w 2118206"/>
              <a:gd name="connsiteY5" fmla="*/ 2291926 h 3564196"/>
            </a:gdLst>
            <a:rect l="l" t="t" r="r" b="b"/>
            <a:pathLst>
              <a:path w="2118206" h="3564196">
                <a:moveTo>
                  <a:pt x="2118206" y="0"/>
                </a:moveTo>
                <a:lnTo>
                  <a:pt x="2118206" y="2396948"/>
                </a:lnTo>
                <a:lnTo>
                  <a:pt x="1364100" y="3289841"/>
                </a:lnTo>
                <a:cubicBezTo>
                  <a:pt x="1088533" y="3616123"/>
                  <a:pt x="600638" y="3657237"/>
                  <a:pt x="274355" y="3381670"/>
                </a:cubicBezTo>
                <a:lnTo>
                  <a:pt x="274356" y="3381671"/>
                </a:lnTo>
                <a:cubicBezTo>
                  <a:pt x="-51927" y="3106104"/>
                  <a:pt x="-93040" y="2618208"/>
                  <a:pt x="182527" y="2291926"/>
                </a:cubicBezTo>
                <a:close/>
              </a:path>
            </a:pathLst>
          </a:custGeom>
          <a:solidFill xmlns:a="http://schemas.openxmlformats.org/drawingml/2006/main">
            <a:schemeClr val="accent3">
              <a:lumMod val="40000"/>
              <a:lumOff val="6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0" name="îSlíḑè">
            <a:extLst xmlns:a="http://schemas.openxmlformats.org/drawingml/2006/main">
              <a:ext uri="{FF2B5EF4-FFF2-40B4-BE49-F238E27FC236}">
                <a16:creationId xmlns:a16="http://schemas.microsoft.com/office/drawing/2014/main" id="{328C9D76-DBE1-49B5-AF7C-DD24A5B36F96}"/>
              </a:ext>
            </a:extLst>
          </p:cNvPr>
          <p:cNvSpPr>
            <a:spLocks xmlns:a="http://schemas.openxmlformats.org/drawingml/2006/main" noGrp="1"/>
          </p:cNvSpPr>
          <p:nvPr/>
        </p:nvSpPr>
        <p:spPr>
          <a:xfrm xmlns:a="http://schemas.openxmlformats.org/drawingml/2006/main" rot="0" flipH="1" flipV="0">
            <a:off x="-9477507" y="0"/>
            <a:ext cx="5769447" cy="5416345"/>
          </a:xfrm>
          <a:custGeom xmlns:a="http://schemas.openxmlformats.org/drawingml/2006/main">
            <a:gdLst>
              <a:gd name="connsiteX0" fmla="*/ 2441939 w 6470228"/>
              <a:gd name="connsiteY0" fmla="*/ 0 h 6074237"/>
              <a:gd name="connsiteX1" fmla="*/ 6470228 w 6470228"/>
              <a:gd name="connsiteY1" fmla="*/ 0 h 6074237"/>
              <a:gd name="connsiteX2" fmla="*/ 6470228 w 6470228"/>
              <a:gd name="connsiteY2" fmla="*/ 2453916 h 6074237"/>
              <a:gd name="connsiteX3" fmla="*/ 4110930 w 6470228"/>
              <a:gd name="connsiteY3" fmla="*/ 5247423 h 6074237"/>
              <a:gd name="connsiteX4" fmla="*/ 826815 w 6470228"/>
              <a:gd name="connsiteY4" fmla="*/ 5524165 h 6074237"/>
              <a:gd name="connsiteX5" fmla="*/ 826816 w 6470228"/>
              <a:gd name="connsiteY5" fmla="*/ 5524165 h 6074237"/>
              <a:gd name="connsiteX6" fmla="*/ 550073 w 6470228"/>
              <a:gd name="connsiteY6" fmla="*/ 2240050 h 6074237"/>
            </a:gdLst>
            <a:rect l="l" t="t" r="r" b="b"/>
            <a:pathLst>
              <a:path w="6470228" h="6074237">
                <a:moveTo>
                  <a:pt x="2441939" y="0"/>
                </a:moveTo>
                <a:lnTo>
                  <a:pt x="6470228" y="0"/>
                </a:lnTo>
                <a:lnTo>
                  <a:pt x="6470228" y="2453916"/>
                </a:lnTo>
                <a:lnTo>
                  <a:pt x="4110930" y="5247423"/>
                </a:lnTo>
                <a:cubicBezTo>
                  <a:pt x="3280467" y="6230727"/>
                  <a:pt x="1810118" y="6354628"/>
                  <a:pt x="826815" y="5524165"/>
                </a:cubicBezTo>
                <a:lnTo>
                  <a:pt x="826816" y="5524165"/>
                </a:lnTo>
                <a:cubicBezTo>
                  <a:pt x="-156489" y="4693703"/>
                  <a:pt x="-280390" y="3223353"/>
                  <a:pt x="550073" y="2240050"/>
                </a:cubicBezTo>
                <a:close/>
              </a:path>
            </a:pathLst>
          </a:custGeom>
          <a:solidFill xmlns:a="http://schemas.openxmlformats.org/drawingml/2006/main">
            <a:schemeClr val="accent3">
              <a:alpha val="3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3" name="标题 12">
            <a:extLst xmlns:a="http://schemas.openxmlformats.org/drawingml/2006/main">
              <a:ext uri="{FF2B5EF4-FFF2-40B4-BE49-F238E27FC236}">
                <a16:creationId xmlns:a16="http://schemas.microsoft.com/office/drawing/2014/main" id="{685DA37E-083B-48E6-A3A2-703AC695FA2E}"/>
              </a:ext>
            </a:extLst>
          </p:cNvPr>
          <p:cNvSpPr>
            <a:spLocks xmlns:a="http://schemas.openxmlformats.org/drawingml/2006/main" noGrp="1"/>
          </p:cNvSpPr>
          <p:nvPr>
            <p:ph type="ctrTitle" idx="0" hasCustomPrompt="1"/>
          </p:nvPr>
        </p:nvSpPr>
        <p:spPr>
          <a:xfrm xmlns:a="http://schemas.openxmlformats.org/drawingml/2006/main">
            <a:off x="673100" y="2892248"/>
            <a:ext cx="10845798" cy="1621509"/>
          </a:xfrm>
        </p:spPr>
        <p:txBody>
          <a:bodyPr xmlns:a="http://schemas.openxmlformats.org/drawingml/2006/main" anchor="b">
            <a:normAutofit/>
          </a:bodyPr>
          <a:lstStyle xmlns:a="http://schemas.openxmlformats.org/drawingml/2006/main">
            <a:lvl1pPr marL="0" indent="0" algn="r">
              <a:buFont typeface="Arial"/>
              <a:buNone/>
              <a:defRPr sz="3200">
                <a:solidFill>
                  <a:schemeClr val="tx1"/>
                </a:solidFill>
              </a:defRPr>
            </a:lvl1pPr>
          </a:lstStyle>
          <a:p xmlns:a="http://schemas.openxmlformats.org/drawingml/2006/main">
            <a:r>
              <a:t>Conclusion</a:t>
            </a:r>
            <a:endParaRPr/>
          </a:p>
        </p:txBody>
      </p:sp>
      <p:sp>
        <p:nvSpPr>
          <p:cNvPr id="15" name="文本占位符 14">
            <a:extLst xmlns:a="http://schemas.openxmlformats.org/drawingml/2006/main">
              <a:ext uri="{FF2B5EF4-FFF2-40B4-BE49-F238E27FC236}">
                <a16:creationId xmlns:a16="http://schemas.microsoft.com/office/drawing/2014/main" id="{B9083918-E465-4E6A-9CE5-F888AAA47A9D}"/>
              </a:ext>
            </a:extLst>
          </p:cNvPr>
          <p:cNvSpPr>
            <a:spLocks xmlns:a="http://schemas.openxmlformats.org/drawingml/2006/main" noGrp="1"/>
          </p:cNvSpPr>
          <p:nvPr>
            <p:ph type="body" idx="18" hasCustomPrompt="1"/>
          </p:nvPr>
        </p:nvSpPr>
        <p:spPr>
          <a:xfrm xmlns:a="http://schemas.openxmlformats.org/drawingml/2006/main">
            <a:off x="673100" y="5198484"/>
            <a:ext cx="10845798" cy="310871"/>
          </a:xfrm>
        </p:spPr>
        <p:txBody>
          <a:bodyPr xmlns:a="http://schemas.openxmlformats.org/drawingml/2006/main" vert="horz" lIns="91440" tIns="45720" rIns="91440" bIns="45720">
            <a:normAutofit/>
          </a:bodyPr>
          <a:lstStyle xmlns:a="http://schemas.openxmlformats.org/drawingml/2006/main">
            <a:lvl1pPr marL="0" indent="0" algn="r">
              <a:buNone/>
              <a:defRPr sz="1400">
                <a:solidFill>
                  <a:schemeClr val="tx1"/>
                </a:solidFill>
              </a:defRPr>
            </a:lvl1pPr>
            <a:lvl2pPr>
              <a:buNone/>
              <a:defRPr sz="2000"/>
            </a:lvl2pPr>
            <a:lvl3pPr>
              <a:buNone/>
              <a:defRPr sz="1800"/>
            </a:lvl3pPr>
            <a:lvl4pPr>
              <a:buNone/>
              <a:defRPr sz="1600"/>
            </a:lvl4pPr>
            <a:lvl5pPr>
              <a:buNone/>
              <a:defRPr sz="1600"/>
            </a:lvl5pPr>
          </a:lstStyle>
          <a:p xmlns:a="http://schemas.openxmlformats.org/drawingml/2006/main">
            <a:pPr marL="228589" marR="0" lvl="0" indent="-228589">
              <a:spcAft>
                <a:spcPts val="0"/>
              </a:spcAft>
              <a:buClrTx/>
              <a:buSzTx/>
              <a:buNone/>
            </a:pPr>
            <a:r>
              <a:t>Data</a:t>
            </a:r>
          </a:p>
        </p:txBody>
      </p:sp>
      <p:sp>
        <p:nvSpPr>
          <p:cNvPr id="6" name="文本占位符 5">
            <a:extLst xmlns:a="http://schemas.openxmlformats.org/drawingml/2006/main">
              <a:ext uri="{FF2B5EF4-FFF2-40B4-BE49-F238E27FC236}">
                <a16:creationId xmlns:a16="http://schemas.microsoft.com/office/drawing/2014/main" id="{05EBDA4F-7210-4CAE-8333-80DB24212E78}"/>
              </a:ext>
            </a:extLst>
          </p:cNvPr>
          <p:cNvSpPr>
            <a:spLocks xmlns:a="http://schemas.openxmlformats.org/drawingml/2006/main" noGrp="1"/>
          </p:cNvSpPr>
          <p:nvPr>
            <p:ph type="body" idx="10" hasCustomPrompt="1"/>
          </p:nvPr>
        </p:nvSpPr>
        <p:spPr>
          <a:xfrm xmlns:a="http://schemas.openxmlformats.org/drawingml/2006/main">
            <a:off x="673102" y="4902213"/>
            <a:ext cx="10845798" cy="296271"/>
          </a:xfrm>
        </p:spPr>
        <p:txBody>
          <a:bodyPr xmlns:a="http://schemas.openxmlformats.org/drawingml/2006/main" vert="horz" anchor="ctr">
            <a:noAutofit/>
          </a:bodyPr>
          <a:lstStyle xmlns:a="http://schemas.openxmlformats.org/drawingml/2006/main">
            <a:lvl1pPr marL="0" indent="0" algn="r">
              <a:buNone/>
              <a:defRPr sz="1400" b="0">
                <a:solidFill>
                  <a:schemeClr val="tx1"/>
                </a:solidFill>
              </a:defRPr>
            </a:lvl1pPr>
            <a:lvl2pPr marL="457177" indent="0">
              <a:buNone/>
              <a:defRPr/>
            </a:lvl2pPr>
            <a:lvl3pPr marL="914353" indent="0">
              <a:buNone/>
              <a:defRPr/>
            </a:lvl3pPr>
            <a:lvl4pPr marL="1371531" indent="0">
              <a:buNone/>
              <a:defRPr/>
            </a:lvl4pPr>
            <a:lvl5pPr marL="1828709" indent="0">
              <a:buNone/>
              <a:defRPr/>
            </a:lvl5pPr>
          </a:lstStyle>
          <a:p xmlns:a="http://schemas.openxmlformats.org/drawingml/2006/main">
            <a:pPr lvl="0">
              <a:buNone/>
            </a:pPr>
            <a:r>
              <a:t>Signature</a:t>
            </a:r>
          </a:p>
        </p:txBody>
      </p:sp>
      <p:sp>
        <p:nvSpPr>
          <p:cNvPr id="9" name="î$ľídé">
            <a:extLst xmlns:a="http://schemas.openxmlformats.org/drawingml/2006/main">
              <a:ext uri="{FF2B5EF4-FFF2-40B4-BE49-F238E27FC236}">
                <a16:creationId xmlns:a16="http://schemas.microsoft.com/office/drawing/2014/main" id="{12BDBF0A-7794-497A-B347-523784BA2A29}"/>
              </a:ext>
            </a:extLst>
          </p:cNvPr>
          <p:cNvSpPr>
            <a:spLocks xmlns:a="http://schemas.openxmlformats.org/drawingml/2006/main" noGrp="1"/>
          </p:cNvSpPr>
          <p:nvPr/>
        </p:nvSpPr>
        <p:spPr>
          <a:xfrm xmlns:a="http://schemas.openxmlformats.org/drawingml/2006/main" rot="0" flipH="0" flipV="1">
            <a:off x="11324428" y="5246041"/>
            <a:ext cx="862526" cy="1432551"/>
          </a:xfrm>
          <a:custGeom xmlns:a="http://schemas.openxmlformats.org/drawingml/2006/main">
            <a:gdLst>
              <a:gd name="connsiteX0" fmla="*/ 1697514 w 1697514"/>
              <a:gd name="connsiteY0" fmla="*/ 0 h 2819365"/>
              <a:gd name="connsiteX1" fmla="*/ 1697514 w 1697514"/>
              <a:gd name="connsiteY1" fmla="*/ 1837030 h 2819365"/>
              <a:gd name="connsiteX2" fmla="*/ 1045452 w 1697514"/>
              <a:gd name="connsiteY2" fmla="*/ 2609099 h 2819365"/>
              <a:gd name="connsiteX3" fmla="*/ 210267 w 1697514"/>
              <a:gd name="connsiteY3" fmla="*/ 2679477 h 2819365"/>
              <a:gd name="connsiteX4" fmla="*/ 210268 w 1697514"/>
              <a:gd name="connsiteY4" fmla="*/ 2679478 h 2819365"/>
              <a:gd name="connsiteX5" fmla="*/ 139890 w 1697514"/>
              <a:gd name="connsiteY5" fmla="*/ 1844292 h 2819365"/>
            </a:gdLst>
            <a:rect l="l" t="t" r="r" b="b"/>
            <a:pathLst>
              <a:path w="1697514" h="2819365">
                <a:moveTo>
                  <a:pt x="1697514" y="0"/>
                </a:moveTo>
                <a:lnTo>
                  <a:pt x="1697514" y="1837030"/>
                </a:lnTo>
                <a:lnTo>
                  <a:pt x="1045452" y="2609099"/>
                </a:lnTo>
                <a:cubicBezTo>
                  <a:pt x="834257" y="2859163"/>
                  <a:pt x="460332" y="2890672"/>
                  <a:pt x="210267" y="2679477"/>
                </a:cubicBezTo>
                <a:lnTo>
                  <a:pt x="210268" y="2679478"/>
                </a:lnTo>
                <a:cubicBezTo>
                  <a:pt x="-39796" y="2468282"/>
                  <a:pt x="-71306" y="2094357"/>
                  <a:pt x="139890" y="1844292"/>
                </a:cubicBezTo>
                <a:close/>
              </a:path>
            </a:pathLst>
          </a:custGeom>
          <a:solidFill xmlns:a="http://schemas.openxmlformats.org/drawingml/2006/main">
            <a:schemeClr val="accent3">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8" name="iśľîḋé">
            <a:extLst xmlns:a="http://schemas.openxmlformats.org/drawingml/2006/main">
              <a:ext uri="{FF2B5EF4-FFF2-40B4-BE49-F238E27FC236}">
                <a16:creationId xmlns:a16="http://schemas.microsoft.com/office/drawing/2014/main" id="{B8EF53BF-186A-47C0-B18A-4E049A034B72}"/>
              </a:ext>
            </a:extLst>
          </p:cNvPr>
          <p:cNvSpPr>
            <a:spLocks xmlns:a="http://schemas.openxmlformats.org/drawingml/2006/main" noGrp="1"/>
          </p:cNvSpPr>
          <p:nvPr/>
        </p:nvSpPr>
        <p:spPr>
          <a:xfrm xmlns:a="http://schemas.openxmlformats.org/drawingml/2006/main" rot="0" flipH="0" flipV="1">
            <a:off x="11112501" y="4692303"/>
            <a:ext cx="1076284" cy="1811009"/>
          </a:xfrm>
          <a:custGeom xmlns:a="http://schemas.openxmlformats.org/drawingml/2006/main">
            <a:gdLst>
              <a:gd name="connsiteX0" fmla="*/ 2118206 w 2118206"/>
              <a:gd name="connsiteY0" fmla="*/ 0 h 3564196"/>
              <a:gd name="connsiteX1" fmla="*/ 2118206 w 2118206"/>
              <a:gd name="connsiteY1" fmla="*/ 2396948 h 3564196"/>
              <a:gd name="connsiteX2" fmla="*/ 1364100 w 2118206"/>
              <a:gd name="connsiteY2" fmla="*/ 3289841 h 3564196"/>
              <a:gd name="connsiteX3" fmla="*/ 274355 w 2118206"/>
              <a:gd name="connsiteY3" fmla="*/ 3381670 h 3564196"/>
              <a:gd name="connsiteX4" fmla="*/ 274356 w 2118206"/>
              <a:gd name="connsiteY4" fmla="*/ 3381671 h 3564196"/>
              <a:gd name="connsiteX5" fmla="*/ 182527 w 2118206"/>
              <a:gd name="connsiteY5" fmla="*/ 2291926 h 3564196"/>
            </a:gdLst>
            <a:rect l="l" t="t" r="r" b="b"/>
            <a:pathLst>
              <a:path w="2118206" h="3564196">
                <a:moveTo>
                  <a:pt x="2118206" y="0"/>
                </a:moveTo>
                <a:lnTo>
                  <a:pt x="2118206" y="2396948"/>
                </a:lnTo>
                <a:lnTo>
                  <a:pt x="1364100" y="3289841"/>
                </a:lnTo>
                <a:cubicBezTo>
                  <a:pt x="1088533" y="3616123"/>
                  <a:pt x="600638" y="3657237"/>
                  <a:pt x="274355" y="3381670"/>
                </a:cubicBezTo>
                <a:lnTo>
                  <a:pt x="274356" y="3381671"/>
                </a:lnTo>
                <a:cubicBezTo>
                  <a:pt x="-51927" y="3106104"/>
                  <a:pt x="-93040" y="2618208"/>
                  <a:pt x="182527" y="2291926"/>
                </a:cubicBezTo>
                <a:close/>
              </a:path>
            </a:pathLst>
          </a:custGeom>
          <a:solidFill xmlns:a="http://schemas.openxmlformats.org/drawingml/2006/main">
            <a:schemeClr val="accent3">
              <a:lumMod val="40000"/>
              <a:lumOff val="6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d92786e2c64875" /><Relationship Type="http://schemas.openxmlformats.org/officeDocument/2006/relationships/slideLayout" Target="/ppt/slideLayouts/slideLayout1.xml" Id="Re9611a283f884286" /><Relationship Type="http://schemas.openxmlformats.org/officeDocument/2006/relationships/slideLayout" Target="/ppt/slideLayouts/slideLayout2.xml" Id="R0a4eab6f38a9418b" /><Relationship Type="http://schemas.openxmlformats.org/officeDocument/2006/relationships/slideLayout" Target="/ppt/slideLayouts/slideLayout3.xml" Id="R7420ec00bb504d48" /><Relationship Type="http://schemas.openxmlformats.org/officeDocument/2006/relationships/slideLayout" Target="/ppt/slideLayouts/slideLayout4.xml" Id="R01d2889efc7c41cd" /><Relationship Type="http://schemas.openxmlformats.org/officeDocument/2006/relationships/slideLayout" Target="/ppt/slideLayouts/slideLayout5.xml" Id="Rf5aa7a0625944df3" /><Relationship Type="http://schemas.openxmlformats.org/officeDocument/2006/relationships/slideLayout" Target="/ppt/slideLayouts/slideLayout6.xml" Id="R5392c3c483fb45c6"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60987D36-E83B-4FD7-B7EA-20F53A55F5DD}"/>
              </a:ext>
            </a:extLst>
          </p:cNvPr>
          <p:cNvSpPr>
            <a:spLocks xmlns:a="http://schemas.openxmlformats.org/drawingml/2006/main" noGrp="1"/>
          </p:cNvSpPr>
          <p:nvPr>
            <p:ph type="title" idx="0"/>
          </p:nvPr>
        </p:nvSpPr>
        <p:spPr>
          <a:xfrm xmlns:a="http://schemas.openxmlformats.org/drawingml/2006/main">
            <a:off x="669924" y="1"/>
            <a:ext cx="10850563" cy="1028699"/>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p xmlns:a="http://schemas.openxmlformats.org/drawingml/2006/main">
            <a:r>
              <a:t>Click to edit Master title style</a:t>
            </a:r>
            <a:endParaRPr/>
          </a:p>
        </p:txBody>
      </p:sp>
      <p:sp>
        <p:nvSpPr>
          <p:cNvPr id="3" name="文本占位符 2">
            <a:extLst xmlns:a="http://schemas.openxmlformats.org/drawingml/2006/main">
              <a:ext uri="{FF2B5EF4-FFF2-40B4-BE49-F238E27FC236}">
                <a16:creationId xmlns:a16="http://schemas.microsoft.com/office/drawing/2014/main" id="{F52FEAA2-A5CA-49AF-9ECB-D3B0C616012D}"/>
              </a:ext>
            </a:extLst>
          </p:cNvPr>
          <p:cNvSpPr>
            <a:spLocks xmlns:a="http://schemas.openxmlformats.org/drawingml/2006/main" noGrp="1"/>
          </p:cNvSpPr>
          <p:nvPr>
            <p:ph type="body" idx="1"/>
          </p:nvPr>
        </p:nvSpPr>
        <p:spPr>
          <a:xfrm xmlns:a="http://schemas.openxmlformats.org/drawingml/2006/main">
            <a:off x="669924" y="1123950"/>
            <a:ext cx="10850563" cy="5019675"/>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日期占位符 7">
            <a:extLst xmlns:a="http://schemas.openxmlformats.org/drawingml/2006/main">
              <a:ext uri="{FF2B5EF4-FFF2-40B4-BE49-F238E27FC236}">
                <a16:creationId xmlns:a16="http://schemas.microsoft.com/office/drawing/2014/main" id="{04388434-9949-479C-A9C3-67A953F6A939}"/>
              </a:ext>
            </a:extLst>
          </p:cNvPr>
          <p:cNvSpPr>
            <a:spLocks xmlns:a="http://schemas.openxmlformats.org/drawingml/2006/main" noGrp="1"/>
          </p:cNvSpPr>
          <p:nvPr>
            <p:ph type="dt" idx="2"/>
          </p:nvPr>
        </p:nvSpPr>
        <p:spPr>
          <a:xfrm xmlns:a="http://schemas.openxmlformats.org/drawingml/2006/main">
            <a:off x="5401732" y="6240463"/>
            <a:ext cx="1388536" cy="206381"/>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000">
                <a:solidFill>
                  <a:schemeClr val="tx1">
                    <a:lumMod val="50000"/>
                    <a:lumOff val="50000"/>
                  </a:schemeClr>
                </a:solidFill>
              </a:defRPr>
            </a:lvl1pPr>
          </a:lstStyle>
          <a:p xmlns:a="http://schemas.openxmlformats.org/drawingml/2006/main">
            <a:endParaRPr/>
          </a:p>
        </p:txBody>
      </p:sp>
      <p:sp>
        <p:nvSpPr>
          <p:cNvPr id="9" name="页脚占位符 8">
            <a:extLst xmlns:a="http://schemas.openxmlformats.org/drawingml/2006/main">
              <a:ext uri="{FF2B5EF4-FFF2-40B4-BE49-F238E27FC236}">
                <a16:creationId xmlns:a16="http://schemas.microsoft.com/office/drawing/2014/main" id="{50A5656E-7A33-4865-A262-1F96263BAA16}"/>
              </a:ext>
            </a:extLst>
          </p:cNvPr>
          <p:cNvSpPr>
            <a:spLocks xmlns:a="http://schemas.openxmlformats.org/drawingml/2006/main" noGrp="1"/>
          </p:cNvSpPr>
          <p:nvPr>
            <p:ph type="ftr" idx="3"/>
          </p:nvPr>
        </p:nvSpPr>
        <p:spPr>
          <a:xfrm xmlns:a="http://schemas.openxmlformats.org/drawingml/2006/main">
            <a:off x="669924" y="6240463"/>
            <a:ext cx="4140201" cy="206381"/>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000">
                <a:solidFill>
                  <a:schemeClr val="tx1">
                    <a:lumMod val="50000"/>
                    <a:lumOff val="50000"/>
                  </a:schemeClr>
                </a:solidFill>
              </a:defRPr>
            </a:lvl1pPr>
          </a:lstStyle>
          <a:p xmlns:a="http://schemas.openxmlformats.org/drawingml/2006/main">
            <a:r>
              <a:t>请在插入菜单</a:t>
            </a:r>
            <a:r>
              <a:t>—</a:t>
            </a:r>
            <a:r>
              <a:t>页眉和页脚中修改此文本</a:t>
            </a:r>
            <a:endParaRPr/>
          </a:p>
        </p:txBody>
      </p:sp>
      <p:sp>
        <p:nvSpPr>
          <p:cNvPr id="10" name="灯片编号占位符 9">
            <a:extLst xmlns:a="http://schemas.openxmlformats.org/drawingml/2006/main">
              <a:ext uri="{FF2B5EF4-FFF2-40B4-BE49-F238E27FC236}">
                <a16:creationId xmlns:a16="http://schemas.microsoft.com/office/drawing/2014/main" id="{5BF52F79-380E-4278-8B67-588AFE5840F9}"/>
              </a:ext>
            </a:extLst>
          </p:cNvPr>
          <p:cNvSpPr>
            <a:spLocks xmlns:a="http://schemas.openxmlformats.org/drawingml/2006/main" noGrp="1"/>
          </p:cNvSpPr>
          <p:nvPr>
            <p:ph type="sldNum" idx="4"/>
          </p:nvPr>
        </p:nvSpPr>
        <p:spPr>
          <a:xfrm xmlns:a="http://schemas.openxmlformats.org/drawingml/2006/main">
            <a:off x="8610599" y="6240463"/>
            <a:ext cx="2909888" cy="206381"/>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a:solidFill>
                  <a:schemeClr val="tx1">
                    <a:lumMod val="50000"/>
                    <a:lumOff val="50000"/>
                  </a:schemeClr>
                </a:solidFill>
              </a:defRPr>
            </a:lvl1pPr>
          </a:lstStyle>
          <a:p xmlns:a="http://schemas.openxmlformats.org/drawingml/2006/main">
            <a:fld id="{5DD3DB80-B894-403A-B48E-6FDC1A72010E}" type="slidenum">
              <a:t>‹#›</a:t>
            </a:fld>
            <a:endParaRPr/>
          </a:p>
        </p:txBody>
      </p:sp>
      <p:sp>
        <p:nvSpPr>
          <p:cNvPr id="23"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5"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611a283f884286"/>
    <p:sldLayoutId xmlns:r="http://schemas.openxmlformats.org/officeDocument/2006/relationships" id="2147483650" r:id="R0a4eab6f38a9418b"/>
    <p:sldLayoutId xmlns:r="http://schemas.openxmlformats.org/officeDocument/2006/relationships" id="2147483651" r:id="R7420ec00bb504d48"/>
    <p:sldLayoutId xmlns:r="http://schemas.openxmlformats.org/officeDocument/2006/relationships" id="2147483652" r:id="R01d2889efc7c41cd"/>
    <p:sldLayoutId xmlns:r="http://schemas.openxmlformats.org/officeDocument/2006/relationships" id="2147483653" r:id="Rf5aa7a0625944df3"/>
    <p:sldLayoutId xmlns:r="http://schemas.openxmlformats.org/officeDocument/2006/relationships" id="2147483654" r:id="R5392c3c483fb45c6"/>
  </p:sldLayoutIdLst>
  <p:hf hdr="0" dt="0"/>
  <p:txStyles>
    <p:titleStyle>
      <a:lvl1pPr xmlns:a="http://schemas.openxmlformats.org/drawingml/2006/main" algn="l" defTabSz="914354">
        <a:lnSpc>
          <a:spcPct val="90000"/>
        </a:lnSpc>
        <a:spcBef>
          <a:spcPct val="0"/>
        </a:spcBef>
        <a:buNone/>
        <a:defRPr sz="2800" b="1" kern="1200">
          <a:solidFill>
            <a:schemeClr val="tx1"/>
          </a:solidFill>
          <a:latin typeface="+mj-lt"/>
          <a:ea typeface="+mj-lt"/>
          <a:cs typeface="+mj-lt"/>
        </a:defRPr>
      </a:lvl1pPr>
    </p:titleStyle>
    <p:bodyStyle>
      <a:lvl1pPr xmlns:a="http://schemas.openxmlformats.org/drawingml/2006/main" marL="228589" indent="-228589" algn="l" defTabSz="914354">
        <a:lnSpc>
          <a:spcPct val="90000"/>
        </a:lnSpc>
        <a:spcBef>
          <a:spcPts val="1000"/>
        </a:spcBef>
        <a:buFont typeface="Arial"/>
        <a:buChar char="•"/>
        <a:defRPr sz="1800" kern="1200">
          <a:solidFill>
            <a:schemeClr val="tx1"/>
          </a:solidFill>
          <a:latin typeface="+mn-lt"/>
          <a:ea typeface="+mn-lt"/>
          <a:cs typeface="+mn-lt"/>
        </a:defRPr>
      </a:lvl1pPr>
      <a:lvl2pPr xmlns:a="http://schemas.openxmlformats.org/drawingml/2006/main" marL="685766" indent="-228589" algn="l" defTabSz="914354">
        <a:lnSpc>
          <a:spcPct val="90000"/>
        </a:lnSpc>
        <a:spcBef>
          <a:spcPts val="500"/>
        </a:spcBef>
        <a:buFont typeface="Arial"/>
        <a:buChar char="•"/>
        <a:defRPr sz="1600" kern="1200">
          <a:solidFill>
            <a:schemeClr val="tx1"/>
          </a:solidFill>
          <a:latin typeface="+mn-lt"/>
          <a:ea typeface="+mn-lt"/>
          <a:cs typeface="+mn-lt"/>
        </a:defRPr>
      </a:lvl2pPr>
      <a:lvl3pPr xmlns:a="http://schemas.openxmlformats.org/drawingml/2006/main" marL="1142942" indent="-228589" algn="l" defTabSz="914354">
        <a:lnSpc>
          <a:spcPct val="90000"/>
        </a:lnSpc>
        <a:spcBef>
          <a:spcPts val="500"/>
        </a:spcBef>
        <a:buFont typeface="Arial"/>
        <a:buChar char="•"/>
        <a:defRPr sz="1400" kern="1200">
          <a:solidFill>
            <a:schemeClr val="tx1"/>
          </a:solidFill>
          <a:latin typeface="+mn-lt"/>
          <a:ea typeface="+mn-lt"/>
          <a:cs typeface="+mn-lt"/>
        </a:defRPr>
      </a:lvl3pPr>
      <a:lvl4pPr xmlns:a="http://schemas.openxmlformats.org/drawingml/2006/main" marL="1600120" indent="-228589" algn="l" defTabSz="914354">
        <a:lnSpc>
          <a:spcPct val="90000"/>
        </a:lnSpc>
        <a:spcBef>
          <a:spcPts val="500"/>
        </a:spcBef>
        <a:buFont typeface="Arial"/>
        <a:buChar char="•"/>
        <a:defRPr sz="1200" kern="1200">
          <a:solidFill>
            <a:schemeClr val="tx1"/>
          </a:solidFill>
          <a:latin typeface="+mn-lt"/>
          <a:ea typeface="+mn-lt"/>
          <a:cs typeface="+mn-lt"/>
        </a:defRPr>
      </a:lvl4pPr>
      <a:lvl5pPr xmlns:a="http://schemas.openxmlformats.org/drawingml/2006/main" marL="2057298" indent="-228589" algn="l" defTabSz="914354">
        <a:lnSpc>
          <a:spcPct val="90000"/>
        </a:lnSpc>
        <a:spcBef>
          <a:spcPts val="500"/>
        </a:spcBef>
        <a:buFont typeface="Arial"/>
        <a:buChar char="•"/>
        <a:defRPr sz="1200" kern="1200">
          <a:solidFill>
            <a:schemeClr val="tx1"/>
          </a:solidFill>
          <a:latin typeface="+mn-lt"/>
          <a:ea typeface="+mn-lt"/>
          <a:cs typeface="+mn-lt"/>
        </a:defRPr>
      </a:lvl5pPr>
      <a:lvl6pPr xmlns:a="http://schemas.openxmlformats.org/drawingml/2006/main" marL="2514474" indent="-228589" algn="l" defTabSz="914354">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652" indent="-228589" algn="l" defTabSz="914354">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8829" indent="-228589" algn="l" defTabSz="914354">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006" indent="-228589" algn="l" defTabSz="914354">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354">
        <a:buNone/>
        <a:defRPr sz="1800" kern="1200">
          <a:solidFill>
            <a:schemeClr val="tx1"/>
          </a:solidFill>
          <a:latin typeface="+mn-lt"/>
          <a:ea typeface="+mn-lt"/>
          <a:cs typeface="+mn-lt"/>
        </a:defRPr>
      </a:lvl1pPr>
      <a:lvl2pPr xmlns:a="http://schemas.openxmlformats.org/drawingml/2006/main" marL="457178" algn="l" defTabSz="914354">
        <a:buNone/>
        <a:defRPr sz="1800" kern="1200">
          <a:solidFill>
            <a:schemeClr val="tx1"/>
          </a:solidFill>
          <a:latin typeface="+mn-lt"/>
          <a:ea typeface="+mn-lt"/>
          <a:cs typeface="+mn-lt"/>
        </a:defRPr>
      </a:lvl2pPr>
      <a:lvl3pPr xmlns:a="http://schemas.openxmlformats.org/drawingml/2006/main" marL="914354" algn="l" defTabSz="914354">
        <a:buNone/>
        <a:defRPr sz="1800" kern="1200">
          <a:solidFill>
            <a:schemeClr val="tx1"/>
          </a:solidFill>
          <a:latin typeface="+mn-lt"/>
          <a:ea typeface="+mn-lt"/>
          <a:cs typeface="+mn-lt"/>
        </a:defRPr>
      </a:lvl3pPr>
      <a:lvl4pPr xmlns:a="http://schemas.openxmlformats.org/drawingml/2006/main" marL="1371532" algn="l" defTabSz="914354">
        <a:buNone/>
        <a:defRPr sz="1800" kern="1200">
          <a:solidFill>
            <a:schemeClr val="tx1"/>
          </a:solidFill>
          <a:latin typeface="+mn-lt"/>
          <a:ea typeface="+mn-lt"/>
          <a:cs typeface="+mn-lt"/>
        </a:defRPr>
      </a:lvl4pPr>
      <a:lvl5pPr xmlns:a="http://schemas.openxmlformats.org/drawingml/2006/main" marL="1828709" algn="l" defTabSz="914354">
        <a:buNone/>
        <a:defRPr sz="1800" kern="1200">
          <a:solidFill>
            <a:schemeClr val="tx1"/>
          </a:solidFill>
          <a:latin typeface="+mn-lt"/>
          <a:ea typeface="+mn-lt"/>
          <a:cs typeface="+mn-lt"/>
        </a:defRPr>
      </a:lvl5pPr>
      <a:lvl6pPr xmlns:a="http://schemas.openxmlformats.org/drawingml/2006/main" marL="2285886" algn="l" defTabSz="914354">
        <a:buNone/>
        <a:defRPr sz="1800" kern="1200">
          <a:solidFill>
            <a:schemeClr val="tx1"/>
          </a:solidFill>
          <a:latin typeface="+mn-lt"/>
          <a:ea typeface="+mn-lt"/>
          <a:cs typeface="+mn-lt"/>
        </a:defRPr>
      </a:lvl6pPr>
      <a:lvl7pPr xmlns:a="http://schemas.openxmlformats.org/drawingml/2006/main" marL="2743062" algn="l" defTabSz="914354">
        <a:buNone/>
        <a:defRPr sz="1800" kern="1200">
          <a:solidFill>
            <a:schemeClr val="tx1"/>
          </a:solidFill>
          <a:latin typeface="+mn-lt"/>
          <a:ea typeface="+mn-lt"/>
          <a:cs typeface="+mn-lt"/>
        </a:defRPr>
      </a:lvl7pPr>
      <a:lvl8pPr xmlns:a="http://schemas.openxmlformats.org/drawingml/2006/main" marL="3200240" algn="l" defTabSz="914354">
        <a:buNone/>
        <a:defRPr sz="1800" kern="1200">
          <a:solidFill>
            <a:schemeClr val="tx1"/>
          </a:solidFill>
          <a:latin typeface="+mn-lt"/>
          <a:ea typeface="+mn-lt"/>
          <a:cs typeface="+mn-lt"/>
        </a:defRPr>
      </a:lvl8pPr>
      <a:lvl9pPr xmlns:a="http://schemas.openxmlformats.org/drawingml/2006/main" marL="3657418" algn="l" defTabSz="914354">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422" userDrawn="1">
          <p15:clr>
            <a:srgbClr xmlns:a="http://schemas.openxmlformats.org/drawingml/2006/main" val="F26B43"/>
          </p15:clr>
        </p15:guide>
        <p15:guide id="2" pos="7257" userDrawn="1">
          <p15:clr>
            <a:srgbClr xmlns:a="http://schemas.openxmlformats.org/drawingml/2006/main" val="F26B43"/>
          </p15:clr>
        </p15:guide>
        <p15:guide id="3" orient="horz" pos="648" userDrawn="1">
          <p15:clr>
            <a:srgbClr xmlns:a="http://schemas.openxmlformats.org/drawingml/2006/main" val="F26B43"/>
          </p15:clr>
        </p15:guide>
        <p15:guide id="4" orient="horz" pos="712" userDrawn="1">
          <p15:clr>
            <a:srgbClr xmlns:a="http://schemas.openxmlformats.org/drawingml/2006/main" val="F26B43"/>
          </p15:clr>
        </p15:guide>
        <p15:guide id="5" orient="horz" pos="3931" userDrawn="1">
          <p15:clr>
            <a:srgbClr xmlns:a="http://schemas.openxmlformats.org/drawingml/2006/main" val="F26B43"/>
          </p15:clr>
        </p15:guide>
        <p15:guide id="6" orient="horz" pos="3866" userDrawn="1">
          <p15:clr>
            <a:srgbClr xmlns:a="http://schemas.openxmlformats.org/drawingml/2006/main" val="F26B43"/>
          </p15:clr>
        </p15:guide>
      </p15:sldGuideLst>
    </p:ext>
  </p:extLst>
</p:sldMaster>
</file>

<file path=ppt/slideMasters/theme/theme2.xml><?xml version="1.0" encoding="utf-8"?>
<a:theme xmlns:a="http://schemas.openxmlformats.org/drawingml/2006/main" name="主题5">
  <a:themeElements>
    <a:clrScheme name="四月主题色">
      <a:dk1>
        <a:srgbClr val="000000"/>
      </a:dk1>
      <a:lt1>
        <a:srgbClr val="FFFFFF"/>
      </a:lt1>
      <a:dk2>
        <a:srgbClr val="778495"/>
      </a:dk2>
      <a:lt2>
        <a:srgbClr val="F0F0F0"/>
      </a:lt2>
      <a:accent1>
        <a:srgbClr val="003478"/>
      </a:accent1>
      <a:accent2>
        <a:srgbClr val="F08300"/>
      </a:accent2>
      <a:accent3>
        <a:srgbClr val="5063F8"/>
      </a:accent3>
      <a:accent4>
        <a:srgbClr val="AFBBCF"/>
      </a:accent4>
      <a:accent5>
        <a:srgbClr val="343D74"/>
      </a:accent5>
      <a:accent6>
        <a:srgbClr val="778495"/>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四月主题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d7db411aa84be3" /><Relationship Type="http://schemas.openxmlformats.org/officeDocument/2006/relationships/notesSlide" Target="/ppt/notesSlides/notesSlide1.xml" Id="Ra75b3ae80ddd42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5.xml" Id="R057f58eee3e04ad0" /><Relationship Type="http://schemas.openxmlformats.org/officeDocument/2006/relationships/notesSlide" Target="/ppt/notesSlides/notesSlide2.xml" Id="Ra3c9f5e996f744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eccd25d4f19a4f46" /><Relationship Type="http://schemas.openxmlformats.org/officeDocument/2006/relationships/image" Target="/ppt/media/image3.jpeg" Id="Rda531c0b5d5a450b" /><Relationship Type="http://schemas.openxmlformats.org/officeDocument/2006/relationships/notesSlide" Target="/ppt/notesSlides/notesSlide3.xml" Id="R148148abe09148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fc71c04aac3c42d8" /><Relationship Type="http://schemas.openxmlformats.org/officeDocument/2006/relationships/notesSlide" Target="/ppt/notesSlides/notesSlide4.xml" Id="R25c9a42d202340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5600c02e617349ae" /><Relationship Type="http://schemas.openxmlformats.org/officeDocument/2006/relationships/notesSlide" Target="/ppt/notesSlides/notesSlide5.xml" Id="R3295153ef2a543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29e44ef9cacd4833" /><Relationship Type="http://schemas.openxmlformats.org/officeDocument/2006/relationships/notesSlide" Target="/ppt/notesSlides/notesSlide6.xml" Id="R0a5e3c0e09d344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b13d408574f54e31" /><Relationship Type="http://schemas.openxmlformats.org/officeDocument/2006/relationships/notesSlide" Target="/ppt/notesSlides/notesSlide7.xml" Id="R5b873fd9379d41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224a160af545453e" /><Relationship Type="http://schemas.openxmlformats.org/officeDocument/2006/relationships/notesSlide" Target="/ppt/notesSlides/notesSlide8.xml" Id="Rb70c261ef1ba4e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5058ee888b7b41c3" /><Relationship Type="http://schemas.openxmlformats.org/officeDocument/2006/relationships/notesSlide" Target="/ppt/notesSlides/notesSlide9.xml" Id="R41237c8d893640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efa7836492f545e6" /><Relationship Type="http://schemas.openxmlformats.org/officeDocument/2006/relationships/notesSlide" Target="/ppt/notesSlides/notesSlide10.xml" Id="Re09d495ec2e448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9bb6025d45d0427e" /><Relationship Type="http://schemas.openxmlformats.org/officeDocument/2006/relationships/notesSlide" Target="/ppt/notesSlides/notesSlide11.xml" Id="R91502b92f67342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c21da44e2aa14e7e" /><Relationship Type="http://schemas.openxmlformats.org/officeDocument/2006/relationships/chart" Target="/ppt/slides/charts/chart1.xml" Id="Rc3482f0abbb84348" /><Relationship Type="http://schemas.openxmlformats.org/officeDocument/2006/relationships/notesSlide" Target="/ppt/notesSlides/notesSlide12.xml" Id="R1b949387b30141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c0f1a93bf37f4038" /><Relationship Type="http://schemas.openxmlformats.org/officeDocument/2006/relationships/notesSlide" Target="/ppt/notesSlides/notesSlide13.xml" Id="R830a1a5b6b544d4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98a390b7ed9d46bc" /><Relationship Type="http://schemas.openxmlformats.org/officeDocument/2006/relationships/notesSlide" Target="/ppt/notesSlides/notesSlide14.xml" Id="Re59175dacb574e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08233a7db5274c4f" /><Relationship Type="http://schemas.openxmlformats.org/officeDocument/2006/relationships/notesSlide" Target="/ppt/notesSlides/notesSlide15.xml" Id="R1f60160c28c14fe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4.xml" Id="R6584d5ab53f247f7" /><Relationship Type="http://schemas.openxmlformats.org/officeDocument/2006/relationships/notesSlide" Target="/ppt/notesSlides/notesSlide16.xml" Id="R888f077f78624b5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64d9d7b6288d4464" /><Relationship Type="http://schemas.openxmlformats.org/officeDocument/2006/relationships/notesSlide" Target="/ppt/notesSlides/notesSlide17.xml" Id="Rac3d2ce4b573433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4.xml" Id="Rc607cd10399e43cc" /><Relationship Type="http://schemas.openxmlformats.org/officeDocument/2006/relationships/notesSlide" Target="/ppt/notesSlides/notesSlide18.xml" Id="R98bf607045af487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4.xml" Id="Rde44a07c1a20481d" /><Relationship Type="http://schemas.openxmlformats.org/officeDocument/2006/relationships/notesSlide" Target="/ppt/notesSlides/notesSlide19.xml" Id="Rd64293bdd2ae477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4.xml" Id="Reb163e9722f74779" /><Relationship Type="http://schemas.openxmlformats.org/officeDocument/2006/relationships/notesSlide" Target="/ppt/notesSlides/notesSlide20.xml" Id="R2c8ab41b967346b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4.xml" Id="R696fb3c44d1b4f86" /><Relationship Type="http://schemas.openxmlformats.org/officeDocument/2006/relationships/image" Target="/ppt/media/image4.jpeg" Id="Rb9936670491144f7" /><Relationship Type="http://schemas.openxmlformats.org/officeDocument/2006/relationships/notesSlide" Target="/ppt/notesSlides/notesSlide21.xml" Id="R886156f0cdee4d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4.xml" Id="R35ea4ad4328f40c3" /><Relationship Type="http://schemas.openxmlformats.org/officeDocument/2006/relationships/notesSlide" Target="/ppt/notesSlides/notesSlide22.xml" Id="R7d2290457864488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4.xml" Id="Rdad13a42b67141ae" /><Relationship Type="http://schemas.openxmlformats.org/officeDocument/2006/relationships/notesSlide" Target="/ppt/notesSlides/notesSlide23.xml" Id="Rd8e4b4ceee8e49d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4.xml" Id="R95f40572ef6a43c7" /><Relationship Type="http://schemas.openxmlformats.org/officeDocument/2006/relationships/notesSlide" Target="/ppt/notesSlides/notesSlide24.xml" Id="Rabc995bb24de463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4.xml" Id="Reaeac10c4a7e4efb" /><Relationship Type="http://schemas.openxmlformats.org/officeDocument/2006/relationships/notesSlide" Target="/ppt/notesSlides/notesSlide25.xml" Id="R9766247db18b418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4.xml" Id="R1414ffbca6ad4981" /><Relationship Type="http://schemas.openxmlformats.org/officeDocument/2006/relationships/notesSlide" Target="/ppt/notesSlides/notesSlide26.xml" Id="R1dac89c357264f5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4.xml" Id="Rf5b89649c01b45fd" /><Relationship Type="http://schemas.openxmlformats.org/officeDocument/2006/relationships/notesSlide" Target="/ppt/notesSlides/notesSlide27.xml" Id="R1a8d01adb44d4dc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4.xml" Id="Rcef3848733c74127" /><Relationship Type="http://schemas.openxmlformats.org/officeDocument/2006/relationships/notesSlide" Target="/ppt/notesSlides/notesSlide28.xml" Id="Rf9459b1fb90b4bc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4.xml" Id="Raa05e7b2546a422f" /><Relationship Type="http://schemas.openxmlformats.org/officeDocument/2006/relationships/notesSlide" Target="/ppt/notesSlides/notesSlide29.xml" Id="R6bdef51a7161471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增量下界</c:v>
          </c:tx>
          <c:spPr>
            <a:solidFill xmlns:a="http://schemas.openxmlformats.org/drawingml/2006/main">
              <a:srgbClr val="073C79"/>
            </a:solidFill>
          </c:spPr>
          <c:cat>
            <c:strRef>
              <c:f>'Chart Data'!$A$2:$A$3</c:f>
              <c:strCache>
                <c:ptCount val="2"/>
                <c:pt idx="0">
                  <c:v>5,000颗反射镜</c:v>
                </c:pt>
                <c:pt idx="1">
                  <c:v>50,000颗反射镜</c:v>
                </c:pt>
              </c:strCache>
            </c:strRef>
          </c:cat>
          <c:val>
            <c:numRef>
              <c:f>'Chart Data'!$B$2:$B$3</c:f>
              <c:numCache>
                <c:formatCode>0"%"</c:formatCode>
                <c:ptCount val="2"/>
                <c:pt idx="0">
                  <c:v>20</c:v>
                </c:pt>
                <c:pt idx="1">
                  <c:v>200</c:v>
                </c:pt>
              </c:numCache>
            </c:numRef>
          </c:val>
        </c:ser>
        <c:ser>
          <c:idx val="1"/>
          <c:order val="1"/>
          <c:tx>
            <c:v>增量上界</c:v>
          </c:tx>
          <c:spPr>
            <a:solidFill xmlns:a="http://schemas.openxmlformats.org/drawingml/2006/main">
              <a:srgbClr val="5C5BFA"/>
            </a:solidFill>
          </c:spPr>
          <c:cat>
            <c:strRef>
              <c:f>'Chart Data'!$C$2:$C$3</c:f>
              <c:strCache>
                <c:ptCount val="2"/>
                <c:pt idx="0">
                  <c:v>5,000颗反射镜</c:v>
                </c:pt>
                <c:pt idx="1">
                  <c:v>50,000颗反射镜</c:v>
                </c:pt>
              </c:strCache>
            </c:strRef>
          </c:cat>
          <c:val>
            <c:numRef>
              <c:f>'Chart Data'!$D$2:$D$3</c:f>
              <c:numCache>
                <c:formatCode>0"%"</c:formatCode>
                <c:ptCount val="2"/>
                <c:pt idx="0">
                  <c:v>30</c:v>
                </c:pt>
                <c:pt idx="1">
                  <c:v>300</c:v>
                </c:pt>
              </c:numCache>
            </c:numRef>
          </c:val>
        </c:ser>
        <c:dLbls>
          <c:txPr>
            <a:bodyPr xmlns:a="http://schemas.openxmlformats.org/drawingml/2006/main" anchorCtr="1"/>
            <a:lstStyle xmlns:a="http://schemas.openxmlformats.org/drawingml/2006/main"/>
            <a:p xmlns:a="http://schemas.openxmlformats.org/drawingml/2006/main">
              <a:pPr>
                <a:defRPr sz="1575" b="1">
                  <a:latin typeface="Microsoft YaHei"/>
                  <a:ea typeface="Microsoft YaHei"/>
                  <a:cs typeface="Microsoft YaHe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Microsoft YaHei"/>
                <a:ea typeface="Microsoft YaHei"/>
                <a:cs typeface="Microsoft YaHei"/>
              </a:defRPr>
            </a:pPr>
          </a:p>
        </c:txPr>
        <c:crossAx val="48672768"/>
      </c:catAx>
      <c:valAx>
        <c:axId val="48672768"/>
        <c:scaling>
          <c:orientation val="minMax"/>
          <c:max val="350"/>
          <c:min val="0"/>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icrosoft YaHei"/>
                <a:ea typeface="Microsoft YaHei"/>
                <a:cs typeface="Microsoft YaHei"/>
              </a:defRPr>
            </a:pPr>
          </a:p>
        </c:txPr>
        <c:crossAx val="48650112"/>
        <c:crossBetween val="between"/>
        <c:majorUnit val="100"/>
      </c:valAx>
    </c:plotArea>
    <c:legend>
      <c:legendPos val="b"/>
      <c:overlay val="0"/>
      <c:txPr>
        <a:bodyPr xmlns:a="http://schemas.openxmlformats.org/drawingml/2006/main" anchorCtr="1"/>
        <a:lstStyle xmlns:a="http://schemas.openxmlformats.org/drawingml/2006/main"/>
        <a:p xmlns:a="http://schemas.openxmlformats.org/drawingml/2006/main">
          <a:pPr>
            <a:defRPr sz="1425">
              <a:latin typeface="Microsoft YaHei"/>
              <a:ea typeface="Microsoft YaHei"/>
              <a:cs typeface="Microsoft YaHei"/>
            </a:defRPr>
          </a:pPr>
        </a:p>
      </c:txPr>
    </c:legend>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text-工程伦理与实践课程">
            <a:extLst xmlns:a="http://schemas.openxmlformats.org/drawingml/2006/main">
              <a:ext uri="{FF2B5EF4-FFF2-40B4-BE49-F238E27FC236}">
                <a16:creationId xmlns:a16="http://schemas.microsoft.com/office/drawing/2014/main" id="{368FB0AB-3B14-48FA-85A0-4BBC014E0E50}"/>
              </a:ext>
            </a:extLst>
          </p:cNvPr>
          <p:cNvSpPr>
            <a:spLocks xmlns:a="http://schemas.openxmlformats.org/drawingml/2006/main" noGrp="1"/>
          </p:cNvSpPr>
          <p:nvPr/>
        </p:nvSpPr>
        <p:spPr>
          <a:xfrm xmlns:a="http://schemas.openxmlformats.org/drawingml/2006/main">
            <a:off x="981075" y="202882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C5BFA"/>
                </a:solidFill>
                <a:latin typeface="Microsoft YaHei"/>
                <a:ea typeface="Microsoft YaHei"/>
                <a:cs typeface="Microsoft YaHei"/>
              </a:defRPr>
            </a:pPr>
            <a:r>
              <a:rPr sz="1800" b="0">
                <a:solidFill>
                  <a:srgbClr val="5C5BFA"/>
                </a:solidFill>
                <a:latin typeface="Microsoft YaHei"/>
                <a:ea typeface="Microsoft YaHei"/>
                <a:cs typeface="Microsoft YaHei"/>
              </a:rPr>
              <a:t>工程伦理与实践课程</a:t>
            </a:r>
          </a:p>
        </p:txBody>
      </p:sp>
      <p:sp>
        <p:nvSpPr>
          <p:cNvPr id="2" name="text-“公地悲剧”下的星空">
            <a:extLst xmlns:a="http://schemas.openxmlformats.org/drawingml/2006/main">
              <a:ext uri="{FF2B5EF4-FFF2-40B4-BE49-F238E27FC236}">
                <a16:creationId xmlns:a16="http://schemas.microsoft.com/office/drawing/2014/main" id="{63AAAEB4-96E4-42E1-B61E-526850D4B108}"/>
              </a:ext>
            </a:extLst>
          </p:cNvPr>
          <p:cNvSpPr>
            <a:spLocks xmlns:a="http://schemas.openxmlformats.org/drawingml/2006/main" noGrp="1"/>
          </p:cNvSpPr>
          <p:nvPr/>
        </p:nvSpPr>
        <p:spPr>
          <a:xfrm xmlns:a="http://schemas.openxmlformats.org/drawingml/2006/main">
            <a:off x="914400" y="2714625"/>
            <a:ext cx="609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073C79"/>
                </a:solidFill>
                <a:latin typeface="Microsoft YaHei"/>
                <a:ea typeface="Microsoft YaHei"/>
                <a:cs typeface="Microsoft YaHei"/>
              </a:defRPr>
            </a:pPr>
            <a:r>
              <a:rPr sz="3525" b="1">
                <a:solidFill>
                  <a:srgbClr val="073C79"/>
                </a:solidFill>
                <a:latin typeface="Microsoft YaHei"/>
                <a:ea typeface="Microsoft YaHei"/>
                <a:cs typeface="Microsoft YaHei"/>
              </a:rPr>
              <a:t>“公地悲剧”下的星空</a:t>
            </a:r>
          </a:p>
        </p:txBody>
      </p:sp>
      <p:sp>
        <p:nvSpPr>
          <p:cNvPr id="3" name="text-巨型星座计划引发的&#10;空间碎片伦理">
            <a:extLst xmlns:a="http://schemas.openxmlformats.org/drawingml/2006/main">
              <a:ext uri="{FF2B5EF4-FFF2-40B4-BE49-F238E27FC236}">
                <a16:creationId xmlns:a16="http://schemas.microsoft.com/office/drawing/2014/main" id="{384E5A42-FB65-42D6-B3E0-BFB0998E9860}"/>
              </a:ext>
            </a:extLst>
          </p:cNvPr>
          <p:cNvSpPr>
            <a:spLocks xmlns:a="http://schemas.openxmlformats.org/drawingml/2006/main" noGrp="1"/>
          </p:cNvSpPr>
          <p:nvPr/>
        </p:nvSpPr>
        <p:spPr>
          <a:xfrm xmlns:a="http://schemas.openxmlformats.org/drawingml/2006/main">
            <a:off x="942975" y="3467100"/>
            <a:ext cx="5524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4283F"/>
                </a:solidFill>
                <a:latin typeface="Microsoft YaHei"/>
                <a:ea typeface="Microsoft YaHei"/>
                <a:cs typeface="Microsoft YaHei"/>
              </a:defRPr>
            </a:pPr>
            <a:r>
              <a:rPr sz="3075" b="1">
                <a:solidFill>
                  <a:srgbClr val="14283F"/>
                </a:solidFill>
                <a:latin typeface="Microsoft YaHei"/>
                <a:ea typeface="Microsoft YaHei"/>
                <a:cs typeface="Microsoft YaHei"/>
              </a:rPr>
              <a:t>巨型星座计划引发的</a:t>
            </a:r>
          </a:p>
          <a:p xmlns:a="http://schemas.openxmlformats.org/drawingml/2006/main">
            <a:pPr algn="l">
              <a:defRPr sz="3075" b="1">
                <a:solidFill>
                  <a:srgbClr val="14283F"/>
                </a:solidFill>
                <a:latin typeface="Microsoft YaHei"/>
                <a:ea typeface="Microsoft YaHei"/>
                <a:cs typeface="Microsoft YaHei"/>
              </a:defRPr>
            </a:pPr>
            <a:r>
              <a:rPr sz="3075" b="1">
                <a:solidFill>
                  <a:srgbClr val="14283F"/>
                </a:solidFill>
                <a:latin typeface="Microsoft YaHei"/>
                <a:ea typeface="Microsoft YaHei"/>
                <a:cs typeface="Microsoft YaHei"/>
              </a:rPr>
              <a:t>空间碎片伦理危机</a:t>
            </a:r>
          </a:p>
        </p:txBody>
      </p:sp>
      <p:sp>
        <p:nvSpPr>
          <p:cNvPr id="4" name="text-一场没有赢家的轨道圈地运动">
            <a:extLst xmlns:a="http://schemas.openxmlformats.org/drawingml/2006/main">
              <a:ext uri="{FF2B5EF4-FFF2-40B4-BE49-F238E27FC236}">
                <a16:creationId xmlns:a16="http://schemas.microsoft.com/office/drawing/2014/main" id="{B463A91D-CDBB-451F-B118-F03B20BE92F5}"/>
              </a:ext>
            </a:extLst>
          </p:cNvPr>
          <p:cNvSpPr>
            <a:spLocks xmlns:a="http://schemas.openxmlformats.org/drawingml/2006/main" noGrp="1"/>
          </p:cNvSpPr>
          <p:nvPr/>
        </p:nvSpPr>
        <p:spPr>
          <a:xfrm xmlns:a="http://schemas.openxmlformats.org/drawingml/2006/main">
            <a:off x="952500" y="4876800"/>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73C79"/>
                </a:solidFill>
                <a:latin typeface="Microsoft YaHei"/>
                <a:ea typeface="Microsoft YaHei"/>
                <a:cs typeface="Microsoft YaHei"/>
              </a:defRPr>
            </a:pPr>
            <a:r>
              <a:rPr sz="1875" b="0">
                <a:solidFill>
                  <a:srgbClr val="073C79"/>
                </a:solidFill>
                <a:latin typeface="Microsoft YaHei"/>
                <a:ea typeface="Microsoft YaHei"/>
                <a:cs typeface="Microsoft YaHei"/>
              </a:rPr>
              <a:t>一场没有赢家的轨道圈地运动</a:t>
            </a:r>
          </a:p>
        </p:txBody>
      </p:sp>
      <p:sp>
        <p:nvSpPr>
          <p:cNvPr id="5" name="text-汇报小组：工程伦理与实践课程第 ">
            <a:extLst xmlns:a="http://schemas.openxmlformats.org/drawingml/2006/main">
              <a:ext uri="{FF2B5EF4-FFF2-40B4-BE49-F238E27FC236}">
                <a16:creationId xmlns:a16="http://schemas.microsoft.com/office/drawing/2014/main" id="{83E0493C-02DF-4B29-B30F-2550EAEEB352}"/>
              </a:ext>
            </a:extLst>
          </p:cNvPr>
          <p:cNvSpPr>
            <a:spLocks xmlns:a="http://schemas.openxmlformats.org/drawingml/2006/main" noGrp="1"/>
          </p:cNvSpPr>
          <p:nvPr/>
        </p:nvSpPr>
        <p:spPr>
          <a:xfrm xmlns:a="http://schemas.openxmlformats.org/drawingml/2006/main">
            <a:off x="952500" y="5619750"/>
            <a:ext cx="619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17186"/>
                </a:solidFill>
                <a:latin typeface="Microsoft YaHei"/>
                <a:ea typeface="Microsoft YaHei"/>
                <a:cs typeface="Microsoft YaHei"/>
              </a:defRPr>
            </a:pPr>
            <a:r>
              <a:rPr sz="1500" b="0">
                <a:solidFill>
                  <a:srgbClr val="617186"/>
                </a:solidFill>
                <a:latin typeface="Microsoft YaHei"/>
                <a:ea typeface="Microsoft YaHei"/>
                <a:cs typeface="Microsoft YaHei"/>
              </a:rPr>
              <a:t>汇报小组：工程伦理与实践课程第 X 组</a:t>
            </a:r>
          </a:p>
          <a:p xmlns:a="http://schemas.openxmlformats.org/drawingml/2006/main">
            <a:pPr algn="l">
              <a:defRPr sz="1500" b="0">
                <a:solidFill>
                  <a:srgbClr val="617186"/>
                </a:solidFill>
                <a:latin typeface="Microsoft YaHei"/>
                <a:ea typeface="Microsoft YaHei"/>
                <a:cs typeface="Microsoft YaHei"/>
              </a:defRPr>
            </a:pPr>
            <a:r>
              <a:rPr sz="1500" b="0">
                <a:solidFill>
                  <a:srgbClr val="617186"/>
                </a:solidFill>
                <a:latin typeface="Microsoft YaHei"/>
                <a:ea typeface="Microsoft YaHei"/>
                <a:cs typeface="Microsoft YaHei"/>
              </a:rPr>
              <a:t>日期：2026 年 X 月 X 日</a:t>
            </a:r>
          </a:p>
        </p:txBody>
      </p:sp>
    </p:spTree>
    <p:extLst>
      <p:ext uri="{BB962C8B-B14F-4D97-AF65-F5344CB8AC3E}">
        <p14:creationId xmlns:p14="http://schemas.microsoft.com/office/powerpoint/2010/main" val="227174189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6" name="ïŝľîďe">
            <a:extLst xmlns:a="http://schemas.openxmlformats.org/drawingml/2006/main">
              <a:ext uri="{FF2B5EF4-FFF2-40B4-BE49-F238E27FC236}">
                <a16:creationId xmlns:a16="http://schemas.microsoft.com/office/drawing/2014/main" id="{5515AA1C-2DC3-48F3-AAA3-A8B5EFE49FE1}"/>
              </a:ext>
            </a:extLst>
          </p:cNvPr>
          <p:cNvSpPr>
            <a:spLocks xmlns:a="http://schemas.openxmlformats.org/drawingml/2006/main" noGrp="1"/>
          </p:cNvSpPr>
          <p:nvPr/>
        </p:nvSpPr>
        <p:spPr>
          <a:xfrm xmlns:a="http://schemas.openxmlformats.org/drawingml/2006/main" rot="0" flipH="0" flipV="0">
            <a:off x="1029288" y="4309735"/>
            <a:ext cx="5806425" cy="1854288"/>
          </a:xfrm>
          <a:custGeom xmlns:a="http://schemas.openxmlformats.org/drawingml/2006/main">
            <a:gdLst>
              <a:gd name="T0" fmla="*/ 1027 w 1478"/>
              <a:gd name="T1" fmla="*/ 471 h 473"/>
              <a:gd name="T2" fmla="*/ 972 w 1478"/>
              <a:gd name="T3" fmla="*/ 473 h 473"/>
              <a:gd name="T4" fmla="*/ 970 w 1478"/>
              <a:gd name="T5" fmla="*/ 473 h 473"/>
              <a:gd name="T6" fmla="*/ 995 w 1478"/>
              <a:gd name="T7" fmla="*/ 117 h 473"/>
              <a:gd name="T8" fmla="*/ 996 w 1478"/>
              <a:gd name="T9" fmla="*/ 105 h 473"/>
              <a:gd name="T10" fmla="*/ 1006 w 1478"/>
              <a:gd name="T11" fmla="*/ 117 h 473"/>
              <a:gd name="T12" fmla="*/ 1010 w 1478"/>
              <a:gd name="T13" fmla="*/ 471 h 473"/>
              <a:gd name="T14" fmla="*/ 1461 w 1478"/>
              <a:gd name="T15" fmla="*/ 105 h 473"/>
              <a:gd name="T16" fmla="*/ 1465 w 1478"/>
              <a:gd name="T17" fmla="*/ 105 h 473"/>
              <a:gd name="T18" fmla="*/ 1475 w 1478"/>
              <a:gd name="T19" fmla="*/ 155 h 473"/>
              <a:gd name="T20" fmla="*/ 1478 w 1478"/>
              <a:gd name="T21" fmla="*/ 473 h 473"/>
              <a:gd name="T22" fmla="*/ 1465 w 1478"/>
              <a:gd name="T23" fmla="*/ 473 h 473"/>
              <a:gd name="T24" fmla="*/ 1423 w 1478"/>
              <a:gd name="T25" fmla="*/ 473 h 473"/>
              <a:gd name="T26" fmla="*/ 1415 w 1478"/>
              <a:gd name="T27" fmla="*/ 207 h 473"/>
              <a:gd name="T28" fmla="*/ 1423 w 1478"/>
              <a:gd name="T29" fmla="*/ 155 h 473"/>
              <a:gd name="T30" fmla="*/ 1427 w 1478"/>
              <a:gd name="T31" fmla="*/ 105 h 473"/>
              <a:gd name="T32" fmla="*/ 1442 w 1478"/>
              <a:gd name="T33" fmla="*/ 23 h 473"/>
              <a:gd name="T34" fmla="*/ 1461 w 1478"/>
              <a:gd name="T35" fmla="*/ 105 h 473"/>
              <a:gd name="T36" fmla="*/ 1285 w 1478"/>
              <a:gd name="T37" fmla="*/ 190 h 473"/>
              <a:gd name="T38" fmla="*/ 1335 w 1478"/>
              <a:gd name="T39" fmla="*/ 473 h 473"/>
              <a:gd name="T40" fmla="*/ 1285 w 1478"/>
              <a:gd name="T41" fmla="*/ 190 h 473"/>
              <a:gd name="T42" fmla="*/ 1176 w 1478"/>
              <a:gd name="T43" fmla="*/ 243 h 473"/>
              <a:gd name="T44" fmla="*/ 1216 w 1478"/>
              <a:gd name="T45" fmla="*/ 473 h 473"/>
              <a:gd name="T46" fmla="*/ 1176 w 1478"/>
              <a:gd name="T47" fmla="*/ 243 h 473"/>
              <a:gd name="T48" fmla="*/ 1083 w 1478"/>
              <a:gd name="T49" fmla="*/ 167 h 473"/>
              <a:gd name="T50" fmla="*/ 1125 w 1478"/>
              <a:gd name="T51" fmla="*/ 473 h 473"/>
              <a:gd name="T52" fmla="*/ 1083 w 1478"/>
              <a:gd name="T53" fmla="*/ 167 h 473"/>
              <a:gd name="T54" fmla="*/ 849 w 1478"/>
              <a:gd name="T55" fmla="*/ 295 h 473"/>
              <a:gd name="T56" fmla="*/ 884 w 1478"/>
              <a:gd name="T57" fmla="*/ 473 h 473"/>
              <a:gd name="T58" fmla="*/ 849 w 1478"/>
              <a:gd name="T59" fmla="*/ 295 h 473"/>
              <a:gd name="T60" fmla="*/ 631 w 1478"/>
              <a:gd name="T61" fmla="*/ 373 h 473"/>
              <a:gd name="T62" fmla="*/ 643 w 1478"/>
              <a:gd name="T63" fmla="*/ 318 h 473"/>
              <a:gd name="T64" fmla="*/ 667 w 1478"/>
              <a:gd name="T65" fmla="*/ 306 h 473"/>
              <a:gd name="T66" fmla="*/ 702 w 1478"/>
              <a:gd name="T67" fmla="*/ 234 h 473"/>
              <a:gd name="T68" fmla="*/ 723 w 1478"/>
              <a:gd name="T69" fmla="*/ 306 h 473"/>
              <a:gd name="T70" fmla="*/ 702 w 1478"/>
              <a:gd name="T71" fmla="*/ 473 h 473"/>
              <a:gd name="T72" fmla="*/ 687 w 1478"/>
              <a:gd name="T73" fmla="*/ 473 h 473"/>
              <a:gd name="T74" fmla="*/ 643 w 1478"/>
              <a:gd name="T75" fmla="*/ 473 h 473"/>
              <a:gd name="T76" fmla="*/ 631 w 1478"/>
              <a:gd name="T77" fmla="*/ 373 h 473"/>
              <a:gd name="T78" fmla="*/ 581 w 1478"/>
              <a:gd name="T79" fmla="*/ 255 h 473"/>
              <a:gd name="T80" fmla="*/ 623 w 1478"/>
              <a:gd name="T81" fmla="*/ 473 h 473"/>
              <a:gd name="T82" fmla="*/ 581 w 1478"/>
              <a:gd name="T83" fmla="*/ 255 h 473"/>
              <a:gd name="T84" fmla="*/ 532 w 1478"/>
              <a:gd name="T85" fmla="*/ 314 h 473"/>
              <a:gd name="T86" fmla="*/ 557 w 1478"/>
              <a:gd name="T87" fmla="*/ 356 h 473"/>
              <a:gd name="T88" fmla="*/ 532 w 1478"/>
              <a:gd name="T89" fmla="*/ 473 h 473"/>
              <a:gd name="T90" fmla="*/ 455 w 1478"/>
              <a:gd name="T91" fmla="*/ 473 h 473"/>
              <a:gd name="T92" fmla="*/ 455 w 1478"/>
              <a:gd name="T93" fmla="*/ 302 h 473"/>
              <a:gd name="T94" fmla="*/ 488 w 1478"/>
              <a:gd name="T95" fmla="*/ 356 h 473"/>
              <a:gd name="T96" fmla="*/ 532 w 1478"/>
              <a:gd name="T97" fmla="*/ 314 h 473"/>
              <a:gd name="T98" fmla="*/ 360 w 1478"/>
              <a:gd name="T99" fmla="*/ 293 h 473"/>
              <a:gd name="T100" fmla="*/ 426 w 1478"/>
              <a:gd name="T101" fmla="*/ 473 h 473"/>
              <a:gd name="T102" fmla="*/ 360 w 1478"/>
              <a:gd name="T103" fmla="*/ 293 h 473"/>
              <a:gd name="T104" fmla="*/ 287 w 1478"/>
              <a:gd name="T105" fmla="*/ 209 h 473"/>
              <a:gd name="T106" fmla="*/ 350 w 1478"/>
              <a:gd name="T107" fmla="*/ 473 h 473"/>
              <a:gd name="T108" fmla="*/ 287 w 1478"/>
              <a:gd name="T109" fmla="*/ 209 h 473"/>
              <a:gd name="T110" fmla="*/ 195 w 1478"/>
              <a:gd name="T111" fmla="*/ 184 h 473"/>
              <a:gd name="T112" fmla="*/ 241 w 1478"/>
              <a:gd name="T113" fmla="*/ 473 h 473"/>
              <a:gd name="T114" fmla="*/ 195 w 1478"/>
              <a:gd name="T115" fmla="*/ 184 h 473"/>
              <a:gd name="T116" fmla="*/ 31 w 1478"/>
              <a:gd name="T117" fmla="*/ 264 h 473"/>
              <a:gd name="T118" fmla="*/ 92 w 1478"/>
              <a:gd name="T119" fmla="*/ 473 h 473"/>
              <a:gd name="T120" fmla="*/ 31 w 1478"/>
              <a:gd name="T121" fmla="*/ 473 h 473"/>
              <a:gd name="T122" fmla="*/ 0 w 1478"/>
              <a:gd name="T123" fmla="*/ 331 h 473"/>
              <a:gd name="T124" fmla="*/ 31 w 1478"/>
              <a:gd name="T125" fmla="*/ 264 h 473"/>
            </a:gdLst>
            <a:rect l="0" t="0" r="r" b="b"/>
            <a:pathLst>
              <a:path w="1478" h="473">
                <a:moveTo>
                  <a:pt x="1010" y="471"/>
                </a:moveTo>
                <a:lnTo>
                  <a:pt x="1027" y="471"/>
                </a:lnTo>
                <a:lnTo>
                  <a:pt x="1027" y="473"/>
                </a:lnTo>
                <a:lnTo>
                  <a:pt x="972" y="473"/>
                </a:lnTo>
                <a:lnTo>
                  <a:pt x="972" y="473"/>
                </a:lnTo>
                <a:lnTo>
                  <a:pt x="970" y="473"/>
                </a:lnTo>
                <a:lnTo>
                  <a:pt x="970" y="117"/>
                </a:lnTo>
                <a:lnTo>
                  <a:pt x="995" y="117"/>
                </a:lnTo>
                <a:lnTo>
                  <a:pt x="996" y="75"/>
                </a:lnTo>
                <a:lnTo>
                  <a:pt x="996" y="105"/>
                </a:lnTo>
                <a:lnTo>
                  <a:pt x="1002" y="105"/>
                </a:lnTo>
                <a:lnTo>
                  <a:pt x="1006" y="117"/>
                </a:lnTo>
                <a:lnTo>
                  <a:pt x="1010" y="117"/>
                </a:lnTo>
                <a:lnTo>
                  <a:pt x="1010" y="471"/>
                </a:lnTo>
                <a:lnTo>
                  <a:pt x="1010" y="471"/>
                </a:lnTo>
                <a:close/>
                <a:moveTo>
                  <a:pt x="1461" y="105"/>
                </a:moveTo>
                <a:lnTo>
                  <a:pt x="1463" y="0"/>
                </a:lnTo>
                <a:lnTo>
                  <a:pt x="1465" y="105"/>
                </a:lnTo>
                <a:lnTo>
                  <a:pt x="1475" y="105"/>
                </a:lnTo>
                <a:lnTo>
                  <a:pt x="1475" y="155"/>
                </a:lnTo>
                <a:lnTo>
                  <a:pt x="1478" y="155"/>
                </a:lnTo>
                <a:lnTo>
                  <a:pt x="1478" y="473"/>
                </a:lnTo>
                <a:lnTo>
                  <a:pt x="1475" y="473"/>
                </a:lnTo>
                <a:lnTo>
                  <a:pt x="1465" y="473"/>
                </a:lnTo>
                <a:lnTo>
                  <a:pt x="1427" y="473"/>
                </a:lnTo>
                <a:lnTo>
                  <a:pt x="1423" y="473"/>
                </a:lnTo>
                <a:lnTo>
                  <a:pt x="1415" y="473"/>
                </a:lnTo>
                <a:lnTo>
                  <a:pt x="1415" y="207"/>
                </a:lnTo>
                <a:lnTo>
                  <a:pt x="1423" y="207"/>
                </a:lnTo>
                <a:lnTo>
                  <a:pt x="1423" y="155"/>
                </a:lnTo>
                <a:lnTo>
                  <a:pt x="1427" y="155"/>
                </a:lnTo>
                <a:lnTo>
                  <a:pt x="1427" y="105"/>
                </a:lnTo>
                <a:lnTo>
                  <a:pt x="1440" y="105"/>
                </a:lnTo>
                <a:lnTo>
                  <a:pt x="1442" y="23"/>
                </a:lnTo>
                <a:lnTo>
                  <a:pt x="1444" y="105"/>
                </a:lnTo>
                <a:lnTo>
                  <a:pt x="1461" y="105"/>
                </a:lnTo>
                <a:lnTo>
                  <a:pt x="1461" y="105"/>
                </a:lnTo>
                <a:close/>
                <a:moveTo>
                  <a:pt x="1285" y="190"/>
                </a:moveTo>
                <a:lnTo>
                  <a:pt x="1335" y="190"/>
                </a:lnTo>
                <a:lnTo>
                  <a:pt x="1335" y="473"/>
                </a:lnTo>
                <a:lnTo>
                  <a:pt x="1285" y="473"/>
                </a:lnTo>
                <a:lnTo>
                  <a:pt x="1285" y="190"/>
                </a:lnTo>
                <a:lnTo>
                  <a:pt x="1285" y="190"/>
                </a:lnTo>
                <a:close/>
                <a:moveTo>
                  <a:pt x="1176" y="243"/>
                </a:moveTo>
                <a:lnTo>
                  <a:pt x="1216" y="243"/>
                </a:lnTo>
                <a:lnTo>
                  <a:pt x="1216" y="473"/>
                </a:lnTo>
                <a:lnTo>
                  <a:pt x="1176" y="473"/>
                </a:lnTo>
                <a:lnTo>
                  <a:pt x="1176" y="243"/>
                </a:lnTo>
                <a:lnTo>
                  <a:pt x="1176" y="243"/>
                </a:lnTo>
                <a:close/>
                <a:moveTo>
                  <a:pt x="1083" y="167"/>
                </a:moveTo>
                <a:lnTo>
                  <a:pt x="1125" y="167"/>
                </a:lnTo>
                <a:lnTo>
                  <a:pt x="1125" y="473"/>
                </a:lnTo>
                <a:lnTo>
                  <a:pt x="1083" y="473"/>
                </a:lnTo>
                <a:lnTo>
                  <a:pt x="1083" y="167"/>
                </a:lnTo>
                <a:lnTo>
                  <a:pt x="1083" y="167"/>
                </a:lnTo>
                <a:close/>
                <a:moveTo>
                  <a:pt x="849" y="295"/>
                </a:moveTo>
                <a:lnTo>
                  <a:pt x="884" y="295"/>
                </a:lnTo>
                <a:lnTo>
                  <a:pt x="884" y="473"/>
                </a:lnTo>
                <a:lnTo>
                  <a:pt x="849" y="473"/>
                </a:lnTo>
                <a:lnTo>
                  <a:pt x="849" y="295"/>
                </a:lnTo>
                <a:lnTo>
                  <a:pt x="849" y="295"/>
                </a:lnTo>
                <a:close/>
                <a:moveTo>
                  <a:pt x="631" y="373"/>
                </a:moveTo>
                <a:lnTo>
                  <a:pt x="643" y="373"/>
                </a:lnTo>
                <a:lnTo>
                  <a:pt x="643" y="318"/>
                </a:lnTo>
                <a:lnTo>
                  <a:pt x="667" y="318"/>
                </a:lnTo>
                <a:lnTo>
                  <a:pt x="667" y="306"/>
                </a:lnTo>
                <a:lnTo>
                  <a:pt x="667" y="234"/>
                </a:lnTo>
                <a:lnTo>
                  <a:pt x="702" y="234"/>
                </a:lnTo>
                <a:lnTo>
                  <a:pt x="702" y="306"/>
                </a:lnTo>
                <a:lnTo>
                  <a:pt x="723" y="306"/>
                </a:lnTo>
                <a:lnTo>
                  <a:pt x="723" y="473"/>
                </a:lnTo>
                <a:lnTo>
                  <a:pt x="702" y="473"/>
                </a:lnTo>
                <a:lnTo>
                  <a:pt x="698" y="473"/>
                </a:lnTo>
                <a:lnTo>
                  <a:pt x="687" y="473"/>
                </a:lnTo>
                <a:lnTo>
                  <a:pt x="667" y="473"/>
                </a:lnTo>
                <a:lnTo>
                  <a:pt x="643" y="473"/>
                </a:lnTo>
                <a:lnTo>
                  <a:pt x="631" y="473"/>
                </a:lnTo>
                <a:lnTo>
                  <a:pt x="631" y="373"/>
                </a:lnTo>
                <a:lnTo>
                  <a:pt x="631" y="373"/>
                </a:lnTo>
                <a:close/>
                <a:moveTo>
                  <a:pt x="581" y="255"/>
                </a:moveTo>
                <a:lnTo>
                  <a:pt x="623" y="255"/>
                </a:lnTo>
                <a:lnTo>
                  <a:pt x="623" y="473"/>
                </a:lnTo>
                <a:lnTo>
                  <a:pt x="581" y="473"/>
                </a:lnTo>
                <a:lnTo>
                  <a:pt x="581" y="255"/>
                </a:lnTo>
                <a:lnTo>
                  <a:pt x="581" y="255"/>
                </a:lnTo>
                <a:close/>
                <a:moveTo>
                  <a:pt x="532" y="314"/>
                </a:moveTo>
                <a:lnTo>
                  <a:pt x="557" y="314"/>
                </a:lnTo>
                <a:lnTo>
                  <a:pt x="557" y="356"/>
                </a:lnTo>
                <a:lnTo>
                  <a:pt x="557" y="473"/>
                </a:lnTo>
                <a:lnTo>
                  <a:pt x="532" y="473"/>
                </a:lnTo>
                <a:lnTo>
                  <a:pt x="488" y="473"/>
                </a:lnTo>
                <a:lnTo>
                  <a:pt x="455" y="473"/>
                </a:lnTo>
                <a:lnTo>
                  <a:pt x="455" y="356"/>
                </a:lnTo>
                <a:lnTo>
                  <a:pt x="455" y="302"/>
                </a:lnTo>
                <a:lnTo>
                  <a:pt x="488" y="302"/>
                </a:lnTo>
                <a:lnTo>
                  <a:pt x="488" y="356"/>
                </a:lnTo>
                <a:lnTo>
                  <a:pt x="532" y="356"/>
                </a:lnTo>
                <a:lnTo>
                  <a:pt x="532" y="314"/>
                </a:lnTo>
                <a:lnTo>
                  <a:pt x="532" y="314"/>
                </a:lnTo>
                <a:close/>
                <a:moveTo>
                  <a:pt x="360" y="293"/>
                </a:moveTo>
                <a:lnTo>
                  <a:pt x="426" y="293"/>
                </a:lnTo>
                <a:lnTo>
                  <a:pt x="426" y="473"/>
                </a:lnTo>
                <a:lnTo>
                  <a:pt x="360" y="473"/>
                </a:lnTo>
                <a:lnTo>
                  <a:pt x="360" y="293"/>
                </a:lnTo>
                <a:lnTo>
                  <a:pt x="360" y="293"/>
                </a:lnTo>
                <a:close/>
                <a:moveTo>
                  <a:pt x="287" y="209"/>
                </a:moveTo>
                <a:lnTo>
                  <a:pt x="350" y="209"/>
                </a:lnTo>
                <a:lnTo>
                  <a:pt x="350" y="473"/>
                </a:lnTo>
                <a:lnTo>
                  <a:pt x="287" y="473"/>
                </a:lnTo>
                <a:lnTo>
                  <a:pt x="287" y="209"/>
                </a:lnTo>
                <a:lnTo>
                  <a:pt x="287" y="209"/>
                </a:lnTo>
                <a:close/>
                <a:moveTo>
                  <a:pt x="195" y="184"/>
                </a:moveTo>
                <a:lnTo>
                  <a:pt x="241" y="184"/>
                </a:lnTo>
                <a:lnTo>
                  <a:pt x="241" y="473"/>
                </a:lnTo>
                <a:lnTo>
                  <a:pt x="195" y="473"/>
                </a:lnTo>
                <a:lnTo>
                  <a:pt x="195" y="184"/>
                </a:lnTo>
                <a:lnTo>
                  <a:pt x="195" y="184"/>
                </a:lnTo>
                <a:close/>
                <a:moveTo>
                  <a:pt x="31" y="264"/>
                </a:moveTo>
                <a:lnTo>
                  <a:pt x="92" y="264"/>
                </a:lnTo>
                <a:lnTo>
                  <a:pt x="92" y="473"/>
                </a:lnTo>
                <a:lnTo>
                  <a:pt x="61" y="473"/>
                </a:lnTo>
                <a:lnTo>
                  <a:pt x="31" y="473"/>
                </a:lnTo>
                <a:lnTo>
                  <a:pt x="0" y="473"/>
                </a:lnTo>
                <a:lnTo>
                  <a:pt x="0" y="331"/>
                </a:lnTo>
                <a:lnTo>
                  <a:pt x="31" y="331"/>
                </a:lnTo>
                <a:lnTo>
                  <a:pt x="31" y="264"/>
                </a:lnTo>
                <a:lnTo>
                  <a:pt x="31" y="264"/>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47" name="iṥḷîḋè">
            <a:extLst xmlns:a="http://schemas.openxmlformats.org/drawingml/2006/main">
              <a:ext uri="{FF2B5EF4-FFF2-40B4-BE49-F238E27FC236}">
                <a16:creationId xmlns:a16="http://schemas.microsoft.com/office/drawing/2014/main" id="{A1BD0CB9-AFD6-4C34-AC3A-6867B4D04C6B}"/>
              </a:ext>
            </a:extLst>
          </p:cNvPr>
          <p:cNvSpPr>
            <a:spLocks xmlns:a="http://schemas.openxmlformats.org/drawingml/2006/main" noGrp="1"/>
          </p:cNvSpPr>
          <p:nvPr/>
        </p:nvSpPr>
        <p:spPr>
          <a:xfrm xmlns:a="http://schemas.openxmlformats.org/drawingml/2006/main" rot="0" flipH="0" flipV="0">
            <a:off x="157143" y="5165085"/>
            <a:ext cx="7982857" cy="998945"/>
          </a:xfrm>
          <a:custGeom xmlns:a="http://schemas.openxmlformats.org/drawingml/2006/main">
            <a:gdLst>
              <a:gd name="T0" fmla="*/ 2006 w 2031"/>
              <a:gd name="T1" fmla="*/ 347 h 347"/>
              <a:gd name="T2" fmla="*/ 2031 w 2031"/>
              <a:gd name="T3" fmla="*/ 347 h 347"/>
              <a:gd name="T4" fmla="*/ 2018 w 2031"/>
              <a:gd name="T5" fmla="*/ 306 h 347"/>
              <a:gd name="T6" fmla="*/ 2006 w 2031"/>
              <a:gd name="T7" fmla="*/ 324 h 347"/>
              <a:gd name="T8" fmla="*/ 1972 w 2031"/>
              <a:gd name="T9" fmla="*/ 293 h 347"/>
              <a:gd name="T10" fmla="*/ 1972 w 2031"/>
              <a:gd name="T11" fmla="*/ 347 h 347"/>
              <a:gd name="T12" fmla="*/ 13 w 2031"/>
              <a:gd name="T13" fmla="*/ 176 h 347"/>
              <a:gd name="T14" fmla="*/ 13 w 2031"/>
              <a:gd name="T15" fmla="*/ 347 h 347"/>
              <a:gd name="T16" fmla="*/ 73 w 2031"/>
              <a:gd name="T17" fmla="*/ 176 h 347"/>
              <a:gd name="T18" fmla="*/ 65 w 2031"/>
              <a:gd name="T19" fmla="*/ 159 h 347"/>
              <a:gd name="T20" fmla="*/ 8 w 2031"/>
              <a:gd name="T21" fmla="*/ 159 h 347"/>
              <a:gd name="T22" fmla="*/ 235 w 2031"/>
              <a:gd name="T23" fmla="*/ 347 h 347"/>
              <a:gd name="T24" fmla="*/ 174 w 2031"/>
              <a:gd name="T25" fmla="*/ 347 h 347"/>
              <a:gd name="T26" fmla="*/ 413 w 2031"/>
              <a:gd name="T27" fmla="*/ 129 h 347"/>
              <a:gd name="T28" fmla="*/ 388 w 2031"/>
              <a:gd name="T29" fmla="*/ 134 h 347"/>
              <a:gd name="T30" fmla="*/ 362 w 2031"/>
              <a:gd name="T31" fmla="*/ 347 h 347"/>
              <a:gd name="T32" fmla="*/ 442 w 2031"/>
              <a:gd name="T33" fmla="*/ 347 h 347"/>
              <a:gd name="T34" fmla="*/ 438 w 2031"/>
              <a:gd name="T35" fmla="*/ 150 h 347"/>
              <a:gd name="T36" fmla="*/ 413 w 2031"/>
              <a:gd name="T37" fmla="*/ 134 h 347"/>
              <a:gd name="T38" fmla="*/ 547 w 2031"/>
              <a:gd name="T39" fmla="*/ 138 h 347"/>
              <a:gd name="T40" fmla="*/ 484 w 2031"/>
              <a:gd name="T41" fmla="*/ 347 h 347"/>
              <a:gd name="T42" fmla="*/ 601 w 2031"/>
              <a:gd name="T43" fmla="*/ 220 h 347"/>
              <a:gd name="T44" fmla="*/ 559 w 2031"/>
              <a:gd name="T45" fmla="*/ 205 h 347"/>
              <a:gd name="T46" fmla="*/ 583 w 2031"/>
              <a:gd name="T47" fmla="*/ 347 h 347"/>
              <a:gd name="T48" fmla="*/ 666 w 2031"/>
              <a:gd name="T49" fmla="*/ 347 h 347"/>
              <a:gd name="T50" fmla="*/ 641 w 2031"/>
              <a:gd name="T51" fmla="*/ 347 h 347"/>
              <a:gd name="T52" fmla="*/ 719 w 2031"/>
              <a:gd name="T53" fmla="*/ 347 h 347"/>
              <a:gd name="T54" fmla="*/ 694 w 2031"/>
              <a:gd name="T55" fmla="*/ 347 h 347"/>
              <a:gd name="T56" fmla="*/ 763 w 2031"/>
              <a:gd name="T57" fmla="*/ 347 h 347"/>
              <a:gd name="T58" fmla="*/ 725 w 2031"/>
              <a:gd name="T59" fmla="*/ 347 h 347"/>
              <a:gd name="T60" fmla="*/ 876 w 2031"/>
              <a:gd name="T61" fmla="*/ 347 h 347"/>
              <a:gd name="T62" fmla="*/ 838 w 2031"/>
              <a:gd name="T63" fmla="*/ 347 h 347"/>
              <a:gd name="T64" fmla="*/ 972 w 2031"/>
              <a:gd name="T65" fmla="*/ 347 h 347"/>
              <a:gd name="T66" fmla="*/ 939 w 2031"/>
              <a:gd name="T67" fmla="*/ 347 h 347"/>
              <a:gd name="T68" fmla="*/ 1086 w 2031"/>
              <a:gd name="T69" fmla="*/ 347 h 347"/>
              <a:gd name="T70" fmla="*/ 1012 w 2031"/>
              <a:gd name="T71" fmla="*/ 347 h 347"/>
              <a:gd name="T72" fmla="*/ 1217 w 2031"/>
              <a:gd name="T73" fmla="*/ 347 h 347"/>
              <a:gd name="T74" fmla="*/ 1199 w 2031"/>
              <a:gd name="T75" fmla="*/ 6 h 347"/>
              <a:gd name="T76" fmla="*/ 1142 w 2031"/>
              <a:gd name="T77" fmla="*/ 347 h 347"/>
              <a:gd name="T78" fmla="*/ 1477 w 2031"/>
              <a:gd name="T79" fmla="*/ 289 h 347"/>
              <a:gd name="T80" fmla="*/ 1431 w 2031"/>
              <a:gd name="T81" fmla="*/ 289 h 347"/>
              <a:gd name="T82" fmla="*/ 1480 w 2031"/>
              <a:gd name="T83" fmla="*/ 347 h 347"/>
              <a:gd name="T84" fmla="*/ 1477 w 2031"/>
              <a:gd name="T85" fmla="*/ 289 h 347"/>
              <a:gd name="T86" fmla="*/ 1528 w 2031"/>
              <a:gd name="T87" fmla="*/ 253 h 347"/>
              <a:gd name="T88" fmla="*/ 1502 w 2031"/>
              <a:gd name="T89" fmla="*/ 347 h 347"/>
              <a:gd name="T90" fmla="*/ 1565 w 2031"/>
              <a:gd name="T91" fmla="*/ 285 h 347"/>
              <a:gd name="T92" fmla="*/ 1632 w 2031"/>
              <a:gd name="T93" fmla="*/ 347 h 347"/>
              <a:gd name="T94" fmla="*/ 1628 w 2031"/>
              <a:gd name="T95" fmla="*/ 155 h 347"/>
              <a:gd name="T96" fmla="*/ 1618 w 2031"/>
              <a:gd name="T97" fmla="*/ 155 h 347"/>
              <a:gd name="T98" fmla="*/ 1607 w 2031"/>
              <a:gd name="T99" fmla="*/ 163 h 347"/>
              <a:gd name="T100" fmla="*/ 1601 w 2031"/>
              <a:gd name="T101" fmla="*/ 153 h 347"/>
              <a:gd name="T102" fmla="*/ 1595 w 2031"/>
              <a:gd name="T103" fmla="*/ 163 h 347"/>
              <a:gd name="T104" fmla="*/ 1584 w 2031"/>
              <a:gd name="T105" fmla="*/ 155 h 347"/>
              <a:gd name="T106" fmla="*/ 1574 w 2031"/>
              <a:gd name="T107" fmla="*/ 155 h 347"/>
              <a:gd name="T108" fmla="*/ 1568 w 2031"/>
              <a:gd name="T109" fmla="*/ 347 h 347"/>
              <a:gd name="T110" fmla="*/ 1750 w 2031"/>
              <a:gd name="T111" fmla="*/ 129 h 347"/>
              <a:gd name="T112" fmla="*/ 1683 w 2031"/>
              <a:gd name="T113" fmla="*/ 180 h 347"/>
              <a:gd name="T114" fmla="*/ 1756 w 2031"/>
              <a:gd name="T115" fmla="*/ 180 h 347"/>
              <a:gd name="T116" fmla="*/ 1894 w 2031"/>
              <a:gd name="T117" fmla="*/ 308 h 347"/>
              <a:gd name="T118" fmla="*/ 1873 w 2031"/>
              <a:gd name="T119" fmla="*/ 308 h 347"/>
              <a:gd name="T120" fmla="*/ 1848 w 2031"/>
              <a:gd name="T121" fmla="*/ 285 h 347"/>
              <a:gd name="T122" fmla="*/ 1840 w 2031"/>
              <a:gd name="T123" fmla="*/ 335 h 347"/>
              <a:gd name="T124" fmla="*/ 1894 w 2031"/>
              <a:gd name="T125" fmla="*/ 308 h 347"/>
            </a:gdLst>
            <a:rect l="0" t="0" r="r" b="b"/>
            <a:pathLst>
              <a:path w="2031" h="347">
                <a:moveTo>
                  <a:pt x="1972" y="347"/>
                </a:moveTo>
                <a:lnTo>
                  <a:pt x="2001" y="347"/>
                </a:lnTo>
                <a:lnTo>
                  <a:pt x="2006" y="347"/>
                </a:lnTo>
                <a:lnTo>
                  <a:pt x="2018" y="347"/>
                </a:lnTo>
                <a:lnTo>
                  <a:pt x="2022" y="347"/>
                </a:lnTo>
                <a:lnTo>
                  <a:pt x="2031" y="347"/>
                </a:lnTo>
                <a:lnTo>
                  <a:pt x="2031" y="314"/>
                </a:lnTo>
                <a:lnTo>
                  <a:pt x="2018" y="314"/>
                </a:lnTo>
                <a:lnTo>
                  <a:pt x="2018" y="306"/>
                </a:lnTo>
                <a:lnTo>
                  <a:pt x="2006" y="306"/>
                </a:lnTo>
                <a:lnTo>
                  <a:pt x="2006" y="314"/>
                </a:lnTo>
                <a:lnTo>
                  <a:pt x="2006" y="324"/>
                </a:lnTo>
                <a:lnTo>
                  <a:pt x="2001" y="324"/>
                </a:lnTo>
                <a:lnTo>
                  <a:pt x="2001" y="293"/>
                </a:lnTo>
                <a:lnTo>
                  <a:pt x="1972" y="293"/>
                </a:lnTo>
                <a:lnTo>
                  <a:pt x="1972" y="324"/>
                </a:lnTo>
                <a:lnTo>
                  <a:pt x="1972" y="347"/>
                </a:lnTo>
                <a:lnTo>
                  <a:pt x="1972" y="347"/>
                </a:lnTo>
                <a:close/>
                <a:moveTo>
                  <a:pt x="8" y="159"/>
                </a:moveTo>
                <a:lnTo>
                  <a:pt x="13" y="159"/>
                </a:lnTo>
                <a:lnTo>
                  <a:pt x="13" y="176"/>
                </a:lnTo>
                <a:lnTo>
                  <a:pt x="0" y="176"/>
                </a:lnTo>
                <a:lnTo>
                  <a:pt x="0" y="347"/>
                </a:lnTo>
                <a:lnTo>
                  <a:pt x="13" y="347"/>
                </a:lnTo>
                <a:lnTo>
                  <a:pt x="59" y="347"/>
                </a:lnTo>
                <a:lnTo>
                  <a:pt x="73" y="347"/>
                </a:lnTo>
                <a:lnTo>
                  <a:pt x="73" y="176"/>
                </a:lnTo>
                <a:lnTo>
                  <a:pt x="59" y="176"/>
                </a:lnTo>
                <a:lnTo>
                  <a:pt x="59" y="159"/>
                </a:lnTo>
                <a:lnTo>
                  <a:pt x="65" y="159"/>
                </a:lnTo>
                <a:lnTo>
                  <a:pt x="65" y="153"/>
                </a:lnTo>
                <a:lnTo>
                  <a:pt x="8" y="153"/>
                </a:lnTo>
                <a:lnTo>
                  <a:pt x="8" y="159"/>
                </a:lnTo>
                <a:lnTo>
                  <a:pt x="8" y="159"/>
                </a:lnTo>
                <a:close/>
                <a:moveTo>
                  <a:pt x="174" y="347"/>
                </a:moveTo>
                <a:lnTo>
                  <a:pt x="235" y="347"/>
                </a:lnTo>
                <a:lnTo>
                  <a:pt x="235" y="79"/>
                </a:lnTo>
                <a:lnTo>
                  <a:pt x="174" y="79"/>
                </a:lnTo>
                <a:lnTo>
                  <a:pt x="174" y="347"/>
                </a:lnTo>
                <a:lnTo>
                  <a:pt x="174" y="347"/>
                </a:lnTo>
                <a:close/>
                <a:moveTo>
                  <a:pt x="413" y="134"/>
                </a:moveTo>
                <a:lnTo>
                  <a:pt x="413" y="129"/>
                </a:lnTo>
                <a:lnTo>
                  <a:pt x="406" y="129"/>
                </a:lnTo>
                <a:lnTo>
                  <a:pt x="406" y="134"/>
                </a:lnTo>
                <a:lnTo>
                  <a:pt x="388" y="134"/>
                </a:lnTo>
                <a:lnTo>
                  <a:pt x="388" y="150"/>
                </a:lnTo>
                <a:lnTo>
                  <a:pt x="362" y="150"/>
                </a:lnTo>
                <a:lnTo>
                  <a:pt x="362" y="347"/>
                </a:lnTo>
                <a:lnTo>
                  <a:pt x="367" y="347"/>
                </a:lnTo>
                <a:lnTo>
                  <a:pt x="438" y="347"/>
                </a:lnTo>
                <a:lnTo>
                  <a:pt x="442" y="347"/>
                </a:lnTo>
                <a:lnTo>
                  <a:pt x="442" y="167"/>
                </a:lnTo>
                <a:lnTo>
                  <a:pt x="438" y="167"/>
                </a:lnTo>
                <a:lnTo>
                  <a:pt x="438" y="150"/>
                </a:lnTo>
                <a:lnTo>
                  <a:pt x="413" y="150"/>
                </a:lnTo>
                <a:lnTo>
                  <a:pt x="413" y="134"/>
                </a:lnTo>
                <a:lnTo>
                  <a:pt x="413" y="134"/>
                </a:lnTo>
                <a:close/>
                <a:moveTo>
                  <a:pt x="484" y="347"/>
                </a:moveTo>
                <a:lnTo>
                  <a:pt x="547" y="347"/>
                </a:lnTo>
                <a:lnTo>
                  <a:pt x="547" y="138"/>
                </a:lnTo>
                <a:lnTo>
                  <a:pt x="484" y="138"/>
                </a:lnTo>
                <a:lnTo>
                  <a:pt x="484" y="347"/>
                </a:lnTo>
                <a:lnTo>
                  <a:pt x="484" y="347"/>
                </a:lnTo>
                <a:close/>
                <a:moveTo>
                  <a:pt x="583" y="347"/>
                </a:moveTo>
                <a:lnTo>
                  <a:pt x="601" y="347"/>
                </a:lnTo>
                <a:lnTo>
                  <a:pt x="601" y="220"/>
                </a:lnTo>
                <a:lnTo>
                  <a:pt x="583" y="220"/>
                </a:lnTo>
                <a:lnTo>
                  <a:pt x="583" y="205"/>
                </a:lnTo>
                <a:lnTo>
                  <a:pt x="559" y="205"/>
                </a:lnTo>
                <a:lnTo>
                  <a:pt x="559" y="220"/>
                </a:lnTo>
                <a:lnTo>
                  <a:pt x="559" y="347"/>
                </a:lnTo>
                <a:lnTo>
                  <a:pt x="583" y="347"/>
                </a:lnTo>
                <a:lnTo>
                  <a:pt x="583" y="347"/>
                </a:lnTo>
                <a:close/>
                <a:moveTo>
                  <a:pt x="641" y="347"/>
                </a:moveTo>
                <a:lnTo>
                  <a:pt x="666" y="347"/>
                </a:lnTo>
                <a:lnTo>
                  <a:pt x="666" y="236"/>
                </a:lnTo>
                <a:lnTo>
                  <a:pt x="641" y="236"/>
                </a:lnTo>
                <a:lnTo>
                  <a:pt x="641" y="347"/>
                </a:lnTo>
                <a:lnTo>
                  <a:pt x="641" y="347"/>
                </a:lnTo>
                <a:close/>
                <a:moveTo>
                  <a:pt x="694" y="347"/>
                </a:moveTo>
                <a:lnTo>
                  <a:pt x="719" y="347"/>
                </a:lnTo>
                <a:lnTo>
                  <a:pt x="719" y="280"/>
                </a:lnTo>
                <a:lnTo>
                  <a:pt x="694" y="280"/>
                </a:lnTo>
                <a:lnTo>
                  <a:pt x="694" y="347"/>
                </a:lnTo>
                <a:lnTo>
                  <a:pt x="694" y="347"/>
                </a:lnTo>
                <a:close/>
                <a:moveTo>
                  <a:pt x="725" y="347"/>
                </a:moveTo>
                <a:lnTo>
                  <a:pt x="763" y="347"/>
                </a:lnTo>
                <a:lnTo>
                  <a:pt x="763" y="92"/>
                </a:lnTo>
                <a:lnTo>
                  <a:pt x="725" y="92"/>
                </a:lnTo>
                <a:lnTo>
                  <a:pt x="725" y="347"/>
                </a:lnTo>
                <a:lnTo>
                  <a:pt x="725" y="347"/>
                </a:lnTo>
                <a:close/>
                <a:moveTo>
                  <a:pt x="838" y="347"/>
                </a:moveTo>
                <a:lnTo>
                  <a:pt x="876" y="347"/>
                </a:lnTo>
                <a:lnTo>
                  <a:pt x="876" y="257"/>
                </a:lnTo>
                <a:lnTo>
                  <a:pt x="838" y="257"/>
                </a:lnTo>
                <a:lnTo>
                  <a:pt x="838" y="347"/>
                </a:lnTo>
                <a:lnTo>
                  <a:pt x="838" y="347"/>
                </a:lnTo>
                <a:close/>
                <a:moveTo>
                  <a:pt x="939" y="347"/>
                </a:moveTo>
                <a:lnTo>
                  <a:pt x="972" y="347"/>
                </a:lnTo>
                <a:lnTo>
                  <a:pt x="972" y="236"/>
                </a:lnTo>
                <a:lnTo>
                  <a:pt x="939" y="236"/>
                </a:lnTo>
                <a:lnTo>
                  <a:pt x="939" y="347"/>
                </a:lnTo>
                <a:lnTo>
                  <a:pt x="939" y="347"/>
                </a:lnTo>
                <a:close/>
                <a:moveTo>
                  <a:pt x="1012" y="347"/>
                </a:moveTo>
                <a:lnTo>
                  <a:pt x="1086" y="347"/>
                </a:lnTo>
                <a:lnTo>
                  <a:pt x="1086" y="0"/>
                </a:lnTo>
                <a:lnTo>
                  <a:pt x="1012" y="0"/>
                </a:lnTo>
                <a:lnTo>
                  <a:pt x="1012" y="347"/>
                </a:lnTo>
                <a:lnTo>
                  <a:pt x="1012" y="347"/>
                </a:lnTo>
                <a:close/>
                <a:moveTo>
                  <a:pt x="1199" y="347"/>
                </a:moveTo>
                <a:lnTo>
                  <a:pt x="1217" y="347"/>
                </a:lnTo>
                <a:lnTo>
                  <a:pt x="1217" y="276"/>
                </a:lnTo>
                <a:lnTo>
                  <a:pt x="1199" y="276"/>
                </a:lnTo>
                <a:lnTo>
                  <a:pt x="1199" y="6"/>
                </a:lnTo>
                <a:lnTo>
                  <a:pt x="1125" y="6"/>
                </a:lnTo>
                <a:lnTo>
                  <a:pt x="1125" y="347"/>
                </a:lnTo>
                <a:lnTo>
                  <a:pt x="1142" y="347"/>
                </a:lnTo>
                <a:lnTo>
                  <a:pt x="1199" y="347"/>
                </a:lnTo>
                <a:lnTo>
                  <a:pt x="1199" y="347"/>
                </a:lnTo>
                <a:close/>
                <a:moveTo>
                  <a:pt x="1477" y="289"/>
                </a:moveTo>
                <a:lnTo>
                  <a:pt x="1477" y="146"/>
                </a:lnTo>
                <a:lnTo>
                  <a:pt x="1431" y="146"/>
                </a:lnTo>
                <a:lnTo>
                  <a:pt x="1431" y="289"/>
                </a:lnTo>
                <a:lnTo>
                  <a:pt x="1417" y="289"/>
                </a:lnTo>
                <a:lnTo>
                  <a:pt x="1417" y="347"/>
                </a:lnTo>
                <a:lnTo>
                  <a:pt x="1480" y="347"/>
                </a:lnTo>
                <a:lnTo>
                  <a:pt x="1480" y="289"/>
                </a:lnTo>
                <a:lnTo>
                  <a:pt x="1477" y="289"/>
                </a:lnTo>
                <a:lnTo>
                  <a:pt x="1477" y="289"/>
                </a:lnTo>
                <a:close/>
                <a:moveTo>
                  <a:pt x="1565" y="285"/>
                </a:moveTo>
                <a:lnTo>
                  <a:pt x="1565" y="253"/>
                </a:lnTo>
                <a:lnTo>
                  <a:pt x="1528" y="253"/>
                </a:lnTo>
                <a:lnTo>
                  <a:pt x="1528" y="285"/>
                </a:lnTo>
                <a:lnTo>
                  <a:pt x="1502" y="285"/>
                </a:lnTo>
                <a:lnTo>
                  <a:pt x="1502" y="347"/>
                </a:lnTo>
                <a:lnTo>
                  <a:pt x="1565" y="347"/>
                </a:lnTo>
                <a:lnTo>
                  <a:pt x="1565" y="314"/>
                </a:lnTo>
                <a:lnTo>
                  <a:pt x="1565" y="285"/>
                </a:lnTo>
                <a:lnTo>
                  <a:pt x="1565" y="285"/>
                </a:lnTo>
                <a:close/>
                <a:moveTo>
                  <a:pt x="1568" y="347"/>
                </a:moveTo>
                <a:lnTo>
                  <a:pt x="1632" y="347"/>
                </a:lnTo>
                <a:lnTo>
                  <a:pt x="1632" y="163"/>
                </a:lnTo>
                <a:lnTo>
                  <a:pt x="1628" y="163"/>
                </a:lnTo>
                <a:lnTo>
                  <a:pt x="1628" y="155"/>
                </a:lnTo>
                <a:lnTo>
                  <a:pt x="1626" y="155"/>
                </a:lnTo>
                <a:lnTo>
                  <a:pt x="1622" y="153"/>
                </a:lnTo>
                <a:lnTo>
                  <a:pt x="1618" y="155"/>
                </a:lnTo>
                <a:lnTo>
                  <a:pt x="1616" y="155"/>
                </a:lnTo>
                <a:lnTo>
                  <a:pt x="1616" y="163"/>
                </a:lnTo>
                <a:lnTo>
                  <a:pt x="1607" y="163"/>
                </a:lnTo>
                <a:lnTo>
                  <a:pt x="1607" y="155"/>
                </a:lnTo>
                <a:lnTo>
                  <a:pt x="1605" y="155"/>
                </a:lnTo>
                <a:lnTo>
                  <a:pt x="1601" y="153"/>
                </a:lnTo>
                <a:lnTo>
                  <a:pt x="1597" y="155"/>
                </a:lnTo>
                <a:lnTo>
                  <a:pt x="1595" y="155"/>
                </a:lnTo>
                <a:lnTo>
                  <a:pt x="1595" y="163"/>
                </a:lnTo>
                <a:lnTo>
                  <a:pt x="1586" y="163"/>
                </a:lnTo>
                <a:lnTo>
                  <a:pt x="1586" y="155"/>
                </a:lnTo>
                <a:lnTo>
                  <a:pt x="1584" y="155"/>
                </a:lnTo>
                <a:lnTo>
                  <a:pt x="1580" y="153"/>
                </a:lnTo>
                <a:lnTo>
                  <a:pt x="1576" y="155"/>
                </a:lnTo>
                <a:lnTo>
                  <a:pt x="1574" y="155"/>
                </a:lnTo>
                <a:lnTo>
                  <a:pt x="1574" y="163"/>
                </a:lnTo>
                <a:lnTo>
                  <a:pt x="1568" y="163"/>
                </a:lnTo>
                <a:lnTo>
                  <a:pt x="1568" y="347"/>
                </a:lnTo>
                <a:lnTo>
                  <a:pt x="1568" y="347"/>
                </a:lnTo>
                <a:close/>
                <a:moveTo>
                  <a:pt x="1750" y="180"/>
                </a:moveTo>
                <a:lnTo>
                  <a:pt x="1750" y="129"/>
                </a:lnTo>
                <a:lnTo>
                  <a:pt x="1704" y="129"/>
                </a:lnTo>
                <a:lnTo>
                  <a:pt x="1704" y="180"/>
                </a:lnTo>
                <a:lnTo>
                  <a:pt x="1683" y="180"/>
                </a:lnTo>
                <a:lnTo>
                  <a:pt x="1683" y="347"/>
                </a:lnTo>
                <a:lnTo>
                  <a:pt x="1756" y="347"/>
                </a:lnTo>
                <a:lnTo>
                  <a:pt x="1756" y="180"/>
                </a:lnTo>
                <a:lnTo>
                  <a:pt x="1750" y="180"/>
                </a:lnTo>
                <a:lnTo>
                  <a:pt x="1750" y="180"/>
                </a:lnTo>
                <a:close/>
                <a:moveTo>
                  <a:pt x="1894" y="308"/>
                </a:moveTo>
                <a:lnTo>
                  <a:pt x="1894" y="278"/>
                </a:lnTo>
                <a:lnTo>
                  <a:pt x="1873" y="278"/>
                </a:lnTo>
                <a:lnTo>
                  <a:pt x="1873" y="308"/>
                </a:lnTo>
                <a:lnTo>
                  <a:pt x="1869" y="308"/>
                </a:lnTo>
                <a:lnTo>
                  <a:pt x="1869" y="285"/>
                </a:lnTo>
                <a:lnTo>
                  <a:pt x="1848" y="285"/>
                </a:lnTo>
                <a:lnTo>
                  <a:pt x="1848" y="308"/>
                </a:lnTo>
                <a:lnTo>
                  <a:pt x="1840" y="308"/>
                </a:lnTo>
                <a:lnTo>
                  <a:pt x="1840" y="335"/>
                </a:lnTo>
                <a:lnTo>
                  <a:pt x="1911" y="335"/>
                </a:lnTo>
                <a:lnTo>
                  <a:pt x="1911" y="308"/>
                </a:lnTo>
                <a:lnTo>
                  <a:pt x="1894" y="308"/>
                </a:lnTo>
                <a:lnTo>
                  <a:pt x="1894" y="308"/>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48" name="íŝ1idê">
            <a:extLst xmlns:a="http://schemas.openxmlformats.org/drawingml/2006/main">
              <a:ext uri="{FF2B5EF4-FFF2-40B4-BE49-F238E27FC236}">
                <a16:creationId xmlns:a16="http://schemas.microsoft.com/office/drawing/2014/main" id="{AFB1A53B-FFAB-47AF-889D-C3B05877E954}"/>
              </a:ext>
            </a:extLst>
          </p:cNvPr>
          <p:cNvSpPr>
            <a:spLocks xmlns:a="http://schemas.openxmlformats.org/drawingml/2006/main" noGrp="1"/>
          </p:cNvSpPr>
          <p:nvPr/>
        </p:nvSpPr>
        <p:spPr>
          <a:xfrm xmlns:a="http://schemas.openxmlformats.org/drawingml/2006/main" rot="0" flipH="0" flipV="0">
            <a:off x="573572" y="4592595"/>
            <a:ext cx="408571" cy="1547861"/>
          </a:xfrm>
          <a:custGeom xmlns:a="http://schemas.openxmlformats.org/drawingml/2006/main">
            <a:gdLst>
              <a:gd name="T0" fmla="*/ 42 w 105"/>
              <a:gd name="T1" fmla="*/ 17 h 394"/>
              <a:gd name="T2" fmla="*/ 92 w 105"/>
              <a:gd name="T3" fmla="*/ 0 h 394"/>
              <a:gd name="T4" fmla="*/ 102 w 105"/>
              <a:gd name="T5" fmla="*/ 0 h 394"/>
              <a:gd name="T6" fmla="*/ 102 w 105"/>
              <a:gd name="T7" fmla="*/ 29 h 394"/>
              <a:gd name="T8" fmla="*/ 105 w 105"/>
              <a:gd name="T9" fmla="*/ 29 h 394"/>
              <a:gd name="T10" fmla="*/ 105 w 105"/>
              <a:gd name="T11" fmla="*/ 122 h 394"/>
              <a:gd name="T12" fmla="*/ 105 w 105"/>
              <a:gd name="T13" fmla="*/ 155 h 394"/>
              <a:gd name="T14" fmla="*/ 105 w 105"/>
              <a:gd name="T15" fmla="*/ 205 h 394"/>
              <a:gd name="T16" fmla="*/ 105 w 105"/>
              <a:gd name="T17" fmla="*/ 218 h 394"/>
              <a:gd name="T18" fmla="*/ 105 w 105"/>
              <a:gd name="T19" fmla="*/ 298 h 394"/>
              <a:gd name="T20" fmla="*/ 105 w 105"/>
              <a:gd name="T21" fmla="*/ 331 h 394"/>
              <a:gd name="T22" fmla="*/ 105 w 105"/>
              <a:gd name="T23" fmla="*/ 394 h 394"/>
              <a:gd name="T24" fmla="*/ 0 w 105"/>
              <a:gd name="T25" fmla="*/ 394 h 394"/>
              <a:gd name="T26" fmla="*/ 0 w 105"/>
              <a:gd name="T27" fmla="*/ 218 h 394"/>
              <a:gd name="T28" fmla="*/ 10 w 105"/>
              <a:gd name="T29" fmla="*/ 218 h 394"/>
              <a:gd name="T30" fmla="*/ 10 w 105"/>
              <a:gd name="T31" fmla="*/ 155 h 394"/>
              <a:gd name="T32" fmla="*/ 21 w 105"/>
              <a:gd name="T33" fmla="*/ 155 h 394"/>
              <a:gd name="T34" fmla="*/ 21 w 105"/>
              <a:gd name="T35" fmla="*/ 122 h 394"/>
              <a:gd name="T36" fmla="*/ 39 w 105"/>
              <a:gd name="T37" fmla="*/ 122 h 394"/>
              <a:gd name="T38" fmla="*/ 39 w 105"/>
              <a:gd name="T39" fmla="*/ 29 h 394"/>
              <a:gd name="T40" fmla="*/ 42 w 105"/>
              <a:gd name="T41" fmla="*/ 29 h 394"/>
              <a:gd name="T42" fmla="*/ 42 w 105"/>
              <a:gd name="T43" fmla="*/ 17 h 394"/>
              <a:gd name="T44" fmla="*/ 42 w 105"/>
              <a:gd name="T45" fmla="*/ 17 h 394"/>
            </a:gdLst>
            <a:rect l="0" t="0" r="r" b="b"/>
            <a:pathLst>
              <a:path w="105" h="394">
                <a:moveTo>
                  <a:pt x="42" y="17"/>
                </a:moveTo>
                <a:lnTo>
                  <a:pt x="92" y="0"/>
                </a:lnTo>
                <a:lnTo>
                  <a:pt x="102" y="0"/>
                </a:lnTo>
                <a:lnTo>
                  <a:pt x="102" y="29"/>
                </a:lnTo>
                <a:lnTo>
                  <a:pt x="105" y="29"/>
                </a:lnTo>
                <a:lnTo>
                  <a:pt x="105" y="122"/>
                </a:lnTo>
                <a:lnTo>
                  <a:pt x="105" y="155"/>
                </a:lnTo>
                <a:lnTo>
                  <a:pt x="105" y="205"/>
                </a:lnTo>
                <a:lnTo>
                  <a:pt x="105" y="218"/>
                </a:lnTo>
                <a:lnTo>
                  <a:pt x="105" y="298"/>
                </a:lnTo>
                <a:lnTo>
                  <a:pt x="105" y="331"/>
                </a:lnTo>
                <a:lnTo>
                  <a:pt x="105" y="394"/>
                </a:lnTo>
                <a:lnTo>
                  <a:pt x="0" y="394"/>
                </a:lnTo>
                <a:lnTo>
                  <a:pt x="0" y="218"/>
                </a:lnTo>
                <a:lnTo>
                  <a:pt x="10" y="218"/>
                </a:lnTo>
                <a:lnTo>
                  <a:pt x="10" y="155"/>
                </a:lnTo>
                <a:lnTo>
                  <a:pt x="21" y="155"/>
                </a:lnTo>
                <a:lnTo>
                  <a:pt x="21" y="122"/>
                </a:lnTo>
                <a:lnTo>
                  <a:pt x="39" y="122"/>
                </a:lnTo>
                <a:lnTo>
                  <a:pt x="39" y="29"/>
                </a:lnTo>
                <a:lnTo>
                  <a:pt x="42" y="29"/>
                </a:lnTo>
                <a:lnTo>
                  <a:pt x="42" y="17"/>
                </a:lnTo>
                <a:lnTo>
                  <a:pt x="42" y="17"/>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49" name="îṣlîḓe">
            <a:extLst xmlns:a="http://schemas.openxmlformats.org/drawingml/2006/main">
              <a:ext uri="{FF2B5EF4-FFF2-40B4-BE49-F238E27FC236}">
                <a16:creationId xmlns:a16="http://schemas.microsoft.com/office/drawing/2014/main" id="{478B3644-8B28-457C-8A31-82C95B98C0FF}"/>
              </a:ext>
            </a:extLst>
          </p:cNvPr>
          <p:cNvSpPr>
            <a:spLocks xmlns:a="http://schemas.openxmlformats.org/drawingml/2006/main" noGrp="1"/>
          </p:cNvSpPr>
          <p:nvPr/>
        </p:nvSpPr>
        <p:spPr>
          <a:xfrm xmlns:a="http://schemas.openxmlformats.org/drawingml/2006/main" rot="0" flipH="0" flipV="0">
            <a:off x="1209999" y="5071882"/>
            <a:ext cx="1469284" cy="1068572"/>
          </a:xfrm>
          <a:custGeom xmlns:a="http://schemas.openxmlformats.org/drawingml/2006/main">
            <a:gdLst>
              <a:gd name="T0" fmla="*/ 109 w 375"/>
              <a:gd name="T1" fmla="*/ 163 h 272"/>
              <a:gd name="T2" fmla="*/ 138 w 375"/>
              <a:gd name="T3" fmla="*/ 151 h 272"/>
              <a:gd name="T4" fmla="*/ 145 w 375"/>
              <a:gd name="T5" fmla="*/ 140 h 272"/>
              <a:gd name="T6" fmla="*/ 147 w 375"/>
              <a:gd name="T7" fmla="*/ 140 h 272"/>
              <a:gd name="T8" fmla="*/ 155 w 375"/>
              <a:gd name="T9" fmla="*/ 151 h 272"/>
              <a:gd name="T10" fmla="*/ 183 w 375"/>
              <a:gd name="T11" fmla="*/ 163 h 272"/>
              <a:gd name="T12" fmla="*/ 183 w 375"/>
              <a:gd name="T13" fmla="*/ 169 h 272"/>
              <a:gd name="T14" fmla="*/ 178 w 375"/>
              <a:gd name="T15" fmla="*/ 169 h 272"/>
              <a:gd name="T16" fmla="*/ 178 w 375"/>
              <a:gd name="T17" fmla="*/ 190 h 272"/>
              <a:gd name="T18" fmla="*/ 358 w 375"/>
              <a:gd name="T19" fmla="*/ 190 h 272"/>
              <a:gd name="T20" fmla="*/ 358 w 375"/>
              <a:gd name="T21" fmla="*/ 199 h 272"/>
              <a:gd name="T22" fmla="*/ 375 w 375"/>
              <a:gd name="T23" fmla="*/ 199 h 272"/>
              <a:gd name="T24" fmla="*/ 375 w 375"/>
              <a:gd name="T25" fmla="*/ 272 h 272"/>
              <a:gd name="T26" fmla="*/ 0 w 375"/>
              <a:gd name="T27" fmla="*/ 272 h 272"/>
              <a:gd name="T28" fmla="*/ 0 w 375"/>
              <a:gd name="T29" fmla="*/ 199 h 272"/>
              <a:gd name="T30" fmla="*/ 17 w 375"/>
              <a:gd name="T31" fmla="*/ 199 h 272"/>
              <a:gd name="T32" fmla="*/ 17 w 375"/>
              <a:gd name="T33" fmla="*/ 190 h 272"/>
              <a:gd name="T34" fmla="*/ 27 w 375"/>
              <a:gd name="T35" fmla="*/ 190 h 272"/>
              <a:gd name="T36" fmla="*/ 27 w 375"/>
              <a:gd name="T37" fmla="*/ 71 h 272"/>
              <a:gd name="T38" fmla="*/ 30 w 375"/>
              <a:gd name="T39" fmla="*/ 71 h 272"/>
              <a:gd name="T40" fmla="*/ 30 w 375"/>
              <a:gd name="T41" fmla="*/ 50 h 272"/>
              <a:gd name="T42" fmla="*/ 34 w 375"/>
              <a:gd name="T43" fmla="*/ 50 h 272"/>
              <a:gd name="T44" fmla="*/ 34 w 375"/>
              <a:gd name="T45" fmla="*/ 27 h 272"/>
              <a:gd name="T46" fmla="*/ 38 w 375"/>
              <a:gd name="T47" fmla="*/ 27 h 272"/>
              <a:gd name="T48" fmla="*/ 38 w 375"/>
              <a:gd name="T49" fmla="*/ 18 h 272"/>
              <a:gd name="T50" fmla="*/ 42 w 375"/>
              <a:gd name="T51" fmla="*/ 18 h 272"/>
              <a:gd name="T52" fmla="*/ 51 w 375"/>
              <a:gd name="T53" fmla="*/ 0 h 272"/>
              <a:gd name="T54" fmla="*/ 55 w 375"/>
              <a:gd name="T55" fmla="*/ 0 h 272"/>
              <a:gd name="T56" fmla="*/ 65 w 375"/>
              <a:gd name="T57" fmla="*/ 18 h 272"/>
              <a:gd name="T58" fmla="*/ 69 w 375"/>
              <a:gd name="T59" fmla="*/ 18 h 272"/>
              <a:gd name="T60" fmla="*/ 69 w 375"/>
              <a:gd name="T61" fmla="*/ 27 h 272"/>
              <a:gd name="T62" fmla="*/ 73 w 375"/>
              <a:gd name="T63" fmla="*/ 27 h 272"/>
              <a:gd name="T64" fmla="*/ 73 w 375"/>
              <a:gd name="T65" fmla="*/ 50 h 272"/>
              <a:gd name="T66" fmla="*/ 76 w 375"/>
              <a:gd name="T67" fmla="*/ 50 h 272"/>
              <a:gd name="T68" fmla="*/ 76 w 375"/>
              <a:gd name="T69" fmla="*/ 71 h 272"/>
              <a:gd name="T70" fmla="*/ 80 w 375"/>
              <a:gd name="T71" fmla="*/ 71 h 272"/>
              <a:gd name="T72" fmla="*/ 80 w 375"/>
              <a:gd name="T73" fmla="*/ 190 h 272"/>
              <a:gd name="T74" fmla="*/ 115 w 375"/>
              <a:gd name="T75" fmla="*/ 190 h 272"/>
              <a:gd name="T76" fmla="*/ 115 w 375"/>
              <a:gd name="T77" fmla="*/ 169 h 272"/>
              <a:gd name="T78" fmla="*/ 109 w 375"/>
              <a:gd name="T79" fmla="*/ 169 h 272"/>
              <a:gd name="T80" fmla="*/ 109 w 375"/>
              <a:gd name="T81" fmla="*/ 163 h 272"/>
              <a:gd name="T82" fmla="*/ 109 w 375"/>
              <a:gd name="T83" fmla="*/ 163 h 272"/>
            </a:gdLst>
            <a:rect l="0" t="0" r="r" b="b"/>
            <a:pathLst>
              <a:path w="375" h="272">
                <a:moveTo>
                  <a:pt x="109" y="163"/>
                </a:moveTo>
                <a:lnTo>
                  <a:pt x="138" y="151"/>
                </a:lnTo>
                <a:lnTo>
                  <a:pt x="145" y="140"/>
                </a:lnTo>
                <a:lnTo>
                  <a:pt x="147" y="140"/>
                </a:lnTo>
                <a:lnTo>
                  <a:pt x="155" y="151"/>
                </a:lnTo>
                <a:lnTo>
                  <a:pt x="183" y="163"/>
                </a:lnTo>
                <a:lnTo>
                  <a:pt x="183" y="169"/>
                </a:lnTo>
                <a:lnTo>
                  <a:pt x="178" y="169"/>
                </a:lnTo>
                <a:lnTo>
                  <a:pt x="178" y="190"/>
                </a:lnTo>
                <a:lnTo>
                  <a:pt x="358" y="190"/>
                </a:lnTo>
                <a:lnTo>
                  <a:pt x="358" y="199"/>
                </a:lnTo>
                <a:lnTo>
                  <a:pt x="375" y="199"/>
                </a:lnTo>
                <a:lnTo>
                  <a:pt x="375" y="272"/>
                </a:lnTo>
                <a:lnTo>
                  <a:pt x="0" y="272"/>
                </a:lnTo>
                <a:lnTo>
                  <a:pt x="0" y="199"/>
                </a:lnTo>
                <a:lnTo>
                  <a:pt x="17" y="199"/>
                </a:lnTo>
                <a:lnTo>
                  <a:pt x="17" y="190"/>
                </a:lnTo>
                <a:lnTo>
                  <a:pt x="27" y="190"/>
                </a:lnTo>
                <a:lnTo>
                  <a:pt x="27" y="71"/>
                </a:lnTo>
                <a:lnTo>
                  <a:pt x="30" y="71"/>
                </a:lnTo>
                <a:lnTo>
                  <a:pt x="30" y="50"/>
                </a:lnTo>
                <a:lnTo>
                  <a:pt x="34" y="50"/>
                </a:lnTo>
                <a:lnTo>
                  <a:pt x="34" y="27"/>
                </a:lnTo>
                <a:lnTo>
                  <a:pt x="38" y="27"/>
                </a:lnTo>
                <a:lnTo>
                  <a:pt x="38" y="18"/>
                </a:lnTo>
                <a:lnTo>
                  <a:pt x="42" y="18"/>
                </a:lnTo>
                <a:lnTo>
                  <a:pt x="51" y="0"/>
                </a:lnTo>
                <a:lnTo>
                  <a:pt x="55" y="0"/>
                </a:lnTo>
                <a:lnTo>
                  <a:pt x="65" y="18"/>
                </a:lnTo>
                <a:lnTo>
                  <a:pt x="69" y="18"/>
                </a:lnTo>
                <a:lnTo>
                  <a:pt x="69" y="27"/>
                </a:lnTo>
                <a:lnTo>
                  <a:pt x="73" y="27"/>
                </a:lnTo>
                <a:lnTo>
                  <a:pt x="73" y="50"/>
                </a:lnTo>
                <a:lnTo>
                  <a:pt x="76" y="50"/>
                </a:lnTo>
                <a:lnTo>
                  <a:pt x="76" y="71"/>
                </a:lnTo>
                <a:lnTo>
                  <a:pt x="80" y="71"/>
                </a:lnTo>
                <a:lnTo>
                  <a:pt x="80" y="190"/>
                </a:lnTo>
                <a:lnTo>
                  <a:pt x="115" y="190"/>
                </a:lnTo>
                <a:lnTo>
                  <a:pt x="115" y="169"/>
                </a:lnTo>
                <a:lnTo>
                  <a:pt x="109" y="169"/>
                </a:lnTo>
                <a:lnTo>
                  <a:pt x="109" y="163"/>
                </a:lnTo>
                <a:lnTo>
                  <a:pt x="109" y="163"/>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50" name="íṡľíḑe">
            <a:extLst xmlns:a="http://schemas.openxmlformats.org/drawingml/2006/main">
              <a:ext uri="{FF2B5EF4-FFF2-40B4-BE49-F238E27FC236}">
                <a16:creationId xmlns:a16="http://schemas.microsoft.com/office/drawing/2014/main" id="{0451BE8B-B154-44C5-9F7F-97335D8E2709}"/>
              </a:ext>
            </a:extLst>
          </p:cNvPr>
          <p:cNvSpPr>
            <a:spLocks xmlns:a="http://schemas.openxmlformats.org/drawingml/2006/main" noGrp="1"/>
          </p:cNvSpPr>
          <p:nvPr/>
        </p:nvSpPr>
        <p:spPr>
          <a:xfrm xmlns:a="http://schemas.openxmlformats.org/drawingml/2006/main" rot="0" flipH="0" flipV="0">
            <a:off x="2718571" y="5873311"/>
            <a:ext cx="141428" cy="267143"/>
          </a:xfrm>
          <a:custGeom xmlns:a="http://schemas.openxmlformats.org/drawingml/2006/main">
            <a:gdLst>
              <a:gd name="T0" fmla="*/ 0 w 37"/>
              <a:gd name="T1" fmla="*/ 0 h 67"/>
              <a:gd name="T2" fmla="*/ 37 w 37"/>
              <a:gd name="T3" fmla="*/ 0 h 67"/>
              <a:gd name="T4" fmla="*/ 37 w 37"/>
              <a:gd name="T5" fmla="*/ 67 h 67"/>
              <a:gd name="T6" fmla="*/ 0 w 37"/>
              <a:gd name="T7" fmla="*/ 67 h 67"/>
              <a:gd name="T8" fmla="*/ 0 w 37"/>
              <a:gd name="T9" fmla="*/ 0 h 67"/>
              <a:gd name="T10" fmla="*/ 0 w 37"/>
              <a:gd name="T11" fmla="*/ 0 h 67"/>
            </a:gdLst>
            <a:rect l="0" t="0" r="r" b="b"/>
            <a:pathLst>
              <a:path w="37" h="67">
                <a:moveTo>
                  <a:pt x="0" y="0"/>
                </a:moveTo>
                <a:lnTo>
                  <a:pt x="37" y="0"/>
                </a:lnTo>
                <a:lnTo>
                  <a:pt x="37" y="67"/>
                </a:lnTo>
                <a:lnTo>
                  <a:pt x="0" y="67"/>
                </a:lnTo>
                <a:lnTo>
                  <a:pt x="0" y="0"/>
                </a:lnTo>
                <a:lnTo>
                  <a:pt x="0" y="0"/>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fontScale="77500" lnSpcReduction="20000"/>
          </a:bodyPr>
          <a:lstStyle xmlns:a="http://schemas.openxmlformats.org/drawingml/2006/main"/>
          <a:p xmlns:a="http://schemas.openxmlformats.org/drawingml/2006/main">
            <a:endParaRPr/>
          </a:p>
        </p:txBody>
      </p:sp>
      <p:sp>
        <p:nvSpPr>
          <p:cNvPr id="51" name="ïṧļiḍê">
            <a:extLst xmlns:a="http://schemas.openxmlformats.org/drawingml/2006/main">
              <a:ext uri="{FF2B5EF4-FFF2-40B4-BE49-F238E27FC236}">
                <a16:creationId xmlns:a16="http://schemas.microsoft.com/office/drawing/2014/main" id="{5EAB7128-2F95-4242-8708-20B8191D9ED1}"/>
              </a:ext>
            </a:extLst>
          </p:cNvPr>
          <p:cNvSpPr>
            <a:spLocks xmlns:a="http://schemas.openxmlformats.org/drawingml/2006/main" noGrp="1"/>
          </p:cNvSpPr>
          <p:nvPr/>
        </p:nvSpPr>
        <p:spPr>
          <a:xfrm xmlns:a="http://schemas.openxmlformats.org/drawingml/2006/main" rot="0" flipH="0" flipV="0">
            <a:off x="2820717" y="5944024"/>
            <a:ext cx="424285" cy="196430"/>
          </a:xfrm>
          <a:custGeom xmlns:a="http://schemas.openxmlformats.org/drawingml/2006/main">
            <a:gdLst>
              <a:gd name="T0" fmla="*/ 63 w 109"/>
              <a:gd name="T1" fmla="*/ 0 h 50"/>
              <a:gd name="T2" fmla="*/ 109 w 109"/>
              <a:gd name="T3" fmla="*/ 0 h 50"/>
              <a:gd name="T4" fmla="*/ 109 w 109"/>
              <a:gd name="T5" fmla="*/ 25 h 50"/>
              <a:gd name="T6" fmla="*/ 109 w 109"/>
              <a:gd name="T7" fmla="*/ 50 h 50"/>
              <a:gd name="T8" fmla="*/ 63 w 109"/>
              <a:gd name="T9" fmla="*/ 50 h 50"/>
              <a:gd name="T10" fmla="*/ 0 w 109"/>
              <a:gd name="T11" fmla="*/ 50 h 50"/>
              <a:gd name="T12" fmla="*/ 0 w 109"/>
              <a:gd name="T13" fmla="*/ 25 h 50"/>
              <a:gd name="T14" fmla="*/ 63 w 109"/>
              <a:gd name="T15" fmla="*/ 25 h 50"/>
              <a:gd name="T16" fmla="*/ 63 w 109"/>
              <a:gd name="T17" fmla="*/ 0 h 50"/>
              <a:gd name="T18" fmla="*/ 63 w 109"/>
              <a:gd name="T19" fmla="*/ 0 h 50"/>
            </a:gdLst>
            <a:rect l="0" t="0" r="r" b="b"/>
            <a:pathLst>
              <a:path w="109" h="50">
                <a:moveTo>
                  <a:pt x="63" y="0"/>
                </a:moveTo>
                <a:lnTo>
                  <a:pt x="109" y="0"/>
                </a:lnTo>
                <a:lnTo>
                  <a:pt x="109" y="25"/>
                </a:lnTo>
                <a:lnTo>
                  <a:pt x="109" y="50"/>
                </a:lnTo>
                <a:lnTo>
                  <a:pt x="63" y="50"/>
                </a:lnTo>
                <a:lnTo>
                  <a:pt x="0" y="50"/>
                </a:lnTo>
                <a:lnTo>
                  <a:pt x="0" y="25"/>
                </a:lnTo>
                <a:lnTo>
                  <a:pt x="63" y="25"/>
                </a:lnTo>
                <a:lnTo>
                  <a:pt x="63" y="0"/>
                </a:lnTo>
                <a:lnTo>
                  <a:pt x="63" y="0"/>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fontScale="40000" lnSpcReduction="20000"/>
          </a:bodyPr>
          <a:lstStyle xmlns:a="http://schemas.openxmlformats.org/drawingml/2006/main"/>
          <a:p xmlns:a="http://schemas.openxmlformats.org/drawingml/2006/main">
            <a:endParaRPr/>
          </a:p>
        </p:txBody>
      </p:sp>
      <p:sp>
        <p:nvSpPr>
          <p:cNvPr id="52" name="iṧḷíḋê">
            <a:extLst xmlns:a="http://schemas.openxmlformats.org/drawingml/2006/main">
              <a:ext uri="{FF2B5EF4-FFF2-40B4-BE49-F238E27FC236}">
                <a16:creationId xmlns:a16="http://schemas.microsoft.com/office/drawing/2014/main" id="{BE25D3AD-5DD4-4899-ADC2-8D25A6DDA7DD}"/>
              </a:ext>
            </a:extLst>
          </p:cNvPr>
          <p:cNvSpPr>
            <a:spLocks xmlns:a="http://schemas.openxmlformats.org/drawingml/2006/main" noGrp="1"/>
          </p:cNvSpPr>
          <p:nvPr/>
        </p:nvSpPr>
        <p:spPr>
          <a:xfrm xmlns:a="http://schemas.openxmlformats.org/drawingml/2006/main" rot="0" flipH="0" flipV="0">
            <a:off x="3127142" y="5433311"/>
            <a:ext cx="369282" cy="707143"/>
          </a:xfrm>
          <a:custGeom xmlns:a="http://schemas.openxmlformats.org/drawingml/2006/main">
            <a:gdLst>
              <a:gd name="T0" fmla="*/ 30 w 93"/>
              <a:gd name="T1" fmla="*/ 27 h 180"/>
              <a:gd name="T2" fmla="*/ 44 w 93"/>
              <a:gd name="T3" fmla="*/ 0 h 180"/>
              <a:gd name="T4" fmla="*/ 49 w 93"/>
              <a:gd name="T5" fmla="*/ 0 h 180"/>
              <a:gd name="T6" fmla="*/ 63 w 93"/>
              <a:gd name="T7" fmla="*/ 27 h 180"/>
              <a:gd name="T8" fmla="*/ 68 w 93"/>
              <a:gd name="T9" fmla="*/ 27 h 180"/>
              <a:gd name="T10" fmla="*/ 68 w 93"/>
              <a:gd name="T11" fmla="*/ 59 h 180"/>
              <a:gd name="T12" fmla="*/ 93 w 93"/>
              <a:gd name="T13" fmla="*/ 59 h 180"/>
              <a:gd name="T14" fmla="*/ 93 w 93"/>
              <a:gd name="T15" fmla="*/ 180 h 180"/>
              <a:gd name="T16" fmla="*/ 0 w 93"/>
              <a:gd name="T17" fmla="*/ 180 h 180"/>
              <a:gd name="T18" fmla="*/ 0 w 93"/>
              <a:gd name="T19" fmla="*/ 59 h 180"/>
              <a:gd name="T20" fmla="*/ 24 w 93"/>
              <a:gd name="T21" fmla="*/ 59 h 180"/>
              <a:gd name="T22" fmla="*/ 24 w 93"/>
              <a:gd name="T23" fmla="*/ 27 h 180"/>
              <a:gd name="T24" fmla="*/ 30 w 93"/>
              <a:gd name="T25" fmla="*/ 27 h 180"/>
              <a:gd name="T26" fmla="*/ 30 w 93"/>
              <a:gd name="T27" fmla="*/ 27 h 180"/>
            </a:gdLst>
            <a:rect l="0" t="0" r="r" b="b"/>
            <a:pathLst>
              <a:path w="93" h="180">
                <a:moveTo>
                  <a:pt x="30" y="27"/>
                </a:moveTo>
                <a:lnTo>
                  <a:pt x="44" y="0"/>
                </a:lnTo>
                <a:lnTo>
                  <a:pt x="49" y="0"/>
                </a:lnTo>
                <a:lnTo>
                  <a:pt x="63" y="27"/>
                </a:lnTo>
                <a:lnTo>
                  <a:pt x="68" y="27"/>
                </a:lnTo>
                <a:lnTo>
                  <a:pt x="68" y="59"/>
                </a:lnTo>
                <a:lnTo>
                  <a:pt x="93" y="59"/>
                </a:lnTo>
                <a:lnTo>
                  <a:pt x="93" y="180"/>
                </a:lnTo>
                <a:lnTo>
                  <a:pt x="0" y="180"/>
                </a:lnTo>
                <a:lnTo>
                  <a:pt x="0" y="59"/>
                </a:lnTo>
                <a:lnTo>
                  <a:pt x="24" y="59"/>
                </a:lnTo>
                <a:lnTo>
                  <a:pt x="24" y="27"/>
                </a:lnTo>
                <a:lnTo>
                  <a:pt x="30" y="27"/>
                </a:lnTo>
                <a:lnTo>
                  <a:pt x="30" y="27"/>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53" name="ísliḋê">
            <a:extLst xmlns:a="http://schemas.openxmlformats.org/drawingml/2006/main">
              <a:ext uri="{FF2B5EF4-FFF2-40B4-BE49-F238E27FC236}">
                <a16:creationId xmlns:a16="http://schemas.microsoft.com/office/drawing/2014/main" id="{48EB2826-58D0-4186-A407-95C5511A2ACF}"/>
              </a:ext>
            </a:extLst>
          </p:cNvPr>
          <p:cNvSpPr>
            <a:spLocks xmlns:a="http://schemas.openxmlformats.org/drawingml/2006/main" noGrp="1"/>
          </p:cNvSpPr>
          <p:nvPr/>
        </p:nvSpPr>
        <p:spPr>
          <a:xfrm xmlns:a="http://schemas.openxmlformats.org/drawingml/2006/main" rot="0" flipH="0" flipV="0">
            <a:off x="3543573" y="5912596"/>
            <a:ext cx="157141" cy="227860"/>
          </a:xfrm>
          <a:custGeom xmlns:a="http://schemas.openxmlformats.org/drawingml/2006/main">
            <a:gdLst>
              <a:gd name="T0" fmla="*/ 0 w 40"/>
              <a:gd name="T1" fmla="*/ 0 h 58"/>
              <a:gd name="T2" fmla="*/ 40 w 40"/>
              <a:gd name="T3" fmla="*/ 0 h 58"/>
              <a:gd name="T4" fmla="*/ 40 w 40"/>
              <a:gd name="T5" fmla="*/ 58 h 58"/>
              <a:gd name="T6" fmla="*/ 0 w 40"/>
              <a:gd name="T7" fmla="*/ 58 h 58"/>
              <a:gd name="T8" fmla="*/ 0 w 40"/>
              <a:gd name="T9" fmla="*/ 0 h 58"/>
              <a:gd name="T10" fmla="*/ 0 w 40"/>
              <a:gd name="T11" fmla="*/ 0 h 58"/>
            </a:gdLst>
            <a:rect l="0" t="0" r="r" b="b"/>
            <a:pathLst>
              <a:path w="40" h="58">
                <a:moveTo>
                  <a:pt x="0" y="0"/>
                </a:moveTo>
                <a:lnTo>
                  <a:pt x="40" y="0"/>
                </a:lnTo>
                <a:lnTo>
                  <a:pt x="40" y="58"/>
                </a:lnTo>
                <a:lnTo>
                  <a:pt x="0" y="58"/>
                </a:lnTo>
                <a:lnTo>
                  <a:pt x="0" y="0"/>
                </a:lnTo>
                <a:lnTo>
                  <a:pt x="0" y="0"/>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fontScale="62500" lnSpcReduction="20000"/>
          </a:bodyPr>
          <a:lstStyle xmlns:a="http://schemas.openxmlformats.org/drawingml/2006/main"/>
          <a:p xmlns:a="http://schemas.openxmlformats.org/drawingml/2006/main">
            <a:endParaRPr/>
          </a:p>
        </p:txBody>
      </p:sp>
      <p:sp>
        <p:nvSpPr>
          <p:cNvPr id="54" name="í$ļïḍé">
            <a:extLst xmlns:a="http://schemas.openxmlformats.org/drawingml/2006/main">
              <a:ext uri="{FF2B5EF4-FFF2-40B4-BE49-F238E27FC236}">
                <a16:creationId xmlns:a16="http://schemas.microsoft.com/office/drawing/2014/main" id="{65F1EDAA-7573-46B3-8596-949648FA58AA}"/>
              </a:ext>
            </a:extLst>
          </p:cNvPr>
          <p:cNvSpPr>
            <a:spLocks xmlns:a="http://schemas.openxmlformats.org/drawingml/2006/main" noGrp="1"/>
          </p:cNvSpPr>
          <p:nvPr/>
        </p:nvSpPr>
        <p:spPr>
          <a:xfrm xmlns:a="http://schemas.openxmlformats.org/drawingml/2006/main" rot="0" flipH="0" flipV="0">
            <a:off x="3724286" y="5834024"/>
            <a:ext cx="149282" cy="306431"/>
          </a:xfrm>
          <a:custGeom xmlns:a="http://schemas.openxmlformats.org/drawingml/2006/main">
            <a:gdLst>
              <a:gd name="T0" fmla="*/ 0 w 38"/>
              <a:gd name="T1" fmla="*/ 0 h 79"/>
              <a:gd name="T2" fmla="*/ 38 w 38"/>
              <a:gd name="T3" fmla="*/ 0 h 79"/>
              <a:gd name="T4" fmla="*/ 38 w 38"/>
              <a:gd name="T5" fmla="*/ 79 h 79"/>
              <a:gd name="T6" fmla="*/ 0 w 38"/>
              <a:gd name="T7" fmla="*/ 79 h 79"/>
              <a:gd name="T8" fmla="*/ 0 w 38"/>
              <a:gd name="T9" fmla="*/ 0 h 79"/>
              <a:gd name="T10" fmla="*/ 0 w 38"/>
              <a:gd name="T11" fmla="*/ 0 h 79"/>
            </a:gdLst>
            <a:rect l="0" t="0" r="r" b="b"/>
            <a:pathLst>
              <a:path w="38" h="79">
                <a:moveTo>
                  <a:pt x="0" y="0"/>
                </a:moveTo>
                <a:lnTo>
                  <a:pt x="38" y="0"/>
                </a:lnTo>
                <a:lnTo>
                  <a:pt x="38" y="79"/>
                </a:lnTo>
                <a:lnTo>
                  <a:pt x="0" y="79"/>
                </a:lnTo>
                <a:lnTo>
                  <a:pt x="0" y="0"/>
                </a:lnTo>
                <a:lnTo>
                  <a:pt x="0" y="0"/>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fontScale="92500" lnSpcReduction="20000"/>
          </a:bodyPr>
          <a:lstStyle xmlns:a="http://schemas.openxmlformats.org/drawingml/2006/main"/>
          <a:p xmlns:a="http://schemas.openxmlformats.org/drawingml/2006/main">
            <a:endParaRPr/>
          </a:p>
        </p:txBody>
      </p:sp>
      <p:sp>
        <p:nvSpPr>
          <p:cNvPr id="55" name="íṡ1íḍé">
            <a:extLst xmlns:a="http://schemas.openxmlformats.org/drawingml/2006/main">
              <a:ext uri="{FF2B5EF4-FFF2-40B4-BE49-F238E27FC236}">
                <a16:creationId xmlns:a16="http://schemas.microsoft.com/office/drawing/2014/main" id="{FBD4DC72-288A-4CB5-A58C-3F52C2B52941}"/>
              </a:ext>
            </a:extLst>
          </p:cNvPr>
          <p:cNvSpPr>
            <a:spLocks xmlns:a="http://schemas.openxmlformats.org/drawingml/2006/main" noGrp="1"/>
          </p:cNvSpPr>
          <p:nvPr/>
        </p:nvSpPr>
        <p:spPr>
          <a:xfrm xmlns:a="http://schemas.openxmlformats.org/drawingml/2006/main" rot="0" flipH="0" flipV="0">
            <a:off x="4557143" y="5551166"/>
            <a:ext cx="196427" cy="589288"/>
          </a:xfrm>
          <a:custGeom xmlns:a="http://schemas.openxmlformats.org/drawingml/2006/main">
            <a:gdLst>
              <a:gd name="T0" fmla="*/ 9 w 50"/>
              <a:gd name="T1" fmla="*/ 23 h 149"/>
              <a:gd name="T2" fmla="*/ 13 w 50"/>
              <a:gd name="T3" fmla="*/ 23 h 149"/>
              <a:gd name="T4" fmla="*/ 23 w 50"/>
              <a:gd name="T5" fmla="*/ 0 h 149"/>
              <a:gd name="T6" fmla="*/ 29 w 50"/>
              <a:gd name="T7" fmla="*/ 0 h 149"/>
              <a:gd name="T8" fmla="*/ 36 w 50"/>
              <a:gd name="T9" fmla="*/ 23 h 149"/>
              <a:gd name="T10" fmla="*/ 42 w 50"/>
              <a:gd name="T11" fmla="*/ 23 h 149"/>
              <a:gd name="T12" fmla="*/ 42 w 50"/>
              <a:gd name="T13" fmla="*/ 36 h 149"/>
              <a:gd name="T14" fmla="*/ 44 w 50"/>
              <a:gd name="T15" fmla="*/ 42 h 149"/>
              <a:gd name="T16" fmla="*/ 50 w 50"/>
              <a:gd name="T17" fmla="*/ 42 h 149"/>
              <a:gd name="T18" fmla="*/ 50 w 50"/>
              <a:gd name="T19" fmla="*/ 149 h 149"/>
              <a:gd name="T20" fmla="*/ 0 w 50"/>
              <a:gd name="T21" fmla="*/ 149 h 149"/>
              <a:gd name="T22" fmla="*/ 0 w 50"/>
              <a:gd name="T23" fmla="*/ 42 h 149"/>
              <a:gd name="T24" fmla="*/ 8 w 50"/>
              <a:gd name="T25" fmla="*/ 42 h 149"/>
              <a:gd name="T26" fmla="*/ 9 w 50"/>
              <a:gd name="T27" fmla="*/ 36 h 149"/>
              <a:gd name="T28" fmla="*/ 9 w 50"/>
              <a:gd name="T29" fmla="*/ 23 h 149"/>
              <a:gd name="T30" fmla="*/ 9 w 50"/>
              <a:gd name="T31" fmla="*/ 23 h 149"/>
            </a:gdLst>
            <a:rect l="0" t="0" r="r" b="b"/>
            <a:pathLst>
              <a:path w="50" h="149">
                <a:moveTo>
                  <a:pt x="9" y="23"/>
                </a:moveTo>
                <a:lnTo>
                  <a:pt x="13" y="23"/>
                </a:lnTo>
                <a:lnTo>
                  <a:pt x="23" y="0"/>
                </a:lnTo>
                <a:lnTo>
                  <a:pt x="29" y="0"/>
                </a:lnTo>
                <a:lnTo>
                  <a:pt x="36" y="23"/>
                </a:lnTo>
                <a:lnTo>
                  <a:pt x="42" y="23"/>
                </a:lnTo>
                <a:lnTo>
                  <a:pt x="42" y="36"/>
                </a:lnTo>
                <a:lnTo>
                  <a:pt x="44" y="42"/>
                </a:lnTo>
                <a:lnTo>
                  <a:pt x="50" y="42"/>
                </a:lnTo>
                <a:lnTo>
                  <a:pt x="50" y="149"/>
                </a:lnTo>
                <a:lnTo>
                  <a:pt x="0" y="149"/>
                </a:lnTo>
                <a:lnTo>
                  <a:pt x="0" y="42"/>
                </a:lnTo>
                <a:lnTo>
                  <a:pt x="8" y="42"/>
                </a:lnTo>
                <a:lnTo>
                  <a:pt x="9" y="36"/>
                </a:lnTo>
                <a:lnTo>
                  <a:pt x="9" y="23"/>
                </a:lnTo>
                <a:lnTo>
                  <a:pt x="9" y="23"/>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56" name="îšḻîḑé">
            <a:extLst xmlns:a="http://schemas.openxmlformats.org/drawingml/2006/main">
              <a:ext uri="{FF2B5EF4-FFF2-40B4-BE49-F238E27FC236}">
                <a16:creationId xmlns:a16="http://schemas.microsoft.com/office/drawing/2014/main" id="{73817D13-5E29-4F10-856A-8C57F0B15AC6}"/>
              </a:ext>
            </a:extLst>
          </p:cNvPr>
          <p:cNvSpPr>
            <a:spLocks xmlns:a="http://schemas.openxmlformats.org/drawingml/2006/main" noGrp="1"/>
          </p:cNvSpPr>
          <p:nvPr/>
        </p:nvSpPr>
        <p:spPr>
          <a:xfrm xmlns:a="http://schemas.openxmlformats.org/drawingml/2006/main" rot="0" flipH="0" flipV="0">
            <a:off x="4855713" y="6022596"/>
            <a:ext cx="109999" cy="117858"/>
          </a:xfrm>
          <a:custGeom xmlns:a="http://schemas.openxmlformats.org/drawingml/2006/main">
            <a:gdLst>
              <a:gd name="T0" fmla="*/ 0 w 28"/>
              <a:gd name="T1" fmla="*/ 0 h 31"/>
              <a:gd name="T2" fmla="*/ 28 w 28"/>
              <a:gd name="T3" fmla="*/ 0 h 31"/>
              <a:gd name="T4" fmla="*/ 28 w 28"/>
              <a:gd name="T5" fmla="*/ 31 h 31"/>
              <a:gd name="T6" fmla="*/ 0 w 28"/>
              <a:gd name="T7" fmla="*/ 31 h 31"/>
              <a:gd name="T8" fmla="*/ 0 w 28"/>
              <a:gd name="T9" fmla="*/ 0 h 31"/>
              <a:gd name="T10" fmla="*/ 0 w 28"/>
              <a:gd name="T11" fmla="*/ 0 h 31"/>
            </a:gdLst>
            <a:rect l="0" t="0" r="r" b="b"/>
            <a:pathLst>
              <a:path w="28" h="31">
                <a:moveTo>
                  <a:pt x="0" y="0"/>
                </a:moveTo>
                <a:lnTo>
                  <a:pt x="28" y="0"/>
                </a:lnTo>
                <a:lnTo>
                  <a:pt x="28" y="31"/>
                </a:lnTo>
                <a:lnTo>
                  <a:pt x="0" y="31"/>
                </a:lnTo>
                <a:lnTo>
                  <a:pt x="0" y="0"/>
                </a:lnTo>
                <a:lnTo>
                  <a:pt x="0" y="0"/>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fontScale="25000" lnSpcReduction="20000"/>
          </a:bodyPr>
          <a:lstStyle xmlns:a="http://schemas.openxmlformats.org/drawingml/2006/main"/>
          <a:p xmlns:a="http://schemas.openxmlformats.org/drawingml/2006/main">
            <a:endParaRPr/>
          </a:p>
        </p:txBody>
      </p:sp>
      <p:sp>
        <p:nvSpPr>
          <p:cNvPr id="57" name="ïṡľíḋè">
            <a:extLst xmlns:a="http://schemas.openxmlformats.org/drawingml/2006/main">
              <a:ext uri="{FF2B5EF4-FFF2-40B4-BE49-F238E27FC236}">
                <a16:creationId xmlns:a16="http://schemas.microsoft.com/office/drawing/2014/main" id="{6924BB50-5EA0-4859-9C0E-AF77DC34CA30}"/>
              </a:ext>
            </a:extLst>
          </p:cNvPr>
          <p:cNvSpPr>
            <a:spLocks xmlns:a="http://schemas.openxmlformats.org/drawingml/2006/main" noGrp="1"/>
          </p:cNvSpPr>
          <p:nvPr/>
        </p:nvSpPr>
        <p:spPr>
          <a:xfrm xmlns:a="http://schemas.openxmlformats.org/drawingml/2006/main" rot="0" flipH="0" flipV="0">
            <a:off x="4895001" y="4766188"/>
            <a:ext cx="1037143" cy="1374267"/>
          </a:xfrm>
          <a:custGeom xmlns:a="http://schemas.openxmlformats.org/drawingml/2006/main">
            <a:gdLst>
              <a:gd name="T0" fmla="*/ 124 w 266"/>
              <a:gd name="T1" fmla="*/ 0 h 476"/>
              <a:gd name="T2" fmla="*/ 203 w 266"/>
              <a:gd name="T3" fmla="*/ 0 h 476"/>
              <a:gd name="T4" fmla="*/ 203 w 266"/>
              <a:gd name="T5" fmla="*/ 5 h 476"/>
              <a:gd name="T6" fmla="*/ 209 w 266"/>
              <a:gd name="T7" fmla="*/ 5 h 476"/>
              <a:gd name="T8" fmla="*/ 209 w 266"/>
              <a:gd name="T9" fmla="*/ 9 h 476"/>
              <a:gd name="T10" fmla="*/ 214 w 266"/>
              <a:gd name="T11" fmla="*/ 9 h 476"/>
              <a:gd name="T12" fmla="*/ 214 w 266"/>
              <a:gd name="T13" fmla="*/ 17 h 476"/>
              <a:gd name="T14" fmla="*/ 222 w 266"/>
              <a:gd name="T15" fmla="*/ 17 h 476"/>
              <a:gd name="T16" fmla="*/ 222 w 266"/>
              <a:gd name="T17" fmla="*/ 430 h 476"/>
              <a:gd name="T18" fmla="*/ 230 w 266"/>
              <a:gd name="T19" fmla="*/ 430 h 476"/>
              <a:gd name="T20" fmla="*/ 230 w 266"/>
              <a:gd name="T21" fmla="*/ 453 h 476"/>
              <a:gd name="T22" fmla="*/ 230 w 266"/>
              <a:gd name="T23" fmla="*/ 462 h 476"/>
              <a:gd name="T24" fmla="*/ 266 w 266"/>
              <a:gd name="T25" fmla="*/ 462 h 476"/>
              <a:gd name="T26" fmla="*/ 266 w 266"/>
              <a:gd name="T27" fmla="*/ 476 h 476"/>
              <a:gd name="T28" fmla="*/ 230 w 266"/>
              <a:gd name="T29" fmla="*/ 476 h 476"/>
              <a:gd name="T30" fmla="*/ 222 w 266"/>
              <a:gd name="T31" fmla="*/ 476 h 476"/>
              <a:gd name="T32" fmla="*/ 199 w 266"/>
              <a:gd name="T33" fmla="*/ 476 h 476"/>
              <a:gd name="T34" fmla="*/ 124 w 266"/>
              <a:gd name="T35" fmla="*/ 476 h 476"/>
              <a:gd name="T36" fmla="*/ 48 w 266"/>
              <a:gd name="T37" fmla="*/ 476 h 476"/>
              <a:gd name="T38" fmla="*/ 0 w 266"/>
              <a:gd name="T39" fmla="*/ 476 h 476"/>
              <a:gd name="T40" fmla="*/ 0 w 266"/>
              <a:gd name="T41" fmla="*/ 453 h 476"/>
              <a:gd name="T42" fmla="*/ 0 w 266"/>
              <a:gd name="T43" fmla="*/ 411 h 476"/>
              <a:gd name="T44" fmla="*/ 10 w 266"/>
              <a:gd name="T45" fmla="*/ 411 h 476"/>
              <a:gd name="T46" fmla="*/ 10 w 266"/>
              <a:gd name="T47" fmla="*/ 166 h 476"/>
              <a:gd name="T48" fmla="*/ 17 w 266"/>
              <a:gd name="T49" fmla="*/ 166 h 476"/>
              <a:gd name="T50" fmla="*/ 17 w 266"/>
              <a:gd name="T51" fmla="*/ 155 h 476"/>
              <a:gd name="T52" fmla="*/ 23 w 266"/>
              <a:gd name="T53" fmla="*/ 155 h 476"/>
              <a:gd name="T54" fmla="*/ 23 w 266"/>
              <a:gd name="T55" fmla="*/ 143 h 476"/>
              <a:gd name="T56" fmla="*/ 25 w 266"/>
              <a:gd name="T57" fmla="*/ 143 h 476"/>
              <a:gd name="T58" fmla="*/ 44 w 266"/>
              <a:gd name="T59" fmla="*/ 111 h 476"/>
              <a:gd name="T60" fmla="*/ 46 w 266"/>
              <a:gd name="T61" fmla="*/ 111 h 476"/>
              <a:gd name="T62" fmla="*/ 48 w 266"/>
              <a:gd name="T63" fmla="*/ 111 h 476"/>
              <a:gd name="T64" fmla="*/ 48 w 266"/>
              <a:gd name="T65" fmla="*/ 76 h 476"/>
              <a:gd name="T66" fmla="*/ 50 w 266"/>
              <a:gd name="T67" fmla="*/ 76 h 476"/>
              <a:gd name="T68" fmla="*/ 50 w 266"/>
              <a:gd name="T69" fmla="*/ 113 h 476"/>
              <a:gd name="T70" fmla="*/ 69 w 266"/>
              <a:gd name="T71" fmla="*/ 143 h 476"/>
              <a:gd name="T72" fmla="*/ 71 w 266"/>
              <a:gd name="T73" fmla="*/ 143 h 476"/>
              <a:gd name="T74" fmla="*/ 71 w 266"/>
              <a:gd name="T75" fmla="*/ 155 h 476"/>
              <a:gd name="T76" fmla="*/ 75 w 266"/>
              <a:gd name="T77" fmla="*/ 155 h 476"/>
              <a:gd name="T78" fmla="*/ 75 w 266"/>
              <a:gd name="T79" fmla="*/ 166 h 476"/>
              <a:gd name="T80" fmla="*/ 82 w 266"/>
              <a:gd name="T81" fmla="*/ 166 h 476"/>
              <a:gd name="T82" fmla="*/ 82 w 266"/>
              <a:gd name="T83" fmla="*/ 453 h 476"/>
              <a:gd name="T84" fmla="*/ 124 w 266"/>
              <a:gd name="T85" fmla="*/ 453 h 476"/>
              <a:gd name="T86" fmla="*/ 124 w 266"/>
              <a:gd name="T87" fmla="*/ 23 h 476"/>
              <a:gd name="T88" fmla="*/ 124 w 266"/>
              <a:gd name="T89" fmla="*/ 17 h 476"/>
              <a:gd name="T90" fmla="*/ 124 w 266"/>
              <a:gd name="T91" fmla="*/ 17 h 476"/>
              <a:gd name="T92" fmla="*/ 124 w 266"/>
              <a:gd name="T93" fmla="*/ 11 h 476"/>
              <a:gd name="T94" fmla="*/ 124 w 266"/>
              <a:gd name="T95" fmla="*/ 9 h 476"/>
              <a:gd name="T96" fmla="*/ 124 w 266"/>
              <a:gd name="T97" fmla="*/ 5 h 476"/>
              <a:gd name="T98" fmla="*/ 124 w 266"/>
              <a:gd name="T99" fmla="*/ 0 h 476"/>
              <a:gd name="T100" fmla="*/ 124 w 266"/>
              <a:gd name="T101" fmla="*/ 0 h 476"/>
            </a:gdLst>
            <a:rect l="0" t="0" r="r" b="b"/>
            <a:pathLst>
              <a:path w="266" h="476">
                <a:moveTo>
                  <a:pt x="124" y="0"/>
                </a:moveTo>
                <a:lnTo>
                  <a:pt x="203" y="0"/>
                </a:lnTo>
                <a:lnTo>
                  <a:pt x="203" y="5"/>
                </a:lnTo>
                <a:lnTo>
                  <a:pt x="209" y="5"/>
                </a:lnTo>
                <a:lnTo>
                  <a:pt x="209" y="9"/>
                </a:lnTo>
                <a:lnTo>
                  <a:pt x="214" y="9"/>
                </a:lnTo>
                <a:lnTo>
                  <a:pt x="214" y="17"/>
                </a:lnTo>
                <a:lnTo>
                  <a:pt x="222" y="17"/>
                </a:lnTo>
                <a:lnTo>
                  <a:pt x="222" y="430"/>
                </a:lnTo>
                <a:lnTo>
                  <a:pt x="230" y="430"/>
                </a:lnTo>
                <a:lnTo>
                  <a:pt x="230" y="453"/>
                </a:lnTo>
                <a:lnTo>
                  <a:pt x="230" y="462"/>
                </a:lnTo>
                <a:lnTo>
                  <a:pt x="266" y="462"/>
                </a:lnTo>
                <a:lnTo>
                  <a:pt x="266" y="476"/>
                </a:lnTo>
                <a:lnTo>
                  <a:pt x="230" y="476"/>
                </a:lnTo>
                <a:lnTo>
                  <a:pt x="222" y="476"/>
                </a:lnTo>
                <a:lnTo>
                  <a:pt x="199" y="476"/>
                </a:lnTo>
                <a:lnTo>
                  <a:pt x="124" y="476"/>
                </a:lnTo>
                <a:lnTo>
                  <a:pt x="48" y="476"/>
                </a:lnTo>
                <a:lnTo>
                  <a:pt x="0" y="476"/>
                </a:lnTo>
                <a:lnTo>
                  <a:pt x="0" y="453"/>
                </a:lnTo>
                <a:lnTo>
                  <a:pt x="0" y="411"/>
                </a:lnTo>
                <a:lnTo>
                  <a:pt x="10" y="411"/>
                </a:lnTo>
                <a:lnTo>
                  <a:pt x="10" y="166"/>
                </a:lnTo>
                <a:lnTo>
                  <a:pt x="17" y="166"/>
                </a:lnTo>
                <a:lnTo>
                  <a:pt x="17" y="155"/>
                </a:lnTo>
                <a:lnTo>
                  <a:pt x="23" y="155"/>
                </a:lnTo>
                <a:lnTo>
                  <a:pt x="23" y="143"/>
                </a:lnTo>
                <a:lnTo>
                  <a:pt x="25" y="143"/>
                </a:lnTo>
                <a:lnTo>
                  <a:pt x="44" y="111"/>
                </a:lnTo>
                <a:lnTo>
                  <a:pt x="46" y="111"/>
                </a:lnTo>
                <a:lnTo>
                  <a:pt x="48" y="111"/>
                </a:lnTo>
                <a:lnTo>
                  <a:pt x="48" y="76"/>
                </a:lnTo>
                <a:lnTo>
                  <a:pt x="50" y="76"/>
                </a:lnTo>
                <a:lnTo>
                  <a:pt x="50" y="113"/>
                </a:lnTo>
                <a:lnTo>
                  <a:pt x="69" y="143"/>
                </a:lnTo>
                <a:lnTo>
                  <a:pt x="71" y="143"/>
                </a:lnTo>
                <a:lnTo>
                  <a:pt x="71" y="155"/>
                </a:lnTo>
                <a:lnTo>
                  <a:pt x="75" y="155"/>
                </a:lnTo>
                <a:lnTo>
                  <a:pt x="75" y="166"/>
                </a:lnTo>
                <a:lnTo>
                  <a:pt x="82" y="166"/>
                </a:lnTo>
                <a:lnTo>
                  <a:pt x="82" y="453"/>
                </a:lnTo>
                <a:lnTo>
                  <a:pt x="124" y="453"/>
                </a:lnTo>
                <a:lnTo>
                  <a:pt x="124" y="23"/>
                </a:lnTo>
                <a:lnTo>
                  <a:pt x="124" y="17"/>
                </a:lnTo>
                <a:lnTo>
                  <a:pt x="124" y="17"/>
                </a:lnTo>
                <a:lnTo>
                  <a:pt x="124" y="11"/>
                </a:lnTo>
                <a:lnTo>
                  <a:pt x="124" y="9"/>
                </a:lnTo>
                <a:lnTo>
                  <a:pt x="124" y="5"/>
                </a:lnTo>
                <a:lnTo>
                  <a:pt x="124" y="0"/>
                </a:lnTo>
                <a:lnTo>
                  <a:pt x="124" y="0"/>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58" name="í$ľíḋé">
            <a:extLst xmlns:a="http://schemas.openxmlformats.org/drawingml/2006/main">
              <a:ext uri="{FF2B5EF4-FFF2-40B4-BE49-F238E27FC236}">
                <a16:creationId xmlns:a16="http://schemas.microsoft.com/office/drawing/2014/main" id="{CB7E5D8B-CAA8-47BB-A70B-FB104F9E36BC}"/>
              </a:ext>
            </a:extLst>
          </p:cNvPr>
          <p:cNvSpPr>
            <a:spLocks xmlns:a="http://schemas.openxmlformats.org/drawingml/2006/main" noGrp="1"/>
          </p:cNvSpPr>
          <p:nvPr/>
        </p:nvSpPr>
        <p:spPr>
          <a:xfrm xmlns:a="http://schemas.openxmlformats.org/drawingml/2006/main" rot="0" flipH="0" flipV="0">
            <a:off x="5837860" y="5566880"/>
            <a:ext cx="408571" cy="573574"/>
          </a:xfrm>
          <a:custGeom xmlns:a="http://schemas.openxmlformats.org/drawingml/2006/main">
            <a:gdLst>
              <a:gd name="T0" fmla="*/ 48 w 103"/>
              <a:gd name="T1" fmla="*/ 112 h 145"/>
              <a:gd name="T2" fmla="*/ 103 w 103"/>
              <a:gd name="T3" fmla="*/ 112 h 145"/>
              <a:gd name="T4" fmla="*/ 103 w 103"/>
              <a:gd name="T5" fmla="*/ 145 h 145"/>
              <a:gd name="T6" fmla="*/ 48 w 103"/>
              <a:gd name="T7" fmla="*/ 145 h 145"/>
              <a:gd name="T8" fmla="*/ 23 w 103"/>
              <a:gd name="T9" fmla="*/ 145 h 145"/>
              <a:gd name="T10" fmla="*/ 0 w 103"/>
              <a:gd name="T11" fmla="*/ 145 h 145"/>
              <a:gd name="T12" fmla="*/ 0 w 103"/>
              <a:gd name="T13" fmla="*/ 11 h 145"/>
              <a:gd name="T14" fmla="*/ 6 w 103"/>
              <a:gd name="T15" fmla="*/ 11 h 145"/>
              <a:gd name="T16" fmla="*/ 6 w 103"/>
              <a:gd name="T17" fmla="*/ 0 h 145"/>
              <a:gd name="T18" fmla="*/ 34 w 103"/>
              <a:gd name="T19" fmla="*/ 0 h 145"/>
              <a:gd name="T20" fmla="*/ 34 w 103"/>
              <a:gd name="T21" fmla="*/ 11 h 145"/>
              <a:gd name="T22" fmla="*/ 48 w 103"/>
              <a:gd name="T23" fmla="*/ 11 h 145"/>
              <a:gd name="T24" fmla="*/ 48 w 103"/>
              <a:gd name="T25" fmla="*/ 112 h 145"/>
              <a:gd name="T26" fmla="*/ 48 w 103"/>
              <a:gd name="T27" fmla="*/ 112 h 145"/>
            </a:gdLst>
            <a:rect l="0" t="0" r="r" b="b"/>
            <a:pathLst>
              <a:path w="103" h="145">
                <a:moveTo>
                  <a:pt x="48" y="112"/>
                </a:moveTo>
                <a:lnTo>
                  <a:pt x="103" y="112"/>
                </a:lnTo>
                <a:lnTo>
                  <a:pt x="103" y="145"/>
                </a:lnTo>
                <a:lnTo>
                  <a:pt x="48" y="145"/>
                </a:lnTo>
                <a:lnTo>
                  <a:pt x="23" y="145"/>
                </a:lnTo>
                <a:lnTo>
                  <a:pt x="0" y="145"/>
                </a:lnTo>
                <a:lnTo>
                  <a:pt x="0" y="11"/>
                </a:lnTo>
                <a:lnTo>
                  <a:pt x="6" y="11"/>
                </a:lnTo>
                <a:lnTo>
                  <a:pt x="6" y="0"/>
                </a:lnTo>
                <a:lnTo>
                  <a:pt x="34" y="0"/>
                </a:lnTo>
                <a:lnTo>
                  <a:pt x="34" y="11"/>
                </a:lnTo>
                <a:lnTo>
                  <a:pt x="48" y="11"/>
                </a:lnTo>
                <a:lnTo>
                  <a:pt x="48" y="112"/>
                </a:lnTo>
                <a:lnTo>
                  <a:pt x="48" y="112"/>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59" name="ïS1îďè">
            <a:extLst xmlns:a="http://schemas.openxmlformats.org/drawingml/2006/main">
              <a:ext uri="{FF2B5EF4-FFF2-40B4-BE49-F238E27FC236}">
                <a16:creationId xmlns:a16="http://schemas.microsoft.com/office/drawing/2014/main" id="{A62F3E6A-3172-4A4A-AF38-4CBB29951510}"/>
              </a:ext>
            </a:extLst>
          </p:cNvPr>
          <p:cNvSpPr>
            <a:spLocks xmlns:a="http://schemas.openxmlformats.org/drawingml/2006/main" noGrp="1"/>
          </p:cNvSpPr>
          <p:nvPr/>
        </p:nvSpPr>
        <p:spPr>
          <a:xfrm xmlns:a="http://schemas.openxmlformats.org/drawingml/2006/main" rot="0" flipH="0" flipV="0">
            <a:off x="6537142" y="5582594"/>
            <a:ext cx="487144" cy="557861"/>
          </a:xfrm>
          <a:custGeom xmlns:a="http://schemas.openxmlformats.org/drawingml/2006/main">
            <a:gdLst>
              <a:gd name="T0" fmla="*/ 0 w 124"/>
              <a:gd name="T1" fmla="*/ 0 h 142"/>
              <a:gd name="T2" fmla="*/ 124 w 124"/>
              <a:gd name="T3" fmla="*/ 0 h 142"/>
              <a:gd name="T4" fmla="*/ 124 w 124"/>
              <a:gd name="T5" fmla="*/ 142 h 142"/>
              <a:gd name="T6" fmla="*/ 0 w 124"/>
              <a:gd name="T7" fmla="*/ 142 h 142"/>
              <a:gd name="T8" fmla="*/ 0 w 124"/>
              <a:gd name="T9" fmla="*/ 0 h 142"/>
              <a:gd name="T10" fmla="*/ 0 w 124"/>
              <a:gd name="T11" fmla="*/ 0 h 142"/>
            </a:gdLst>
            <a:rect l="0" t="0" r="r" b="b"/>
            <a:pathLst>
              <a:path w="124" h="142">
                <a:moveTo>
                  <a:pt x="0" y="0"/>
                </a:moveTo>
                <a:lnTo>
                  <a:pt x="124" y="0"/>
                </a:lnTo>
                <a:lnTo>
                  <a:pt x="124" y="142"/>
                </a:lnTo>
                <a:lnTo>
                  <a:pt x="0" y="142"/>
                </a:lnTo>
                <a:lnTo>
                  <a:pt x="0" y="0"/>
                </a:lnTo>
                <a:lnTo>
                  <a:pt x="0" y="0"/>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60" name="îSliḓe">
            <a:extLst xmlns:a="http://schemas.openxmlformats.org/drawingml/2006/main">
              <a:ext uri="{FF2B5EF4-FFF2-40B4-BE49-F238E27FC236}">
                <a16:creationId xmlns:a16="http://schemas.microsoft.com/office/drawing/2014/main" id="{37D3A04D-1126-4611-8CEA-4E6FF1976274}"/>
              </a:ext>
            </a:extLst>
          </p:cNvPr>
          <p:cNvSpPr>
            <a:spLocks xmlns:a="http://schemas.openxmlformats.org/drawingml/2006/main" noGrp="1"/>
          </p:cNvSpPr>
          <p:nvPr/>
        </p:nvSpPr>
        <p:spPr>
          <a:xfrm xmlns:a="http://schemas.openxmlformats.org/drawingml/2006/main" rot="0" flipH="0" flipV="0">
            <a:off x="7063573" y="5284024"/>
            <a:ext cx="1162858" cy="856432"/>
          </a:xfrm>
          <a:custGeom xmlns:a="http://schemas.openxmlformats.org/drawingml/2006/main">
            <a:gdLst>
              <a:gd name="T0" fmla="*/ 84 w 296"/>
              <a:gd name="T1" fmla="*/ 193 h 218"/>
              <a:gd name="T2" fmla="*/ 94 w 296"/>
              <a:gd name="T3" fmla="*/ 193 h 218"/>
              <a:gd name="T4" fmla="*/ 94 w 296"/>
              <a:gd name="T5" fmla="*/ 199 h 218"/>
              <a:gd name="T6" fmla="*/ 113 w 296"/>
              <a:gd name="T7" fmla="*/ 199 h 218"/>
              <a:gd name="T8" fmla="*/ 113 w 296"/>
              <a:gd name="T9" fmla="*/ 206 h 218"/>
              <a:gd name="T10" fmla="*/ 160 w 296"/>
              <a:gd name="T11" fmla="*/ 206 h 218"/>
              <a:gd name="T12" fmla="*/ 160 w 296"/>
              <a:gd name="T13" fmla="*/ 9 h 218"/>
              <a:gd name="T14" fmla="*/ 178 w 296"/>
              <a:gd name="T15" fmla="*/ 9 h 218"/>
              <a:gd name="T16" fmla="*/ 178 w 296"/>
              <a:gd name="T17" fmla="*/ 0 h 218"/>
              <a:gd name="T18" fmla="*/ 218 w 296"/>
              <a:gd name="T19" fmla="*/ 0 h 218"/>
              <a:gd name="T20" fmla="*/ 218 w 296"/>
              <a:gd name="T21" fmla="*/ 9 h 218"/>
              <a:gd name="T22" fmla="*/ 231 w 296"/>
              <a:gd name="T23" fmla="*/ 9 h 218"/>
              <a:gd name="T24" fmla="*/ 231 w 296"/>
              <a:gd name="T25" fmla="*/ 206 h 218"/>
              <a:gd name="T26" fmla="*/ 245 w 296"/>
              <a:gd name="T27" fmla="*/ 206 h 218"/>
              <a:gd name="T28" fmla="*/ 245 w 296"/>
              <a:gd name="T29" fmla="*/ 214 h 218"/>
              <a:gd name="T30" fmla="*/ 296 w 296"/>
              <a:gd name="T31" fmla="*/ 214 h 218"/>
              <a:gd name="T32" fmla="*/ 296 w 296"/>
              <a:gd name="T33" fmla="*/ 218 h 218"/>
              <a:gd name="T34" fmla="*/ 245 w 296"/>
              <a:gd name="T35" fmla="*/ 218 h 218"/>
              <a:gd name="T36" fmla="*/ 231 w 296"/>
              <a:gd name="T37" fmla="*/ 218 h 218"/>
              <a:gd name="T38" fmla="*/ 160 w 296"/>
              <a:gd name="T39" fmla="*/ 218 h 218"/>
              <a:gd name="T40" fmla="*/ 130 w 296"/>
              <a:gd name="T41" fmla="*/ 218 h 218"/>
              <a:gd name="T42" fmla="*/ 84 w 296"/>
              <a:gd name="T43" fmla="*/ 218 h 218"/>
              <a:gd name="T44" fmla="*/ 80 w 296"/>
              <a:gd name="T45" fmla="*/ 218 h 218"/>
              <a:gd name="T46" fmla="*/ 50 w 296"/>
              <a:gd name="T47" fmla="*/ 218 h 218"/>
              <a:gd name="T48" fmla="*/ 0 w 296"/>
              <a:gd name="T49" fmla="*/ 218 h 218"/>
              <a:gd name="T50" fmla="*/ 0 w 296"/>
              <a:gd name="T51" fmla="*/ 4 h 218"/>
              <a:gd name="T52" fmla="*/ 50 w 296"/>
              <a:gd name="T53" fmla="*/ 4 h 218"/>
              <a:gd name="T54" fmla="*/ 50 w 296"/>
              <a:gd name="T55" fmla="*/ 25 h 218"/>
              <a:gd name="T56" fmla="*/ 84 w 296"/>
              <a:gd name="T57" fmla="*/ 25 h 218"/>
              <a:gd name="T58" fmla="*/ 84 w 296"/>
              <a:gd name="T59" fmla="*/ 193 h 218"/>
              <a:gd name="T60" fmla="*/ 84 w 296"/>
              <a:gd name="T61" fmla="*/ 193 h 218"/>
            </a:gdLst>
            <a:rect l="0" t="0" r="r" b="b"/>
            <a:pathLst>
              <a:path w="296" h="218">
                <a:moveTo>
                  <a:pt x="84" y="193"/>
                </a:moveTo>
                <a:lnTo>
                  <a:pt x="94" y="193"/>
                </a:lnTo>
                <a:lnTo>
                  <a:pt x="94" y="199"/>
                </a:lnTo>
                <a:lnTo>
                  <a:pt x="113" y="199"/>
                </a:lnTo>
                <a:lnTo>
                  <a:pt x="113" y="206"/>
                </a:lnTo>
                <a:lnTo>
                  <a:pt x="160" y="206"/>
                </a:lnTo>
                <a:lnTo>
                  <a:pt x="160" y="9"/>
                </a:lnTo>
                <a:lnTo>
                  <a:pt x="178" y="9"/>
                </a:lnTo>
                <a:lnTo>
                  <a:pt x="178" y="0"/>
                </a:lnTo>
                <a:lnTo>
                  <a:pt x="218" y="0"/>
                </a:lnTo>
                <a:lnTo>
                  <a:pt x="218" y="9"/>
                </a:lnTo>
                <a:lnTo>
                  <a:pt x="231" y="9"/>
                </a:lnTo>
                <a:lnTo>
                  <a:pt x="231" y="206"/>
                </a:lnTo>
                <a:lnTo>
                  <a:pt x="245" y="206"/>
                </a:lnTo>
                <a:lnTo>
                  <a:pt x="245" y="214"/>
                </a:lnTo>
                <a:lnTo>
                  <a:pt x="296" y="214"/>
                </a:lnTo>
                <a:lnTo>
                  <a:pt x="296" y="218"/>
                </a:lnTo>
                <a:lnTo>
                  <a:pt x="245" y="218"/>
                </a:lnTo>
                <a:lnTo>
                  <a:pt x="231" y="218"/>
                </a:lnTo>
                <a:lnTo>
                  <a:pt x="160" y="218"/>
                </a:lnTo>
                <a:lnTo>
                  <a:pt x="130" y="218"/>
                </a:lnTo>
                <a:lnTo>
                  <a:pt x="84" y="218"/>
                </a:lnTo>
                <a:lnTo>
                  <a:pt x="80" y="218"/>
                </a:lnTo>
                <a:lnTo>
                  <a:pt x="50" y="218"/>
                </a:lnTo>
                <a:lnTo>
                  <a:pt x="0" y="218"/>
                </a:lnTo>
                <a:lnTo>
                  <a:pt x="0" y="4"/>
                </a:lnTo>
                <a:lnTo>
                  <a:pt x="50" y="4"/>
                </a:lnTo>
                <a:lnTo>
                  <a:pt x="50" y="25"/>
                </a:lnTo>
                <a:lnTo>
                  <a:pt x="84" y="25"/>
                </a:lnTo>
                <a:lnTo>
                  <a:pt x="84" y="193"/>
                </a:lnTo>
                <a:lnTo>
                  <a:pt x="84" y="193"/>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61" name="ïṥliḓè">
            <a:extLst xmlns:a="http://schemas.openxmlformats.org/drawingml/2006/main">
              <a:ext uri="{FF2B5EF4-FFF2-40B4-BE49-F238E27FC236}">
                <a16:creationId xmlns:a16="http://schemas.microsoft.com/office/drawing/2014/main" id="{08B50FF2-1F8C-4F38-8CD5-6A5E3A29DB3D}"/>
              </a:ext>
            </a:extLst>
          </p:cNvPr>
          <p:cNvSpPr>
            <a:spLocks xmlns:a="http://schemas.openxmlformats.org/drawingml/2006/main" noGrp="1"/>
          </p:cNvSpPr>
          <p:nvPr/>
        </p:nvSpPr>
        <p:spPr>
          <a:xfrm xmlns:a="http://schemas.openxmlformats.org/drawingml/2006/main" rot="0" flipH="0" flipV="0">
            <a:off x="47143" y="5912596"/>
            <a:ext cx="502857" cy="227860"/>
          </a:xfrm>
          <a:custGeom xmlns:a="http://schemas.openxmlformats.org/drawingml/2006/main">
            <a:gdLst>
              <a:gd name="T0" fmla="*/ 0 w 129"/>
              <a:gd name="T1" fmla="*/ 0 h 58"/>
              <a:gd name="T2" fmla="*/ 129 w 129"/>
              <a:gd name="T3" fmla="*/ 0 h 58"/>
              <a:gd name="T4" fmla="*/ 129 w 129"/>
              <a:gd name="T5" fmla="*/ 58 h 58"/>
              <a:gd name="T6" fmla="*/ 0 w 129"/>
              <a:gd name="T7" fmla="*/ 58 h 58"/>
              <a:gd name="T8" fmla="*/ 0 w 129"/>
              <a:gd name="T9" fmla="*/ 0 h 58"/>
              <a:gd name="T10" fmla="*/ 0 w 129"/>
              <a:gd name="T11" fmla="*/ 0 h 58"/>
            </a:gdLst>
            <a:rect l="0" t="0" r="r" b="b"/>
            <a:pathLst>
              <a:path w="129" h="58">
                <a:moveTo>
                  <a:pt x="0" y="0"/>
                </a:moveTo>
                <a:lnTo>
                  <a:pt x="129" y="0"/>
                </a:lnTo>
                <a:lnTo>
                  <a:pt x="129" y="58"/>
                </a:lnTo>
                <a:lnTo>
                  <a:pt x="0" y="58"/>
                </a:lnTo>
                <a:lnTo>
                  <a:pt x="0" y="0"/>
                </a:lnTo>
                <a:lnTo>
                  <a:pt x="0" y="0"/>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fontScale="62500" lnSpcReduction="20000"/>
          </a:bodyPr>
          <a:lstStyle xmlns:a="http://schemas.openxmlformats.org/drawingml/2006/main"/>
          <a:p xmlns:a="http://schemas.openxmlformats.org/drawingml/2006/main">
            <a:endParaRPr/>
          </a:p>
        </p:txBody>
      </p:sp>
      <p:sp>
        <p:nvSpPr>
          <p:cNvPr id="62" name="išľîḍê">
            <a:extLst xmlns:a="http://schemas.openxmlformats.org/drawingml/2006/main">
              <a:ext uri="{FF2B5EF4-FFF2-40B4-BE49-F238E27FC236}">
                <a16:creationId xmlns:a16="http://schemas.microsoft.com/office/drawing/2014/main" id="{DF3A36F1-234C-4840-B2CB-D861E9E32279}"/>
              </a:ext>
            </a:extLst>
          </p:cNvPr>
          <p:cNvSpPr>
            <a:spLocks xmlns:a="http://schemas.openxmlformats.org/drawingml/2006/main" noGrp="1"/>
          </p:cNvSpPr>
          <p:nvPr/>
        </p:nvSpPr>
        <p:spPr>
          <a:xfrm xmlns:a="http://schemas.openxmlformats.org/drawingml/2006/main" rot="0" flipH="0" flipV="0">
            <a:off x="3724286" y="4587184"/>
            <a:ext cx="793568" cy="1553270"/>
          </a:xfrm>
          <a:custGeom xmlns:a="http://schemas.openxmlformats.org/drawingml/2006/main">
            <a:gdLst>
              <a:gd name="T0" fmla="*/ 145 w 200"/>
              <a:gd name="T1" fmla="*/ 446 h 538"/>
              <a:gd name="T2" fmla="*/ 195 w 200"/>
              <a:gd name="T3" fmla="*/ 446 h 538"/>
              <a:gd name="T4" fmla="*/ 195 w 200"/>
              <a:gd name="T5" fmla="*/ 456 h 538"/>
              <a:gd name="T6" fmla="*/ 200 w 200"/>
              <a:gd name="T7" fmla="*/ 456 h 538"/>
              <a:gd name="T8" fmla="*/ 200 w 200"/>
              <a:gd name="T9" fmla="*/ 538 h 538"/>
              <a:gd name="T10" fmla="*/ 145 w 200"/>
              <a:gd name="T11" fmla="*/ 538 h 538"/>
              <a:gd name="T12" fmla="*/ 95 w 200"/>
              <a:gd name="T13" fmla="*/ 538 h 538"/>
              <a:gd name="T14" fmla="*/ 46 w 200"/>
              <a:gd name="T15" fmla="*/ 538 h 538"/>
              <a:gd name="T16" fmla="*/ 34 w 200"/>
              <a:gd name="T17" fmla="*/ 538 h 538"/>
              <a:gd name="T18" fmla="*/ 0 w 200"/>
              <a:gd name="T19" fmla="*/ 538 h 538"/>
              <a:gd name="T20" fmla="*/ 0 w 200"/>
              <a:gd name="T21" fmla="*/ 482 h 538"/>
              <a:gd name="T22" fmla="*/ 34 w 200"/>
              <a:gd name="T23" fmla="*/ 482 h 538"/>
              <a:gd name="T24" fmla="*/ 34 w 200"/>
              <a:gd name="T25" fmla="*/ 287 h 538"/>
              <a:gd name="T26" fmla="*/ 55 w 200"/>
              <a:gd name="T27" fmla="*/ 287 h 538"/>
              <a:gd name="T28" fmla="*/ 55 w 200"/>
              <a:gd name="T29" fmla="*/ 152 h 538"/>
              <a:gd name="T30" fmla="*/ 55 w 200"/>
              <a:gd name="T31" fmla="*/ 146 h 538"/>
              <a:gd name="T32" fmla="*/ 67 w 200"/>
              <a:gd name="T33" fmla="*/ 146 h 538"/>
              <a:gd name="T34" fmla="*/ 67 w 200"/>
              <a:gd name="T35" fmla="*/ 64 h 538"/>
              <a:gd name="T36" fmla="*/ 72 w 200"/>
              <a:gd name="T37" fmla="*/ 64 h 538"/>
              <a:gd name="T38" fmla="*/ 74 w 200"/>
              <a:gd name="T39" fmla="*/ 31 h 538"/>
              <a:gd name="T40" fmla="*/ 76 w 200"/>
              <a:gd name="T41" fmla="*/ 64 h 538"/>
              <a:gd name="T42" fmla="*/ 84 w 200"/>
              <a:gd name="T43" fmla="*/ 64 h 538"/>
              <a:gd name="T44" fmla="*/ 86 w 200"/>
              <a:gd name="T45" fmla="*/ 0 h 538"/>
              <a:gd name="T46" fmla="*/ 88 w 200"/>
              <a:gd name="T47" fmla="*/ 64 h 538"/>
              <a:gd name="T48" fmla="*/ 99 w 200"/>
              <a:gd name="T49" fmla="*/ 64 h 538"/>
              <a:gd name="T50" fmla="*/ 99 w 200"/>
              <a:gd name="T51" fmla="*/ 64 h 538"/>
              <a:gd name="T52" fmla="*/ 95 w 200"/>
              <a:gd name="T53" fmla="*/ 64 h 538"/>
              <a:gd name="T54" fmla="*/ 97 w 200"/>
              <a:gd name="T55" fmla="*/ 23 h 538"/>
              <a:gd name="T56" fmla="*/ 99 w 200"/>
              <a:gd name="T57" fmla="*/ 60 h 538"/>
              <a:gd name="T58" fmla="*/ 109 w 200"/>
              <a:gd name="T59" fmla="*/ 60 h 538"/>
              <a:gd name="T60" fmla="*/ 109 w 200"/>
              <a:gd name="T61" fmla="*/ 52 h 538"/>
              <a:gd name="T62" fmla="*/ 111 w 200"/>
              <a:gd name="T63" fmla="*/ 64 h 538"/>
              <a:gd name="T64" fmla="*/ 109 w 200"/>
              <a:gd name="T65" fmla="*/ 64 h 538"/>
              <a:gd name="T66" fmla="*/ 109 w 200"/>
              <a:gd name="T67" fmla="*/ 64 h 538"/>
              <a:gd name="T68" fmla="*/ 111 w 200"/>
              <a:gd name="T69" fmla="*/ 64 h 538"/>
              <a:gd name="T70" fmla="*/ 111 w 200"/>
              <a:gd name="T71" fmla="*/ 146 h 538"/>
              <a:gd name="T72" fmla="*/ 120 w 200"/>
              <a:gd name="T73" fmla="*/ 146 h 538"/>
              <a:gd name="T74" fmla="*/ 120 w 200"/>
              <a:gd name="T75" fmla="*/ 152 h 538"/>
              <a:gd name="T76" fmla="*/ 128 w 200"/>
              <a:gd name="T77" fmla="*/ 152 h 538"/>
              <a:gd name="T78" fmla="*/ 128 w 200"/>
              <a:gd name="T79" fmla="*/ 287 h 538"/>
              <a:gd name="T80" fmla="*/ 145 w 200"/>
              <a:gd name="T81" fmla="*/ 287 h 538"/>
              <a:gd name="T82" fmla="*/ 145 w 200"/>
              <a:gd name="T83" fmla="*/ 446 h 538"/>
              <a:gd name="T84" fmla="*/ 145 w 200"/>
              <a:gd name="T85" fmla="*/ 446 h 538"/>
            </a:gdLst>
            <a:rect l="0" t="0" r="r" b="b"/>
            <a:pathLst>
              <a:path w="200" h="538">
                <a:moveTo>
                  <a:pt x="145" y="446"/>
                </a:moveTo>
                <a:lnTo>
                  <a:pt x="195" y="446"/>
                </a:lnTo>
                <a:lnTo>
                  <a:pt x="195" y="456"/>
                </a:lnTo>
                <a:lnTo>
                  <a:pt x="200" y="456"/>
                </a:lnTo>
                <a:lnTo>
                  <a:pt x="200" y="538"/>
                </a:lnTo>
                <a:lnTo>
                  <a:pt x="145" y="538"/>
                </a:lnTo>
                <a:lnTo>
                  <a:pt x="95" y="538"/>
                </a:lnTo>
                <a:lnTo>
                  <a:pt x="46" y="538"/>
                </a:lnTo>
                <a:lnTo>
                  <a:pt x="34" y="538"/>
                </a:lnTo>
                <a:lnTo>
                  <a:pt x="0" y="538"/>
                </a:lnTo>
                <a:lnTo>
                  <a:pt x="0" y="482"/>
                </a:lnTo>
                <a:lnTo>
                  <a:pt x="34" y="482"/>
                </a:lnTo>
                <a:lnTo>
                  <a:pt x="34" y="287"/>
                </a:lnTo>
                <a:lnTo>
                  <a:pt x="55" y="287"/>
                </a:lnTo>
                <a:lnTo>
                  <a:pt x="55" y="152"/>
                </a:lnTo>
                <a:lnTo>
                  <a:pt x="55" y="146"/>
                </a:lnTo>
                <a:lnTo>
                  <a:pt x="67" y="146"/>
                </a:lnTo>
                <a:lnTo>
                  <a:pt x="67" y="64"/>
                </a:lnTo>
                <a:lnTo>
                  <a:pt x="72" y="64"/>
                </a:lnTo>
                <a:lnTo>
                  <a:pt x="74" y="31"/>
                </a:lnTo>
                <a:lnTo>
                  <a:pt x="76" y="64"/>
                </a:lnTo>
                <a:lnTo>
                  <a:pt x="84" y="64"/>
                </a:lnTo>
                <a:lnTo>
                  <a:pt x="86" y="0"/>
                </a:lnTo>
                <a:lnTo>
                  <a:pt x="88" y="64"/>
                </a:lnTo>
                <a:lnTo>
                  <a:pt x="99" y="64"/>
                </a:lnTo>
                <a:lnTo>
                  <a:pt x="99" y="64"/>
                </a:lnTo>
                <a:lnTo>
                  <a:pt x="95" y="64"/>
                </a:lnTo>
                <a:lnTo>
                  <a:pt x="97" y="23"/>
                </a:lnTo>
                <a:lnTo>
                  <a:pt x="99" y="60"/>
                </a:lnTo>
                <a:lnTo>
                  <a:pt x="109" y="60"/>
                </a:lnTo>
                <a:lnTo>
                  <a:pt x="109" y="52"/>
                </a:lnTo>
                <a:lnTo>
                  <a:pt x="111" y="64"/>
                </a:lnTo>
                <a:lnTo>
                  <a:pt x="109" y="64"/>
                </a:lnTo>
                <a:lnTo>
                  <a:pt x="109" y="64"/>
                </a:lnTo>
                <a:lnTo>
                  <a:pt x="111" y="64"/>
                </a:lnTo>
                <a:lnTo>
                  <a:pt x="111" y="146"/>
                </a:lnTo>
                <a:lnTo>
                  <a:pt x="120" y="146"/>
                </a:lnTo>
                <a:lnTo>
                  <a:pt x="120" y="152"/>
                </a:lnTo>
                <a:lnTo>
                  <a:pt x="128" y="152"/>
                </a:lnTo>
                <a:lnTo>
                  <a:pt x="128" y="287"/>
                </a:lnTo>
                <a:lnTo>
                  <a:pt x="145" y="287"/>
                </a:lnTo>
                <a:lnTo>
                  <a:pt x="145" y="446"/>
                </a:lnTo>
                <a:lnTo>
                  <a:pt x="145" y="446"/>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63" name="íşḻíḑe">
            <a:extLst xmlns:a="http://schemas.openxmlformats.org/drawingml/2006/main">
              <a:ext uri="{FF2B5EF4-FFF2-40B4-BE49-F238E27FC236}">
                <a16:creationId xmlns:a16="http://schemas.microsoft.com/office/drawing/2014/main" id="{BFAE3937-C439-4BFB-9922-5503F076A213}"/>
              </a:ext>
            </a:extLst>
          </p:cNvPr>
          <p:cNvSpPr>
            <a:spLocks xmlns:a="http://schemas.openxmlformats.org/drawingml/2006/main" noGrp="1"/>
          </p:cNvSpPr>
          <p:nvPr/>
        </p:nvSpPr>
        <p:spPr>
          <a:xfrm xmlns:a="http://schemas.openxmlformats.org/drawingml/2006/main" rot="0" flipH="0" flipV="0">
            <a:off x="6269999" y="6077598"/>
            <a:ext cx="840711" cy="62858"/>
          </a:xfrm>
          <a:custGeom xmlns:a="http://schemas.openxmlformats.org/drawingml/2006/main">
            <a:gdLst>
              <a:gd name="T0" fmla="*/ 0 w 212"/>
              <a:gd name="T1" fmla="*/ 0 h 15"/>
              <a:gd name="T2" fmla="*/ 212 w 212"/>
              <a:gd name="T3" fmla="*/ 0 h 15"/>
              <a:gd name="T4" fmla="*/ 212 w 212"/>
              <a:gd name="T5" fmla="*/ 15 h 15"/>
              <a:gd name="T6" fmla="*/ 0 w 212"/>
              <a:gd name="T7" fmla="*/ 15 h 15"/>
              <a:gd name="T8" fmla="*/ 0 w 212"/>
              <a:gd name="T9" fmla="*/ 0 h 15"/>
              <a:gd name="T10" fmla="*/ 0 w 212"/>
              <a:gd name="T11" fmla="*/ 0 h 15"/>
            </a:gdLst>
            <a:rect l="0" t="0" r="r" b="b"/>
            <a:pathLst>
              <a:path w="212" h="15">
                <a:moveTo>
                  <a:pt x="0" y="0"/>
                </a:moveTo>
                <a:lnTo>
                  <a:pt x="212" y="0"/>
                </a:lnTo>
                <a:lnTo>
                  <a:pt x="212" y="15"/>
                </a:lnTo>
                <a:lnTo>
                  <a:pt x="0" y="15"/>
                </a:lnTo>
                <a:lnTo>
                  <a:pt x="0" y="0"/>
                </a:lnTo>
                <a:lnTo>
                  <a:pt x="0" y="0"/>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fontScale="25000" lnSpcReduction="20000"/>
          </a:bodyPr>
          <a:lstStyle xmlns:a="http://schemas.openxmlformats.org/drawingml/2006/main"/>
          <a:p xmlns:a="http://schemas.openxmlformats.org/drawingml/2006/main">
            <a:endParaRPr/>
          </a:p>
        </p:txBody>
      </p:sp>
      <p:sp>
        <p:nvSpPr>
          <p:cNvPr id="64" name="íS1íḑè">
            <a:extLst xmlns:a="http://schemas.openxmlformats.org/drawingml/2006/main">
              <a:ext uri="{FF2B5EF4-FFF2-40B4-BE49-F238E27FC236}">
                <a16:creationId xmlns:a16="http://schemas.microsoft.com/office/drawing/2014/main" id="{6DC3C403-CB50-4A12-95F9-52E4847B564D}"/>
              </a:ext>
            </a:extLst>
          </p:cNvPr>
          <p:cNvSpPr>
            <a:spLocks xmlns:a="http://schemas.openxmlformats.org/drawingml/2006/main" noGrp="1"/>
          </p:cNvSpPr>
          <p:nvPr/>
        </p:nvSpPr>
        <p:spPr>
          <a:xfrm xmlns:a="http://schemas.openxmlformats.org/drawingml/2006/main" rot="0" flipH="0" flipV="0">
            <a:off x="8660765" y="4592595"/>
            <a:ext cx="408571" cy="1547861"/>
          </a:xfrm>
          <a:custGeom xmlns:a="http://schemas.openxmlformats.org/drawingml/2006/main">
            <a:gdLst>
              <a:gd name="T0" fmla="*/ 42 w 105"/>
              <a:gd name="T1" fmla="*/ 17 h 394"/>
              <a:gd name="T2" fmla="*/ 92 w 105"/>
              <a:gd name="T3" fmla="*/ 0 h 394"/>
              <a:gd name="T4" fmla="*/ 102 w 105"/>
              <a:gd name="T5" fmla="*/ 0 h 394"/>
              <a:gd name="T6" fmla="*/ 102 w 105"/>
              <a:gd name="T7" fmla="*/ 29 h 394"/>
              <a:gd name="T8" fmla="*/ 105 w 105"/>
              <a:gd name="T9" fmla="*/ 29 h 394"/>
              <a:gd name="T10" fmla="*/ 105 w 105"/>
              <a:gd name="T11" fmla="*/ 122 h 394"/>
              <a:gd name="T12" fmla="*/ 105 w 105"/>
              <a:gd name="T13" fmla="*/ 155 h 394"/>
              <a:gd name="T14" fmla="*/ 105 w 105"/>
              <a:gd name="T15" fmla="*/ 205 h 394"/>
              <a:gd name="T16" fmla="*/ 105 w 105"/>
              <a:gd name="T17" fmla="*/ 218 h 394"/>
              <a:gd name="T18" fmla="*/ 105 w 105"/>
              <a:gd name="T19" fmla="*/ 298 h 394"/>
              <a:gd name="T20" fmla="*/ 105 w 105"/>
              <a:gd name="T21" fmla="*/ 331 h 394"/>
              <a:gd name="T22" fmla="*/ 105 w 105"/>
              <a:gd name="T23" fmla="*/ 394 h 394"/>
              <a:gd name="T24" fmla="*/ 0 w 105"/>
              <a:gd name="T25" fmla="*/ 394 h 394"/>
              <a:gd name="T26" fmla="*/ 0 w 105"/>
              <a:gd name="T27" fmla="*/ 218 h 394"/>
              <a:gd name="T28" fmla="*/ 10 w 105"/>
              <a:gd name="T29" fmla="*/ 218 h 394"/>
              <a:gd name="T30" fmla="*/ 10 w 105"/>
              <a:gd name="T31" fmla="*/ 155 h 394"/>
              <a:gd name="T32" fmla="*/ 21 w 105"/>
              <a:gd name="T33" fmla="*/ 155 h 394"/>
              <a:gd name="T34" fmla="*/ 21 w 105"/>
              <a:gd name="T35" fmla="*/ 122 h 394"/>
              <a:gd name="T36" fmla="*/ 39 w 105"/>
              <a:gd name="T37" fmla="*/ 122 h 394"/>
              <a:gd name="T38" fmla="*/ 39 w 105"/>
              <a:gd name="T39" fmla="*/ 29 h 394"/>
              <a:gd name="T40" fmla="*/ 42 w 105"/>
              <a:gd name="T41" fmla="*/ 29 h 394"/>
              <a:gd name="T42" fmla="*/ 42 w 105"/>
              <a:gd name="T43" fmla="*/ 17 h 394"/>
              <a:gd name="T44" fmla="*/ 42 w 105"/>
              <a:gd name="T45" fmla="*/ 17 h 394"/>
            </a:gdLst>
            <a:rect l="0" t="0" r="r" b="b"/>
            <a:pathLst>
              <a:path w="105" h="394">
                <a:moveTo>
                  <a:pt x="42" y="17"/>
                </a:moveTo>
                <a:lnTo>
                  <a:pt x="92" y="0"/>
                </a:lnTo>
                <a:lnTo>
                  <a:pt x="102" y="0"/>
                </a:lnTo>
                <a:lnTo>
                  <a:pt x="102" y="29"/>
                </a:lnTo>
                <a:lnTo>
                  <a:pt x="105" y="29"/>
                </a:lnTo>
                <a:lnTo>
                  <a:pt x="105" y="122"/>
                </a:lnTo>
                <a:lnTo>
                  <a:pt x="105" y="155"/>
                </a:lnTo>
                <a:lnTo>
                  <a:pt x="105" y="205"/>
                </a:lnTo>
                <a:lnTo>
                  <a:pt x="105" y="218"/>
                </a:lnTo>
                <a:lnTo>
                  <a:pt x="105" y="298"/>
                </a:lnTo>
                <a:lnTo>
                  <a:pt x="105" y="331"/>
                </a:lnTo>
                <a:lnTo>
                  <a:pt x="105" y="394"/>
                </a:lnTo>
                <a:lnTo>
                  <a:pt x="0" y="394"/>
                </a:lnTo>
                <a:lnTo>
                  <a:pt x="0" y="218"/>
                </a:lnTo>
                <a:lnTo>
                  <a:pt x="10" y="218"/>
                </a:lnTo>
                <a:lnTo>
                  <a:pt x="10" y="155"/>
                </a:lnTo>
                <a:lnTo>
                  <a:pt x="21" y="155"/>
                </a:lnTo>
                <a:lnTo>
                  <a:pt x="21" y="122"/>
                </a:lnTo>
                <a:lnTo>
                  <a:pt x="39" y="122"/>
                </a:lnTo>
                <a:lnTo>
                  <a:pt x="39" y="29"/>
                </a:lnTo>
                <a:lnTo>
                  <a:pt x="42" y="29"/>
                </a:lnTo>
                <a:lnTo>
                  <a:pt x="42" y="17"/>
                </a:lnTo>
                <a:lnTo>
                  <a:pt x="42" y="17"/>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65" name="îSḻîdé">
            <a:extLst xmlns:a="http://schemas.openxmlformats.org/drawingml/2006/main">
              <a:ext uri="{FF2B5EF4-FFF2-40B4-BE49-F238E27FC236}">
                <a16:creationId xmlns:a16="http://schemas.microsoft.com/office/drawing/2014/main" id="{BBBA07A8-6CCE-4612-812F-375CC4ADAAE4}"/>
              </a:ext>
            </a:extLst>
          </p:cNvPr>
          <p:cNvSpPr>
            <a:spLocks xmlns:a="http://schemas.openxmlformats.org/drawingml/2006/main" noGrp="1"/>
          </p:cNvSpPr>
          <p:nvPr/>
        </p:nvSpPr>
        <p:spPr>
          <a:xfrm xmlns:a="http://schemas.openxmlformats.org/drawingml/2006/main" rot="0" flipH="0" flipV="0">
            <a:off x="9297192" y="5071882"/>
            <a:ext cx="1469284" cy="1068572"/>
          </a:xfrm>
          <a:custGeom xmlns:a="http://schemas.openxmlformats.org/drawingml/2006/main">
            <a:gdLst>
              <a:gd name="T0" fmla="*/ 109 w 375"/>
              <a:gd name="T1" fmla="*/ 163 h 272"/>
              <a:gd name="T2" fmla="*/ 138 w 375"/>
              <a:gd name="T3" fmla="*/ 151 h 272"/>
              <a:gd name="T4" fmla="*/ 145 w 375"/>
              <a:gd name="T5" fmla="*/ 140 h 272"/>
              <a:gd name="T6" fmla="*/ 147 w 375"/>
              <a:gd name="T7" fmla="*/ 140 h 272"/>
              <a:gd name="T8" fmla="*/ 155 w 375"/>
              <a:gd name="T9" fmla="*/ 151 h 272"/>
              <a:gd name="T10" fmla="*/ 183 w 375"/>
              <a:gd name="T11" fmla="*/ 163 h 272"/>
              <a:gd name="T12" fmla="*/ 183 w 375"/>
              <a:gd name="T13" fmla="*/ 169 h 272"/>
              <a:gd name="T14" fmla="*/ 178 w 375"/>
              <a:gd name="T15" fmla="*/ 169 h 272"/>
              <a:gd name="T16" fmla="*/ 178 w 375"/>
              <a:gd name="T17" fmla="*/ 190 h 272"/>
              <a:gd name="T18" fmla="*/ 358 w 375"/>
              <a:gd name="T19" fmla="*/ 190 h 272"/>
              <a:gd name="T20" fmla="*/ 358 w 375"/>
              <a:gd name="T21" fmla="*/ 199 h 272"/>
              <a:gd name="T22" fmla="*/ 375 w 375"/>
              <a:gd name="T23" fmla="*/ 199 h 272"/>
              <a:gd name="T24" fmla="*/ 375 w 375"/>
              <a:gd name="T25" fmla="*/ 272 h 272"/>
              <a:gd name="T26" fmla="*/ 0 w 375"/>
              <a:gd name="T27" fmla="*/ 272 h 272"/>
              <a:gd name="T28" fmla="*/ 0 w 375"/>
              <a:gd name="T29" fmla="*/ 199 h 272"/>
              <a:gd name="T30" fmla="*/ 17 w 375"/>
              <a:gd name="T31" fmla="*/ 199 h 272"/>
              <a:gd name="T32" fmla="*/ 17 w 375"/>
              <a:gd name="T33" fmla="*/ 190 h 272"/>
              <a:gd name="T34" fmla="*/ 27 w 375"/>
              <a:gd name="T35" fmla="*/ 190 h 272"/>
              <a:gd name="T36" fmla="*/ 27 w 375"/>
              <a:gd name="T37" fmla="*/ 71 h 272"/>
              <a:gd name="T38" fmla="*/ 30 w 375"/>
              <a:gd name="T39" fmla="*/ 71 h 272"/>
              <a:gd name="T40" fmla="*/ 30 w 375"/>
              <a:gd name="T41" fmla="*/ 50 h 272"/>
              <a:gd name="T42" fmla="*/ 34 w 375"/>
              <a:gd name="T43" fmla="*/ 50 h 272"/>
              <a:gd name="T44" fmla="*/ 34 w 375"/>
              <a:gd name="T45" fmla="*/ 27 h 272"/>
              <a:gd name="T46" fmla="*/ 38 w 375"/>
              <a:gd name="T47" fmla="*/ 27 h 272"/>
              <a:gd name="T48" fmla="*/ 38 w 375"/>
              <a:gd name="T49" fmla="*/ 18 h 272"/>
              <a:gd name="T50" fmla="*/ 42 w 375"/>
              <a:gd name="T51" fmla="*/ 18 h 272"/>
              <a:gd name="T52" fmla="*/ 51 w 375"/>
              <a:gd name="T53" fmla="*/ 0 h 272"/>
              <a:gd name="T54" fmla="*/ 55 w 375"/>
              <a:gd name="T55" fmla="*/ 0 h 272"/>
              <a:gd name="T56" fmla="*/ 65 w 375"/>
              <a:gd name="T57" fmla="*/ 18 h 272"/>
              <a:gd name="T58" fmla="*/ 69 w 375"/>
              <a:gd name="T59" fmla="*/ 18 h 272"/>
              <a:gd name="T60" fmla="*/ 69 w 375"/>
              <a:gd name="T61" fmla="*/ 27 h 272"/>
              <a:gd name="T62" fmla="*/ 73 w 375"/>
              <a:gd name="T63" fmla="*/ 27 h 272"/>
              <a:gd name="T64" fmla="*/ 73 w 375"/>
              <a:gd name="T65" fmla="*/ 50 h 272"/>
              <a:gd name="T66" fmla="*/ 76 w 375"/>
              <a:gd name="T67" fmla="*/ 50 h 272"/>
              <a:gd name="T68" fmla="*/ 76 w 375"/>
              <a:gd name="T69" fmla="*/ 71 h 272"/>
              <a:gd name="T70" fmla="*/ 80 w 375"/>
              <a:gd name="T71" fmla="*/ 71 h 272"/>
              <a:gd name="T72" fmla="*/ 80 w 375"/>
              <a:gd name="T73" fmla="*/ 190 h 272"/>
              <a:gd name="T74" fmla="*/ 115 w 375"/>
              <a:gd name="T75" fmla="*/ 190 h 272"/>
              <a:gd name="T76" fmla="*/ 115 w 375"/>
              <a:gd name="T77" fmla="*/ 169 h 272"/>
              <a:gd name="T78" fmla="*/ 109 w 375"/>
              <a:gd name="T79" fmla="*/ 169 h 272"/>
              <a:gd name="T80" fmla="*/ 109 w 375"/>
              <a:gd name="T81" fmla="*/ 163 h 272"/>
              <a:gd name="T82" fmla="*/ 109 w 375"/>
              <a:gd name="T83" fmla="*/ 163 h 272"/>
            </a:gdLst>
            <a:rect l="0" t="0" r="r" b="b"/>
            <a:pathLst>
              <a:path w="375" h="272">
                <a:moveTo>
                  <a:pt x="109" y="163"/>
                </a:moveTo>
                <a:lnTo>
                  <a:pt x="138" y="151"/>
                </a:lnTo>
                <a:lnTo>
                  <a:pt x="145" y="140"/>
                </a:lnTo>
                <a:lnTo>
                  <a:pt x="147" y="140"/>
                </a:lnTo>
                <a:lnTo>
                  <a:pt x="155" y="151"/>
                </a:lnTo>
                <a:lnTo>
                  <a:pt x="183" y="163"/>
                </a:lnTo>
                <a:lnTo>
                  <a:pt x="183" y="169"/>
                </a:lnTo>
                <a:lnTo>
                  <a:pt x="178" y="169"/>
                </a:lnTo>
                <a:lnTo>
                  <a:pt x="178" y="190"/>
                </a:lnTo>
                <a:lnTo>
                  <a:pt x="358" y="190"/>
                </a:lnTo>
                <a:lnTo>
                  <a:pt x="358" y="199"/>
                </a:lnTo>
                <a:lnTo>
                  <a:pt x="375" y="199"/>
                </a:lnTo>
                <a:lnTo>
                  <a:pt x="375" y="272"/>
                </a:lnTo>
                <a:lnTo>
                  <a:pt x="0" y="272"/>
                </a:lnTo>
                <a:lnTo>
                  <a:pt x="0" y="199"/>
                </a:lnTo>
                <a:lnTo>
                  <a:pt x="17" y="199"/>
                </a:lnTo>
                <a:lnTo>
                  <a:pt x="17" y="190"/>
                </a:lnTo>
                <a:lnTo>
                  <a:pt x="27" y="190"/>
                </a:lnTo>
                <a:lnTo>
                  <a:pt x="27" y="71"/>
                </a:lnTo>
                <a:lnTo>
                  <a:pt x="30" y="71"/>
                </a:lnTo>
                <a:lnTo>
                  <a:pt x="30" y="50"/>
                </a:lnTo>
                <a:lnTo>
                  <a:pt x="34" y="50"/>
                </a:lnTo>
                <a:lnTo>
                  <a:pt x="34" y="27"/>
                </a:lnTo>
                <a:lnTo>
                  <a:pt x="38" y="27"/>
                </a:lnTo>
                <a:lnTo>
                  <a:pt x="38" y="18"/>
                </a:lnTo>
                <a:lnTo>
                  <a:pt x="42" y="18"/>
                </a:lnTo>
                <a:lnTo>
                  <a:pt x="51" y="0"/>
                </a:lnTo>
                <a:lnTo>
                  <a:pt x="55" y="0"/>
                </a:lnTo>
                <a:lnTo>
                  <a:pt x="65" y="18"/>
                </a:lnTo>
                <a:lnTo>
                  <a:pt x="69" y="18"/>
                </a:lnTo>
                <a:lnTo>
                  <a:pt x="69" y="27"/>
                </a:lnTo>
                <a:lnTo>
                  <a:pt x="73" y="27"/>
                </a:lnTo>
                <a:lnTo>
                  <a:pt x="73" y="50"/>
                </a:lnTo>
                <a:lnTo>
                  <a:pt x="76" y="50"/>
                </a:lnTo>
                <a:lnTo>
                  <a:pt x="76" y="71"/>
                </a:lnTo>
                <a:lnTo>
                  <a:pt x="80" y="71"/>
                </a:lnTo>
                <a:lnTo>
                  <a:pt x="80" y="190"/>
                </a:lnTo>
                <a:lnTo>
                  <a:pt x="115" y="190"/>
                </a:lnTo>
                <a:lnTo>
                  <a:pt x="115" y="169"/>
                </a:lnTo>
                <a:lnTo>
                  <a:pt x="109" y="169"/>
                </a:lnTo>
                <a:lnTo>
                  <a:pt x="109" y="163"/>
                </a:lnTo>
                <a:lnTo>
                  <a:pt x="109" y="163"/>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66" name="iṧļíḍé">
            <a:extLst xmlns:a="http://schemas.openxmlformats.org/drawingml/2006/main">
              <a:ext uri="{FF2B5EF4-FFF2-40B4-BE49-F238E27FC236}">
                <a16:creationId xmlns:a16="http://schemas.microsoft.com/office/drawing/2014/main" id="{76A11E42-234B-4C15-99F9-BD3C57668EAE}"/>
              </a:ext>
            </a:extLst>
          </p:cNvPr>
          <p:cNvSpPr>
            <a:spLocks xmlns:a="http://schemas.openxmlformats.org/drawingml/2006/main" noGrp="1"/>
          </p:cNvSpPr>
          <p:nvPr/>
        </p:nvSpPr>
        <p:spPr>
          <a:xfrm xmlns:a="http://schemas.openxmlformats.org/drawingml/2006/main" rot="0" flipH="0" flipV="0">
            <a:off x="10805764" y="5873311"/>
            <a:ext cx="141428" cy="267143"/>
          </a:xfrm>
          <a:custGeom xmlns:a="http://schemas.openxmlformats.org/drawingml/2006/main">
            <a:gdLst>
              <a:gd name="T0" fmla="*/ 0 w 37"/>
              <a:gd name="T1" fmla="*/ 0 h 67"/>
              <a:gd name="T2" fmla="*/ 37 w 37"/>
              <a:gd name="T3" fmla="*/ 0 h 67"/>
              <a:gd name="T4" fmla="*/ 37 w 37"/>
              <a:gd name="T5" fmla="*/ 67 h 67"/>
              <a:gd name="T6" fmla="*/ 0 w 37"/>
              <a:gd name="T7" fmla="*/ 67 h 67"/>
              <a:gd name="T8" fmla="*/ 0 w 37"/>
              <a:gd name="T9" fmla="*/ 0 h 67"/>
              <a:gd name="T10" fmla="*/ 0 w 37"/>
              <a:gd name="T11" fmla="*/ 0 h 67"/>
            </a:gdLst>
            <a:rect l="0" t="0" r="r" b="b"/>
            <a:pathLst>
              <a:path w="37" h="67">
                <a:moveTo>
                  <a:pt x="0" y="0"/>
                </a:moveTo>
                <a:lnTo>
                  <a:pt x="37" y="0"/>
                </a:lnTo>
                <a:lnTo>
                  <a:pt x="37" y="67"/>
                </a:lnTo>
                <a:lnTo>
                  <a:pt x="0" y="67"/>
                </a:lnTo>
                <a:lnTo>
                  <a:pt x="0" y="0"/>
                </a:lnTo>
                <a:lnTo>
                  <a:pt x="0" y="0"/>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fontScale="77500" lnSpcReduction="20000"/>
          </a:bodyPr>
          <a:lstStyle xmlns:a="http://schemas.openxmlformats.org/drawingml/2006/main"/>
          <a:p xmlns:a="http://schemas.openxmlformats.org/drawingml/2006/main">
            <a:endParaRPr/>
          </a:p>
        </p:txBody>
      </p:sp>
      <p:sp>
        <p:nvSpPr>
          <p:cNvPr id="67" name="i$ľïḋè">
            <a:extLst xmlns:a="http://schemas.openxmlformats.org/drawingml/2006/main">
              <a:ext uri="{FF2B5EF4-FFF2-40B4-BE49-F238E27FC236}">
                <a16:creationId xmlns:a16="http://schemas.microsoft.com/office/drawing/2014/main" id="{A2A058A7-3BC5-456E-8CCC-2D04DCF6CB9E}"/>
              </a:ext>
            </a:extLst>
          </p:cNvPr>
          <p:cNvSpPr>
            <a:spLocks xmlns:a="http://schemas.openxmlformats.org/drawingml/2006/main" noGrp="1"/>
          </p:cNvSpPr>
          <p:nvPr/>
        </p:nvSpPr>
        <p:spPr>
          <a:xfrm xmlns:a="http://schemas.openxmlformats.org/drawingml/2006/main" rot="0" flipH="0" flipV="0">
            <a:off x="10907910" y="5944024"/>
            <a:ext cx="424285" cy="196430"/>
          </a:xfrm>
          <a:custGeom xmlns:a="http://schemas.openxmlformats.org/drawingml/2006/main">
            <a:gdLst>
              <a:gd name="T0" fmla="*/ 63 w 109"/>
              <a:gd name="T1" fmla="*/ 0 h 50"/>
              <a:gd name="T2" fmla="*/ 109 w 109"/>
              <a:gd name="T3" fmla="*/ 0 h 50"/>
              <a:gd name="T4" fmla="*/ 109 w 109"/>
              <a:gd name="T5" fmla="*/ 25 h 50"/>
              <a:gd name="T6" fmla="*/ 109 w 109"/>
              <a:gd name="T7" fmla="*/ 50 h 50"/>
              <a:gd name="T8" fmla="*/ 63 w 109"/>
              <a:gd name="T9" fmla="*/ 50 h 50"/>
              <a:gd name="T10" fmla="*/ 0 w 109"/>
              <a:gd name="T11" fmla="*/ 50 h 50"/>
              <a:gd name="T12" fmla="*/ 0 w 109"/>
              <a:gd name="T13" fmla="*/ 25 h 50"/>
              <a:gd name="T14" fmla="*/ 63 w 109"/>
              <a:gd name="T15" fmla="*/ 25 h 50"/>
              <a:gd name="T16" fmla="*/ 63 w 109"/>
              <a:gd name="T17" fmla="*/ 0 h 50"/>
              <a:gd name="T18" fmla="*/ 63 w 109"/>
              <a:gd name="T19" fmla="*/ 0 h 50"/>
            </a:gdLst>
            <a:rect l="0" t="0" r="r" b="b"/>
            <a:pathLst>
              <a:path w="109" h="50">
                <a:moveTo>
                  <a:pt x="63" y="0"/>
                </a:moveTo>
                <a:lnTo>
                  <a:pt x="109" y="0"/>
                </a:lnTo>
                <a:lnTo>
                  <a:pt x="109" y="25"/>
                </a:lnTo>
                <a:lnTo>
                  <a:pt x="109" y="50"/>
                </a:lnTo>
                <a:lnTo>
                  <a:pt x="63" y="50"/>
                </a:lnTo>
                <a:lnTo>
                  <a:pt x="0" y="50"/>
                </a:lnTo>
                <a:lnTo>
                  <a:pt x="0" y="25"/>
                </a:lnTo>
                <a:lnTo>
                  <a:pt x="63" y="25"/>
                </a:lnTo>
                <a:lnTo>
                  <a:pt x="63" y="0"/>
                </a:lnTo>
                <a:lnTo>
                  <a:pt x="63" y="0"/>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fontScale="40000" lnSpcReduction="20000"/>
          </a:bodyPr>
          <a:lstStyle xmlns:a="http://schemas.openxmlformats.org/drawingml/2006/main"/>
          <a:p xmlns:a="http://schemas.openxmlformats.org/drawingml/2006/main">
            <a:endParaRPr/>
          </a:p>
        </p:txBody>
      </p:sp>
      <p:sp>
        <p:nvSpPr>
          <p:cNvPr id="68" name="isļíḋe">
            <a:extLst xmlns:a="http://schemas.openxmlformats.org/drawingml/2006/main">
              <a:ext uri="{FF2B5EF4-FFF2-40B4-BE49-F238E27FC236}">
                <a16:creationId xmlns:a16="http://schemas.microsoft.com/office/drawing/2014/main" id="{9C9CE156-EC27-4E4F-A205-A112E1518014}"/>
              </a:ext>
            </a:extLst>
          </p:cNvPr>
          <p:cNvSpPr>
            <a:spLocks xmlns:a="http://schemas.openxmlformats.org/drawingml/2006/main" noGrp="1"/>
          </p:cNvSpPr>
          <p:nvPr/>
        </p:nvSpPr>
        <p:spPr>
          <a:xfrm xmlns:a="http://schemas.openxmlformats.org/drawingml/2006/main" rot="0" flipH="0" flipV="0">
            <a:off x="11214336" y="5433311"/>
            <a:ext cx="369282" cy="707143"/>
          </a:xfrm>
          <a:custGeom xmlns:a="http://schemas.openxmlformats.org/drawingml/2006/main">
            <a:gdLst>
              <a:gd name="T0" fmla="*/ 30 w 93"/>
              <a:gd name="T1" fmla="*/ 27 h 180"/>
              <a:gd name="T2" fmla="*/ 44 w 93"/>
              <a:gd name="T3" fmla="*/ 0 h 180"/>
              <a:gd name="T4" fmla="*/ 49 w 93"/>
              <a:gd name="T5" fmla="*/ 0 h 180"/>
              <a:gd name="T6" fmla="*/ 63 w 93"/>
              <a:gd name="T7" fmla="*/ 27 h 180"/>
              <a:gd name="T8" fmla="*/ 68 w 93"/>
              <a:gd name="T9" fmla="*/ 27 h 180"/>
              <a:gd name="T10" fmla="*/ 68 w 93"/>
              <a:gd name="T11" fmla="*/ 59 h 180"/>
              <a:gd name="T12" fmla="*/ 93 w 93"/>
              <a:gd name="T13" fmla="*/ 59 h 180"/>
              <a:gd name="T14" fmla="*/ 93 w 93"/>
              <a:gd name="T15" fmla="*/ 180 h 180"/>
              <a:gd name="T16" fmla="*/ 0 w 93"/>
              <a:gd name="T17" fmla="*/ 180 h 180"/>
              <a:gd name="T18" fmla="*/ 0 w 93"/>
              <a:gd name="T19" fmla="*/ 59 h 180"/>
              <a:gd name="T20" fmla="*/ 24 w 93"/>
              <a:gd name="T21" fmla="*/ 59 h 180"/>
              <a:gd name="T22" fmla="*/ 24 w 93"/>
              <a:gd name="T23" fmla="*/ 27 h 180"/>
              <a:gd name="T24" fmla="*/ 30 w 93"/>
              <a:gd name="T25" fmla="*/ 27 h 180"/>
              <a:gd name="T26" fmla="*/ 30 w 93"/>
              <a:gd name="T27" fmla="*/ 27 h 180"/>
            </a:gdLst>
            <a:rect l="0" t="0" r="r" b="b"/>
            <a:pathLst>
              <a:path w="93" h="180">
                <a:moveTo>
                  <a:pt x="30" y="27"/>
                </a:moveTo>
                <a:lnTo>
                  <a:pt x="44" y="0"/>
                </a:lnTo>
                <a:lnTo>
                  <a:pt x="49" y="0"/>
                </a:lnTo>
                <a:lnTo>
                  <a:pt x="63" y="27"/>
                </a:lnTo>
                <a:lnTo>
                  <a:pt x="68" y="27"/>
                </a:lnTo>
                <a:lnTo>
                  <a:pt x="68" y="59"/>
                </a:lnTo>
                <a:lnTo>
                  <a:pt x="93" y="59"/>
                </a:lnTo>
                <a:lnTo>
                  <a:pt x="93" y="180"/>
                </a:lnTo>
                <a:lnTo>
                  <a:pt x="0" y="180"/>
                </a:lnTo>
                <a:lnTo>
                  <a:pt x="0" y="59"/>
                </a:lnTo>
                <a:lnTo>
                  <a:pt x="24" y="59"/>
                </a:lnTo>
                <a:lnTo>
                  <a:pt x="24" y="27"/>
                </a:lnTo>
                <a:lnTo>
                  <a:pt x="30" y="27"/>
                </a:lnTo>
                <a:lnTo>
                  <a:pt x="30" y="27"/>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69" name="íśľiḓé">
            <a:extLst xmlns:a="http://schemas.openxmlformats.org/drawingml/2006/main">
              <a:ext uri="{FF2B5EF4-FFF2-40B4-BE49-F238E27FC236}">
                <a16:creationId xmlns:a16="http://schemas.microsoft.com/office/drawing/2014/main" id="{F412B58A-D5F0-418C-9FB7-A52A809331F0}"/>
              </a:ext>
            </a:extLst>
          </p:cNvPr>
          <p:cNvSpPr>
            <a:spLocks xmlns:a="http://schemas.openxmlformats.org/drawingml/2006/main" noGrp="1"/>
          </p:cNvSpPr>
          <p:nvPr/>
        </p:nvSpPr>
        <p:spPr>
          <a:xfrm xmlns:a="http://schemas.openxmlformats.org/drawingml/2006/main" rot="0" flipH="0" flipV="0">
            <a:off x="11630766" y="5912596"/>
            <a:ext cx="157141" cy="227860"/>
          </a:xfrm>
          <a:custGeom xmlns:a="http://schemas.openxmlformats.org/drawingml/2006/main">
            <a:gdLst>
              <a:gd name="T0" fmla="*/ 0 w 40"/>
              <a:gd name="T1" fmla="*/ 0 h 58"/>
              <a:gd name="T2" fmla="*/ 40 w 40"/>
              <a:gd name="T3" fmla="*/ 0 h 58"/>
              <a:gd name="T4" fmla="*/ 40 w 40"/>
              <a:gd name="T5" fmla="*/ 58 h 58"/>
              <a:gd name="T6" fmla="*/ 0 w 40"/>
              <a:gd name="T7" fmla="*/ 58 h 58"/>
              <a:gd name="T8" fmla="*/ 0 w 40"/>
              <a:gd name="T9" fmla="*/ 0 h 58"/>
              <a:gd name="T10" fmla="*/ 0 w 40"/>
              <a:gd name="T11" fmla="*/ 0 h 58"/>
            </a:gdLst>
            <a:rect l="0" t="0" r="r" b="b"/>
            <a:pathLst>
              <a:path w="40" h="58">
                <a:moveTo>
                  <a:pt x="0" y="0"/>
                </a:moveTo>
                <a:lnTo>
                  <a:pt x="40" y="0"/>
                </a:lnTo>
                <a:lnTo>
                  <a:pt x="40" y="58"/>
                </a:lnTo>
                <a:lnTo>
                  <a:pt x="0" y="58"/>
                </a:lnTo>
                <a:lnTo>
                  <a:pt x="0" y="0"/>
                </a:lnTo>
                <a:lnTo>
                  <a:pt x="0" y="0"/>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fontScale="62500" lnSpcReduction="20000"/>
          </a:bodyPr>
          <a:lstStyle xmlns:a="http://schemas.openxmlformats.org/drawingml/2006/main"/>
          <a:p xmlns:a="http://schemas.openxmlformats.org/drawingml/2006/main">
            <a:endParaRPr/>
          </a:p>
        </p:txBody>
      </p:sp>
      <p:sp>
        <p:nvSpPr>
          <p:cNvPr id="70" name="ïṡḻïḑé">
            <a:extLst xmlns:a="http://schemas.openxmlformats.org/drawingml/2006/main">
              <a:ext uri="{FF2B5EF4-FFF2-40B4-BE49-F238E27FC236}">
                <a16:creationId xmlns:a16="http://schemas.microsoft.com/office/drawing/2014/main" id="{934457AD-B22A-4AB1-B129-4CA8EE8CE670}"/>
              </a:ext>
            </a:extLst>
          </p:cNvPr>
          <p:cNvSpPr>
            <a:spLocks xmlns:a="http://schemas.openxmlformats.org/drawingml/2006/main" noGrp="1"/>
          </p:cNvSpPr>
          <p:nvPr/>
        </p:nvSpPr>
        <p:spPr>
          <a:xfrm xmlns:a="http://schemas.openxmlformats.org/drawingml/2006/main" rot="0" flipH="0" flipV="0">
            <a:off x="11811479" y="5834024"/>
            <a:ext cx="149282" cy="306431"/>
          </a:xfrm>
          <a:custGeom xmlns:a="http://schemas.openxmlformats.org/drawingml/2006/main">
            <a:gdLst>
              <a:gd name="T0" fmla="*/ 0 w 38"/>
              <a:gd name="T1" fmla="*/ 0 h 79"/>
              <a:gd name="T2" fmla="*/ 38 w 38"/>
              <a:gd name="T3" fmla="*/ 0 h 79"/>
              <a:gd name="T4" fmla="*/ 38 w 38"/>
              <a:gd name="T5" fmla="*/ 79 h 79"/>
              <a:gd name="T6" fmla="*/ 0 w 38"/>
              <a:gd name="T7" fmla="*/ 79 h 79"/>
              <a:gd name="T8" fmla="*/ 0 w 38"/>
              <a:gd name="T9" fmla="*/ 0 h 79"/>
              <a:gd name="T10" fmla="*/ 0 w 38"/>
              <a:gd name="T11" fmla="*/ 0 h 79"/>
            </a:gdLst>
            <a:rect l="0" t="0" r="r" b="b"/>
            <a:pathLst>
              <a:path w="38" h="79">
                <a:moveTo>
                  <a:pt x="0" y="0"/>
                </a:moveTo>
                <a:lnTo>
                  <a:pt x="38" y="0"/>
                </a:lnTo>
                <a:lnTo>
                  <a:pt x="38" y="79"/>
                </a:lnTo>
                <a:lnTo>
                  <a:pt x="0" y="79"/>
                </a:lnTo>
                <a:lnTo>
                  <a:pt x="0" y="0"/>
                </a:lnTo>
                <a:lnTo>
                  <a:pt x="0" y="0"/>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fontScale="92500" lnSpcReduction="20000"/>
          </a:bodyPr>
          <a:lstStyle xmlns:a="http://schemas.openxmlformats.org/drawingml/2006/main"/>
          <a:p xmlns:a="http://schemas.openxmlformats.org/drawingml/2006/main">
            <a:endParaRPr/>
          </a:p>
        </p:txBody>
      </p:sp>
      <p:sp>
        <p:nvSpPr>
          <p:cNvPr id="71" name="îṡḷïḍé">
            <a:extLst xmlns:a="http://schemas.openxmlformats.org/drawingml/2006/main">
              <a:ext uri="{FF2B5EF4-FFF2-40B4-BE49-F238E27FC236}">
                <a16:creationId xmlns:a16="http://schemas.microsoft.com/office/drawing/2014/main" id="{8D32F4E1-4C35-4E22-86DD-C97400F834C5}"/>
              </a:ext>
            </a:extLst>
          </p:cNvPr>
          <p:cNvSpPr>
            <a:spLocks xmlns:a="http://schemas.openxmlformats.org/drawingml/2006/main" noGrp="1"/>
          </p:cNvSpPr>
          <p:nvPr/>
        </p:nvSpPr>
        <p:spPr>
          <a:xfrm xmlns:a="http://schemas.openxmlformats.org/drawingml/2006/main" rot="0" flipH="0" flipV="0">
            <a:off x="8134336" y="5912596"/>
            <a:ext cx="502857" cy="227860"/>
          </a:xfrm>
          <a:custGeom xmlns:a="http://schemas.openxmlformats.org/drawingml/2006/main">
            <a:gdLst>
              <a:gd name="T0" fmla="*/ 0 w 129"/>
              <a:gd name="T1" fmla="*/ 0 h 58"/>
              <a:gd name="T2" fmla="*/ 129 w 129"/>
              <a:gd name="T3" fmla="*/ 0 h 58"/>
              <a:gd name="T4" fmla="*/ 129 w 129"/>
              <a:gd name="T5" fmla="*/ 58 h 58"/>
              <a:gd name="T6" fmla="*/ 0 w 129"/>
              <a:gd name="T7" fmla="*/ 58 h 58"/>
              <a:gd name="T8" fmla="*/ 0 w 129"/>
              <a:gd name="T9" fmla="*/ 0 h 58"/>
              <a:gd name="T10" fmla="*/ 0 w 129"/>
              <a:gd name="T11" fmla="*/ 0 h 58"/>
            </a:gdLst>
            <a:rect l="0" t="0" r="r" b="b"/>
            <a:pathLst>
              <a:path w="129" h="58">
                <a:moveTo>
                  <a:pt x="0" y="0"/>
                </a:moveTo>
                <a:lnTo>
                  <a:pt x="129" y="0"/>
                </a:lnTo>
                <a:lnTo>
                  <a:pt x="129" y="58"/>
                </a:lnTo>
                <a:lnTo>
                  <a:pt x="0" y="58"/>
                </a:lnTo>
                <a:lnTo>
                  <a:pt x="0" y="0"/>
                </a:lnTo>
                <a:lnTo>
                  <a:pt x="0" y="0"/>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fontScale="62500" lnSpcReduction="20000"/>
          </a:bodyPr>
          <a:lstStyle xmlns:a="http://schemas.openxmlformats.org/drawingml/2006/main"/>
          <a:p xmlns:a="http://schemas.openxmlformats.org/drawingml/2006/main">
            <a:endParaRPr/>
          </a:p>
        </p:txBody>
      </p:sp>
      <p:sp>
        <p:nvSpPr>
          <p:cNvPr id="72" name="isļíḋè">
            <a:extLst xmlns:a="http://schemas.openxmlformats.org/drawingml/2006/main">
              <a:ext uri="{FF2B5EF4-FFF2-40B4-BE49-F238E27FC236}">
                <a16:creationId xmlns:a16="http://schemas.microsoft.com/office/drawing/2014/main" id="{0339D2E5-7070-456E-88D2-B9503D73341B}"/>
              </a:ext>
            </a:extLst>
          </p:cNvPr>
          <p:cNvSpPr>
            <a:spLocks xmlns:a="http://schemas.openxmlformats.org/drawingml/2006/main" noGrp="1"/>
          </p:cNvSpPr>
          <p:nvPr/>
        </p:nvSpPr>
        <p:spPr>
          <a:xfrm xmlns:a="http://schemas.openxmlformats.org/drawingml/2006/main" rot="0" flipH="0" flipV="0">
            <a:off x="11259155" y="4026879"/>
            <a:ext cx="793568" cy="2113575"/>
          </a:xfrm>
          <a:custGeom xmlns:a="http://schemas.openxmlformats.org/drawingml/2006/main">
            <a:gdLst>
              <a:gd name="T0" fmla="*/ 145 w 200"/>
              <a:gd name="T1" fmla="*/ 446 h 538"/>
              <a:gd name="T2" fmla="*/ 195 w 200"/>
              <a:gd name="T3" fmla="*/ 446 h 538"/>
              <a:gd name="T4" fmla="*/ 195 w 200"/>
              <a:gd name="T5" fmla="*/ 456 h 538"/>
              <a:gd name="T6" fmla="*/ 200 w 200"/>
              <a:gd name="T7" fmla="*/ 456 h 538"/>
              <a:gd name="T8" fmla="*/ 200 w 200"/>
              <a:gd name="T9" fmla="*/ 538 h 538"/>
              <a:gd name="T10" fmla="*/ 145 w 200"/>
              <a:gd name="T11" fmla="*/ 538 h 538"/>
              <a:gd name="T12" fmla="*/ 95 w 200"/>
              <a:gd name="T13" fmla="*/ 538 h 538"/>
              <a:gd name="T14" fmla="*/ 46 w 200"/>
              <a:gd name="T15" fmla="*/ 538 h 538"/>
              <a:gd name="T16" fmla="*/ 34 w 200"/>
              <a:gd name="T17" fmla="*/ 538 h 538"/>
              <a:gd name="T18" fmla="*/ 0 w 200"/>
              <a:gd name="T19" fmla="*/ 538 h 538"/>
              <a:gd name="T20" fmla="*/ 0 w 200"/>
              <a:gd name="T21" fmla="*/ 482 h 538"/>
              <a:gd name="T22" fmla="*/ 34 w 200"/>
              <a:gd name="T23" fmla="*/ 482 h 538"/>
              <a:gd name="T24" fmla="*/ 34 w 200"/>
              <a:gd name="T25" fmla="*/ 287 h 538"/>
              <a:gd name="T26" fmla="*/ 55 w 200"/>
              <a:gd name="T27" fmla="*/ 287 h 538"/>
              <a:gd name="T28" fmla="*/ 55 w 200"/>
              <a:gd name="T29" fmla="*/ 152 h 538"/>
              <a:gd name="T30" fmla="*/ 55 w 200"/>
              <a:gd name="T31" fmla="*/ 146 h 538"/>
              <a:gd name="T32" fmla="*/ 67 w 200"/>
              <a:gd name="T33" fmla="*/ 146 h 538"/>
              <a:gd name="T34" fmla="*/ 67 w 200"/>
              <a:gd name="T35" fmla="*/ 64 h 538"/>
              <a:gd name="T36" fmla="*/ 72 w 200"/>
              <a:gd name="T37" fmla="*/ 64 h 538"/>
              <a:gd name="T38" fmla="*/ 74 w 200"/>
              <a:gd name="T39" fmla="*/ 31 h 538"/>
              <a:gd name="T40" fmla="*/ 76 w 200"/>
              <a:gd name="T41" fmla="*/ 64 h 538"/>
              <a:gd name="T42" fmla="*/ 84 w 200"/>
              <a:gd name="T43" fmla="*/ 64 h 538"/>
              <a:gd name="T44" fmla="*/ 86 w 200"/>
              <a:gd name="T45" fmla="*/ 0 h 538"/>
              <a:gd name="T46" fmla="*/ 88 w 200"/>
              <a:gd name="T47" fmla="*/ 64 h 538"/>
              <a:gd name="T48" fmla="*/ 99 w 200"/>
              <a:gd name="T49" fmla="*/ 64 h 538"/>
              <a:gd name="T50" fmla="*/ 99 w 200"/>
              <a:gd name="T51" fmla="*/ 64 h 538"/>
              <a:gd name="T52" fmla="*/ 95 w 200"/>
              <a:gd name="T53" fmla="*/ 64 h 538"/>
              <a:gd name="T54" fmla="*/ 97 w 200"/>
              <a:gd name="T55" fmla="*/ 23 h 538"/>
              <a:gd name="T56" fmla="*/ 99 w 200"/>
              <a:gd name="T57" fmla="*/ 60 h 538"/>
              <a:gd name="T58" fmla="*/ 109 w 200"/>
              <a:gd name="T59" fmla="*/ 60 h 538"/>
              <a:gd name="T60" fmla="*/ 109 w 200"/>
              <a:gd name="T61" fmla="*/ 52 h 538"/>
              <a:gd name="T62" fmla="*/ 111 w 200"/>
              <a:gd name="T63" fmla="*/ 64 h 538"/>
              <a:gd name="T64" fmla="*/ 109 w 200"/>
              <a:gd name="T65" fmla="*/ 64 h 538"/>
              <a:gd name="T66" fmla="*/ 109 w 200"/>
              <a:gd name="T67" fmla="*/ 64 h 538"/>
              <a:gd name="T68" fmla="*/ 111 w 200"/>
              <a:gd name="T69" fmla="*/ 64 h 538"/>
              <a:gd name="T70" fmla="*/ 111 w 200"/>
              <a:gd name="T71" fmla="*/ 146 h 538"/>
              <a:gd name="T72" fmla="*/ 120 w 200"/>
              <a:gd name="T73" fmla="*/ 146 h 538"/>
              <a:gd name="T74" fmla="*/ 120 w 200"/>
              <a:gd name="T75" fmla="*/ 152 h 538"/>
              <a:gd name="T76" fmla="*/ 128 w 200"/>
              <a:gd name="T77" fmla="*/ 152 h 538"/>
              <a:gd name="T78" fmla="*/ 128 w 200"/>
              <a:gd name="T79" fmla="*/ 287 h 538"/>
              <a:gd name="T80" fmla="*/ 145 w 200"/>
              <a:gd name="T81" fmla="*/ 287 h 538"/>
              <a:gd name="T82" fmla="*/ 145 w 200"/>
              <a:gd name="T83" fmla="*/ 446 h 538"/>
              <a:gd name="T84" fmla="*/ 145 w 200"/>
              <a:gd name="T85" fmla="*/ 446 h 538"/>
            </a:gdLst>
            <a:rect l="0" t="0" r="r" b="b"/>
            <a:pathLst>
              <a:path w="200" h="538">
                <a:moveTo>
                  <a:pt x="145" y="446"/>
                </a:moveTo>
                <a:lnTo>
                  <a:pt x="195" y="446"/>
                </a:lnTo>
                <a:lnTo>
                  <a:pt x="195" y="456"/>
                </a:lnTo>
                <a:lnTo>
                  <a:pt x="200" y="456"/>
                </a:lnTo>
                <a:lnTo>
                  <a:pt x="200" y="538"/>
                </a:lnTo>
                <a:lnTo>
                  <a:pt x="145" y="538"/>
                </a:lnTo>
                <a:lnTo>
                  <a:pt x="95" y="538"/>
                </a:lnTo>
                <a:lnTo>
                  <a:pt x="46" y="538"/>
                </a:lnTo>
                <a:lnTo>
                  <a:pt x="34" y="538"/>
                </a:lnTo>
                <a:lnTo>
                  <a:pt x="0" y="538"/>
                </a:lnTo>
                <a:lnTo>
                  <a:pt x="0" y="482"/>
                </a:lnTo>
                <a:lnTo>
                  <a:pt x="34" y="482"/>
                </a:lnTo>
                <a:lnTo>
                  <a:pt x="34" y="287"/>
                </a:lnTo>
                <a:lnTo>
                  <a:pt x="55" y="287"/>
                </a:lnTo>
                <a:lnTo>
                  <a:pt x="55" y="152"/>
                </a:lnTo>
                <a:lnTo>
                  <a:pt x="55" y="146"/>
                </a:lnTo>
                <a:lnTo>
                  <a:pt x="67" y="146"/>
                </a:lnTo>
                <a:lnTo>
                  <a:pt x="67" y="64"/>
                </a:lnTo>
                <a:lnTo>
                  <a:pt x="72" y="64"/>
                </a:lnTo>
                <a:lnTo>
                  <a:pt x="74" y="31"/>
                </a:lnTo>
                <a:lnTo>
                  <a:pt x="76" y="64"/>
                </a:lnTo>
                <a:lnTo>
                  <a:pt x="84" y="64"/>
                </a:lnTo>
                <a:lnTo>
                  <a:pt x="86" y="0"/>
                </a:lnTo>
                <a:lnTo>
                  <a:pt x="88" y="64"/>
                </a:lnTo>
                <a:lnTo>
                  <a:pt x="99" y="64"/>
                </a:lnTo>
                <a:lnTo>
                  <a:pt x="99" y="64"/>
                </a:lnTo>
                <a:lnTo>
                  <a:pt x="95" y="64"/>
                </a:lnTo>
                <a:lnTo>
                  <a:pt x="97" y="23"/>
                </a:lnTo>
                <a:lnTo>
                  <a:pt x="99" y="60"/>
                </a:lnTo>
                <a:lnTo>
                  <a:pt x="109" y="60"/>
                </a:lnTo>
                <a:lnTo>
                  <a:pt x="109" y="52"/>
                </a:lnTo>
                <a:lnTo>
                  <a:pt x="111" y="64"/>
                </a:lnTo>
                <a:lnTo>
                  <a:pt x="109" y="64"/>
                </a:lnTo>
                <a:lnTo>
                  <a:pt x="109" y="64"/>
                </a:lnTo>
                <a:lnTo>
                  <a:pt x="111" y="64"/>
                </a:lnTo>
                <a:lnTo>
                  <a:pt x="111" y="146"/>
                </a:lnTo>
                <a:lnTo>
                  <a:pt x="120" y="146"/>
                </a:lnTo>
                <a:lnTo>
                  <a:pt x="120" y="152"/>
                </a:lnTo>
                <a:lnTo>
                  <a:pt x="128" y="152"/>
                </a:lnTo>
                <a:lnTo>
                  <a:pt x="128" y="287"/>
                </a:lnTo>
                <a:lnTo>
                  <a:pt x="145" y="287"/>
                </a:lnTo>
                <a:lnTo>
                  <a:pt x="145" y="446"/>
                </a:lnTo>
                <a:lnTo>
                  <a:pt x="145" y="446"/>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73" name="ïśḷïḍè">
            <a:extLst xmlns:a="http://schemas.openxmlformats.org/drawingml/2006/main">
              <a:ext uri="{FF2B5EF4-FFF2-40B4-BE49-F238E27FC236}">
                <a16:creationId xmlns:a16="http://schemas.microsoft.com/office/drawing/2014/main" id="{6941D892-B18D-431B-966B-69BD6B146620}"/>
              </a:ext>
            </a:extLst>
          </p:cNvPr>
          <p:cNvSpPr>
            <a:spLocks xmlns:a="http://schemas.openxmlformats.org/drawingml/2006/main" noGrp="1"/>
          </p:cNvSpPr>
          <p:nvPr/>
        </p:nvSpPr>
        <p:spPr>
          <a:xfrm xmlns:a="http://schemas.openxmlformats.org/drawingml/2006/main" rot="0" flipH="0" flipV="0">
            <a:off x="5078041" y="4804741"/>
            <a:ext cx="7099627" cy="1359289"/>
          </a:xfrm>
          <a:custGeom xmlns:a="http://schemas.openxmlformats.org/drawingml/2006/main">
            <a:gdLst>
              <a:gd name="T0" fmla="*/ 2006 w 2031"/>
              <a:gd name="T1" fmla="*/ 347 h 347"/>
              <a:gd name="T2" fmla="*/ 2031 w 2031"/>
              <a:gd name="T3" fmla="*/ 347 h 347"/>
              <a:gd name="T4" fmla="*/ 2018 w 2031"/>
              <a:gd name="T5" fmla="*/ 306 h 347"/>
              <a:gd name="T6" fmla="*/ 2006 w 2031"/>
              <a:gd name="T7" fmla="*/ 324 h 347"/>
              <a:gd name="T8" fmla="*/ 1972 w 2031"/>
              <a:gd name="T9" fmla="*/ 293 h 347"/>
              <a:gd name="T10" fmla="*/ 1972 w 2031"/>
              <a:gd name="T11" fmla="*/ 347 h 347"/>
              <a:gd name="T12" fmla="*/ 13 w 2031"/>
              <a:gd name="T13" fmla="*/ 176 h 347"/>
              <a:gd name="T14" fmla="*/ 13 w 2031"/>
              <a:gd name="T15" fmla="*/ 347 h 347"/>
              <a:gd name="T16" fmla="*/ 73 w 2031"/>
              <a:gd name="T17" fmla="*/ 176 h 347"/>
              <a:gd name="T18" fmla="*/ 65 w 2031"/>
              <a:gd name="T19" fmla="*/ 159 h 347"/>
              <a:gd name="T20" fmla="*/ 8 w 2031"/>
              <a:gd name="T21" fmla="*/ 159 h 347"/>
              <a:gd name="T22" fmla="*/ 235 w 2031"/>
              <a:gd name="T23" fmla="*/ 347 h 347"/>
              <a:gd name="T24" fmla="*/ 174 w 2031"/>
              <a:gd name="T25" fmla="*/ 347 h 347"/>
              <a:gd name="T26" fmla="*/ 413 w 2031"/>
              <a:gd name="T27" fmla="*/ 129 h 347"/>
              <a:gd name="T28" fmla="*/ 388 w 2031"/>
              <a:gd name="T29" fmla="*/ 134 h 347"/>
              <a:gd name="T30" fmla="*/ 362 w 2031"/>
              <a:gd name="T31" fmla="*/ 347 h 347"/>
              <a:gd name="T32" fmla="*/ 442 w 2031"/>
              <a:gd name="T33" fmla="*/ 347 h 347"/>
              <a:gd name="T34" fmla="*/ 438 w 2031"/>
              <a:gd name="T35" fmla="*/ 150 h 347"/>
              <a:gd name="T36" fmla="*/ 413 w 2031"/>
              <a:gd name="T37" fmla="*/ 134 h 347"/>
              <a:gd name="T38" fmla="*/ 547 w 2031"/>
              <a:gd name="T39" fmla="*/ 138 h 347"/>
              <a:gd name="T40" fmla="*/ 484 w 2031"/>
              <a:gd name="T41" fmla="*/ 347 h 347"/>
              <a:gd name="T42" fmla="*/ 601 w 2031"/>
              <a:gd name="T43" fmla="*/ 220 h 347"/>
              <a:gd name="T44" fmla="*/ 559 w 2031"/>
              <a:gd name="T45" fmla="*/ 205 h 347"/>
              <a:gd name="T46" fmla="*/ 583 w 2031"/>
              <a:gd name="T47" fmla="*/ 347 h 347"/>
              <a:gd name="T48" fmla="*/ 666 w 2031"/>
              <a:gd name="T49" fmla="*/ 347 h 347"/>
              <a:gd name="T50" fmla="*/ 641 w 2031"/>
              <a:gd name="T51" fmla="*/ 347 h 347"/>
              <a:gd name="T52" fmla="*/ 719 w 2031"/>
              <a:gd name="T53" fmla="*/ 347 h 347"/>
              <a:gd name="T54" fmla="*/ 694 w 2031"/>
              <a:gd name="T55" fmla="*/ 347 h 347"/>
              <a:gd name="T56" fmla="*/ 763 w 2031"/>
              <a:gd name="T57" fmla="*/ 347 h 347"/>
              <a:gd name="T58" fmla="*/ 725 w 2031"/>
              <a:gd name="T59" fmla="*/ 347 h 347"/>
              <a:gd name="T60" fmla="*/ 876 w 2031"/>
              <a:gd name="T61" fmla="*/ 347 h 347"/>
              <a:gd name="T62" fmla="*/ 838 w 2031"/>
              <a:gd name="T63" fmla="*/ 347 h 347"/>
              <a:gd name="T64" fmla="*/ 972 w 2031"/>
              <a:gd name="T65" fmla="*/ 347 h 347"/>
              <a:gd name="T66" fmla="*/ 939 w 2031"/>
              <a:gd name="T67" fmla="*/ 347 h 347"/>
              <a:gd name="T68" fmla="*/ 1086 w 2031"/>
              <a:gd name="T69" fmla="*/ 347 h 347"/>
              <a:gd name="T70" fmla="*/ 1012 w 2031"/>
              <a:gd name="T71" fmla="*/ 347 h 347"/>
              <a:gd name="T72" fmla="*/ 1217 w 2031"/>
              <a:gd name="T73" fmla="*/ 347 h 347"/>
              <a:gd name="T74" fmla="*/ 1199 w 2031"/>
              <a:gd name="T75" fmla="*/ 6 h 347"/>
              <a:gd name="T76" fmla="*/ 1142 w 2031"/>
              <a:gd name="T77" fmla="*/ 347 h 347"/>
              <a:gd name="T78" fmla="*/ 1477 w 2031"/>
              <a:gd name="T79" fmla="*/ 289 h 347"/>
              <a:gd name="T80" fmla="*/ 1431 w 2031"/>
              <a:gd name="T81" fmla="*/ 289 h 347"/>
              <a:gd name="T82" fmla="*/ 1480 w 2031"/>
              <a:gd name="T83" fmla="*/ 347 h 347"/>
              <a:gd name="T84" fmla="*/ 1477 w 2031"/>
              <a:gd name="T85" fmla="*/ 289 h 347"/>
              <a:gd name="T86" fmla="*/ 1528 w 2031"/>
              <a:gd name="T87" fmla="*/ 253 h 347"/>
              <a:gd name="T88" fmla="*/ 1502 w 2031"/>
              <a:gd name="T89" fmla="*/ 347 h 347"/>
              <a:gd name="T90" fmla="*/ 1565 w 2031"/>
              <a:gd name="T91" fmla="*/ 285 h 347"/>
              <a:gd name="T92" fmla="*/ 1632 w 2031"/>
              <a:gd name="T93" fmla="*/ 347 h 347"/>
              <a:gd name="T94" fmla="*/ 1628 w 2031"/>
              <a:gd name="T95" fmla="*/ 155 h 347"/>
              <a:gd name="T96" fmla="*/ 1618 w 2031"/>
              <a:gd name="T97" fmla="*/ 155 h 347"/>
              <a:gd name="T98" fmla="*/ 1607 w 2031"/>
              <a:gd name="T99" fmla="*/ 163 h 347"/>
              <a:gd name="T100" fmla="*/ 1601 w 2031"/>
              <a:gd name="T101" fmla="*/ 153 h 347"/>
              <a:gd name="T102" fmla="*/ 1595 w 2031"/>
              <a:gd name="T103" fmla="*/ 163 h 347"/>
              <a:gd name="T104" fmla="*/ 1584 w 2031"/>
              <a:gd name="T105" fmla="*/ 155 h 347"/>
              <a:gd name="T106" fmla="*/ 1574 w 2031"/>
              <a:gd name="T107" fmla="*/ 155 h 347"/>
              <a:gd name="T108" fmla="*/ 1568 w 2031"/>
              <a:gd name="T109" fmla="*/ 347 h 347"/>
              <a:gd name="T110" fmla="*/ 1750 w 2031"/>
              <a:gd name="T111" fmla="*/ 129 h 347"/>
              <a:gd name="T112" fmla="*/ 1683 w 2031"/>
              <a:gd name="T113" fmla="*/ 180 h 347"/>
              <a:gd name="T114" fmla="*/ 1756 w 2031"/>
              <a:gd name="T115" fmla="*/ 180 h 347"/>
              <a:gd name="T116" fmla="*/ 1894 w 2031"/>
              <a:gd name="T117" fmla="*/ 308 h 347"/>
              <a:gd name="T118" fmla="*/ 1873 w 2031"/>
              <a:gd name="T119" fmla="*/ 308 h 347"/>
              <a:gd name="T120" fmla="*/ 1848 w 2031"/>
              <a:gd name="T121" fmla="*/ 285 h 347"/>
              <a:gd name="T122" fmla="*/ 1840 w 2031"/>
              <a:gd name="T123" fmla="*/ 335 h 347"/>
              <a:gd name="T124" fmla="*/ 1894 w 2031"/>
              <a:gd name="T125" fmla="*/ 308 h 347"/>
            </a:gdLst>
            <a:rect l="0" t="0" r="r" b="b"/>
            <a:pathLst>
              <a:path w="2031" h="347">
                <a:moveTo>
                  <a:pt x="1972" y="347"/>
                </a:moveTo>
                <a:lnTo>
                  <a:pt x="2001" y="347"/>
                </a:lnTo>
                <a:lnTo>
                  <a:pt x="2006" y="347"/>
                </a:lnTo>
                <a:lnTo>
                  <a:pt x="2018" y="347"/>
                </a:lnTo>
                <a:lnTo>
                  <a:pt x="2022" y="347"/>
                </a:lnTo>
                <a:lnTo>
                  <a:pt x="2031" y="347"/>
                </a:lnTo>
                <a:lnTo>
                  <a:pt x="2031" y="314"/>
                </a:lnTo>
                <a:lnTo>
                  <a:pt x="2018" y="314"/>
                </a:lnTo>
                <a:lnTo>
                  <a:pt x="2018" y="306"/>
                </a:lnTo>
                <a:lnTo>
                  <a:pt x="2006" y="306"/>
                </a:lnTo>
                <a:lnTo>
                  <a:pt x="2006" y="314"/>
                </a:lnTo>
                <a:lnTo>
                  <a:pt x="2006" y="324"/>
                </a:lnTo>
                <a:lnTo>
                  <a:pt x="2001" y="324"/>
                </a:lnTo>
                <a:lnTo>
                  <a:pt x="2001" y="293"/>
                </a:lnTo>
                <a:lnTo>
                  <a:pt x="1972" y="293"/>
                </a:lnTo>
                <a:lnTo>
                  <a:pt x="1972" y="324"/>
                </a:lnTo>
                <a:lnTo>
                  <a:pt x="1972" y="347"/>
                </a:lnTo>
                <a:lnTo>
                  <a:pt x="1972" y="347"/>
                </a:lnTo>
                <a:close/>
                <a:moveTo>
                  <a:pt x="8" y="159"/>
                </a:moveTo>
                <a:lnTo>
                  <a:pt x="13" y="159"/>
                </a:lnTo>
                <a:lnTo>
                  <a:pt x="13" y="176"/>
                </a:lnTo>
                <a:lnTo>
                  <a:pt x="0" y="176"/>
                </a:lnTo>
                <a:lnTo>
                  <a:pt x="0" y="347"/>
                </a:lnTo>
                <a:lnTo>
                  <a:pt x="13" y="347"/>
                </a:lnTo>
                <a:lnTo>
                  <a:pt x="59" y="347"/>
                </a:lnTo>
                <a:lnTo>
                  <a:pt x="73" y="347"/>
                </a:lnTo>
                <a:lnTo>
                  <a:pt x="73" y="176"/>
                </a:lnTo>
                <a:lnTo>
                  <a:pt x="59" y="176"/>
                </a:lnTo>
                <a:lnTo>
                  <a:pt x="59" y="159"/>
                </a:lnTo>
                <a:lnTo>
                  <a:pt x="65" y="159"/>
                </a:lnTo>
                <a:lnTo>
                  <a:pt x="65" y="153"/>
                </a:lnTo>
                <a:lnTo>
                  <a:pt x="8" y="153"/>
                </a:lnTo>
                <a:lnTo>
                  <a:pt x="8" y="159"/>
                </a:lnTo>
                <a:lnTo>
                  <a:pt x="8" y="159"/>
                </a:lnTo>
                <a:close/>
                <a:moveTo>
                  <a:pt x="174" y="347"/>
                </a:moveTo>
                <a:lnTo>
                  <a:pt x="235" y="347"/>
                </a:lnTo>
                <a:lnTo>
                  <a:pt x="235" y="79"/>
                </a:lnTo>
                <a:lnTo>
                  <a:pt x="174" y="79"/>
                </a:lnTo>
                <a:lnTo>
                  <a:pt x="174" y="347"/>
                </a:lnTo>
                <a:lnTo>
                  <a:pt x="174" y="347"/>
                </a:lnTo>
                <a:close/>
                <a:moveTo>
                  <a:pt x="413" y="134"/>
                </a:moveTo>
                <a:lnTo>
                  <a:pt x="413" y="129"/>
                </a:lnTo>
                <a:lnTo>
                  <a:pt x="406" y="129"/>
                </a:lnTo>
                <a:lnTo>
                  <a:pt x="406" y="134"/>
                </a:lnTo>
                <a:lnTo>
                  <a:pt x="388" y="134"/>
                </a:lnTo>
                <a:lnTo>
                  <a:pt x="388" y="150"/>
                </a:lnTo>
                <a:lnTo>
                  <a:pt x="362" y="150"/>
                </a:lnTo>
                <a:lnTo>
                  <a:pt x="362" y="347"/>
                </a:lnTo>
                <a:lnTo>
                  <a:pt x="367" y="347"/>
                </a:lnTo>
                <a:lnTo>
                  <a:pt x="438" y="347"/>
                </a:lnTo>
                <a:lnTo>
                  <a:pt x="442" y="347"/>
                </a:lnTo>
                <a:lnTo>
                  <a:pt x="442" y="167"/>
                </a:lnTo>
                <a:lnTo>
                  <a:pt x="438" y="167"/>
                </a:lnTo>
                <a:lnTo>
                  <a:pt x="438" y="150"/>
                </a:lnTo>
                <a:lnTo>
                  <a:pt x="413" y="150"/>
                </a:lnTo>
                <a:lnTo>
                  <a:pt x="413" y="134"/>
                </a:lnTo>
                <a:lnTo>
                  <a:pt x="413" y="134"/>
                </a:lnTo>
                <a:close/>
                <a:moveTo>
                  <a:pt x="484" y="347"/>
                </a:moveTo>
                <a:lnTo>
                  <a:pt x="547" y="347"/>
                </a:lnTo>
                <a:lnTo>
                  <a:pt x="547" y="138"/>
                </a:lnTo>
                <a:lnTo>
                  <a:pt x="484" y="138"/>
                </a:lnTo>
                <a:lnTo>
                  <a:pt x="484" y="347"/>
                </a:lnTo>
                <a:lnTo>
                  <a:pt x="484" y="347"/>
                </a:lnTo>
                <a:close/>
                <a:moveTo>
                  <a:pt x="583" y="347"/>
                </a:moveTo>
                <a:lnTo>
                  <a:pt x="601" y="347"/>
                </a:lnTo>
                <a:lnTo>
                  <a:pt x="601" y="220"/>
                </a:lnTo>
                <a:lnTo>
                  <a:pt x="583" y="220"/>
                </a:lnTo>
                <a:lnTo>
                  <a:pt x="583" y="205"/>
                </a:lnTo>
                <a:lnTo>
                  <a:pt x="559" y="205"/>
                </a:lnTo>
                <a:lnTo>
                  <a:pt x="559" y="220"/>
                </a:lnTo>
                <a:lnTo>
                  <a:pt x="559" y="347"/>
                </a:lnTo>
                <a:lnTo>
                  <a:pt x="583" y="347"/>
                </a:lnTo>
                <a:lnTo>
                  <a:pt x="583" y="347"/>
                </a:lnTo>
                <a:close/>
                <a:moveTo>
                  <a:pt x="641" y="347"/>
                </a:moveTo>
                <a:lnTo>
                  <a:pt x="666" y="347"/>
                </a:lnTo>
                <a:lnTo>
                  <a:pt x="666" y="236"/>
                </a:lnTo>
                <a:lnTo>
                  <a:pt x="641" y="236"/>
                </a:lnTo>
                <a:lnTo>
                  <a:pt x="641" y="347"/>
                </a:lnTo>
                <a:lnTo>
                  <a:pt x="641" y="347"/>
                </a:lnTo>
                <a:close/>
                <a:moveTo>
                  <a:pt x="694" y="347"/>
                </a:moveTo>
                <a:lnTo>
                  <a:pt x="719" y="347"/>
                </a:lnTo>
                <a:lnTo>
                  <a:pt x="719" y="280"/>
                </a:lnTo>
                <a:lnTo>
                  <a:pt x="694" y="280"/>
                </a:lnTo>
                <a:lnTo>
                  <a:pt x="694" y="347"/>
                </a:lnTo>
                <a:lnTo>
                  <a:pt x="694" y="347"/>
                </a:lnTo>
                <a:close/>
                <a:moveTo>
                  <a:pt x="725" y="347"/>
                </a:moveTo>
                <a:lnTo>
                  <a:pt x="763" y="347"/>
                </a:lnTo>
                <a:lnTo>
                  <a:pt x="763" y="92"/>
                </a:lnTo>
                <a:lnTo>
                  <a:pt x="725" y="92"/>
                </a:lnTo>
                <a:lnTo>
                  <a:pt x="725" y="347"/>
                </a:lnTo>
                <a:lnTo>
                  <a:pt x="725" y="347"/>
                </a:lnTo>
                <a:close/>
                <a:moveTo>
                  <a:pt x="838" y="347"/>
                </a:moveTo>
                <a:lnTo>
                  <a:pt x="876" y="347"/>
                </a:lnTo>
                <a:lnTo>
                  <a:pt x="876" y="257"/>
                </a:lnTo>
                <a:lnTo>
                  <a:pt x="838" y="257"/>
                </a:lnTo>
                <a:lnTo>
                  <a:pt x="838" y="347"/>
                </a:lnTo>
                <a:lnTo>
                  <a:pt x="838" y="347"/>
                </a:lnTo>
                <a:close/>
                <a:moveTo>
                  <a:pt x="939" y="347"/>
                </a:moveTo>
                <a:lnTo>
                  <a:pt x="972" y="347"/>
                </a:lnTo>
                <a:lnTo>
                  <a:pt x="972" y="236"/>
                </a:lnTo>
                <a:lnTo>
                  <a:pt x="939" y="236"/>
                </a:lnTo>
                <a:lnTo>
                  <a:pt x="939" y="347"/>
                </a:lnTo>
                <a:lnTo>
                  <a:pt x="939" y="347"/>
                </a:lnTo>
                <a:close/>
                <a:moveTo>
                  <a:pt x="1012" y="347"/>
                </a:moveTo>
                <a:lnTo>
                  <a:pt x="1086" y="347"/>
                </a:lnTo>
                <a:lnTo>
                  <a:pt x="1086" y="0"/>
                </a:lnTo>
                <a:lnTo>
                  <a:pt x="1012" y="0"/>
                </a:lnTo>
                <a:lnTo>
                  <a:pt x="1012" y="347"/>
                </a:lnTo>
                <a:lnTo>
                  <a:pt x="1012" y="347"/>
                </a:lnTo>
                <a:close/>
                <a:moveTo>
                  <a:pt x="1199" y="347"/>
                </a:moveTo>
                <a:lnTo>
                  <a:pt x="1217" y="347"/>
                </a:lnTo>
                <a:lnTo>
                  <a:pt x="1217" y="276"/>
                </a:lnTo>
                <a:lnTo>
                  <a:pt x="1199" y="276"/>
                </a:lnTo>
                <a:lnTo>
                  <a:pt x="1199" y="6"/>
                </a:lnTo>
                <a:lnTo>
                  <a:pt x="1125" y="6"/>
                </a:lnTo>
                <a:lnTo>
                  <a:pt x="1125" y="347"/>
                </a:lnTo>
                <a:lnTo>
                  <a:pt x="1142" y="347"/>
                </a:lnTo>
                <a:lnTo>
                  <a:pt x="1199" y="347"/>
                </a:lnTo>
                <a:lnTo>
                  <a:pt x="1199" y="347"/>
                </a:lnTo>
                <a:close/>
                <a:moveTo>
                  <a:pt x="1477" y="289"/>
                </a:moveTo>
                <a:lnTo>
                  <a:pt x="1477" y="146"/>
                </a:lnTo>
                <a:lnTo>
                  <a:pt x="1431" y="146"/>
                </a:lnTo>
                <a:lnTo>
                  <a:pt x="1431" y="289"/>
                </a:lnTo>
                <a:lnTo>
                  <a:pt x="1417" y="289"/>
                </a:lnTo>
                <a:lnTo>
                  <a:pt x="1417" y="347"/>
                </a:lnTo>
                <a:lnTo>
                  <a:pt x="1480" y="347"/>
                </a:lnTo>
                <a:lnTo>
                  <a:pt x="1480" y="289"/>
                </a:lnTo>
                <a:lnTo>
                  <a:pt x="1477" y="289"/>
                </a:lnTo>
                <a:lnTo>
                  <a:pt x="1477" y="289"/>
                </a:lnTo>
                <a:close/>
                <a:moveTo>
                  <a:pt x="1565" y="285"/>
                </a:moveTo>
                <a:lnTo>
                  <a:pt x="1565" y="253"/>
                </a:lnTo>
                <a:lnTo>
                  <a:pt x="1528" y="253"/>
                </a:lnTo>
                <a:lnTo>
                  <a:pt x="1528" y="285"/>
                </a:lnTo>
                <a:lnTo>
                  <a:pt x="1502" y="285"/>
                </a:lnTo>
                <a:lnTo>
                  <a:pt x="1502" y="347"/>
                </a:lnTo>
                <a:lnTo>
                  <a:pt x="1565" y="347"/>
                </a:lnTo>
                <a:lnTo>
                  <a:pt x="1565" y="314"/>
                </a:lnTo>
                <a:lnTo>
                  <a:pt x="1565" y="285"/>
                </a:lnTo>
                <a:lnTo>
                  <a:pt x="1565" y="285"/>
                </a:lnTo>
                <a:close/>
                <a:moveTo>
                  <a:pt x="1568" y="347"/>
                </a:moveTo>
                <a:lnTo>
                  <a:pt x="1632" y="347"/>
                </a:lnTo>
                <a:lnTo>
                  <a:pt x="1632" y="163"/>
                </a:lnTo>
                <a:lnTo>
                  <a:pt x="1628" y="163"/>
                </a:lnTo>
                <a:lnTo>
                  <a:pt x="1628" y="155"/>
                </a:lnTo>
                <a:lnTo>
                  <a:pt x="1626" y="155"/>
                </a:lnTo>
                <a:lnTo>
                  <a:pt x="1622" y="153"/>
                </a:lnTo>
                <a:lnTo>
                  <a:pt x="1618" y="155"/>
                </a:lnTo>
                <a:lnTo>
                  <a:pt x="1616" y="155"/>
                </a:lnTo>
                <a:lnTo>
                  <a:pt x="1616" y="163"/>
                </a:lnTo>
                <a:lnTo>
                  <a:pt x="1607" y="163"/>
                </a:lnTo>
                <a:lnTo>
                  <a:pt x="1607" y="155"/>
                </a:lnTo>
                <a:lnTo>
                  <a:pt x="1605" y="155"/>
                </a:lnTo>
                <a:lnTo>
                  <a:pt x="1601" y="153"/>
                </a:lnTo>
                <a:lnTo>
                  <a:pt x="1597" y="155"/>
                </a:lnTo>
                <a:lnTo>
                  <a:pt x="1595" y="155"/>
                </a:lnTo>
                <a:lnTo>
                  <a:pt x="1595" y="163"/>
                </a:lnTo>
                <a:lnTo>
                  <a:pt x="1586" y="163"/>
                </a:lnTo>
                <a:lnTo>
                  <a:pt x="1586" y="155"/>
                </a:lnTo>
                <a:lnTo>
                  <a:pt x="1584" y="155"/>
                </a:lnTo>
                <a:lnTo>
                  <a:pt x="1580" y="153"/>
                </a:lnTo>
                <a:lnTo>
                  <a:pt x="1576" y="155"/>
                </a:lnTo>
                <a:lnTo>
                  <a:pt x="1574" y="155"/>
                </a:lnTo>
                <a:lnTo>
                  <a:pt x="1574" y="163"/>
                </a:lnTo>
                <a:lnTo>
                  <a:pt x="1568" y="163"/>
                </a:lnTo>
                <a:lnTo>
                  <a:pt x="1568" y="347"/>
                </a:lnTo>
                <a:lnTo>
                  <a:pt x="1568" y="347"/>
                </a:lnTo>
                <a:close/>
                <a:moveTo>
                  <a:pt x="1750" y="180"/>
                </a:moveTo>
                <a:lnTo>
                  <a:pt x="1750" y="129"/>
                </a:lnTo>
                <a:lnTo>
                  <a:pt x="1704" y="129"/>
                </a:lnTo>
                <a:lnTo>
                  <a:pt x="1704" y="180"/>
                </a:lnTo>
                <a:lnTo>
                  <a:pt x="1683" y="180"/>
                </a:lnTo>
                <a:lnTo>
                  <a:pt x="1683" y="347"/>
                </a:lnTo>
                <a:lnTo>
                  <a:pt x="1756" y="347"/>
                </a:lnTo>
                <a:lnTo>
                  <a:pt x="1756" y="180"/>
                </a:lnTo>
                <a:lnTo>
                  <a:pt x="1750" y="180"/>
                </a:lnTo>
                <a:lnTo>
                  <a:pt x="1750" y="180"/>
                </a:lnTo>
                <a:close/>
                <a:moveTo>
                  <a:pt x="1894" y="308"/>
                </a:moveTo>
                <a:lnTo>
                  <a:pt x="1894" y="278"/>
                </a:lnTo>
                <a:lnTo>
                  <a:pt x="1873" y="278"/>
                </a:lnTo>
                <a:lnTo>
                  <a:pt x="1873" y="308"/>
                </a:lnTo>
                <a:lnTo>
                  <a:pt x="1869" y="308"/>
                </a:lnTo>
                <a:lnTo>
                  <a:pt x="1869" y="285"/>
                </a:lnTo>
                <a:lnTo>
                  <a:pt x="1848" y="285"/>
                </a:lnTo>
                <a:lnTo>
                  <a:pt x="1848" y="308"/>
                </a:lnTo>
                <a:lnTo>
                  <a:pt x="1840" y="308"/>
                </a:lnTo>
                <a:lnTo>
                  <a:pt x="1840" y="335"/>
                </a:lnTo>
                <a:lnTo>
                  <a:pt x="1911" y="335"/>
                </a:lnTo>
                <a:lnTo>
                  <a:pt x="1911" y="308"/>
                </a:lnTo>
                <a:lnTo>
                  <a:pt x="1894" y="308"/>
                </a:lnTo>
                <a:lnTo>
                  <a:pt x="1894" y="308"/>
                </a:lnTo>
                <a:close/>
              </a:path>
            </a:pathLst>
          </a:custGeom>
          <a:solidFill xmlns:a="http://schemas.openxmlformats.org/drawingml/2006/main">
            <a:schemeClr val="bg1">
              <a:lumMod val="85000"/>
              <a:alpha val="19000"/>
            </a:schemeClr>
          </a:solidFill>
          <a:ln xmlns:a="http://schemas.openxmlformats.org/drawingml/2006/main">
            <a:noFill/>
          </a:ln>
        </p:spPr>
        <p:txBody>
          <a:bodyPr xmlns:a="http://schemas.openxmlformats.org/drawingml/2006/main" vert="horz" wrap="square" lIns="91440" tIns="45720" rIns="91440" bIns="45720" anchor="t">
            <a:normAutofit/>
          </a:bodyPr>
          <a:lstStyle xmlns:a="http://schemas.openxmlformats.org/drawingml/2006/main"/>
          <a:p xmlns:a="http://schemas.openxmlformats.org/drawingml/2006/main">
            <a:endParaRPr/>
          </a:p>
        </p:txBody>
      </p:sp>
      <p:sp>
        <p:nvSpPr>
          <p:cNvPr id="3" name="î$ḷide">
            <a:extLst xmlns:a="http://schemas.openxmlformats.org/drawingml/2006/main">
              <a:ext uri="{FF2B5EF4-FFF2-40B4-BE49-F238E27FC236}">
                <a16:creationId xmlns:a16="http://schemas.microsoft.com/office/drawing/2014/main" id="{F99566FB-AE5C-4E43-93BF-1236C997E9F3}"/>
              </a:ext>
            </a:extLst>
          </p:cNvPr>
          <p:cNvSpPr>
            <a:spLocks xmlns:a="http://schemas.openxmlformats.org/drawingml/2006/main" noGrp="1"/>
          </p:cNvSpPr>
          <p:nvPr/>
        </p:nvSpPr>
        <p:spPr>
          <a:xfrm xmlns:a="http://schemas.openxmlformats.org/drawingml/2006/main">
            <a:off x="0" y="6122852"/>
            <a:ext cx="12192000" cy="45719"/>
          </a:xfrm>
          <a:prstGeom xmlns:a="http://schemas.openxmlformats.org/drawingml/2006/main" prst="rect">
            <a:avLst/>
          </a:prstGeom>
          <a:ln xmlns:a="http://schemas.openxmlformats.org/drawingml/2006/main">
            <a:noFill/>
          </a:ln>
        </p:spPr>
        <p:style>
          <a:lnRef xmlns:a="http://schemas.openxmlformats.org/drawingml/2006/main" idx="2">
            <a:schemeClr val="accent3">
              <a:shade val="50000"/>
            </a:schemeClr>
          </a:lnRef>
          <a:fillRef xmlns:a="http://schemas.openxmlformats.org/drawingml/2006/main" idx="1">
            <a:schemeClr val="accent3"/>
          </a:fillRef>
          <a:effectRef xmlns:a="http://schemas.openxmlformats.org/drawingml/2006/main" idx="0">
            <a:schemeClr val="accent3"/>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1" name="ïṣ1iḑè">
            <a:extLst xmlns:a="http://schemas.openxmlformats.org/drawingml/2006/main">
              <a:ext uri="{FF2B5EF4-FFF2-40B4-BE49-F238E27FC236}">
                <a16:creationId xmlns:a16="http://schemas.microsoft.com/office/drawing/2014/main" id="{7589E371-A64A-41E9-9886-88C2723455AE}"/>
              </a:ext>
            </a:extLst>
          </p:cNvPr>
          <p:cNvSpPr>
            <a:spLocks xmlns:a="http://schemas.openxmlformats.org/drawingml/2006/main" noGrp="1"/>
          </p:cNvSpPr>
          <p:nvPr/>
        </p:nvSpPr>
        <p:spPr>
          <a:xfrm xmlns:a="http://schemas.openxmlformats.org/drawingml/2006/main" rot="0" flipH="0" flipV="0">
            <a:off x="10075891" y="6281444"/>
            <a:ext cx="309318" cy="31087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92" name="î$ḷíḑe">
            <a:extLst xmlns:a="http://schemas.openxmlformats.org/drawingml/2006/main">
              <a:ext uri="{FF2B5EF4-FFF2-40B4-BE49-F238E27FC236}">
                <a16:creationId xmlns:a16="http://schemas.microsoft.com/office/drawing/2014/main" id="{481E7B09-48A6-4402-9252-8024391809F9}"/>
              </a:ext>
            </a:extLst>
          </p:cNvPr>
          <p:cNvSpPr>
            <a:spLocks xmlns:a="http://schemas.openxmlformats.org/drawingml/2006/main" noGrp="1"/>
          </p:cNvSpPr>
          <p:nvPr/>
        </p:nvSpPr>
        <p:spPr>
          <a:xfrm xmlns:a="http://schemas.openxmlformats.org/drawingml/2006/main" rot="0" flipH="0" flipV="0">
            <a:off x="10126840" y="6332653"/>
            <a:ext cx="207419" cy="208454"/>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93" name="îsḻïḋe">
            <a:extLst xmlns:a="http://schemas.openxmlformats.org/drawingml/2006/main">
              <a:ext uri="{FF2B5EF4-FFF2-40B4-BE49-F238E27FC236}">
                <a16:creationId xmlns:a16="http://schemas.microsoft.com/office/drawing/2014/main" id="{A443E617-0032-4B7F-A31A-5582D856EEA0}"/>
              </a:ext>
            </a:extLst>
          </p:cNvPr>
          <p:cNvSpPr>
            <a:spLocks xmlns:a="http://schemas.openxmlformats.org/drawingml/2006/main" noGrp="1"/>
          </p:cNvSpPr>
          <p:nvPr/>
        </p:nvSpPr>
        <p:spPr>
          <a:xfrm xmlns:a="http://schemas.openxmlformats.org/drawingml/2006/main" rot="0" flipH="0" flipV="0">
            <a:off x="10081322" y="6426276"/>
            <a:ext cx="37501" cy="25345"/>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94" name="îṧ1ïḍe">
            <a:extLst xmlns:a="http://schemas.openxmlformats.org/drawingml/2006/main">
              <a:ext uri="{FF2B5EF4-FFF2-40B4-BE49-F238E27FC236}">
                <a16:creationId xmlns:a16="http://schemas.microsoft.com/office/drawing/2014/main" id="{FE3F1AC8-55DA-4AB9-A42B-FC09D3696A05}"/>
              </a:ext>
            </a:extLst>
          </p:cNvPr>
          <p:cNvSpPr>
            <a:spLocks xmlns:a="http://schemas.openxmlformats.org/drawingml/2006/main" noGrp="1"/>
          </p:cNvSpPr>
          <p:nvPr/>
        </p:nvSpPr>
        <p:spPr>
          <a:xfrm xmlns:a="http://schemas.openxmlformats.org/drawingml/2006/main" rot="0" flipH="0" flipV="0">
            <a:off x="10108219" y="6356964"/>
            <a:ext cx="26897" cy="24052"/>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95" name="îsḻîdè">
            <a:extLst xmlns:a="http://schemas.openxmlformats.org/drawingml/2006/main">
              <a:ext uri="{FF2B5EF4-FFF2-40B4-BE49-F238E27FC236}">
                <a16:creationId xmlns:a16="http://schemas.microsoft.com/office/drawing/2014/main" id="{35A105D4-2AD3-473D-80F2-878DEC702A65}"/>
              </a:ext>
            </a:extLst>
          </p:cNvPr>
          <p:cNvSpPr>
            <a:spLocks xmlns:a="http://schemas.openxmlformats.org/drawingml/2006/main" noGrp="1"/>
          </p:cNvSpPr>
          <p:nvPr/>
        </p:nvSpPr>
        <p:spPr>
          <a:xfrm xmlns:a="http://schemas.openxmlformats.org/drawingml/2006/main" rot="0" flipH="0" flipV="0">
            <a:off x="10323139" y="6360585"/>
            <a:ext cx="33621" cy="32845"/>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96" name="i$1íḓê">
            <a:extLst xmlns:a="http://schemas.openxmlformats.org/drawingml/2006/main">
              <a:ext uri="{FF2B5EF4-FFF2-40B4-BE49-F238E27FC236}">
                <a16:creationId xmlns:a16="http://schemas.microsoft.com/office/drawing/2014/main" id="{C52DD86A-ABAA-4ED8-BA26-DE5BB7F813DA}"/>
              </a:ext>
            </a:extLst>
          </p:cNvPr>
          <p:cNvSpPr>
            <a:spLocks xmlns:a="http://schemas.openxmlformats.org/drawingml/2006/main" noGrp="1"/>
          </p:cNvSpPr>
          <p:nvPr/>
        </p:nvSpPr>
        <p:spPr>
          <a:xfrm xmlns:a="http://schemas.openxmlformats.org/drawingml/2006/main" rot="0" flipH="0" flipV="0">
            <a:off x="10341243" y="6425242"/>
            <a:ext cx="42932" cy="26897"/>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97" name="îṥļíḍê">
            <a:extLst xmlns:a="http://schemas.openxmlformats.org/drawingml/2006/main">
              <a:ext uri="{FF2B5EF4-FFF2-40B4-BE49-F238E27FC236}">
                <a16:creationId xmlns:a16="http://schemas.microsoft.com/office/drawing/2014/main" id="{476C0FCF-E78A-483B-9F7C-5BC89ECDECF3}"/>
              </a:ext>
            </a:extLst>
          </p:cNvPr>
          <p:cNvSpPr>
            <a:spLocks xmlns:a="http://schemas.openxmlformats.org/drawingml/2006/main" noGrp="1"/>
          </p:cNvSpPr>
          <p:nvPr/>
        </p:nvSpPr>
        <p:spPr>
          <a:xfrm xmlns:a="http://schemas.openxmlformats.org/drawingml/2006/main" rot="0" flipH="0" flipV="0">
            <a:off x="10164600" y="6292824"/>
            <a:ext cx="32845" cy="42415"/>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98" name="ísļïḍe">
            <a:extLst xmlns:a="http://schemas.openxmlformats.org/drawingml/2006/main">
              <a:ext uri="{FF2B5EF4-FFF2-40B4-BE49-F238E27FC236}">
                <a16:creationId xmlns:a16="http://schemas.microsoft.com/office/drawing/2014/main" id="{683633E5-B317-4B50-BCA2-7E71A1822B5B}"/>
              </a:ext>
            </a:extLst>
          </p:cNvPr>
          <p:cNvSpPr>
            <a:spLocks xmlns:a="http://schemas.openxmlformats.org/drawingml/2006/main" noGrp="1"/>
          </p:cNvSpPr>
          <p:nvPr/>
        </p:nvSpPr>
        <p:spPr>
          <a:xfrm xmlns:a="http://schemas.openxmlformats.org/drawingml/2006/main" rot="0" flipH="0" flipV="0">
            <a:off x="10258999" y="6301876"/>
            <a:ext cx="38794" cy="36207"/>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99" name="îşḻîḓè">
            <a:extLst xmlns:a="http://schemas.openxmlformats.org/drawingml/2006/main">
              <a:ext uri="{FF2B5EF4-FFF2-40B4-BE49-F238E27FC236}">
                <a16:creationId xmlns:a16="http://schemas.microsoft.com/office/drawing/2014/main" id="{74268E3B-F4FB-4E3B-BE45-515BF8332ED9}"/>
              </a:ext>
            </a:extLst>
          </p:cNvPr>
          <p:cNvSpPr>
            <a:spLocks xmlns:a="http://schemas.openxmlformats.org/drawingml/2006/main" noGrp="1"/>
          </p:cNvSpPr>
          <p:nvPr/>
        </p:nvSpPr>
        <p:spPr>
          <a:xfrm xmlns:a="http://schemas.openxmlformats.org/drawingml/2006/main" rot="0" flipH="0" flipV="0">
            <a:off x="10193566" y="6553521"/>
            <a:ext cx="81726" cy="26380"/>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00" name="isliḋé">
            <a:extLst xmlns:a="http://schemas.openxmlformats.org/drawingml/2006/main">
              <a:ext uri="{FF2B5EF4-FFF2-40B4-BE49-F238E27FC236}">
                <a16:creationId xmlns:a16="http://schemas.microsoft.com/office/drawing/2014/main" id="{FD05117D-F6E3-495C-90DC-F67D0C4320D5}"/>
              </a:ext>
            </a:extLst>
          </p:cNvPr>
          <p:cNvSpPr>
            <a:spLocks xmlns:a="http://schemas.openxmlformats.org/drawingml/2006/main" noGrp="1"/>
          </p:cNvSpPr>
          <p:nvPr/>
        </p:nvSpPr>
        <p:spPr>
          <a:xfrm xmlns:a="http://schemas.openxmlformats.org/drawingml/2006/main" rot="0" flipH="0" flipV="0">
            <a:off x="10152186" y="6341188"/>
            <a:ext cx="172504" cy="173539"/>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01" name="íSlídè">
            <a:extLst xmlns:a="http://schemas.openxmlformats.org/drawingml/2006/main">
              <a:ext uri="{FF2B5EF4-FFF2-40B4-BE49-F238E27FC236}">
                <a16:creationId xmlns:a16="http://schemas.microsoft.com/office/drawing/2014/main" id="{36851A5D-3808-42BE-8352-CA317958E568}"/>
              </a:ext>
            </a:extLst>
          </p:cNvPr>
          <p:cNvSpPr>
            <a:spLocks xmlns:a="http://schemas.openxmlformats.org/drawingml/2006/main" noGrp="1"/>
          </p:cNvSpPr>
          <p:nvPr/>
        </p:nvSpPr>
        <p:spPr>
          <a:xfrm xmlns:a="http://schemas.openxmlformats.org/drawingml/2006/main" rot="0" flipH="0" flipV="0">
            <a:off x="10186066" y="6410758"/>
            <a:ext cx="25862" cy="27931"/>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02" name="i$liḋé">
            <a:extLst xmlns:a="http://schemas.openxmlformats.org/drawingml/2006/main">
              <a:ext uri="{FF2B5EF4-FFF2-40B4-BE49-F238E27FC236}">
                <a16:creationId xmlns:a16="http://schemas.microsoft.com/office/drawing/2014/main" id="{C00E0AA7-DC1D-49D2-A9F5-39D08ECA9F8A}"/>
              </a:ext>
            </a:extLst>
          </p:cNvPr>
          <p:cNvSpPr>
            <a:spLocks xmlns:a="http://schemas.openxmlformats.org/drawingml/2006/main" noGrp="1"/>
          </p:cNvSpPr>
          <p:nvPr/>
        </p:nvSpPr>
        <p:spPr>
          <a:xfrm xmlns:a="http://schemas.openxmlformats.org/drawingml/2006/main" rot="0" flipH="0" flipV="0">
            <a:off x="10158134" y="6439208"/>
            <a:ext cx="111727" cy="54570"/>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03" name="îṡlíḍe">
            <a:extLst xmlns:a="http://schemas.openxmlformats.org/drawingml/2006/main">
              <a:ext uri="{FF2B5EF4-FFF2-40B4-BE49-F238E27FC236}">
                <a16:creationId xmlns:a16="http://schemas.microsoft.com/office/drawing/2014/main" id="{6F3391CF-A6F7-44CB-81ED-D140EE054995}"/>
              </a:ext>
            </a:extLst>
          </p:cNvPr>
          <p:cNvSpPr>
            <a:spLocks xmlns:a="http://schemas.openxmlformats.org/drawingml/2006/main" noGrp="1"/>
          </p:cNvSpPr>
          <p:nvPr/>
        </p:nvSpPr>
        <p:spPr>
          <a:xfrm xmlns:a="http://schemas.openxmlformats.org/drawingml/2006/main" rot="0" flipH="0" flipV="0">
            <a:off x="10204429" y="6358516"/>
            <a:ext cx="102933" cy="4422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04" name="îŝḷîďe">
            <a:extLst xmlns:a="http://schemas.openxmlformats.org/drawingml/2006/main">
              <a:ext uri="{FF2B5EF4-FFF2-40B4-BE49-F238E27FC236}">
                <a16:creationId xmlns:a16="http://schemas.microsoft.com/office/drawing/2014/main" id="{2B8F685D-5B82-4833-B322-44A0C12D0142}"/>
              </a:ext>
            </a:extLst>
          </p:cNvPr>
          <p:cNvSpPr>
            <a:spLocks xmlns:a="http://schemas.openxmlformats.org/drawingml/2006/main" noGrp="1"/>
          </p:cNvSpPr>
          <p:nvPr/>
        </p:nvSpPr>
        <p:spPr>
          <a:xfrm xmlns:a="http://schemas.openxmlformats.org/drawingml/2006/main" rot="0" flipH="0" flipV="0">
            <a:off x="10146755" y="6412827"/>
            <a:ext cx="22759" cy="26380"/>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05" name="îṩľîḋé">
            <a:extLst xmlns:a="http://schemas.openxmlformats.org/drawingml/2006/main">
              <a:ext uri="{FF2B5EF4-FFF2-40B4-BE49-F238E27FC236}">
                <a16:creationId xmlns:a16="http://schemas.microsoft.com/office/drawing/2014/main" id="{A582AE63-7AEF-4ABB-AFD7-8EB05E1C5B05}"/>
              </a:ext>
            </a:extLst>
          </p:cNvPr>
          <p:cNvSpPr>
            <a:spLocks xmlns:a="http://schemas.openxmlformats.org/drawingml/2006/main" noGrp="1"/>
          </p:cNvSpPr>
          <p:nvPr/>
        </p:nvSpPr>
        <p:spPr>
          <a:xfrm xmlns:a="http://schemas.openxmlformats.org/drawingml/2006/main" rot="0" flipH="0" flipV="0">
            <a:off x="10229516" y="6410758"/>
            <a:ext cx="23017" cy="29742"/>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06" name="îŝliďè">
            <a:extLst xmlns:a="http://schemas.openxmlformats.org/drawingml/2006/main">
              <a:ext uri="{FF2B5EF4-FFF2-40B4-BE49-F238E27FC236}">
                <a16:creationId xmlns:a16="http://schemas.microsoft.com/office/drawing/2014/main" id="{1AB8CA30-0378-4636-9C86-C3B972C4E213}"/>
              </a:ext>
            </a:extLst>
          </p:cNvPr>
          <p:cNvSpPr>
            <a:spLocks xmlns:a="http://schemas.openxmlformats.org/drawingml/2006/main" noGrp="1"/>
          </p:cNvSpPr>
          <p:nvPr/>
        </p:nvSpPr>
        <p:spPr>
          <a:xfrm xmlns:a="http://schemas.openxmlformats.org/drawingml/2006/main" rot="0" flipH="0" flipV="0">
            <a:off x="10258482" y="6411276"/>
            <a:ext cx="23276" cy="28449"/>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07" name="îsḻiďe">
            <a:extLst xmlns:a="http://schemas.openxmlformats.org/drawingml/2006/main">
              <a:ext uri="{FF2B5EF4-FFF2-40B4-BE49-F238E27FC236}">
                <a16:creationId xmlns:a16="http://schemas.microsoft.com/office/drawing/2014/main" id="{30B9A6C2-EDBC-4112-987D-410E8F152223}"/>
              </a:ext>
            </a:extLst>
          </p:cNvPr>
          <p:cNvSpPr>
            <a:spLocks xmlns:a="http://schemas.openxmlformats.org/drawingml/2006/main" noGrp="1"/>
          </p:cNvSpPr>
          <p:nvPr/>
        </p:nvSpPr>
        <p:spPr>
          <a:xfrm xmlns:a="http://schemas.openxmlformats.org/drawingml/2006/main" rot="0" flipH="0" flipV="0">
            <a:off x="10288741" y="6409207"/>
            <a:ext cx="24052" cy="27414"/>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85" name="išḷïḍé">
            <a:extLst xmlns:a="http://schemas.openxmlformats.org/drawingml/2006/main">
              <a:ext uri="{FF2B5EF4-FFF2-40B4-BE49-F238E27FC236}">
                <a16:creationId xmlns:a16="http://schemas.microsoft.com/office/drawing/2014/main" id="{714015A9-52B2-404C-AB01-38AF7D8E03C9}"/>
              </a:ext>
            </a:extLst>
          </p:cNvPr>
          <p:cNvSpPr>
            <a:spLocks xmlns:a="http://schemas.openxmlformats.org/drawingml/2006/main" noGrp="1"/>
          </p:cNvSpPr>
          <p:nvPr/>
        </p:nvSpPr>
        <p:spPr>
          <a:xfrm xmlns:a="http://schemas.openxmlformats.org/drawingml/2006/main" rot="0" flipH="0" flipV="0">
            <a:off x="11146709" y="6326594"/>
            <a:ext cx="117675" cy="125434"/>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86" name="ïṧ1iḓé">
            <a:extLst xmlns:a="http://schemas.openxmlformats.org/drawingml/2006/main">
              <a:ext uri="{FF2B5EF4-FFF2-40B4-BE49-F238E27FC236}">
                <a16:creationId xmlns:a16="http://schemas.microsoft.com/office/drawing/2014/main" id="{61B4CA39-C447-42BD-825F-9443075B7F3A}"/>
              </a:ext>
            </a:extLst>
          </p:cNvPr>
          <p:cNvSpPr>
            <a:spLocks xmlns:a="http://schemas.openxmlformats.org/drawingml/2006/main" noGrp="1"/>
          </p:cNvSpPr>
          <p:nvPr/>
        </p:nvSpPr>
        <p:spPr>
          <a:xfrm xmlns:a="http://schemas.openxmlformats.org/drawingml/2006/main" rot="0" flipH="0" flipV="0">
            <a:off x="11319214" y="6309783"/>
            <a:ext cx="137848" cy="16707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87" name="ïśḻîḍé">
            <a:extLst xmlns:a="http://schemas.openxmlformats.org/drawingml/2006/main">
              <a:ext uri="{FF2B5EF4-FFF2-40B4-BE49-F238E27FC236}">
                <a16:creationId xmlns:a16="http://schemas.microsoft.com/office/drawing/2014/main" id="{DEF6740A-2D08-488B-9EEE-61266D7BC869}"/>
              </a:ext>
            </a:extLst>
          </p:cNvPr>
          <p:cNvSpPr>
            <a:spLocks xmlns:a="http://schemas.openxmlformats.org/drawingml/2006/main" noGrp="1"/>
          </p:cNvSpPr>
          <p:nvPr/>
        </p:nvSpPr>
        <p:spPr>
          <a:xfrm xmlns:a="http://schemas.openxmlformats.org/drawingml/2006/main" rot="0" flipH="0" flipV="0">
            <a:off x="10456431" y="6318576"/>
            <a:ext cx="98795" cy="150263"/>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88" name="íṣľïḑe">
            <a:extLst xmlns:a="http://schemas.openxmlformats.org/drawingml/2006/main">
              <a:ext uri="{FF2B5EF4-FFF2-40B4-BE49-F238E27FC236}">
                <a16:creationId xmlns:a16="http://schemas.microsoft.com/office/drawing/2014/main" id="{E665543F-FD98-4345-8573-5B5A287F3C19}"/>
              </a:ext>
            </a:extLst>
          </p:cNvPr>
          <p:cNvSpPr>
            <a:spLocks xmlns:a="http://schemas.openxmlformats.org/drawingml/2006/main" noGrp="1"/>
          </p:cNvSpPr>
          <p:nvPr/>
        </p:nvSpPr>
        <p:spPr>
          <a:xfrm xmlns:a="http://schemas.openxmlformats.org/drawingml/2006/main" rot="0" flipH="0" flipV="0">
            <a:off x="10622471" y="6331508"/>
            <a:ext cx="100347" cy="124400"/>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89" name="íṡḷíḓè">
            <a:extLst xmlns:a="http://schemas.openxmlformats.org/drawingml/2006/main">
              <a:ext uri="{FF2B5EF4-FFF2-40B4-BE49-F238E27FC236}">
                <a16:creationId xmlns:a16="http://schemas.microsoft.com/office/drawing/2014/main" id="{5BF72B2D-85B8-4BAC-A88B-E0D75F72956A}"/>
              </a:ext>
            </a:extLst>
          </p:cNvPr>
          <p:cNvSpPr>
            <a:spLocks xmlns:a="http://schemas.openxmlformats.org/drawingml/2006/main" noGrp="1"/>
          </p:cNvSpPr>
          <p:nvPr/>
        </p:nvSpPr>
        <p:spPr>
          <a:xfrm xmlns:a="http://schemas.openxmlformats.org/drawingml/2006/main" rot="0" flipH="0" flipV="0">
            <a:off x="10771181" y="6311593"/>
            <a:ext cx="146642" cy="178712"/>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90" name="íśľiḓè">
            <a:extLst xmlns:a="http://schemas.openxmlformats.org/drawingml/2006/main">
              <a:ext uri="{FF2B5EF4-FFF2-40B4-BE49-F238E27FC236}">
                <a16:creationId xmlns:a16="http://schemas.microsoft.com/office/drawing/2014/main" id="{DD96F91B-4822-496A-9EE7-D6A84E2A387E}"/>
              </a:ext>
            </a:extLst>
          </p:cNvPr>
          <p:cNvSpPr>
            <a:spLocks xmlns:a="http://schemas.openxmlformats.org/drawingml/2006/main" noGrp="1"/>
          </p:cNvSpPr>
          <p:nvPr/>
        </p:nvSpPr>
        <p:spPr>
          <a:xfrm xmlns:a="http://schemas.openxmlformats.org/drawingml/2006/main" rot="0" flipH="0" flipV="0">
            <a:off x="10947307" y="6317025"/>
            <a:ext cx="171987" cy="137331"/>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83" name="íṣlíḍé">
            <a:extLst xmlns:a="http://schemas.openxmlformats.org/drawingml/2006/main">
              <a:ext uri="{FF2B5EF4-FFF2-40B4-BE49-F238E27FC236}">
                <a16:creationId xmlns:a16="http://schemas.microsoft.com/office/drawing/2014/main" id="{AF4DB646-8F57-4FB8-B403-0AA88224364D}"/>
              </a:ext>
            </a:extLst>
          </p:cNvPr>
          <p:cNvSpPr>
            <a:spLocks xmlns:a="http://schemas.openxmlformats.org/drawingml/2006/main" noGrp="1"/>
          </p:cNvSpPr>
          <p:nvPr/>
        </p:nvSpPr>
        <p:spPr>
          <a:xfrm xmlns:a="http://schemas.openxmlformats.org/drawingml/2006/main" rot="0" flipH="0" flipV="0">
            <a:off x="10455915" y="6521291"/>
            <a:ext cx="797090" cy="62070"/>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84" name="íṡ1iḓé">
            <a:extLst xmlns:a="http://schemas.openxmlformats.org/drawingml/2006/main">
              <a:ext uri="{FF2B5EF4-FFF2-40B4-BE49-F238E27FC236}">
                <a16:creationId xmlns:a16="http://schemas.microsoft.com/office/drawing/2014/main" id="{FB843CFF-96B3-4A73-8BE4-44A88EB89084}"/>
              </a:ext>
            </a:extLst>
          </p:cNvPr>
          <p:cNvSpPr>
            <a:spLocks xmlns:a="http://schemas.openxmlformats.org/drawingml/2006/main" noGrp="1"/>
          </p:cNvSpPr>
          <p:nvPr/>
        </p:nvSpPr>
        <p:spPr>
          <a:xfrm xmlns:a="http://schemas.openxmlformats.org/drawingml/2006/main" rot="0" flipH="0" flipV="0">
            <a:off x="11257402" y="6521291"/>
            <a:ext cx="192677" cy="62070"/>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08" name="text-目录 / Contents">
            <a:extLst xmlns:a="http://schemas.openxmlformats.org/drawingml/2006/main">
              <a:ext uri="{FF2B5EF4-FFF2-40B4-BE49-F238E27FC236}">
                <a16:creationId xmlns:a16="http://schemas.microsoft.com/office/drawing/2014/main" id="{01C9B4CA-81DD-466F-ABD7-F756E494182E}"/>
              </a:ext>
            </a:extLst>
          </p:cNvPr>
          <p:cNvSpPr>
            <a:spLocks xmlns:a="http://schemas.openxmlformats.org/drawingml/2006/main" noGrp="1"/>
          </p:cNvSpPr>
          <p:nvPr/>
        </p:nvSpPr>
        <p:spPr>
          <a:xfrm xmlns:a="http://schemas.openxmlformats.org/drawingml/2006/main">
            <a:off x="1238250" y="10477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073C79"/>
                </a:solidFill>
                <a:latin typeface="Microsoft YaHei"/>
                <a:ea typeface="Microsoft YaHei"/>
                <a:cs typeface="Microsoft YaHei"/>
              </a:defRPr>
            </a:pPr>
            <a:r>
              <a:rPr sz="3150" b="1">
                <a:solidFill>
                  <a:srgbClr val="073C79"/>
                </a:solidFill>
                <a:latin typeface="Microsoft YaHei"/>
                <a:ea typeface="Microsoft YaHei"/>
                <a:cs typeface="Microsoft YaHei"/>
              </a:rPr>
              <a:t>目录 / Contents</a:t>
            </a:r>
          </a:p>
        </p:txBody>
      </p:sp>
      <p:sp>
        <p:nvSpPr>
          <p:cNvPr id="109" name="text-01">
            <a:extLst xmlns:a="http://schemas.openxmlformats.org/drawingml/2006/main">
              <a:ext uri="{FF2B5EF4-FFF2-40B4-BE49-F238E27FC236}">
                <a16:creationId xmlns:a16="http://schemas.microsoft.com/office/drawing/2014/main" id="{C84296C8-372B-47BB-BFAC-4932150B05A9}"/>
              </a:ext>
            </a:extLst>
          </p:cNvPr>
          <p:cNvSpPr>
            <a:spLocks xmlns:a="http://schemas.openxmlformats.org/drawingml/2006/main" noGrp="1"/>
          </p:cNvSpPr>
          <p:nvPr/>
        </p:nvSpPr>
        <p:spPr>
          <a:xfrm xmlns:a="http://schemas.openxmlformats.org/drawingml/2006/main">
            <a:off x="1238250" y="211455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5C5BFA"/>
                </a:solidFill>
                <a:latin typeface="Microsoft YaHei"/>
                <a:ea typeface="Microsoft YaHei"/>
                <a:cs typeface="Microsoft YaHei"/>
              </a:defRPr>
            </a:pPr>
            <a:r>
              <a:rPr sz="2325" b="1">
                <a:solidFill>
                  <a:srgbClr val="5C5BFA"/>
                </a:solidFill>
                <a:latin typeface="Microsoft YaHei"/>
                <a:ea typeface="Microsoft YaHei"/>
                <a:cs typeface="Microsoft YaHei"/>
              </a:rPr>
              <a:t>01</a:t>
            </a:r>
          </a:p>
        </p:txBody>
      </p:sp>
      <p:sp>
        <p:nvSpPr>
          <p:cNvPr id="110" name="text-会议开场与理论框架">
            <a:extLst xmlns:a="http://schemas.openxmlformats.org/drawingml/2006/main">
              <a:ext uri="{FF2B5EF4-FFF2-40B4-BE49-F238E27FC236}">
                <a16:creationId xmlns:a16="http://schemas.microsoft.com/office/drawing/2014/main" id="{2E0A867D-6A24-4F10-8F36-92F651663904}"/>
              </a:ext>
            </a:extLst>
          </p:cNvPr>
          <p:cNvSpPr>
            <a:spLocks xmlns:a="http://schemas.openxmlformats.org/drawingml/2006/main" noGrp="1"/>
          </p:cNvSpPr>
          <p:nvPr/>
        </p:nvSpPr>
        <p:spPr>
          <a:xfrm xmlns:a="http://schemas.openxmlformats.org/drawingml/2006/main">
            <a:off x="1885950" y="2114550"/>
            <a:ext cx="26955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283F"/>
                </a:solidFill>
                <a:latin typeface="Microsoft YaHei"/>
                <a:ea typeface="Microsoft YaHei"/>
                <a:cs typeface="Microsoft YaHei"/>
              </a:defRPr>
            </a:pPr>
            <a:r>
              <a:rPr sz="1875" b="1">
                <a:solidFill>
                  <a:srgbClr val="14283F"/>
                </a:solidFill>
                <a:latin typeface="Microsoft YaHei"/>
                <a:ea typeface="Microsoft YaHei"/>
                <a:cs typeface="Microsoft YaHei"/>
              </a:rPr>
              <a:t>会议开场与理论框架</a:t>
            </a:r>
          </a:p>
        </p:txBody>
      </p:sp>
      <p:sp>
        <p:nvSpPr>
          <p:cNvPr id="111" name="text-主持人  ·  正文 1–3 页">
            <a:extLst xmlns:a="http://schemas.openxmlformats.org/drawingml/2006/main">
              <a:ext uri="{FF2B5EF4-FFF2-40B4-BE49-F238E27FC236}">
                <a16:creationId xmlns:a16="http://schemas.microsoft.com/office/drawing/2014/main" id="{7986AEBE-E13E-40E0-8462-68EB54A7492D}"/>
              </a:ext>
            </a:extLst>
          </p:cNvPr>
          <p:cNvSpPr>
            <a:spLocks xmlns:a="http://schemas.openxmlformats.org/drawingml/2006/main" noGrp="1"/>
          </p:cNvSpPr>
          <p:nvPr/>
        </p:nvSpPr>
        <p:spPr>
          <a:xfrm xmlns:a="http://schemas.openxmlformats.org/drawingml/2006/main">
            <a:off x="1885950" y="2724150"/>
            <a:ext cx="2695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17186"/>
                </a:solidFill>
                <a:latin typeface="Microsoft YaHei"/>
                <a:ea typeface="Microsoft YaHei"/>
                <a:cs typeface="Microsoft YaHei"/>
              </a:defRPr>
            </a:pPr>
            <a:r>
              <a:rPr sz="1350" b="0">
                <a:solidFill>
                  <a:srgbClr val="617186"/>
                </a:solidFill>
                <a:latin typeface="Microsoft YaHei"/>
                <a:ea typeface="Microsoft YaHei"/>
                <a:cs typeface="Microsoft YaHei"/>
              </a:rPr>
              <a:t>主持人  ·  正文 1–3 页</a:t>
            </a:r>
          </a:p>
        </p:txBody>
      </p:sp>
      <p:sp>
        <p:nvSpPr>
          <p:cNvPr id="112" name="text-02">
            <a:extLst xmlns:a="http://schemas.openxmlformats.org/drawingml/2006/main">
              <a:ext uri="{FF2B5EF4-FFF2-40B4-BE49-F238E27FC236}">
                <a16:creationId xmlns:a16="http://schemas.microsoft.com/office/drawing/2014/main" id="{8FE1AB5B-B82B-40F9-A0FB-D24ADA64C87F}"/>
              </a:ext>
            </a:extLst>
          </p:cNvPr>
          <p:cNvSpPr>
            <a:spLocks xmlns:a="http://schemas.openxmlformats.org/drawingml/2006/main" noGrp="1"/>
          </p:cNvSpPr>
          <p:nvPr/>
        </p:nvSpPr>
        <p:spPr>
          <a:xfrm xmlns:a="http://schemas.openxmlformats.org/drawingml/2006/main">
            <a:off x="4714875" y="211455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5C5BFA"/>
                </a:solidFill>
                <a:latin typeface="Microsoft YaHei"/>
                <a:ea typeface="Microsoft YaHei"/>
                <a:cs typeface="Microsoft YaHei"/>
              </a:defRPr>
            </a:pPr>
            <a:r>
              <a:rPr sz="2325" b="1">
                <a:solidFill>
                  <a:srgbClr val="5C5BFA"/>
                </a:solidFill>
                <a:latin typeface="Microsoft YaHei"/>
                <a:ea typeface="Microsoft YaHei"/>
                <a:cs typeface="Microsoft YaHei"/>
              </a:rPr>
              <a:t>02</a:t>
            </a:r>
          </a:p>
        </p:txBody>
      </p:sp>
      <p:sp>
        <p:nvSpPr>
          <p:cNvPr id="113" name="text-案例导入与危机时间线">
            <a:extLst xmlns:a="http://schemas.openxmlformats.org/drawingml/2006/main">
              <a:ext uri="{FF2B5EF4-FFF2-40B4-BE49-F238E27FC236}">
                <a16:creationId xmlns:a16="http://schemas.microsoft.com/office/drawing/2014/main" id="{CF8BFED6-A0A4-4B7A-BCD5-2B19AAA73646}"/>
              </a:ext>
            </a:extLst>
          </p:cNvPr>
          <p:cNvSpPr>
            <a:spLocks xmlns:a="http://schemas.openxmlformats.org/drawingml/2006/main" noGrp="1"/>
          </p:cNvSpPr>
          <p:nvPr/>
        </p:nvSpPr>
        <p:spPr>
          <a:xfrm xmlns:a="http://schemas.openxmlformats.org/drawingml/2006/main">
            <a:off x="5362575" y="2114550"/>
            <a:ext cx="26955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283F"/>
                </a:solidFill>
                <a:latin typeface="Microsoft YaHei"/>
                <a:ea typeface="Microsoft YaHei"/>
                <a:cs typeface="Microsoft YaHei"/>
              </a:defRPr>
            </a:pPr>
            <a:r>
              <a:rPr sz="1875" b="1">
                <a:solidFill>
                  <a:srgbClr val="14283F"/>
                </a:solidFill>
                <a:latin typeface="Microsoft YaHei"/>
                <a:ea typeface="Microsoft YaHei"/>
                <a:cs typeface="Microsoft YaHei"/>
              </a:rPr>
              <a:t>案例导入与危机时间线</a:t>
            </a:r>
          </a:p>
        </p:txBody>
      </p:sp>
      <p:sp>
        <p:nvSpPr>
          <p:cNvPr id="114" name="text-调查组负责人  ·  正文 4–">
            <a:extLst xmlns:a="http://schemas.openxmlformats.org/drawingml/2006/main">
              <a:ext uri="{FF2B5EF4-FFF2-40B4-BE49-F238E27FC236}">
                <a16:creationId xmlns:a16="http://schemas.microsoft.com/office/drawing/2014/main" id="{5BC07CED-A1E7-4A3F-8584-274FA1C5B3E7}"/>
              </a:ext>
            </a:extLst>
          </p:cNvPr>
          <p:cNvSpPr>
            <a:spLocks xmlns:a="http://schemas.openxmlformats.org/drawingml/2006/main" noGrp="1"/>
          </p:cNvSpPr>
          <p:nvPr/>
        </p:nvSpPr>
        <p:spPr>
          <a:xfrm xmlns:a="http://schemas.openxmlformats.org/drawingml/2006/main">
            <a:off x="5362575" y="2724150"/>
            <a:ext cx="2695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17186"/>
                </a:solidFill>
                <a:latin typeface="Microsoft YaHei"/>
                <a:ea typeface="Microsoft YaHei"/>
                <a:cs typeface="Microsoft YaHei"/>
              </a:defRPr>
            </a:pPr>
            <a:r>
              <a:rPr sz="1350" b="0">
                <a:solidFill>
                  <a:srgbClr val="617186"/>
                </a:solidFill>
                <a:latin typeface="Microsoft YaHei"/>
                <a:ea typeface="Microsoft YaHei"/>
                <a:cs typeface="Microsoft YaHei"/>
              </a:rPr>
              <a:t>调查组负责人  ·  正文 4–6 页</a:t>
            </a:r>
          </a:p>
        </p:txBody>
      </p:sp>
      <p:sp>
        <p:nvSpPr>
          <p:cNvPr id="115" name="text-03">
            <a:extLst xmlns:a="http://schemas.openxmlformats.org/drawingml/2006/main">
              <a:ext uri="{FF2B5EF4-FFF2-40B4-BE49-F238E27FC236}">
                <a16:creationId xmlns:a16="http://schemas.microsoft.com/office/drawing/2014/main" id="{06C0B23B-E0C1-4F07-8DCA-C64AC89AD007}"/>
              </a:ext>
            </a:extLst>
          </p:cNvPr>
          <p:cNvSpPr>
            <a:spLocks xmlns:a="http://schemas.openxmlformats.org/drawingml/2006/main" noGrp="1"/>
          </p:cNvSpPr>
          <p:nvPr/>
        </p:nvSpPr>
        <p:spPr>
          <a:xfrm xmlns:a="http://schemas.openxmlformats.org/drawingml/2006/main">
            <a:off x="8191500" y="211455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5C5BFA"/>
                </a:solidFill>
                <a:latin typeface="Microsoft YaHei"/>
                <a:ea typeface="Microsoft YaHei"/>
                <a:cs typeface="Microsoft YaHei"/>
              </a:defRPr>
            </a:pPr>
            <a:r>
              <a:rPr sz="2325" b="1">
                <a:solidFill>
                  <a:srgbClr val="5C5BFA"/>
                </a:solidFill>
                <a:latin typeface="Microsoft YaHei"/>
                <a:ea typeface="Microsoft YaHei"/>
                <a:cs typeface="Microsoft YaHei"/>
              </a:rPr>
              <a:t>03</a:t>
            </a:r>
          </a:p>
        </p:txBody>
      </p:sp>
      <p:sp>
        <p:nvSpPr>
          <p:cNvPr id="116" name="text-技术根因与避碰黑箱">
            <a:extLst xmlns:a="http://schemas.openxmlformats.org/drawingml/2006/main">
              <a:ext uri="{FF2B5EF4-FFF2-40B4-BE49-F238E27FC236}">
                <a16:creationId xmlns:a16="http://schemas.microsoft.com/office/drawing/2014/main" id="{FE79E0AC-E4F0-40AD-9B4C-A88EED2C3701}"/>
              </a:ext>
            </a:extLst>
          </p:cNvPr>
          <p:cNvSpPr>
            <a:spLocks xmlns:a="http://schemas.openxmlformats.org/drawingml/2006/main" noGrp="1"/>
          </p:cNvSpPr>
          <p:nvPr/>
        </p:nvSpPr>
        <p:spPr>
          <a:xfrm xmlns:a="http://schemas.openxmlformats.org/drawingml/2006/main">
            <a:off x="8839200" y="2114550"/>
            <a:ext cx="26955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283F"/>
                </a:solidFill>
                <a:latin typeface="Microsoft YaHei"/>
                <a:ea typeface="Microsoft YaHei"/>
                <a:cs typeface="Microsoft YaHei"/>
              </a:defRPr>
            </a:pPr>
            <a:r>
              <a:rPr sz="1875" b="1">
                <a:solidFill>
                  <a:srgbClr val="14283F"/>
                </a:solidFill>
                <a:latin typeface="Microsoft YaHei"/>
                <a:ea typeface="Microsoft YaHei"/>
                <a:cs typeface="Microsoft YaHei"/>
              </a:rPr>
              <a:t>技术根因与避碰黑箱</a:t>
            </a:r>
          </a:p>
        </p:txBody>
      </p:sp>
      <p:sp>
        <p:nvSpPr>
          <p:cNvPr id="117" name="text-技术专家  ·  正文 7–9 ">
            <a:extLst xmlns:a="http://schemas.openxmlformats.org/drawingml/2006/main">
              <a:ext uri="{FF2B5EF4-FFF2-40B4-BE49-F238E27FC236}">
                <a16:creationId xmlns:a16="http://schemas.microsoft.com/office/drawing/2014/main" id="{9A60348D-B0A5-472F-A7FA-923EF692E5AE}"/>
              </a:ext>
            </a:extLst>
          </p:cNvPr>
          <p:cNvSpPr>
            <a:spLocks xmlns:a="http://schemas.openxmlformats.org/drawingml/2006/main" noGrp="1"/>
          </p:cNvSpPr>
          <p:nvPr/>
        </p:nvSpPr>
        <p:spPr>
          <a:xfrm xmlns:a="http://schemas.openxmlformats.org/drawingml/2006/main">
            <a:off x="8839200" y="2724150"/>
            <a:ext cx="2695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17186"/>
                </a:solidFill>
                <a:latin typeface="Microsoft YaHei"/>
                <a:ea typeface="Microsoft YaHei"/>
                <a:cs typeface="Microsoft YaHei"/>
              </a:defRPr>
            </a:pPr>
            <a:r>
              <a:rPr sz="1350" b="0">
                <a:solidFill>
                  <a:srgbClr val="617186"/>
                </a:solidFill>
                <a:latin typeface="Microsoft YaHei"/>
                <a:ea typeface="Microsoft YaHei"/>
                <a:cs typeface="Microsoft YaHei"/>
              </a:rPr>
              <a:t>技术专家  ·  正文 7–9 页</a:t>
            </a:r>
          </a:p>
        </p:txBody>
      </p:sp>
      <p:sp>
        <p:nvSpPr>
          <p:cNvPr id="118" name="text-04">
            <a:extLst xmlns:a="http://schemas.openxmlformats.org/drawingml/2006/main">
              <a:ext uri="{FF2B5EF4-FFF2-40B4-BE49-F238E27FC236}">
                <a16:creationId xmlns:a16="http://schemas.microsoft.com/office/drawing/2014/main" id="{E0EF0374-F2B1-4CFB-B8DB-06979B377AB5}"/>
              </a:ext>
            </a:extLst>
          </p:cNvPr>
          <p:cNvSpPr>
            <a:spLocks xmlns:a="http://schemas.openxmlformats.org/drawingml/2006/main" noGrp="1"/>
          </p:cNvSpPr>
          <p:nvPr/>
        </p:nvSpPr>
        <p:spPr>
          <a:xfrm xmlns:a="http://schemas.openxmlformats.org/drawingml/2006/main">
            <a:off x="1238250" y="3286125"/>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5C5BFA"/>
                </a:solidFill>
                <a:latin typeface="Microsoft YaHei"/>
                <a:ea typeface="Microsoft YaHei"/>
                <a:cs typeface="Microsoft YaHei"/>
              </a:defRPr>
            </a:pPr>
            <a:r>
              <a:rPr sz="2325" b="1">
                <a:solidFill>
                  <a:srgbClr val="5C5BFA"/>
                </a:solidFill>
                <a:latin typeface="Microsoft YaHei"/>
                <a:ea typeface="Microsoft YaHei"/>
                <a:cs typeface="Microsoft YaHei"/>
              </a:rPr>
              <a:t>04</a:t>
            </a:r>
          </a:p>
        </p:txBody>
      </p:sp>
      <p:sp>
        <p:nvSpPr>
          <p:cNvPr id="119" name="text-经济社会与公共资源损害">
            <a:extLst xmlns:a="http://schemas.openxmlformats.org/drawingml/2006/main">
              <a:ext uri="{FF2B5EF4-FFF2-40B4-BE49-F238E27FC236}">
                <a16:creationId xmlns:a16="http://schemas.microsoft.com/office/drawing/2014/main" id="{79346B85-8DFE-4FA4-8A7E-A465B1AA164E}"/>
              </a:ext>
            </a:extLst>
          </p:cNvPr>
          <p:cNvSpPr>
            <a:spLocks xmlns:a="http://schemas.openxmlformats.org/drawingml/2006/main" noGrp="1"/>
          </p:cNvSpPr>
          <p:nvPr/>
        </p:nvSpPr>
        <p:spPr>
          <a:xfrm xmlns:a="http://schemas.openxmlformats.org/drawingml/2006/main">
            <a:off x="1885950" y="3286125"/>
            <a:ext cx="26955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283F"/>
                </a:solidFill>
                <a:latin typeface="Microsoft YaHei"/>
                <a:ea typeface="Microsoft YaHei"/>
                <a:cs typeface="Microsoft YaHei"/>
              </a:defRPr>
            </a:pPr>
            <a:r>
              <a:rPr sz="1875" b="1">
                <a:solidFill>
                  <a:srgbClr val="14283F"/>
                </a:solidFill>
                <a:latin typeface="Microsoft YaHei"/>
                <a:ea typeface="Microsoft YaHei"/>
                <a:cs typeface="Microsoft YaHei"/>
              </a:rPr>
              <a:t>经济社会与公共资源损害</a:t>
            </a:r>
          </a:p>
        </p:txBody>
      </p:sp>
      <p:sp>
        <p:nvSpPr>
          <p:cNvPr id="120" name="text-影响专家  ·  正文 10–1">
            <a:extLst xmlns:a="http://schemas.openxmlformats.org/drawingml/2006/main">
              <a:ext uri="{FF2B5EF4-FFF2-40B4-BE49-F238E27FC236}">
                <a16:creationId xmlns:a16="http://schemas.microsoft.com/office/drawing/2014/main" id="{339B636F-6F02-46E7-A26E-6A4F79341F40}"/>
              </a:ext>
            </a:extLst>
          </p:cNvPr>
          <p:cNvSpPr>
            <a:spLocks xmlns:a="http://schemas.openxmlformats.org/drawingml/2006/main" noGrp="1"/>
          </p:cNvSpPr>
          <p:nvPr/>
        </p:nvSpPr>
        <p:spPr>
          <a:xfrm xmlns:a="http://schemas.openxmlformats.org/drawingml/2006/main">
            <a:off x="1885950" y="3895725"/>
            <a:ext cx="2695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17186"/>
                </a:solidFill>
                <a:latin typeface="Microsoft YaHei"/>
                <a:ea typeface="Microsoft YaHei"/>
                <a:cs typeface="Microsoft YaHei"/>
              </a:defRPr>
            </a:pPr>
            <a:r>
              <a:rPr sz="1350" b="0">
                <a:solidFill>
                  <a:srgbClr val="617186"/>
                </a:solidFill>
                <a:latin typeface="Microsoft YaHei"/>
                <a:ea typeface="Microsoft YaHei"/>
                <a:cs typeface="Microsoft YaHei"/>
              </a:rPr>
              <a:t>影响专家  ·  正文 10–12 页</a:t>
            </a:r>
          </a:p>
        </p:txBody>
      </p:sp>
      <p:sp>
        <p:nvSpPr>
          <p:cNvPr id="121" name="text-05">
            <a:extLst xmlns:a="http://schemas.openxmlformats.org/drawingml/2006/main">
              <a:ext uri="{FF2B5EF4-FFF2-40B4-BE49-F238E27FC236}">
                <a16:creationId xmlns:a16="http://schemas.microsoft.com/office/drawing/2014/main" id="{4884D8E8-A0DC-4134-A730-F0EE1D5BAB8E}"/>
              </a:ext>
            </a:extLst>
          </p:cNvPr>
          <p:cNvSpPr>
            <a:spLocks xmlns:a="http://schemas.openxmlformats.org/drawingml/2006/main" noGrp="1"/>
          </p:cNvSpPr>
          <p:nvPr/>
        </p:nvSpPr>
        <p:spPr>
          <a:xfrm xmlns:a="http://schemas.openxmlformats.org/drawingml/2006/main">
            <a:off x="4714875" y="3286125"/>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5C5BFA"/>
                </a:solidFill>
                <a:latin typeface="Microsoft YaHei"/>
                <a:ea typeface="Microsoft YaHei"/>
                <a:cs typeface="Microsoft YaHei"/>
              </a:defRPr>
            </a:pPr>
            <a:r>
              <a:rPr sz="2325" b="1">
                <a:solidFill>
                  <a:srgbClr val="5C5BFA"/>
                </a:solidFill>
                <a:latin typeface="Microsoft YaHei"/>
                <a:ea typeface="Microsoft YaHei"/>
                <a:cs typeface="Microsoft YaHei"/>
              </a:rPr>
              <a:t>05</a:t>
            </a:r>
          </a:p>
        </p:txBody>
      </p:sp>
      <p:sp>
        <p:nvSpPr>
          <p:cNvPr id="122" name="text-工程伦理核心冲突">
            <a:extLst xmlns:a="http://schemas.openxmlformats.org/drawingml/2006/main">
              <a:ext uri="{FF2B5EF4-FFF2-40B4-BE49-F238E27FC236}">
                <a16:creationId xmlns:a16="http://schemas.microsoft.com/office/drawing/2014/main" id="{44E5D3EF-BBD7-45D8-A183-C7EE915F8B7F}"/>
              </a:ext>
            </a:extLst>
          </p:cNvPr>
          <p:cNvSpPr>
            <a:spLocks xmlns:a="http://schemas.openxmlformats.org/drawingml/2006/main" noGrp="1"/>
          </p:cNvSpPr>
          <p:nvPr/>
        </p:nvSpPr>
        <p:spPr>
          <a:xfrm xmlns:a="http://schemas.openxmlformats.org/drawingml/2006/main">
            <a:off x="5362575" y="3286125"/>
            <a:ext cx="26955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283F"/>
                </a:solidFill>
                <a:latin typeface="Microsoft YaHei"/>
                <a:ea typeface="Microsoft YaHei"/>
                <a:cs typeface="Microsoft YaHei"/>
              </a:defRPr>
            </a:pPr>
            <a:r>
              <a:rPr sz="1875" b="1">
                <a:solidFill>
                  <a:srgbClr val="14283F"/>
                </a:solidFill>
                <a:latin typeface="Microsoft YaHei"/>
                <a:ea typeface="Microsoft YaHei"/>
                <a:cs typeface="Microsoft YaHei"/>
              </a:rPr>
              <a:t>工程伦理核心冲突</a:t>
            </a:r>
          </a:p>
        </p:txBody>
      </p:sp>
      <p:sp>
        <p:nvSpPr>
          <p:cNvPr id="123" name="text-伦理专家  ·  正文 13–1">
            <a:extLst xmlns:a="http://schemas.openxmlformats.org/drawingml/2006/main">
              <a:ext uri="{FF2B5EF4-FFF2-40B4-BE49-F238E27FC236}">
                <a16:creationId xmlns:a16="http://schemas.microsoft.com/office/drawing/2014/main" id="{D03014D4-88BB-424B-B9F7-F685F3C9F4AC}"/>
              </a:ext>
            </a:extLst>
          </p:cNvPr>
          <p:cNvSpPr>
            <a:spLocks xmlns:a="http://schemas.openxmlformats.org/drawingml/2006/main" noGrp="1"/>
          </p:cNvSpPr>
          <p:nvPr/>
        </p:nvSpPr>
        <p:spPr>
          <a:xfrm xmlns:a="http://schemas.openxmlformats.org/drawingml/2006/main">
            <a:off x="5362575" y="3895725"/>
            <a:ext cx="2695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17186"/>
                </a:solidFill>
                <a:latin typeface="Microsoft YaHei"/>
                <a:ea typeface="Microsoft YaHei"/>
                <a:cs typeface="Microsoft YaHei"/>
              </a:defRPr>
            </a:pPr>
            <a:r>
              <a:rPr sz="1350" b="0">
                <a:solidFill>
                  <a:srgbClr val="617186"/>
                </a:solidFill>
                <a:latin typeface="Microsoft YaHei"/>
                <a:ea typeface="Microsoft YaHei"/>
                <a:cs typeface="Microsoft YaHei"/>
              </a:rPr>
              <a:t>伦理专家  ·  正文 13–15 页</a:t>
            </a:r>
          </a:p>
        </p:txBody>
      </p:sp>
      <p:sp>
        <p:nvSpPr>
          <p:cNvPr id="124" name="text-06">
            <a:extLst xmlns:a="http://schemas.openxmlformats.org/drawingml/2006/main">
              <a:ext uri="{FF2B5EF4-FFF2-40B4-BE49-F238E27FC236}">
                <a16:creationId xmlns:a16="http://schemas.microsoft.com/office/drawing/2014/main" id="{87436E51-6654-4EFB-AF6F-90E917C07C58}"/>
              </a:ext>
            </a:extLst>
          </p:cNvPr>
          <p:cNvSpPr>
            <a:spLocks xmlns:a="http://schemas.openxmlformats.org/drawingml/2006/main" noGrp="1"/>
          </p:cNvSpPr>
          <p:nvPr/>
        </p:nvSpPr>
        <p:spPr>
          <a:xfrm xmlns:a="http://schemas.openxmlformats.org/drawingml/2006/main">
            <a:off x="8191500" y="3286125"/>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5C5BFA"/>
                </a:solidFill>
                <a:latin typeface="Microsoft YaHei"/>
                <a:ea typeface="Microsoft YaHei"/>
                <a:cs typeface="Microsoft YaHei"/>
              </a:defRPr>
            </a:pPr>
            <a:r>
              <a:rPr sz="2325" b="1">
                <a:solidFill>
                  <a:srgbClr val="5C5BFA"/>
                </a:solidFill>
                <a:latin typeface="Microsoft YaHei"/>
                <a:ea typeface="Microsoft YaHei"/>
                <a:cs typeface="Microsoft YaHei"/>
              </a:rPr>
              <a:t>06</a:t>
            </a:r>
          </a:p>
        </p:txBody>
      </p:sp>
      <p:sp>
        <p:nvSpPr>
          <p:cNvPr id="125" name="text-企业责任与治理缺陷">
            <a:extLst xmlns:a="http://schemas.openxmlformats.org/drawingml/2006/main">
              <a:ext uri="{FF2B5EF4-FFF2-40B4-BE49-F238E27FC236}">
                <a16:creationId xmlns:a16="http://schemas.microsoft.com/office/drawing/2014/main" id="{CAF7B0A0-7518-4C8B-978D-B89A6A67C957}"/>
              </a:ext>
            </a:extLst>
          </p:cNvPr>
          <p:cNvSpPr>
            <a:spLocks xmlns:a="http://schemas.openxmlformats.org/drawingml/2006/main" noGrp="1"/>
          </p:cNvSpPr>
          <p:nvPr/>
        </p:nvSpPr>
        <p:spPr>
          <a:xfrm xmlns:a="http://schemas.openxmlformats.org/drawingml/2006/main">
            <a:off x="8839200" y="3286125"/>
            <a:ext cx="26955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283F"/>
                </a:solidFill>
                <a:latin typeface="Microsoft YaHei"/>
                <a:ea typeface="Microsoft YaHei"/>
                <a:cs typeface="Microsoft YaHei"/>
              </a:defRPr>
            </a:pPr>
            <a:r>
              <a:rPr sz="1875" b="1">
                <a:solidFill>
                  <a:srgbClr val="14283F"/>
                </a:solidFill>
                <a:latin typeface="Microsoft YaHei"/>
                <a:ea typeface="Microsoft YaHei"/>
                <a:cs typeface="Microsoft YaHei"/>
              </a:rPr>
              <a:t>企业责任与治理缺陷</a:t>
            </a:r>
          </a:p>
        </p:txBody>
      </p:sp>
      <p:sp>
        <p:nvSpPr>
          <p:cNvPr id="126" name="text-治理专家  ·  正文 16–1">
            <a:extLst xmlns:a="http://schemas.openxmlformats.org/drawingml/2006/main">
              <a:ext uri="{FF2B5EF4-FFF2-40B4-BE49-F238E27FC236}">
                <a16:creationId xmlns:a16="http://schemas.microsoft.com/office/drawing/2014/main" id="{1A721D02-F87A-4008-891A-719EAE21A624}"/>
              </a:ext>
            </a:extLst>
          </p:cNvPr>
          <p:cNvSpPr>
            <a:spLocks xmlns:a="http://schemas.openxmlformats.org/drawingml/2006/main" noGrp="1"/>
          </p:cNvSpPr>
          <p:nvPr/>
        </p:nvSpPr>
        <p:spPr>
          <a:xfrm xmlns:a="http://schemas.openxmlformats.org/drawingml/2006/main">
            <a:off x="8839200" y="3895725"/>
            <a:ext cx="2695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17186"/>
                </a:solidFill>
                <a:latin typeface="Microsoft YaHei"/>
                <a:ea typeface="Microsoft YaHei"/>
                <a:cs typeface="Microsoft YaHei"/>
              </a:defRPr>
            </a:pPr>
            <a:r>
              <a:rPr sz="1350" b="0">
                <a:solidFill>
                  <a:srgbClr val="617186"/>
                </a:solidFill>
                <a:latin typeface="Microsoft YaHei"/>
                <a:ea typeface="Microsoft YaHei"/>
                <a:cs typeface="Microsoft YaHei"/>
              </a:rPr>
              <a:t>治理专家  ·  正文 16–18 页</a:t>
            </a:r>
          </a:p>
        </p:txBody>
      </p:sp>
      <p:sp>
        <p:nvSpPr>
          <p:cNvPr id="127" name="text-07">
            <a:extLst xmlns:a="http://schemas.openxmlformats.org/drawingml/2006/main">
              <a:ext uri="{FF2B5EF4-FFF2-40B4-BE49-F238E27FC236}">
                <a16:creationId xmlns:a16="http://schemas.microsoft.com/office/drawing/2014/main" id="{AA0EF6F3-C6FF-4957-A7A6-3EFA6FA3D040}"/>
              </a:ext>
            </a:extLst>
          </p:cNvPr>
          <p:cNvSpPr>
            <a:spLocks xmlns:a="http://schemas.openxmlformats.org/drawingml/2006/main" noGrp="1"/>
          </p:cNvSpPr>
          <p:nvPr/>
        </p:nvSpPr>
        <p:spPr>
          <a:xfrm xmlns:a="http://schemas.openxmlformats.org/drawingml/2006/main">
            <a:off x="1238250" y="44577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5C5BFA"/>
                </a:solidFill>
                <a:latin typeface="Microsoft YaHei"/>
                <a:ea typeface="Microsoft YaHei"/>
                <a:cs typeface="Microsoft YaHei"/>
              </a:defRPr>
            </a:pPr>
            <a:r>
              <a:rPr sz="2325" b="1">
                <a:solidFill>
                  <a:srgbClr val="5C5BFA"/>
                </a:solidFill>
                <a:latin typeface="Microsoft YaHei"/>
                <a:ea typeface="Microsoft YaHei"/>
                <a:cs typeface="Microsoft YaHei"/>
              </a:rPr>
              <a:t>07</a:t>
            </a:r>
          </a:p>
        </p:txBody>
      </p:sp>
      <p:sp>
        <p:nvSpPr>
          <p:cNvPr id="128" name="text-受影响方诉求与负外部性">
            <a:extLst xmlns:a="http://schemas.openxmlformats.org/drawingml/2006/main">
              <a:ext uri="{FF2B5EF4-FFF2-40B4-BE49-F238E27FC236}">
                <a16:creationId xmlns:a16="http://schemas.microsoft.com/office/drawing/2014/main" id="{7789597C-5195-4FD0-BB9F-2941CF6F6DE7}"/>
              </a:ext>
            </a:extLst>
          </p:cNvPr>
          <p:cNvSpPr>
            <a:spLocks xmlns:a="http://schemas.openxmlformats.org/drawingml/2006/main" noGrp="1"/>
          </p:cNvSpPr>
          <p:nvPr/>
        </p:nvSpPr>
        <p:spPr>
          <a:xfrm xmlns:a="http://schemas.openxmlformats.org/drawingml/2006/main">
            <a:off x="1885950" y="4457700"/>
            <a:ext cx="26955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283F"/>
                </a:solidFill>
                <a:latin typeface="Microsoft YaHei"/>
                <a:ea typeface="Microsoft YaHei"/>
                <a:cs typeface="Microsoft YaHei"/>
              </a:defRPr>
            </a:pPr>
            <a:r>
              <a:rPr sz="1875" b="1">
                <a:solidFill>
                  <a:srgbClr val="14283F"/>
                </a:solidFill>
                <a:latin typeface="Microsoft YaHei"/>
                <a:ea typeface="Microsoft YaHei"/>
                <a:cs typeface="Microsoft YaHei"/>
              </a:rPr>
              <a:t>受影响方诉求与负外部性</a:t>
            </a:r>
          </a:p>
        </p:txBody>
      </p:sp>
      <p:sp>
        <p:nvSpPr>
          <p:cNvPr id="129" name="text-客户代表  ·  正文 19–2">
            <a:extLst xmlns:a="http://schemas.openxmlformats.org/drawingml/2006/main">
              <a:ext uri="{FF2B5EF4-FFF2-40B4-BE49-F238E27FC236}">
                <a16:creationId xmlns:a16="http://schemas.microsoft.com/office/drawing/2014/main" id="{257BAA18-B146-4034-9110-134A5D3DFDC9}"/>
              </a:ext>
            </a:extLst>
          </p:cNvPr>
          <p:cNvSpPr>
            <a:spLocks xmlns:a="http://schemas.openxmlformats.org/drawingml/2006/main" noGrp="1"/>
          </p:cNvSpPr>
          <p:nvPr/>
        </p:nvSpPr>
        <p:spPr>
          <a:xfrm xmlns:a="http://schemas.openxmlformats.org/drawingml/2006/main">
            <a:off x="1885950" y="5067300"/>
            <a:ext cx="2695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17186"/>
                </a:solidFill>
                <a:latin typeface="Microsoft YaHei"/>
                <a:ea typeface="Microsoft YaHei"/>
                <a:cs typeface="Microsoft YaHei"/>
              </a:defRPr>
            </a:pPr>
            <a:r>
              <a:rPr sz="1350" b="0">
                <a:solidFill>
                  <a:srgbClr val="617186"/>
                </a:solidFill>
                <a:latin typeface="Microsoft YaHei"/>
                <a:ea typeface="Microsoft YaHei"/>
                <a:cs typeface="Microsoft YaHei"/>
              </a:rPr>
              <a:t>客户代表  ·  正文 19–21 页</a:t>
            </a:r>
          </a:p>
        </p:txBody>
      </p:sp>
      <p:sp>
        <p:nvSpPr>
          <p:cNvPr id="130" name="text-08">
            <a:extLst xmlns:a="http://schemas.openxmlformats.org/drawingml/2006/main">
              <a:ext uri="{FF2B5EF4-FFF2-40B4-BE49-F238E27FC236}">
                <a16:creationId xmlns:a16="http://schemas.microsoft.com/office/drawing/2014/main" id="{6EAD8121-904D-4743-9B38-E5D6E0D094D3}"/>
              </a:ext>
            </a:extLst>
          </p:cNvPr>
          <p:cNvSpPr>
            <a:spLocks xmlns:a="http://schemas.openxmlformats.org/drawingml/2006/main" noGrp="1"/>
          </p:cNvSpPr>
          <p:nvPr/>
        </p:nvSpPr>
        <p:spPr>
          <a:xfrm xmlns:a="http://schemas.openxmlformats.org/drawingml/2006/main">
            <a:off x="4714875" y="44577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5C5BFA"/>
                </a:solidFill>
                <a:latin typeface="Microsoft YaHei"/>
                <a:ea typeface="Microsoft YaHei"/>
                <a:cs typeface="Microsoft YaHei"/>
              </a:defRPr>
            </a:pPr>
            <a:r>
              <a:rPr sz="2325" b="1">
                <a:solidFill>
                  <a:srgbClr val="5C5BFA"/>
                </a:solidFill>
                <a:latin typeface="Microsoft YaHei"/>
                <a:ea typeface="Microsoft YaHei"/>
                <a:cs typeface="Microsoft YaHei"/>
              </a:rPr>
              <a:t>08</a:t>
            </a:r>
          </a:p>
        </p:txBody>
      </p:sp>
      <p:sp>
        <p:nvSpPr>
          <p:cNvPr id="131" name="text-监管缺口与制度重构">
            <a:extLst xmlns:a="http://schemas.openxmlformats.org/drawingml/2006/main">
              <a:ext uri="{FF2B5EF4-FFF2-40B4-BE49-F238E27FC236}">
                <a16:creationId xmlns:a16="http://schemas.microsoft.com/office/drawing/2014/main" id="{17E2AD0B-0C95-4A32-9883-31C635BE58F8}"/>
              </a:ext>
            </a:extLst>
          </p:cNvPr>
          <p:cNvSpPr>
            <a:spLocks xmlns:a="http://schemas.openxmlformats.org/drawingml/2006/main" noGrp="1"/>
          </p:cNvSpPr>
          <p:nvPr/>
        </p:nvSpPr>
        <p:spPr>
          <a:xfrm xmlns:a="http://schemas.openxmlformats.org/drawingml/2006/main">
            <a:off x="5362575" y="4457700"/>
            <a:ext cx="26955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283F"/>
                </a:solidFill>
                <a:latin typeface="Microsoft YaHei"/>
                <a:ea typeface="Microsoft YaHei"/>
                <a:cs typeface="Microsoft YaHei"/>
              </a:defRPr>
            </a:pPr>
            <a:r>
              <a:rPr sz="1875" b="1">
                <a:solidFill>
                  <a:srgbClr val="14283F"/>
                </a:solidFill>
                <a:latin typeface="Microsoft YaHei"/>
                <a:ea typeface="Microsoft YaHei"/>
                <a:cs typeface="Microsoft YaHei"/>
              </a:rPr>
              <a:t>监管缺口与制度重构</a:t>
            </a:r>
          </a:p>
        </p:txBody>
      </p:sp>
      <p:sp>
        <p:nvSpPr>
          <p:cNvPr id="132" name="text-监管专家  ·  正文 22–2">
            <a:extLst xmlns:a="http://schemas.openxmlformats.org/drawingml/2006/main">
              <a:ext uri="{FF2B5EF4-FFF2-40B4-BE49-F238E27FC236}">
                <a16:creationId xmlns:a16="http://schemas.microsoft.com/office/drawing/2014/main" id="{BFADA0EF-CC81-426C-BE66-755051E4D994}"/>
              </a:ext>
            </a:extLst>
          </p:cNvPr>
          <p:cNvSpPr>
            <a:spLocks xmlns:a="http://schemas.openxmlformats.org/drawingml/2006/main" noGrp="1"/>
          </p:cNvSpPr>
          <p:nvPr/>
        </p:nvSpPr>
        <p:spPr>
          <a:xfrm xmlns:a="http://schemas.openxmlformats.org/drawingml/2006/main">
            <a:off x="5362575" y="5067300"/>
            <a:ext cx="2695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17186"/>
                </a:solidFill>
                <a:latin typeface="Microsoft YaHei"/>
                <a:ea typeface="Microsoft YaHei"/>
                <a:cs typeface="Microsoft YaHei"/>
              </a:defRPr>
            </a:pPr>
            <a:r>
              <a:rPr sz="1350" b="0">
                <a:solidFill>
                  <a:srgbClr val="617186"/>
                </a:solidFill>
                <a:latin typeface="Microsoft YaHei"/>
                <a:ea typeface="Microsoft YaHei"/>
                <a:cs typeface="Microsoft YaHei"/>
              </a:rPr>
              <a:t>监管专家  ·  正文 22–24 页</a:t>
            </a:r>
          </a:p>
        </p:txBody>
      </p:sp>
      <p:sp>
        <p:nvSpPr>
          <p:cNvPr id="133" name="text-09">
            <a:extLst xmlns:a="http://schemas.openxmlformats.org/drawingml/2006/main">
              <a:ext uri="{FF2B5EF4-FFF2-40B4-BE49-F238E27FC236}">
                <a16:creationId xmlns:a16="http://schemas.microsoft.com/office/drawing/2014/main" id="{B8912E54-90A4-46E1-8D03-3E0D3FBB6127}"/>
              </a:ext>
            </a:extLst>
          </p:cNvPr>
          <p:cNvSpPr>
            <a:spLocks xmlns:a="http://schemas.openxmlformats.org/drawingml/2006/main" noGrp="1"/>
          </p:cNvSpPr>
          <p:nvPr/>
        </p:nvSpPr>
        <p:spPr>
          <a:xfrm xmlns:a="http://schemas.openxmlformats.org/drawingml/2006/main">
            <a:off x="8191500" y="44577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5C5BFA"/>
                </a:solidFill>
                <a:latin typeface="Microsoft YaHei"/>
                <a:ea typeface="Microsoft YaHei"/>
                <a:cs typeface="Microsoft YaHei"/>
              </a:defRPr>
            </a:pPr>
            <a:r>
              <a:rPr sz="2325" b="1">
                <a:solidFill>
                  <a:srgbClr val="5C5BFA"/>
                </a:solidFill>
                <a:latin typeface="Microsoft YaHei"/>
                <a:ea typeface="Microsoft YaHei"/>
                <a:cs typeface="Microsoft YaHei"/>
              </a:rPr>
              <a:t>09</a:t>
            </a:r>
          </a:p>
        </p:txBody>
      </p:sp>
      <p:sp>
        <p:nvSpPr>
          <p:cNvPr id="134" name="text-总结与工程伦理闭环">
            <a:extLst xmlns:a="http://schemas.openxmlformats.org/drawingml/2006/main">
              <a:ext uri="{FF2B5EF4-FFF2-40B4-BE49-F238E27FC236}">
                <a16:creationId xmlns:a16="http://schemas.microsoft.com/office/drawing/2014/main" id="{A292B493-8125-4E86-B6DA-136101F4AB25}"/>
              </a:ext>
            </a:extLst>
          </p:cNvPr>
          <p:cNvSpPr>
            <a:spLocks xmlns:a="http://schemas.openxmlformats.org/drawingml/2006/main" noGrp="1"/>
          </p:cNvSpPr>
          <p:nvPr/>
        </p:nvSpPr>
        <p:spPr>
          <a:xfrm xmlns:a="http://schemas.openxmlformats.org/drawingml/2006/main">
            <a:off x="8839200" y="4457700"/>
            <a:ext cx="26955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283F"/>
                </a:solidFill>
                <a:latin typeface="Microsoft YaHei"/>
                <a:ea typeface="Microsoft YaHei"/>
                <a:cs typeface="Microsoft YaHei"/>
              </a:defRPr>
            </a:pPr>
            <a:r>
              <a:rPr sz="1875" b="1">
                <a:solidFill>
                  <a:srgbClr val="14283F"/>
                </a:solidFill>
                <a:latin typeface="Microsoft YaHei"/>
                <a:ea typeface="Microsoft YaHei"/>
                <a:cs typeface="Microsoft YaHei"/>
              </a:rPr>
              <a:t>总结与工程伦理闭环</a:t>
            </a:r>
          </a:p>
        </p:txBody>
      </p:sp>
      <p:sp>
        <p:nvSpPr>
          <p:cNvPr id="135" name="text-总结发言人  ·  正文 25–">
            <a:extLst xmlns:a="http://schemas.openxmlformats.org/drawingml/2006/main">
              <a:ext uri="{FF2B5EF4-FFF2-40B4-BE49-F238E27FC236}">
                <a16:creationId xmlns:a16="http://schemas.microsoft.com/office/drawing/2014/main" id="{D774977F-35B3-4F66-A32F-6DBF0CBDE377}"/>
              </a:ext>
            </a:extLst>
          </p:cNvPr>
          <p:cNvSpPr>
            <a:spLocks xmlns:a="http://schemas.openxmlformats.org/drawingml/2006/main" noGrp="1"/>
          </p:cNvSpPr>
          <p:nvPr/>
        </p:nvSpPr>
        <p:spPr>
          <a:xfrm xmlns:a="http://schemas.openxmlformats.org/drawingml/2006/main">
            <a:off x="8839200" y="5067300"/>
            <a:ext cx="2695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17186"/>
                </a:solidFill>
                <a:latin typeface="Microsoft YaHei"/>
                <a:ea typeface="Microsoft YaHei"/>
                <a:cs typeface="Microsoft YaHei"/>
              </a:defRPr>
            </a:pPr>
            <a:r>
              <a:rPr sz="1350" b="0">
                <a:solidFill>
                  <a:srgbClr val="617186"/>
                </a:solidFill>
                <a:latin typeface="Microsoft YaHei"/>
                <a:ea typeface="Microsoft YaHei"/>
                <a:cs typeface="Microsoft YaHei"/>
              </a:rPr>
              <a:t>总结发言人  ·  正文 25–27 页</a:t>
            </a:r>
          </a:p>
        </p:txBody>
      </p:sp>
    </p:spTree>
    <p:extLst>
      <p:ext uri="{BB962C8B-B14F-4D97-AF65-F5344CB8AC3E}">
        <p14:creationId xmlns:p14="http://schemas.microsoft.com/office/powerpoint/2010/main" val="911933172"/>
      </p:ext>
    </p:extLst>
  </p:cSld>
</p:sld>
</file>

<file path=ppt/slides/slide3.xml><?xml version="1.0" encoding="utf-8"?>
<p:sld xmlns:p="http://schemas.openxmlformats.org/presentationml/2006/main" showMasterSp="0">
  <p:cSld>
    <p:spTree>
      <p:nvGrpSpPr>
        <p:cNvPr id="1" name=""/>
        <p:cNvGrpSpPr/>
        <p:nvPr/>
      </p:nvGrpSpPr>
      <p:grpSpPr>
        <a:xfrm xmlns:a="http://schemas.openxmlformats.org/drawingml/2006/main"/>
      </p:grpSpPr>
      <p:sp>
        <p:nvSpPr>
          <p:cNvPr id="14"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6" name="text-开场与命题提出">
            <a:extLst xmlns:a="http://schemas.openxmlformats.org/drawingml/2006/main">
              <a:ext uri="{FF2B5EF4-FFF2-40B4-BE49-F238E27FC236}">
                <a16:creationId xmlns:a16="http://schemas.microsoft.com/office/drawing/2014/main" id="{A4411118-E0B2-4C1A-8BF8-3194BCA305F4}"/>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开场与命题提出</a:t>
            </a:r>
          </a:p>
        </p:txBody>
      </p:sp>
      <p:sp>
        <p:nvSpPr>
          <p:cNvPr id="2" name="text-核心追问：当商业航天飞速扩张，谁">
            <a:extLst xmlns:a="http://schemas.openxmlformats.org/drawingml/2006/main">
              <a:ext uri="{FF2B5EF4-FFF2-40B4-BE49-F238E27FC236}">
                <a16:creationId xmlns:a16="http://schemas.microsoft.com/office/drawing/2014/main" id="{2762AEA6-E9BC-4DA6-9BD6-EBE6E46AD96D}"/>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核心追问：当商业航天飞速扩张，谁在为星空买单？</a:t>
            </a:r>
          </a:p>
        </p:txBody>
      </p:sp>
      <p:sp>
        <p:nvSpPr>
          <p:cNvPr id="3" name="text-会议开场与理论框架  /  主持">
            <a:extLst xmlns:a="http://schemas.openxmlformats.org/drawingml/2006/main">
              <a:ext uri="{FF2B5EF4-FFF2-40B4-BE49-F238E27FC236}">
                <a16:creationId xmlns:a16="http://schemas.microsoft.com/office/drawing/2014/main" id="{DF96EAA0-5F43-4A0F-9BFE-17D2A12A8FFD}"/>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会议开场与理论框架  /  主持人</a:t>
            </a:r>
          </a:p>
        </p:txBody>
      </p:sp>
      <p:sp>
        <p:nvSpPr>
          <p:cNvPr id="4" name="text-01">
            <a:extLst xmlns:a="http://schemas.openxmlformats.org/drawingml/2006/main">
              <a:ext uri="{FF2B5EF4-FFF2-40B4-BE49-F238E27FC236}">
                <a16:creationId xmlns:a16="http://schemas.microsoft.com/office/drawing/2014/main" id="{C0C06EB2-06BF-444E-A374-C63D29BC2836}"/>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01</a:t>
            </a:r>
          </a:p>
        </p:txBody>
      </p:sp>
      <p:sp>
        <p:nvSpPr>
          <p:cNvPr id="5" name="text-近地轨道是否正在上演&#10;“公地悲剧">
            <a:extLst xmlns:a="http://schemas.openxmlformats.org/drawingml/2006/main">
              <a:ext uri="{FF2B5EF4-FFF2-40B4-BE49-F238E27FC236}">
                <a16:creationId xmlns:a16="http://schemas.microsoft.com/office/drawing/2014/main" id="{4EF3F215-815F-47C5-9151-BA965121103B}"/>
              </a:ext>
            </a:extLst>
          </p:cNvPr>
          <p:cNvSpPr>
            <a:spLocks xmlns:a="http://schemas.openxmlformats.org/drawingml/2006/main" noGrp="1"/>
          </p:cNvSpPr>
          <p:nvPr/>
        </p:nvSpPr>
        <p:spPr>
          <a:xfrm xmlns:a="http://schemas.openxmlformats.org/drawingml/2006/main">
            <a:off x="762000" y="1495425"/>
            <a:ext cx="5334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073C79"/>
                </a:solidFill>
                <a:latin typeface="Microsoft YaHei"/>
                <a:ea typeface="Microsoft YaHei"/>
                <a:cs typeface="Microsoft YaHei"/>
              </a:defRPr>
            </a:pPr>
            <a:r>
              <a:rPr sz="2775" b="1">
                <a:solidFill>
                  <a:srgbClr val="073C79"/>
                </a:solidFill>
                <a:latin typeface="Microsoft YaHei"/>
                <a:ea typeface="Microsoft YaHei"/>
                <a:cs typeface="Microsoft YaHei"/>
              </a:rPr>
              <a:t>近地轨道是否正在上演</a:t>
            </a:r>
          </a:p>
          <a:p xmlns:a="http://schemas.openxmlformats.org/drawingml/2006/main">
            <a:pPr algn="l">
              <a:defRPr sz="2775" b="1">
                <a:solidFill>
                  <a:srgbClr val="073C79"/>
                </a:solidFill>
                <a:latin typeface="Microsoft YaHei"/>
                <a:ea typeface="Microsoft YaHei"/>
                <a:cs typeface="Microsoft YaHei"/>
              </a:defRPr>
            </a:pPr>
            <a:r>
              <a:rPr sz="2775" b="1">
                <a:solidFill>
                  <a:srgbClr val="073C79"/>
                </a:solidFill>
                <a:latin typeface="Microsoft YaHei"/>
                <a:ea typeface="Microsoft YaHei"/>
                <a:cs typeface="Microsoft YaHei"/>
              </a:rPr>
              <a:t>“公地悲剧”？</a:t>
            </a:r>
          </a:p>
        </p:txBody>
      </p:sp>
      <p:sp>
        <p:nvSpPr>
          <p:cNvPr id="6" name="text-商业价值">
            <a:extLst xmlns:a="http://schemas.openxmlformats.org/drawingml/2006/main">
              <a:ext uri="{FF2B5EF4-FFF2-40B4-BE49-F238E27FC236}">
                <a16:creationId xmlns:a16="http://schemas.microsoft.com/office/drawing/2014/main" id="{0A74B9B1-457C-4795-9625-85C71B98FDF2}"/>
              </a:ext>
            </a:extLst>
          </p:cNvPr>
          <p:cNvSpPr>
            <a:spLocks xmlns:a="http://schemas.openxmlformats.org/drawingml/2006/main" noGrp="1"/>
          </p:cNvSpPr>
          <p:nvPr/>
        </p:nvSpPr>
        <p:spPr>
          <a:xfrm xmlns:a="http://schemas.openxmlformats.org/drawingml/2006/main">
            <a:off x="762000" y="271462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商业价值</a:t>
            </a:r>
          </a:p>
        </p:txBody>
      </p:sp>
      <p:sp>
        <p:nvSpPr>
          <p:cNvPr id="7" name="text-卫星互联网拓展偏远地区连接，也让">
            <a:extLst xmlns:a="http://schemas.openxmlformats.org/drawingml/2006/main">
              <a:ext uri="{FF2B5EF4-FFF2-40B4-BE49-F238E27FC236}">
                <a16:creationId xmlns:a16="http://schemas.microsoft.com/office/drawing/2014/main" id="{FFC947F8-7EB1-48AD-B32E-4836BF5A8855}"/>
              </a:ext>
            </a:extLst>
          </p:cNvPr>
          <p:cNvSpPr>
            <a:spLocks xmlns:a="http://schemas.openxmlformats.org/drawingml/2006/main" noGrp="1"/>
          </p:cNvSpPr>
          <p:nvPr/>
        </p:nvSpPr>
        <p:spPr>
          <a:xfrm xmlns:a="http://schemas.openxmlformats.org/drawingml/2006/main">
            <a:off x="762000" y="3114675"/>
            <a:ext cx="5429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3F"/>
                </a:solidFill>
                <a:latin typeface="Microsoft YaHei"/>
                <a:ea typeface="Microsoft YaHei"/>
                <a:cs typeface="Microsoft YaHei"/>
              </a:defRPr>
            </a:pPr>
            <a:r>
              <a:rPr sz="1725" b="0">
                <a:solidFill>
                  <a:srgbClr val="14283F"/>
                </a:solidFill>
                <a:latin typeface="Microsoft YaHei"/>
                <a:ea typeface="Microsoft YaHei"/>
                <a:cs typeface="Microsoft YaHei"/>
              </a:rPr>
              <a:t>卫星互联网拓展偏远地区连接，也让应急通信拥有更多选择。</a:t>
            </a:r>
          </a:p>
        </p:txBody>
      </p:sp>
      <p:sp>
        <p:nvSpPr>
          <p:cNvPr id="8" name="text-共同代价">
            <a:extLst xmlns:a="http://schemas.openxmlformats.org/drawingml/2006/main">
              <a:ext uri="{FF2B5EF4-FFF2-40B4-BE49-F238E27FC236}">
                <a16:creationId xmlns:a16="http://schemas.microsoft.com/office/drawing/2014/main" id="{38E382B0-286C-453B-BC0A-3255D500C150}"/>
              </a:ext>
            </a:extLst>
          </p:cNvPr>
          <p:cNvSpPr>
            <a:spLocks xmlns:a="http://schemas.openxmlformats.org/drawingml/2006/main" noGrp="1"/>
          </p:cNvSpPr>
          <p:nvPr/>
        </p:nvSpPr>
        <p:spPr>
          <a:xfrm xmlns:a="http://schemas.openxmlformats.org/drawingml/2006/main">
            <a:off x="762000" y="3619500"/>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共同代价</a:t>
            </a:r>
          </a:p>
        </p:txBody>
      </p:sp>
      <p:sp>
        <p:nvSpPr>
          <p:cNvPr id="9" name="text-避碰负担、观测干扰和长期碎片风险">
            <a:extLst xmlns:a="http://schemas.openxmlformats.org/drawingml/2006/main">
              <a:ext uri="{FF2B5EF4-FFF2-40B4-BE49-F238E27FC236}">
                <a16:creationId xmlns:a16="http://schemas.microsoft.com/office/drawing/2014/main" id="{088BEB4F-C0C3-4128-95C5-4E51EB687FC7}"/>
              </a:ext>
            </a:extLst>
          </p:cNvPr>
          <p:cNvSpPr>
            <a:spLocks xmlns:a="http://schemas.openxmlformats.org/drawingml/2006/main" noGrp="1"/>
          </p:cNvSpPr>
          <p:nvPr/>
        </p:nvSpPr>
        <p:spPr>
          <a:xfrm xmlns:a="http://schemas.openxmlformats.org/drawingml/2006/main">
            <a:off x="762000" y="4019550"/>
            <a:ext cx="5429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3F"/>
                </a:solidFill>
                <a:latin typeface="Microsoft YaHei"/>
                <a:ea typeface="Microsoft YaHei"/>
                <a:cs typeface="Microsoft YaHei"/>
              </a:defRPr>
            </a:pPr>
            <a:r>
              <a:rPr sz="1725" b="0">
                <a:solidFill>
                  <a:srgbClr val="14283F"/>
                </a:solidFill>
                <a:latin typeface="Microsoft YaHei"/>
                <a:ea typeface="Microsoft YaHei"/>
                <a:cs typeface="Microsoft YaHei"/>
              </a:rPr>
              <a:t>避碰负担、观测干扰和长期碎片风险，可能由未参与交易的人承担。</a:t>
            </a:r>
          </a:p>
        </p:txBody>
      </p:sp>
      <p:sp>
        <p:nvSpPr>
          <p:cNvPr id="10" name="text-讨论边界">
            <a:extLst xmlns:a="http://schemas.openxmlformats.org/drawingml/2006/main">
              <a:ext uri="{FF2B5EF4-FFF2-40B4-BE49-F238E27FC236}">
                <a16:creationId xmlns:a16="http://schemas.microsoft.com/office/drawing/2014/main" id="{FB8581FD-ADF2-4625-89AF-6017F619208A}"/>
              </a:ext>
            </a:extLst>
          </p:cNvPr>
          <p:cNvSpPr>
            <a:spLocks xmlns:a="http://schemas.openxmlformats.org/drawingml/2006/main" noGrp="1"/>
          </p:cNvSpPr>
          <p:nvPr/>
        </p:nvSpPr>
        <p:spPr>
          <a:xfrm xmlns:a="http://schemas.openxmlformats.org/drawingml/2006/main">
            <a:off x="762000" y="452437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讨论边界</a:t>
            </a:r>
          </a:p>
        </p:txBody>
      </p:sp>
      <p:sp>
        <p:nvSpPr>
          <p:cNvPr id="11" name="text-区分已经发生的事件、研究模拟的情">
            <a:extLst xmlns:a="http://schemas.openxmlformats.org/drawingml/2006/main">
              <a:ext uri="{FF2B5EF4-FFF2-40B4-BE49-F238E27FC236}">
                <a16:creationId xmlns:a16="http://schemas.microsoft.com/office/drawing/2014/main" id="{A034C20D-5CA1-40F2-904C-31CDEF22EC7B}"/>
              </a:ext>
            </a:extLst>
          </p:cNvPr>
          <p:cNvSpPr>
            <a:spLocks xmlns:a="http://schemas.openxmlformats.org/drawingml/2006/main" noGrp="1"/>
          </p:cNvSpPr>
          <p:nvPr/>
        </p:nvSpPr>
        <p:spPr>
          <a:xfrm xmlns:a="http://schemas.openxmlformats.org/drawingml/2006/main">
            <a:off x="762000" y="4924425"/>
            <a:ext cx="5429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3F"/>
                </a:solidFill>
                <a:latin typeface="Microsoft YaHei"/>
                <a:ea typeface="Microsoft YaHei"/>
                <a:cs typeface="Microsoft YaHei"/>
              </a:defRPr>
            </a:pPr>
            <a:r>
              <a:rPr sz="1725" b="0">
                <a:solidFill>
                  <a:srgbClr val="14283F"/>
                </a:solidFill>
                <a:latin typeface="Microsoft YaHei"/>
                <a:ea typeface="Microsoft YaHei"/>
                <a:cs typeface="Microsoft YaHei"/>
              </a:rPr>
              <a:t>区分已经发生的事件、研究模拟的情景，以及小组提出的治理建议。</a:t>
            </a:r>
          </a:p>
        </p:txBody>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da531c0b5d5a450b"/>
          <a:stretch xmlns:a="http://schemas.openxmlformats.org/drawingml/2006/main"/>
        </p:blipFill>
        <p:spPr>
          <a:xfrm xmlns:a="http://schemas.openxmlformats.org/drawingml/2006/main">
            <a:off x="6592194" y="1600200"/>
            <a:ext cx="4951211" cy="3295650"/>
          </a:xfrm>
          <a:prstGeom xmlns:a="http://schemas.openxmlformats.org/drawingml/2006/main" prst="rect">
            <a:avLst/>
          </a:prstGeom>
        </p:spPr>
      </p:pic>
      <p:sp>
        <p:nvSpPr>
          <p:cNvPr id="13" name="text-阿塔卡马夜空，一小时延时叠加（2">
            <a:extLst xmlns:a="http://schemas.openxmlformats.org/drawingml/2006/main">
              <a:ext uri="{FF2B5EF4-FFF2-40B4-BE49-F238E27FC236}">
                <a16:creationId xmlns:a16="http://schemas.microsoft.com/office/drawing/2014/main" id="{EE42EF3F-1BCA-43A6-85B5-828D027AFEDD}"/>
              </a:ext>
            </a:extLst>
          </p:cNvPr>
          <p:cNvSpPr>
            <a:spLocks xmlns:a="http://schemas.openxmlformats.org/drawingml/2006/main" noGrp="1"/>
          </p:cNvSpPr>
          <p:nvPr/>
        </p:nvSpPr>
        <p:spPr>
          <a:xfrm xmlns:a="http://schemas.openxmlformats.org/drawingml/2006/main">
            <a:off x="6743700" y="5019675"/>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17186"/>
                </a:solidFill>
                <a:latin typeface="Microsoft YaHei"/>
                <a:ea typeface="Microsoft YaHei"/>
                <a:cs typeface="Microsoft YaHei"/>
              </a:defRPr>
            </a:pPr>
            <a:r>
              <a:rPr sz="1200" b="0">
                <a:solidFill>
                  <a:srgbClr val="617186"/>
                </a:solidFill>
                <a:latin typeface="Microsoft YaHei"/>
                <a:ea typeface="Microsoft YaHei"/>
                <a:cs typeface="Microsoft YaHei"/>
              </a:rPr>
              <a:t>阿塔卡马夜空，一小时延时叠加（2025）</a:t>
            </a:r>
          </a:p>
          <a:p xmlns:a="http://schemas.openxmlformats.org/drawingml/2006/main">
            <a:pPr algn="l">
              <a:defRPr sz="1200" b="0">
                <a:solidFill>
                  <a:srgbClr val="617186"/>
                </a:solidFill>
                <a:latin typeface="Microsoft YaHei"/>
                <a:ea typeface="Microsoft YaHei"/>
                <a:cs typeface="Microsoft YaHei"/>
              </a:defRPr>
            </a:pPr>
            <a:r>
              <a:rPr sz="1200" b="0">
                <a:solidFill>
                  <a:srgbClr val="617186"/>
                </a:solidFill>
                <a:latin typeface="Microsoft YaHei"/>
                <a:ea typeface="Microsoft YaHei"/>
                <a:cs typeface="Microsoft YaHei"/>
              </a:rPr>
              <a:t>图中少量轨迹来自飞机。</a:t>
            </a:r>
          </a:p>
        </p:txBody>
      </p:sp>
    </p:spTree>
    <p:extLst>
      <p:ext uri="{BB962C8B-B14F-4D97-AF65-F5344CB8AC3E}">
        <p14:creationId xmlns:p14="http://schemas.microsoft.com/office/powerpoint/2010/main" val="3868327217"/>
      </p:ext>
    </p:extLst>
  </p:cSld>
</p:sld>
</file>

<file path=ppt/slides/slide4.xml><?xml version="1.0" encoding="utf-8"?>
<p:sld xmlns:p="http://schemas.openxmlformats.org/presentationml/2006/main" showMasterSp="0">
  <p:cSld>
    <p:spTree>
      <p:nvGrpSpPr>
        <p:cNvPr id="1" name=""/>
        <p:cNvGrpSpPr/>
        <p:nvPr/>
      </p:nvGrpSpPr>
      <p:grpSpPr>
        <a:xfrm xmlns:a="http://schemas.openxmlformats.org/drawingml/2006/main"/>
      </p:grpSpPr>
      <p:sp>
        <p:nvSpPr>
          <p:cNvPr id="15"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6"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0"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7" name="text-理论框架：哈丁“公地悲剧”">
            <a:extLst xmlns:a="http://schemas.openxmlformats.org/drawingml/2006/main">
              <a:ext uri="{FF2B5EF4-FFF2-40B4-BE49-F238E27FC236}">
                <a16:creationId xmlns:a16="http://schemas.microsoft.com/office/drawing/2014/main" id="{38136672-DAB9-4FA4-834B-E743EC57E14B}"/>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理论框架：哈丁“公地悲剧”</a:t>
            </a:r>
          </a:p>
        </p:txBody>
      </p:sp>
      <p:sp>
        <p:nvSpPr>
          <p:cNvPr id="2" name="text-凯斯勒综合征：碰撞产生碎片，碎片">
            <a:extLst xmlns:a="http://schemas.openxmlformats.org/drawingml/2006/main">
              <a:ext uri="{FF2B5EF4-FFF2-40B4-BE49-F238E27FC236}">
                <a16:creationId xmlns:a16="http://schemas.microsoft.com/office/drawing/2014/main" id="{66130CA1-0753-4FB9-8436-E7F71E12AB38}"/>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凯斯勒综合征：碰撞产生碎片，碎片增加后续碰撞，形成自我强化。</a:t>
            </a:r>
          </a:p>
        </p:txBody>
      </p:sp>
      <p:sp>
        <p:nvSpPr>
          <p:cNvPr id="3" name="text-会议开场与理论框架  /  主持">
            <a:extLst xmlns:a="http://schemas.openxmlformats.org/drawingml/2006/main">
              <a:ext uri="{FF2B5EF4-FFF2-40B4-BE49-F238E27FC236}">
                <a16:creationId xmlns:a16="http://schemas.microsoft.com/office/drawing/2014/main" id="{8D88F304-E5C2-4B34-BED4-B6D04B914882}"/>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会议开场与理论框架  /  主持人</a:t>
            </a:r>
          </a:p>
        </p:txBody>
      </p:sp>
      <p:sp>
        <p:nvSpPr>
          <p:cNvPr id="4" name="text-02">
            <a:extLst xmlns:a="http://schemas.openxmlformats.org/drawingml/2006/main">
              <a:ext uri="{FF2B5EF4-FFF2-40B4-BE49-F238E27FC236}">
                <a16:creationId xmlns:a16="http://schemas.microsoft.com/office/drawing/2014/main" id="{E341B9D5-D56B-4AE7-97A5-EF820003670E}"/>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02</a:t>
            </a:r>
          </a:p>
        </p:txBody>
      </p:sp>
      <p:sp>
        <p:nvSpPr>
          <p:cNvPr id="5" name="难以排他">
            <a:extLst xmlns:a="http://schemas.openxmlformats.org/drawingml/2006/main">
              <a:ext uri="{FF2B5EF4-FFF2-40B4-BE49-F238E27FC236}">
                <a16:creationId xmlns:a16="http://schemas.microsoft.com/office/drawing/2014/main" id="{59D9F923-D327-48FE-B440-CDC47208B884}"/>
              </a:ext>
            </a:extLst>
          </p:cNvPr>
          <p:cNvSpPr>
            <a:spLocks xmlns:a="http://schemas.openxmlformats.org/drawingml/2006/main" noGrp="1"/>
          </p:cNvSpPr>
          <p:nvPr/>
        </p:nvSpPr>
        <p:spPr>
          <a:xfrm xmlns:a="http://schemas.openxmlformats.org/drawingml/2006/main">
            <a:off x="762000" y="1695450"/>
            <a:ext cx="3238500" cy="723900"/>
          </a:xfrm>
          <a:prstGeom xmlns:a="http://schemas.openxmlformats.org/drawingml/2006/main" prst="roundRect">
            <a:avLst>
              <a:gd name="adj" fmla="val 10526"/>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难以排他</a:t>
            </a:r>
          </a:p>
        </p:txBody>
      </p:sp>
      <p:sp>
        <p:nvSpPr>
          <p:cNvPr id="6" name="text-外空不得由国家据为己有，轨道安全">
            <a:extLst xmlns:a="http://schemas.openxmlformats.org/drawingml/2006/main">
              <a:ext uri="{FF2B5EF4-FFF2-40B4-BE49-F238E27FC236}">
                <a16:creationId xmlns:a16="http://schemas.microsoft.com/office/drawing/2014/main" id="{CB1B128F-2FF2-4D00-8041-FB047450A6F4}"/>
              </a:ext>
            </a:extLst>
          </p:cNvPr>
          <p:cNvSpPr>
            <a:spLocks xmlns:a="http://schemas.openxmlformats.org/drawingml/2006/main" noGrp="1"/>
          </p:cNvSpPr>
          <p:nvPr/>
        </p:nvSpPr>
        <p:spPr>
          <a:xfrm xmlns:a="http://schemas.openxmlformats.org/drawingml/2006/main">
            <a:off x="838200" y="2657475"/>
            <a:ext cx="30861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外空不得由国家据为己有，轨道安全收益跨越国界。</a:t>
            </a:r>
          </a:p>
        </p:txBody>
      </p:sp>
      <p:sp>
        <p:nvSpPr>
          <p:cNvPr id="7" name="使用竞争">
            <a:extLst xmlns:a="http://schemas.openxmlformats.org/drawingml/2006/main">
              <a:ext uri="{FF2B5EF4-FFF2-40B4-BE49-F238E27FC236}">
                <a16:creationId xmlns:a16="http://schemas.microsoft.com/office/drawing/2014/main" id="{7946D178-D327-4FFA-B020-FCEBF240901A}"/>
              </a:ext>
            </a:extLst>
          </p:cNvPr>
          <p:cNvSpPr>
            <a:spLocks xmlns:a="http://schemas.openxmlformats.org/drawingml/2006/main" noGrp="1"/>
          </p:cNvSpPr>
          <p:nvPr/>
        </p:nvSpPr>
        <p:spPr>
          <a:xfrm xmlns:a="http://schemas.openxmlformats.org/drawingml/2006/main">
            <a:off x="4476750" y="1695450"/>
            <a:ext cx="3238500" cy="723900"/>
          </a:xfrm>
          <a:prstGeom xmlns:a="http://schemas.openxmlformats.org/drawingml/2006/main" prst="roundRect">
            <a:avLst>
              <a:gd name="adj" fmla="val 10526"/>
            </a:avLst>
          </a:prstGeom>
          <a:solidFill xmlns:a="http://schemas.openxmlformats.org/drawingml/2006/main">
            <a:srgbClr val="5C5BFA"/>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使用竞争</a:t>
            </a:r>
          </a:p>
        </p:txBody>
      </p:sp>
      <p:sp>
        <p:nvSpPr>
          <p:cNvPr id="8" name="text-增加轨道占用会改变交会与协调负担">
            <a:extLst xmlns:a="http://schemas.openxmlformats.org/drawingml/2006/main">
              <a:ext uri="{FF2B5EF4-FFF2-40B4-BE49-F238E27FC236}">
                <a16:creationId xmlns:a16="http://schemas.microsoft.com/office/drawing/2014/main" id="{A581183F-205E-497A-B0EC-49439287F517}"/>
              </a:ext>
            </a:extLst>
          </p:cNvPr>
          <p:cNvSpPr>
            <a:spLocks xmlns:a="http://schemas.openxmlformats.org/drawingml/2006/main" noGrp="1"/>
          </p:cNvSpPr>
          <p:nvPr/>
        </p:nvSpPr>
        <p:spPr>
          <a:xfrm xmlns:a="http://schemas.openxmlformats.org/drawingml/2006/main">
            <a:off x="4552950" y="2657475"/>
            <a:ext cx="30861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增加轨道占用会改变交会与协调负担，可用容量受轨道条件约束。</a:t>
            </a:r>
          </a:p>
        </p:txBody>
      </p:sp>
      <p:sp>
        <p:nvSpPr>
          <p:cNvPr id="9" name="激励失配">
            <a:extLst xmlns:a="http://schemas.openxmlformats.org/drawingml/2006/main">
              <a:ext uri="{FF2B5EF4-FFF2-40B4-BE49-F238E27FC236}">
                <a16:creationId xmlns:a16="http://schemas.microsoft.com/office/drawing/2014/main" id="{FC14170D-3582-49D4-8A17-312F0A5C9421}"/>
              </a:ext>
            </a:extLst>
          </p:cNvPr>
          <p:cNvSpPr>
            <a:spLocks xmlns:a="http://schemas.openxmlformats.org/drawingml/2006/main" noGrp="1"/>
          </p:cNvSpPr>
          <p:nvPr/>
        </p:nvSpPr>
        <p:spPr>
          <a:xfrm xmlns:a="http://schemas.openxmlformats.org/drawingml/2006/main">
            <a:off x="8191500" y="1695450"/>
            <a:ext cx="3238500" cy="723900"/>
          </a:xfrm>
          <a:prstGeom xmlns:a="http://schemas.openxmlformats.org/drawingml/2006/main" prst="roundRect">
            <a:avLst>
              <a:gd name="adj" fmla="val 10526"/>
            </a:avLst>
          </a:prstGeom>
          <a:solidFill xmlns:a="http://schemas.openxmlformats.org/drawingml/2006/main">
            <a:srgbClr val="ED8B00"/>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激励失配</a:t>
            </a:r>
          </a:p>
        </p:txBody>
      </p:sp>
      <p:sp>
        <p:nvSpPr>
          <p:cNvPr id="10" name="text-新增收益归运营者，部分长期成本由">
            <a:extLst xmlns:a="http://schemas.openxmlformats.org/drawingml/2006/main">
              <a:ext uri="{FF2B5EF4-FFF2-40B4-BE49-F238E27FC236}">
                <a16:creationId xmlns:a16="http://schemas.microsoft.com/office/drawing/2014/main" id="{E2F61E0C-2CA4-4490-962E-6245612521C7}"/>
              </a:ext>
            </a:extLst>
          </p:cNvPr>
          <p:cNvSpPr>
            <a:spLocks xmlns:a="http://schemas.openxmlformats.org/drawingml/2006/main" noGrp="1"/>
          </p:cNvSpPr>
          <p:nvPr/>
        </p:nvSpPr>
        <p:spPr>
          <a:xfrm xmlns:a="http://schemas.openxmlformats.org/drawingml/2006/main">
            <a:off x="8267700" y="2657475"/>
            <a:ext cx="30861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新增收益归运营者，部分长期成本由他人与后代承担。</a:t>
            </a:r>
          </a:p>
        </p:txBody>
      </p:sp>
      <p:cxnSp>
        <p:nvCxnSpPr>
          <p:cNvPr id="77" name=""/>
          <p:cNvCxnSpPr>
            <a:stCxn xmlns:a="http://schemas.openxmlformats.org/drawingml/2006/main" id="5" idx="3"/>
            <a:endCxn xmlns:a="http://schemas.openxmlformats.org/drawingml/2006/main" id="7" idx="1"/>
          </p:cNvCxnSpPr>
          <p:nvPr/>
        </p:nvCxnSpPr>
        <p:spPr>
          <a:xfrm xmlns:a="http://schemas.openxmlformats.org/drawingml/2006/main">
            <a:off x="4000500" y="2057400"/>
            <a:ext cx="476250" cy="0"/>
          </a:xfrm>
          <a:prstGeom xmlns:a="http://schemas.openxmlformats.org/drawingml/2006/main" prst="straightConnector1">
            <a:avLst/>
          </a:prstGeom>
          <a:ln xmlns:a="http://schemas.openxmlformats.org/drawingml/2006/main" w="19050">
            <a:solidFill>
              <a:srgbClr val="617186"/>
            </a:solidFill>
            <a:tailEnd type="arrow" w="med" len="med"/>
          </a:ln>
        </p:spPr>
      </p:cxnSp>
      <p:cxnSp>
        <p:nvCxnSpPr>
          <p:cNvPr id="78" name=""/>
          <p:cNvCxnSpPr>
            <a:stCxn xmlns:a="http://schemas.openxmlformats.org/drawingml/2006/main" id="7" idx="3"/>
            <a:endCxn xmlns:a="http://schemas.openxmlformats.org/drawingml/2006/main" id="9" idx="1"/>
          </p:cNvCxnSpPr>
          <p:nvPr/>
        </p:nvCxnSpPr>
        <p:spPr>
          <a:xfrm xmlns:a="http://schemas.openxmlformats.org/drawingml/2006/main">
            <a:off x="7715250" y="2057400"/>
            <a:ext cx="476250" cy="0"/>
          </a:xfrm>
          <a:prstGeom xmlns:a="http://schemas.openxmlformats.org/drawingml/2006/main" prst="straightConnector1">
            <a:avLst/>
          </a:prstGeom>
          <a:ln xmlns:a="http://schemas.openxmlformats.org/drawingml/2006/main" w="19050">
            <a:solidFill>
              <a:srgbClr val="617186"/>
            </a:solidFill>
            <a:tailEnd type="arrow" w="med" len="med"/>
          </a:ln>
        </p:spPr>
      </p:cxnSp>
      <p:sp>
        <p:nvSpPr>
          <p:cNvPr id="13" name="text-制度条件">
            <a:extLst xmlns:a="http://schemas.openxmlformats.org/drawingml/2006/main">
              <a:ext uri="{FF2B5EF4-FFF2-40B4-BE49-F238E27FC236}">
                <a16:creationId xmlns:a16="http://schemas.microsoft.com/office/drawing/2014/main" id="{8A8ED5F7-0E95-403A-A21B-0628F85842FC}"/>
              </a:ext>
            </a:extLst>
          </p:cNvPr>
          <p:cNvSpPr>
            <a:spLocks xmlns:a="http://schemas.openxmlformats.org/drawingml/2006/main" noGrp="1"/>
          </p:cNvSpPr>
          <p:nvPr/>
        </p:nvSpPr>
        <p:spPr>
          <a:xfrm xmlns:a="http://schemas.openxmlformats.org/drawingml/2006/main">
            <a:off x="762000" y="445770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制度条件</a:t>
            </a:r>
          </a:p>
        </p:txBody>
      </p:sp>
      <p:sp>
        <p:nvSpPr>
          <p:cNvPr id="14" name="text-已有国家许可与离轨规则，但缺少统">
            <a:extLst xmlns:a="http://schemas.openxmlformats.org/drawingml/2006/main">
              <a:ext uri="{FF2B5EF4-FFF2-40B4-BE49-F238E27FC236}">
                <a16:creationId xmlns:a16="http://schemas.microsoft.com/office/drawing/2014/main" id="{A5720A6E-CFB2-4C5B-9880-94D0FB353EA6}"/>
              </a:ext>
            </a:extLst>
          </p:cNvPr>
          <p:cNvSpPr>
            <a:spLocks xmlns:a="http://schemas.openxmlformats.org/drawingml/2006/main" noGrp="1"/>
          </p:cNvSpPr>
          <p:nvPr/>
        </p:nvSpPr>
        <p:spPr>
          <a:xfrm xmlns:a="http://schemas.openxmlformats.org/drawingml/2006/main">
            <a:off x="2800350" y="4438650"/>
            <a:ext cx="8477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3F"/>
                </a:solidFill>
                <a:latin typeface="Microsoft YaHei"/>
                <a:ea typeface="Microsoft YaHei"/>
                <a:cs typeface="Microsoft YaHei"/>
              </a:defRPr>
            </a:pPr>
            <a:r>
              <a:rPr sz="2025" b="0">
                <a:solidFill>
                  <a:srgbClr val="14283F"/>
                </a:solidFill>
                <a:latin typeface="Microsoft YaHei"/>
                <a:ea typeface="Microsoft YaHei"/>
                <a:cs typeface="Microsoft YaHei"/>
              </a:rPr>
              <a:t>已有国家许可与离轨规则，但缺少统一、有效的跨国共同管理。</a:t>
            </a:r>
          </a:p>
        </p:txBody>
      </p:sp>
    </p:spTree>
    <p:extLst>
      <p:ext uri="{BB962C8B-B14F-4D97-AF65-F5344CB8AC3E}">
        <p14:creationId xmlns:p14="http://schemas.microsoft.com/office/powerpoint/2010/main" val="3868327217"/>
      </p:ext>
    </p:extLst>
  </p:cSld>
</p:sld>
</file>

<file path=ppt/slides/slide5.xml><?xml version="1.0" encoding="utf-8"?>
<p:sld xmlns:p="http://schemas.openxmlformats.org/presentationml/2006/main" showMasterSp="0">
  <p:cSld>
    <p:spTree>
      <p:nvGrpSpPr>
        <p:cNvPr id="1" name=""/>
        <p:cNvGrpSpPr/>
        <p:nvPr/>
      </p:nvGrpSpPr>
      <p:grpSpPr>
        <a:xfrm xmlns:a="http://schemas.openxmlformats.org/drawingml/2006/main"/>
      </p:grpSpPr>
      <p:sp>
        <p:nvSpPr>
          <p:cNvPr id="32"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0"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1"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2"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3"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4"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5"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6"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7"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8"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9"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50"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51"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52"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53"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54"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55"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56"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57"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84" name="text-议程与角色分工">
            <a:extLst xmlns:a="http://schemas.openxmlformats.org/drawingml/2006/main">
              <a:ext uri="{FF2B5EF4-FFF2-40B4-BE49-F238E27FC236}">
                <a16:creationId xmlns:a16="http://schemas.microsoft.com/office/drawing/2014/main" id="{4B355B5C-216F-4436-93F9-03BD7CFD18FA}"/>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议程与角色分工</a:t>
            </a:r>
          </a:p>
        </p:txBody>
      </p:sp>
      <p:sp>
        <p:nvSpPr>
          <p:cNvPr id="2" name="text-讨论顺序：事实证据、机制分析、价">
            <a:extLst xmlns:a="http://schemas.openxmlformats.org/drawingml/2006/main">
              <a:ext uri="{FF2B5EF4-FFF2-40B4-BE49-F238E27FC236}">
                <a16:creationId xmlns:a16="http://schemas.microsoft.com/office/drawing/2014/main" id="{B3DF00FA-ED38-4479-9368-B3584AEBFF60}"/>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讨论顺序：事实证据、机制分析、价值判断、治理行动。</a:t>
            </a:r>
          </a:p>
        </p:txBody>
      </p:sp>
      <p:sp>
        <p:nvSpPr>
          <p:cNvPr id="3" name="text-会议开场与理论框架  /  主持">
            <a:extLst xmlns:a="http://schemas.openxmlformats.org/drawingml/2006/main">
              <a:ext uri="{FF2B5EF4-FFF2-40B4-BE49-F238E27FC236}">
                <a16:creationId xmlns:a16="http://schemas.microsoft.com/office/drawing/2014/main" id="{E4E82762-FEBB-4CC3-B78E-3A574827F593}"/>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会议开场与理论框架  /  主持人</a:t>
            </a:r>
          </a:p>
        </p:txBody>
      </p:sp>
      <p:sp>
        <p:nvSpPr>
          <p:cNvPr id="4" name="text-03">
            <a:extLst xmlns:a="http://schemas.openxmlformats.org/drawingml/2006/main">
              <a:ext uri="{FF2B5EF4-FFF2-40B4-BE49-F238E27FC236}">
                <a16:creationId xmlns:a16="http://schemas.microsoft.com/office/drawing/2014/main" id="{74A65221-2AD2-43B9-A9DD-EFFFD0B01D3C}"/>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03</a:t>
            </a:r>
          </a:p>
        </p:txBody>
      </p:sp>
      <p:sp>
        <p:nvSpPr>
          <p:cNvPr id="5" name="text-01">
            <a:extLst xmlns:a="http://schemas.openxmlformats.org/drawingml/2006/main">
              <a:ext uri="{FF2B5EF4-FFF2-40B4-BE49-F238E27FC236}">
                <a16:creationId xmlns:a16="http://schemas.microsoft.com/office/drawing/2014/main" id="{F71BF2CF-9062-4D7C-9E3C-B221A2DE2934}"/>
              </a:ext>
            </a:extLst>
          </p:cNvPr>
          <p:cNvSpPr>
            <a:spLocks xmlns:a="http://schemas.openxmlformats.org/drawingml/2006/main" noGrp="1"/>
          </p:cNvSpPr>
          <p:nvPr/>
        </p:nvSpPr>
        <p:spPr>
          <a:xfrm xmlns:a="http://schemas.openxmlformats.org/drawingml/2006/main">
            <a:off x="762000" y="15621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5C5BFA"/>
                </a:solidFill>
                <a:latin typeface="Microsoft YaHei"/>
                <a:ea typeface="Microsoft YaHei"/>
                <a:cs typeface="Microsoft YaHei"/>
              </a:defRPr>
            </a:pPr>
            <a:r>
              <a:rPr sz="2850" b="1">
                <a:solidFill>
                  <a:srgbClr val="5C5BFA"/>
                </a:solidFill>
                <a:latin typeface="Microsoft YaHei"/>
                <a:ea typeface="Microsoft YaHei"/>
                <a:cs typeface="Microsoft YaHei"/>
              </a:rPr>
              <a:t>01</a:t>
            </a:r>
          </a:p>
        </p:txBody>
      </p:sp>
      <p:sp>
        <p:nvSpPr>
          <p:cNvPr id="6" name="text-主持人">
            <a:extLst xmlns:a="http://schemas.openxmlformats.org/drawingml/2006/main">
              <a:ext uri="{FF2B5EF4-FFF2-40B4-BE49-F238E27FC236}">
                <a16:creationId xmlns:a16="http://schemas.microsoft.com/office/drawing/2014/main" id="{21A270CE-E016-4BE8-B479-DCD79F9C5B03}"/>
              </a:ext>
            </a:extLst>
          </p:cNvPr>
          <p:cNvSpPr>
            <a:spLocks xmlns:a="http://schemas.openxmlformats.org/drawingml/2006/main" noGrp="1"/>
          </p:cNvSpPr>
          <p:nvPr/>
        </p:nvSpPr>
        <p:spPr>
          <a:xfrm xmlns:a="http://schemas.openxmlformats.org/drawingml/2006/main">
            <a:off x="1428750" y="1562100"/>
            <a:ext cx="2686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主持人</a:t>
            </a:r>
          </a:p>
        </p:txBody>
      </p:sp>
      <p:sp>
        <p:nvSpPr>
          <p:cNvPr id="7" name="text-明确命题与证据边界">
            <a:extLst xmlns:a="http://schemas.openxmlformats.org/drawingml/2006/main">
              <a:ext uri="{FF2B5EF4-FFF2-40B4-BE49-F238E27FC236}">
                <a16:creationId xmlns:a16="http://schemas.microsoft.com/office/drawing/2014/main" id="{C58170CD-6842-4699-9582-ED1EC79FEE7F}"/>
              </a:ext>
            </a:extLst>
          </p:cNvPr>
          <p:cNvSpPr>
            <a:spLocks xmlns:a="http://schemas.openxmlformats.org/drawingml/2006/main" noGrp="1"/>
          </p:cNvSpPr>
          <p:nvPr/>
        </p:nvSpPr>
        <p:spPr>
          <a:xfrm xmlns:a="http://schemas.openxmlformats.org/drawingml/2006/main">
            <a:off x="1428750" y="2057400"/>
            <a:ext cx="2686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3F"/>
                </a:solidFill>
                <a:latin typeface="Microsoft YaHei"/>
                <a:ea typeface="Microsoft YaHei"/>
                <a:cs typeface="Microsoft YaHei"/>
              </a:defRPr>
            </a:pPr>
            <a:r>
              <a:rPr sz="1725" b="0">
                <a:solidFill>
                  <a:srgbClr val="14283F"/>
                </a:solidFill>
                <a:latin typeface="Microsoft YaHei"/>
                <a:ea typeface="Microsoft YaHei"/>
                <a:cs typeface="Microsoft YaHei"/>
              </a:rPr>
              <a:t>明确命题与证据边界</a:t>
            </a:r>
          </a:p>
        </p:txBody>
      </p:sp>
      <p:sp>
        <p:nvSpPr>
          <p:cNvPr id="8" name="text-02">
            <a:extLst xmlns:a="http://schemas.openxmlformats.org/drawingml/2006/main">
              <a:ext uri="{FF2B5EF4-FFF2-40B4-BE49-F238E27FC236}">
                <a16:creationId xmlns:a16="http://schemas.microsoft.com/office/drawing/2014/main" id="{7ED4214C-D07B-49C1-800F-14FA7EEBDB6F}"/>
              </a:ext>
            </a:extLst>
          </p:cNvPr>
          <p:cNvSpPr>
            <a:spLocks xmlns:a="http://schemas.openxmlformats.org/drawingml/2006/main" noGrp="1"/>
          </p:cNvSpPr>
          <p:nvPr/>
        </p:nvSpPr>
        <p:spPr>
          <a:xfrm xmlns:a="http://schemas.openxmlformats.org/drawingml/2006/main">
            <a:off x="4476750" y="15621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5C5BFA"/>
                </a:solidFill>
                <a:latin typeface="Microsoft YaHei"/>
                <a:ea typeface="Microsoft YaHei"/>
                <a:cs typeface="Microsoft YaHei"/>
              </a:defRPr>
            </a:pPr>
            <a:r>
              <a:rPr sz="2850" b="1">
                <a:solidFill>
                  <a:srgbClr val="5C5BFA"/>
                </a:solidFill>
                <a:latin typeface="Microsoft YaHei"/>
                <a:ea typeface="Microsoft YaHei"/>
                <a:cs typeface="Microsoft YaHei"/>
              </a:rPr>
              <a:t>02</a:t>
            </a:r>
          </a:p>
        </p:txBody>
      </p:sp>
      <p:sp>
        <p:nvSpPr>
          <p:cNvPr id="9" name="text-调查组负责人">
            <a:extLst xmlns:a="http://schemas.openxmlformats.org/drawingml/2006/main">
              <a:ext uri="{FF2B5EF4-FFF2-40B4-BE49-F238E27FC236}">
                <a16:creationId xmlns:a16="http://schemas.microsoft.com/office/drawing/2014/main" id="{067934F8-36BD-4F86-A495-93DC35C7E170}"/>
              </a:ext>
            </a:extLst>
          </p:cNvPr>
          <p:cNvSpPr>
            <a:spLocks xmlns:a="http://schemas.openxmlformats.org/drawingml/2006/main" noGrp="1"/>
          </p:cNvSpPr>
          <p:nvPr/>
        </p:nvSpPr>
        <p:spPr>
          <a:xfrm xmlns:a="http://schemas.openxmlformats.org/drawingml/2006/main">
            <a:off x="5143500" y="1562100"/>
            <a:ext cx="2686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调查组负责人</a:t>
            </a:r>
          </a:p>
        </p:txBody>
      </p:sp>
      <p:sp>
        <p:nvSpPr>
          <p:cNvPr id="10" name="text-危机怎样形成？">
            <a:extLst xmlns:a="http://schemas.openxmlformats.org/drawingml/2006/main">
              <a:ext uri="{FF2B5EF4-FFF2-40B4-BE49-F238E27FC236}">
                <a16:creationId xmlns:a16="http://schemas.microsoft.com/office/drawing/2014/main" id="{70C437C0-3A64-4FA3-8A26-03E943BE66D1}"/>
              </a:ext>
            </a:extLst>
          </p:cNvPr>
          <p:cNvSpPr>
            <a:spLocks xmlns:a="http://schemas.openxmlformats.org/drawingml/2006/main" noGrp="1"/>
          </p:cNvSpPr>
          <p:nvPr/>
        </p:nvSpPr>
        <p:spPr>
          <a:xfrm xmlns:a="http://schemas.openxmlformats.org/drawingml/2006/main">
            <a:off x="5143500" y="2057400"/>
            <a:ext cx="2686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3F"/>
                </a:solidFill>
                <a:latin typeface="Microsoft YaHei"/>
                <a:ea typeface="Microsoft YaHei"/>
                <a:cs typeface="Microsoft YaHei"/>
              </a:defRPr>
            </a:pPr>
            <a:r>
              <a:rPr sz="1725" b="0">
                <a:solidFill>
                  <a:srgbClr val="14283F"/>
                </a:solidFill>
                <a:latin typeface="Microsoft YaHei"/>
                <a:ea typeface="Microsoft YaHei"/>
                <a:cs typeface="Microsoft YaHei"/>
              </a:rPr>
              <a:t>危机怎样形成？</a:t>
            </a:r>
          </a:p>
        </p:txBody>
      </p:sp>
      <p:sp>
        <p:nvSpPr>
          <p:cNvPr id="11" name="text-03">
            <a:extLst xmlns:a="http://schemas.openxmlformats.org/drawingml/2006/main">
              <a:ext uri="{FF2B5EF4-FFF2-40B4-BE49-F238E27FC236}">
                <a16:creationId xmlns:a16="http://schemas.microsoft.com/office/drawing/2014/main" id="{46B205AC-AE20-4F49-9AF6-CD5A3A8A9436}"/>
              </a:ext>
            </a:extLst>
          </p:cNvPr>
          <p:cNvSpPr>
            <a:spLocks xmlns:a="http://schemas.openxmlformats.org/drawingml/2006/main" noGrp="1"/>
          </p:cNvSpPr>
          <p:nvPr/>
        </p:nvSpPr>
        <p:spPr>
          <a:xfrm xmlns:a="http://schemas.openxmlformats.org/drawingml/2006/main">
            <a:off x="8191500" y="15621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5C5BFA"/>
                </a:solidFill>
                <a:latin typeface="Microsoft YaHei"/>
                <a:ea typeface="Microsoft YaHei"/>
                <a:cs typeface="Microsoft YaHei"/>
              </a:defRPr>
            </a:pPr>
            <a:r>
              <a:rPr sz="2850" b="1">
                <a:solidFill>
                  <a:srgbClr val="5C5BFA"/>
                </a:solidFill>
                <a:latin typeface="Microsoft YaHei"/>
                <a:ea typeface="Microsoft YaHei"/>
                <a:cs typeface="Microsoft YaHei"/>
              </a:rPr>
              <a:t>03</a:t>
            </a:r>
          </a:p>
        </p:txBody>
      </p:sp>
      <p:sp>
        <p:nvSpPr>
          <p:cNvPr id="12" name="text-技术专家">
            <a:extLst xmlns:a="http://schemas.openxmlformats.org/drawingml/2006/main">
              <a:ext uri="{FF2B5EF4-FFF2-40B4-BE49-F238E27FC236}">
                <a16:creationId xmlns:a16="http://schemas.microsoft.com/office/drawing/2014/main" id="{5E081C28-CE61-46BB-9E97-1A9BECD73E2E}"/>
              </a:ext>
            </a:extLst>
          </p:cNvPr>
          <p:cNvSpPr>
            <a:spLocks xmlns:a="http://schemas.openxmlformats.org/drawingml/2006/main" noGrp="1"/>
          </p:cNvSpPr>
          <p:nvPr/>
        </p:nvSpPr>
        <p:spPr>
          <a:xfrm xmlns:a="http://schemas.openxmlformats.org/drawingml/2006/main">
            <a:off x="8858250" y="1562100"/>
            <a:ext cx="2686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技术专家</a:t>
            </a:r>
          </a:p>
        </p:txBody>
      </p:sp>
      <p:sp>
        <p:nvSpPr>
          <p:cNvPr id="13" name="text-自动避碰有哪些边界？">
            <a:extLst xmlns:a="http://schemas.openxmlformats.org/drawingml/2006/main">
              <a:ext uri="{FF2B5EF4-FFF2-40B4-BE49-F238E27FC236}">
                <a16:creationId xmlns:a16="http://schemas.microsoft.com/office/drawing/2014/main" id="{E85CDA0B-B8FE-4F2C-81F1-A6EE29170072}"/>
              </a:ext>
            </a:extLst>
          </p:cNvPr>
          <p:cNvSpPr>
            <a:spLocks xmlns:a="http://schemas.openxmlformats.org/drawingml/2006/main" noGrp="1"/>
          </p:cNvSpPr>
          <p:nvPr/>
        </p:nvSpPr>
        <p:spPr>
          <a:xfrm xmlns:a="http://schemas.openxmlformats.org/drawingml/2006/main">
            <a:off x="8858250" y="2057400"/>
            <a:ext cx="2686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3F"/>
                </a:solidFill>
                <a:latin typeface="Microsoft YaHei"/>
                <a:ea typeface="Microsoft YaHei"/>
                <a:cs typeface="Microsoft YaHei"/>
              </a:defRPr>
            </a:pPr>
            <a:r>
              <a:rPr sz="1725" b="0">
                <a:solidFill>
                  <a:srgbClr val="14283F"/>
                </a:solidFill>
                <a:latin typeface="Microsoft YaHei"/>
                <a:ea typeface="Microsoft YaHei"/>
                <a:cs typeface="Microsoft YaHei"/>
              </a:rPr>
              <a:t>自动避碰有哪些边界？</a:t>
            </a:r>
          </a:p>
        </p:txBody>
      </p:sp>
      <p:sp>
        <p:nvSpPr>
          <p:cNvPr id="14" name="text-04">
            <a:extLst xmlns:a="http://schemas.openxmlformats.org/drawingml/2006/main">
              <a:ext uri="{FF2B5EF4-FFF2-40B4-BE49-F238E27FC236}">
                <a16:creationId xmlns:a16="http://schemas.microsoft.com/office/drawing/2014/main" id="{C7EF4291-93D6-4B59-AB52-52DCD123C792}"/>
              </a:ext>
            </a:extLst>
          </p:cNvPr>
          <p:cNvSpPr>
            <a:spLocks xmlns:a="http://schemas.openxmlformats.org/drawingml/2006/main" noGrp="1"/>
          </p:cNvSpPr>
          <p:nvPr/>
        </p:nvSpPr>
        <p:spPr>
          <a:xfrm xmlns:a="http://schemas.openxmlformats.org/drawingml/2006/main">
            <a:off x="762000" y="27813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5C5BFA"/>
                </a:solidFill>
                <a:latin typeface="Microsoft YaHei"/>
                <a:ea typeface="Microsoft YaHei"/>
                <a:cs typeface="Microsoft YaHei"/>
              </a:defRPr>
            </a:pPr>
            <a:r>
              <a:rPr sz="2850" b="1">
                <a:solidFill>
                  <a:srgbClr val="5C5BFA"/>
                </a:solidFill>
                <a:latin typeface="Microsoft YaHei"/>
                <a:ea typeface="Microsoft YaHei"/>
                <a:cs typeface="Microsoft YaHei"/>
              </a:rPr>
              <a:t>04</a:t>
            </a:r>
          </a:p>
        </p:txBody>
      </p:sp>
      <p:sp>
        <p:nvSpPr>
          <p:cNvPr id="15" name="text-影响专家">
            <a:extLst xmlns:a="http://schemas.openxmlformats.org/drawingml/2006/main">
              <a:ext uri="{FF2B5EF4-FFF2-40B4-BE49-F238E27FC236}">
                <a16:creationId xmlns:a16="http://schemas.microsoft.com/office/drawing/2014/main" id="{DE27D3BE-E3B5-41BA-9756-F43C58B8F5F9}"/>
              </a:ext>
            </a:extLst>
          </p:cNvPr>
          <p:cNvSpPr>
            <a:spLocks xmlns:a="http://schemas.openxmlformats.org/drawingml/2006/main" noGrp="1"/>
          </p:cNvSpPr>
          <p:nvPr/>
        </p:nvSpPr>
        <p:spPr>
          <a:xfrm xmlns:a="http://schemas.openxmlformats.org/drawingml/2006/main">
            <a:off x="1428750" y="2781300"/>
            <a:ext cx="2686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影响专家</a:t>
            </a:r>
          </a:p>
        </p:txBody>
      </p:sp>
      <p:sp>
        <p:nvSpPr>
          <p:cNvPr id="16" name="text-公共资源损失如何分配？">
            <a:extLst xmlns:a="http://schemas.openxmlformats.org/drawingml/2006/main">
              <a:ext uri="{FF2B5EF4-FFF2-40B4-BE49-F238E27FC236}">
                <a16:creationId xmlns:a16="http://schemas.microsoft.com/office/drawing/2014/main" id="{65A30DC0-F6A8-400A-B26E-9DF2E4CE2549}"/>
              </a:ext>
            </a:extLst>
          </p:cNvPr>
          <p:cNvSpPr>
            <a:spLocks xmlns:a="http://schemas.openxmlformats.org/drawingml/2006/main" noGrp="1"/>
          </p:cNvSpPr>
          <p:nvPr/>
        </p:nvSpPr>
        <p:spPr>
          <a:xfrm xmlns:a="http://schemas.openxmlformats.org/drawingml/2006/main">
            <a:off x="1428750" y="3276600"/>
            <a:ext cx="2686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3F"/>
                </a:solidFill>
                <a:latin typeface="Microsoft YaHei"/>
                <a:ea typeface="Microsoft YaHei"/>
                <a:cs typeface="Microsoft YaHei"/>
              </a:defRPr>
            </a:pPr>
            <a:r>
              <a:rPr sz="1725" b="0">
                <a:solidFill>
                  <a:srgbClr val="14283F"/>
                </a:solidFill>
                <a:latin typeface="Microsoft YaHei"/>
                <a:ea typeface="Microsoft YaHei"/>
                <a:cs typeface="Microsoft YaHei"/>
              </a:rPr>
              <a:t>公共资源损失如何分配？</a:t>
            </a:r>
          </a:p>
        </p:txBody>
      </p:sp>
      <p:sp>
        <p:nvSpPr>
          <p:cNvPr id="17" name="text-05">
            <a:extLst xmlns:a="http://schemas.openxmlformats.org/drawingml/2006/main">
              <a:ext uri="{FF2B5EF4-FFF2-40B4-BE49-F238E27FC236}">
                <a16:creationId xmlns:a16="http://schemas.microsoft.com/office/drawing/2014/main" id="{0501120E-3AA1-457B-9ADE-20697390A235}"/>
              </a:ext>
            </a:extLst>
          </p:cNvPr>
          <p:cNvSpPr>
            <a:spLocks xmlns:a="http://schemas.openxmlformats.org/drawingml/2006/main" noGrp="1"/>
          </p:cNvSpPr>
          <p:nvPr/>
        </p:nvSpPr>
        <p:spPr>
          <a:xfrm xmlns:a="http://schemas.openxmlformats.org/drawingml/2006/main">
            <a:off x="4476750" y="27813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5C5BFA"/>
                </a:solidFill>
                <a:latin typeface="Microsoft YaHei"/>
                <a:ea typeface="Microsoft YaHei"/>
                <a:cs typeface="Microsoft YaHei"/>
              </a:defRPr>
            </a:pPr>
            <a:r>
              <a:rPr sz="2850" b="1">
                <a:solidFill>
                  <a:srgbClr val="5C5BFA"/>
                </a:solidFill>
                <a:latin typeface="Microsoft YaHei"/>
                <a:ea typeface="Microsoft YaHei"/>
                <a:cs typeface="Microsoft YaHei"/>
              </a:rPr>
              <a:t>05</a:t>
            </a:r>
          </a:p>
        </p:txBody>
      </p:sp>
      <p:sp>
        <p:nvSpPr>
          <p:cNvPr id="18" name="text-伦理专家">
            <a:extLst xmlns:a="http://schemas.openxmlformats.org/drawingml/2006/main">
              <a:ext uri="{FF2B5EF4-FFF2-40B4-BE49-F238E27FC236}">
                <a16:creationId xmlns:a16="http://schemas.microsoft.com/office/drawing/2014/main" id="{2BD82FC5-B4DB-41E5-9B5F-28FD90739047}"/>
              </a:ext>
            </a:extLst>
          </p:cNvPr>
          <p:cNvSpPr>
            <a:spLocks xmlns:a="http://schemas.openxmlformats.org/drawingml/2006/main" noGrp="1"/>
          </p:cNvSpPr>
          <p:nvPr/>
        </p:nvSpPr>
        <p:spPr>
          <a:xfrm xmlns:a="http://schemas.openxmlformats.org/drawingml/2006/main">
            <a:off x="5143500" y="2781300"/>
            <a:ext cx="2686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伦理专家</a:t>
            </a:r>
          </a:p>
        </p:txBody>
      </p:sp>
      <p:sp>
        <p:nvSpPr>
          <p:cNvPr id="19" name="text-利益与公地怎样权衡？">
            <a:extLst xmlns:a="http://schemas.openxmlformats.org/drawingml/2006/main">
              <a:ext uri="{FF2B5EF4-FFF2-40B4-BE49-F238E27FC236}">
                <a16:creationId xmlns:a16="http://schemas.microsoft.com/office/drawing/2014/main" id="{B78B5864-23BC-4102-B7D9-2EEEE367BEB1}"/>
              </a:ext>
            </a:extLst>
          </p:cNvPr>
          <p:cNvSpPr>
            <a:spLocks xmlns:a="http://schemas.openxmlformats.org/drawingml/2006/main" noGrp="1"/>
          </p:cNvSpPr>
          <p:nvPr/>
        </p:nvSpPr>
        <p:spPr>
          <a:xfrm xmlns:a="http://schemas.openxmlformats.org/drawingml/2006/main">
            <a:off x="5143500" y="3276600"/>
            <a:ext cx="2686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3F"/>
                </a:solidFill>
                <a:latin typeface="Microsoft YaHei"/>
                <a:ea typeface="Microsoft YaHei"/>
                <a:cs typeface="Microsoft YaHei"/>
              </a:defRPr>
            </a:pPr>
            <a:r>
              <a:rPr sz="1725" b="0">
                <a:solidFill>
                  <a:srgbClr val="14283F"/>
                </a:solidFill>
                <a:latin typeface="Microsoft YaHei"/>
                <a:ea typeface="Microsoft YaHei"/>
                <a:cs typeface="Microsoft YaHei"/>
              </a:rPr>
              <a:t>利益与公地怎样权衡？</a:t>
            </a:r>
          </a:p>
        </p:txBody>
      </p:sp>
      <p:sp>
        <p:nvSpPr>
          <p:cNvPr id="20" name="text-06">
            <a:extLst xmlns:a="http://schemas.openxmlformats.org/drawingml/2006/main">
              <a:ext uri="{FF2B5EF4-FFF2-40B4-BE49-F238E27FC236}">
                <a16:creationId xmlns:a16="http://schemas.microsoft.com/office/drawing/2014/main" id="{9B5DD3AC-4A1F-4406-AF0A-084DE0355C15}"/>
              </a:ext>
            </a:extLst>
          </p:cNvPr>
          <p:cNvSpPr>
            <a:spLocks xmlns:a="http://schemas.openxmlformats.org/drawingml/2006/main" noGrp="1"/>
          </p:cNvSpPr>
          <p:nvPr/>
        </p:nvSpPr>
        <p:spPr>
          <a:xfrm xmlns:a="http://schemas.openxmlformats.org/drawingml/2006/main">
            <a:off x="8191500" y="27813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5C5BFA"/>
                </a:solidFill>
                <a:latin typeface="Microsoft YaHei"/>
                <a:ea typeface="Microsoft YaHei"/>
                <a:cs typeface="Microsoft YaHei"/>
              </a:defRPr>
            </a:pPr>
            <a:r>
              <a:rPr sz="2850" b="1">
                <a:solidFill>
                  <a:srgbClr val="5C5BFA"/>
                </a:solidFill>
                <a:latin typeface="Microsoft YaHei"/>
                <a:ea typeface="Microsoft YaHei"/>
                <a:cs typeface="Microsoft YaHei"/>
              </a:rPr>
              <a:t>06</a:t>
            </a:r>
          </a:p>
        </p:txBody>
      </p:sp>
      <p:sp>
        <p:nvSpPr>
          <p:cNvPr id="21" name="text-治理专家">
            <a:extLst xmlns:a="http://schemas.openxmlformats.org/drawingml/2006/main">
              <a:ext uri="{FF2B5EF4-FFF2-40B4-BE49-F238E27FC236}">
                <a16:creationId xmlns:a16="http://schemas.microsoft.com/office/drawing/2014/main" id="{26E143AF-EA5A-4B4A-95DE-818FD0476A5A}"/>
              </a:ext>
            </a:extLst>
          </p:cNvPr>
          <p:cNvSpPr>
            <a:spLocks xmlns:a="http://schemas.openxmlformats.org/drawingml/2006/main" noGrp="1"/>
          </p:cNvSpPr>
          <p:nvPr/>
        </p:nvSpPr>
        <p:spPr>
          <a:xfrm xmlns:a="http://schemas.openxmlformats.org/drawingml/2006/main">
            <a:off x="8858250" y="2781300"/>
            <a:ext cx="2686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治理专家</a:t>
            </a:r>
          </a:p>
        </p:txBody>
      </p:sp>
      <p:sp>
        <p:nvSpPr>
          <p:cNvPr id="22" name="text-各企业承担什么责任？">
            <a:extLst xmlns:a="http://schemas.openxmlformats.org/drawingml/2006/main">
              <a:ext uri="{FF2B5EF4-FFF2-40B4-BE49-F238E27FC236}">
                <a16:creationId xmlns:a16="http://schemas.microsoft.com/office/drawing/2014/main" id="{1D3F4AD4-D1C4-41E3-BA66-ECDD03498D12}"/>
              </a:ext>
            </a:extLst>
          </p:cNvPr>
          <p:cNvSpPr>
            <a:spLocks xmlns:a="http://schemas.openxmlformats.org/drawingml/2006/main" noGrp="1"/>
          </p:cNvSpPr>
          <p:nvPr/>
        </p:nvSpPr>
        <p:spPr>
          <a:xfrm xmlns:a="http://schemas.openxmlformats.org/drawingml/2006/main">
            <a:off x="8858250" y="3276600"/>
            <a:ext cx="2686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3F"/>
                </a:solidFill>
                <a:latin typeface="Microsoft YaHei"/>
                <a:ea typeface="Microsoft YaHei"/>
                <a:cs typeface="Microsoft YaHei"/>
              </a:defRPr>
            </a:pPr>
            <a:r>
              <a:rPr sz="1725" b="0">
                <a:solidFill>
                  <a:srgbClr val="14283F"/>
                </a:solidFill>
                <a:latin typeface="Microsoft YaHei"/>
                <a:ea typeface="Microsoft YaHei"/>
                <a:cs typeface="Microsoft YaHei"/>
              </a:rPr>
              <a:t>各企业承担什么责任？</a:t>
            </a:r>
          </a:p>
        </p:txBody>
      </p:sp>
      <p:sp>
        <p:nvSpPr>
          <p:cNvPr id="23" name="text-07">
            <a:extLst xmlns:a="http://schemas.openxmlformats.org/drawingml/2006/main">
              <a:ext uri="{FF2B5EF4-FFF2-40B4-BE49-F238E27FC236}">
                <a16:creationId xmlns:a16="http://schemas.microsoft.com/office/drawing/2014/main" id="{3B38D0A5-9D95-4FC7-BF24-481F3BB0D9DE}"/>
              </a:ext>
            </a:extLst>
          </p:cNvPr>
          <p:cNvSpPr>
            <a:spLocks xmlns:a="http://schemas.openxmlformats.org/drawingml/2006/main" noGrp="1"/>
          </p:cNvSpPr>
          <p:nvPr/>
        </p:nvSpPr>
        <p:spPr>
          <a:xfrm xmlns:a="http://schemas.openxmlformats.org/drawingml/2006/main">
            <a:off x="762000" y="40005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5C5BFA"/>
                </a:solidFill>
                <a:latin typeface="Microsoft YaHei"/>
                <a:ea typeface="Microsoft YaHei"/>
                <a:cs typeface="Microsoft YaHei"/>
              </a:defRPr>
            </a:pPr>
            <a:r>
              <a:rPr sz="2850" b="1">
                <a:solidFill>
                  <a:srgbClr val="5C5BFA"/>
                </a:solidFill>
                <a:latin typeface="Microsoft YaHei"/>
                <a:ea typeface="Microsoft YaHei"/>
                <a:cs typeface="Microsoft YaHei"/>
              </a:rPr>
              <a:t>07</a:t>
            </a:r>
          </a:p>
        </p:txBody>
      </p:sp>
      <p:sp>
        <p:nvSpPr>
          <p:cNvPr id="24" name="text-客户代表">
            <a:extLst xmlns:a="http://schemas.openxmlformats.org/drawingml/2006/main">
              <a:ext uri="{FF2B5EF4-FFF2-40B4-BE49-F238E27FC236}">
                <a16:creationId xmlns:a16="http://schemas.microsoft.com/office/drawing/2014/main" id="{E814FC97-4046-4A61-8D33-E924D9FA6B21}"/>
              </a:ext>
            </a:extLst>
          </p:cNvPr>
          <p:cNvSpPr>
            <a:spLocks xmlns:a="http://schemas.openxmlformats.org/drawingml/2006/main" noGrp="1"/>
          </p:cNvSpPr>
          <p:nvPr/>
        </p:nvSpPr>
        <p:spPr>
          <a:xfrm xmlns:a="http://schemas.openxmlformats.org/drawingml/2006/main">
            <a:off x="1428750" y="4000500"/>
            <a:ext cx="2686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客户代表</a:t>
            </a:r>
          </a:p>
        </p:txBody>
      </p:sp>
      <p:sp>
        <p:nvSpPr>
          <p:cNvPr id="25" name="text-谁承担负外部性？">
            <a:extLst xmlns:a="http://schemas.openxmlformats.org/drawingml/2006/main">
              <a:ext uri="{FF2B5EF4-FFF2-40B4-BE49-F238E27FC236}">
                <a16:creationId xmlns:a16="http://schemas.microsoft.com/office/drawing/2014/main" id="{257C9DF7-E5B1-4298-905D-C7447D17E772}"/>
              </a:ext>
            </a:extLst>
          </p:cNvPr>
          <p:cNvSpPr>
            <a:spLocks xmlns:a="http://schemas.openxmlformats.org/drawingml/2006/main" noGrp="1"/>
          </p:cNvSpPr>
          <p:nvPr/>
        </p:nvSpPr>
        <p:spPr>
          <a:xfrm xmlns:a="http://schemas.openxmlformats.org/drawingml/2006/main">
            <a:off x="1428750" y="4495800"/>
            <a:ext cx="2686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3F"/>
                </a:solidFill>
                <a:latin typeface="Microsoft YaHei"/>
                <a:ea typeface="Microsoft YaHei"/>
                <a:cs typeface="Microsoft YaHei"/>
              </a:defRPr>
            </a:pPr>
            <a:r>
              <a:rPr sz="1725" b="0">
                <a:solidFill>
                  <a:srgbClr val="14283F"/>
                </a:solidFill>
                <a:latin typeface="Microsoft YaHei"/>
                <a:ea typeface="Microsoft YaHei"/>
                <a:cs typeface="Microsoft YaHei"/>
              </a:rPr>
              <a:t>谁承担负外部性？</a:t>
            </a:r>
          </a:p>
        </p:txBody>
      </p:sp>
      <p:sp>
        <p:nvSpPr>
          <p:cNvPr id="26" name="text-08">
            <a:extLst xmlns:a="http://schemas.openxmlformats.org/drawingml/2006/main">
              <a:ext uri="{FF2B5EF4-FFF2-40B4-BE49-F238E27FC236}">
                <a16:creationId xmlns:a16="http://schemas.microsoft.com/office/drawing/2014/main" id="{CE421673-7B36-49DD-B64B-4BCEFB634A24}"/>
              </a:ext>
            </a:extLst>
          </p:cNvPr>
          <p:cNvSpPr>
            <a:spLocks xmlns:a="http://schemas.openxmlformats.org/drawingml/2006/main" noGrp="1"/>
          </p:cNvSpPr>
          <p:nvPr/>
        </p:nvSpPr>
        <p:spPr>
          <a:xfrm xmlns:a="http://schemas.openxmlformats.org/drawingml/2006/main">
            <a:off x="4476750" y="40005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5C5BFA"/>
                </a:solidFill>
                <a:latin typeface="Microsoft YaHei"/>
                <a:ea typeface="Microsoft YaHei"/>
                <a:cs typeface="Microsoft YaHei"/>
              </a:defRPr>
            </a:pPr>
            <a:r>
              <a:rPr sz="2850" b="1">
                <a:solidFill>
                  <a:srgbClr val="5C5BFA"/>
                </a:solidFill>
                <a:latin typeface="Microsoft YaHei"/>
                <a:ea typeface="Microsoft YaHei"/>
                <a:cs typeface="Microsoft YaHei"/>
              </a:rPr>
              <a:t>08</a:t>
            </a:r>
          </a:p>
        </p:txBody>
      </p:sp>
      <p:sp>
        <p:nvSpPr>
          <p:cNvPr id="27" name="text-监管专家">
            <a:extLst xmlns:a="http://schemas.openxmlformats.org/drawingml/2006/main">
              <a:ext uri="{FF2B5EF4-FFF2-40B4-BE49-F238E27FC236}">
                <a16:creationId xmlns:a16="http://schemas.microsoft.com/office/drawing/2014/main" id="{4954C4C0-A8CD-4E32-89F6-05673F57E637}"/>
              </a:ext>
            </a:extLst>
          </p:cNvPr>
          <p:cNvSpPr>
            <a:spLocks xmlns:a="http://schemas.openxmlformats.org/drawingml/2006/main" noGrp="1"/>
          </p:cNvSpPr>
          <p:nvPr/>
        </p:nvSpPr>
        <p:spPr>
          <a:xfrm xmlns:a="http://schemas.openxmlformats.org/drawingml/2006/main">
            <a:off x="5143500" y="4000500"/>
            <a:ext cx="2686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监管专家</a:t>
            </a:r>
          </a:p>
        </p:txBody>
      </p:sp>
      <p:sp>
        <p:nvSpPr>
          <p:cNvPr id="28" name="text-规则为何难以协同？">
            <a:extLst xmlns:a="http://schemas.openxmlformats.org/drawingml/2006/main">
              <a:ext uri="{FF2B5EF4-FFF2-40B4-BE49-F238E27FC236}">
                <a16:creationId xmlns:a16="http://schemas.microsoft.com/office/drawing/2014/main" id="{CD5E5D5D-A0BC-42EC-A23F-D287EFC650CD}"/>
              </a:ext>
            </a:extLst>
          </p:cNvPr>
          <p:cNvSpPr>
            <a:spLocks xmlns:a="http://schemas.openxmlformats.org/drawingml/2006/main" noGrp="1"/>
          </p:cNvSpPr>
          <p:nvPr/>
        </p:nvSpPr>
        <p:spPr>
          <a:xfrm xmlns:a="http://schemas.openxmlformats.org/drawingml/2006/main">
            <a:off x="5143500" y="4495800"/>
            <a:ext cx="2686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3F"/>
                </a:solidFill>
                <a:latin typeface="Microsoft YaHei"/>
                <a:ea typeface="Microsoft YaHei"/>
                <a:cs typeface="Microsoft YaHei"/>
              </a:defRPr>
            </a:pPr>
            <a:r>
              <a:rPr sz="1725" b="0">
                <a:solidFill>
                  <a:srgbClr val="14283F"/>
                </a:solidFill>
                <a:latin typeface="Microsoft YaHei"/>
                <a:ea typeface="Microsoft YaHei"/>
                <a:cs typeface="Microsoft YaHei"/>
              </a:rPr>
              <a:t>规则为何难以协同？</a:t>
            </a:r>
          </a:p>
        </p:txBody>
      </p:sp>
      <p:sp>
        <p:nvSpPr>
          <p:cNvPr id="29" name="text-09">
            <a:extLst xmlns:a="http://schemas.openxmlformats.org/drawingml/2006/main">
              <a:ext uri="{FF2B5EF4-FFF2-40B4-BE49-F238E27FC236}">
                <a16:creationId xmlns:a16="http://schemas.microsoft.com/office/drawing/2014/main" id="{3670CBCF-CFB8-4FD4-B10E-8216823497FB}"/>
              </a:ext>
            </a:extLst>
          </p:cNvPr>
          <p:cNvSpPr>
            <a:spLocks xmlns:a="http://schemas.openxmlformats.org/drawingml/2006/main" noGrp="1"/>
          </p:cNvSpPr>
          <p:nvPr/>
        </p:nvSpPr>
        <p:spPr>
          <a:xfrm xmlns:a="http://schemas.openxmlformats.org/drawingml/2006/main">
            <a:off x="8191500" y="40005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5C5BFA"/>
                </a:solidFill>
                <a:latin typeface="Microsoft YaHei"/>
                <a:ea typeface="Microsoft YaHei"/>
                <a:cs typeface="Microsoft YaHei"/>
              </a:defRPr>
            </a:pPr>
            <a:r>
              <a:rPr sz="2850" b="1">
                <a:solidFill>
                  <a:srgbClr val="5C5BFA"/>
                </a:solidFill>
                <a:latin typeface="Microsoft YaHei"/>
                <a:ea typeface="Microsoft YaHei"/>
                <a:cs typeface="Microsoft YaHei"/>
              </a:rPr>
              <a:t>09</a:t>
            </a:r>
          </a:p>
        </p:txBody>
      </p:sp>
      <p:sp>
        <p:nvSpPr>
          <p:cNvPr id="30" name="text-总结发言人">
            <a:extLst xmlns:a="http://schemas.openxmlformats.org/drawingml/2006/main">
              <a:ext uri="{FF2B5EF4-FFF2-40B4-BE49-F238E27FC236}">
                <a16:creationId xmlns:a16="http://schemas.microsoft.com/office/drawing/2014/main" id="{5FC24D7F-52D3-4553-BA22-CD98EAF29D29}"/>
              </a:ext>
            </a:extLst>
          </p:cNvPr>
          <p:cNvSpPr>
            <a:spLocks xmlns:a="http://schemas.openxmlformats.org/drawingml/2006/main" noGrp="1"/>
          </p:cNvSpPr>
          <p:nvPr/>
        </p:nvSpPr>
        <p:spPr>
          <a:xfrm xmlns:a="http://schemas.openxmlformats.org/drawingml/2006/main">
            <a:off x="8858250" y="4000500"/>
            <a:ext cx="2686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总结发言人</a:t>
            </a:r>
          </a:p>
        </p:txBody>
      </p:sp>
      <p:sp>
        <p:nvSpPr>
          <p:cNvPr id="31" name="text-如何形成责任闭环？">
            <a:extLst xmlns:a="http://schemas.openxmlformats.org/drawingml/2006/main">
              <a:ext uri="{FF2B5EF4-FFF2-40B4-BE49-F238E27FC236}">
                <a16:creationId xmlns:a16="http://schemas.microsoft.com/office/drawing/2014/main" id="{0F946EAA-241B-4A80-9D94-2053C045BC78}"/>
              </a:ext>
            </a:extLst>
          </p:cNvPr>
          <p:cNvSpPr>
            <a:spLocks xmlns:a="http://schemas.openxmlformats.org/drawingml/2006/main" noGrp="1"/>
          </p:cNvSpPr>
          <p:nvPr/>
        </p:nvSpPr>
        <p:spPr>
          <a:xfrm xmlns:a="http://schemas.openxmlformats.org/drawingml/2006/main">
            <a:off x="8858250" y="4495800"/>
            <a:ext cx="2686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3F"/>
                </a:solidFill>
                <a:latin typeface="Microsoft YaHei"/>
                <a:ea typeface="Microsoft YaHei"/>
                <a:cs typeface="Microsoft YaHei"/>
              </a:defRPr>
            </a:pPr>
            <a:r>
              <a:rPr sz="1725" b="0">
                <a:solidFill>
                  <a:srgbClr val="14283F"/>
                </a:solidFill>
                <a:latin typeface="Microsoft YaHei"/>
                <a:ea typeface="Microsoft YaHei"/>
                <a:cs typeface="Microsoft YaHei"/>
              </a:rPr>
              <a:t>如何形成责任闭环？</a:t>
            </a:r>
          </a:p>
        </p:txBody>
      </p:sp>
    </p:spTree>
    <p:extLst>
      <p:ext uri="{BB962C8B-B14F-4D97-AF65-F5344CB8AC3E}">
        <p14:creationId xmlns:p14="http://schemas.microsoft.com/office/powerpoint/2010/main" val="3868327217"/>
      </p:ext>
    </p:extLst>
  </p:cSld>
</p:sld>
</file>

<file path=ppt/slides/slide6.xml><?xml version="1.0" encoding="utf-8"?>
<p:sld xmlns:p="http://schemas.openxmlformats.org/presentationml/2006/main" showMasterSp="0">
  <p:cSld>
    <p:spTree>
      <p:nvGrpSpPr>
        <p:cNvPr id="1" name=""/>
        <p:cNvGrpSpPr/>
        <p:nvPr/>
      </p:nvGrpSpPr>
      <p:grpSpPr>
        <a:xfrm xmlns:a="http://schemas.openxmlformats.org/drawingml/2006/main"/>
      </p:grpSpPr>
      <p:sp>
        <p:nvSpPr>
          <p:cNvPr id="11"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3"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4"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5"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3" name="text-案例背景：巨型星座的“圈地运动”">
            <a:extLst xmlns:a="http://schemas.openxmlformats.org/drawingml/2006/main">
              <a:ext uri="{FF2B5EF4-FFF2-40B4-BE49-F238E27FC236}">
                <a16:creationId xmlns:a16="http://schemas.microsoft.com/office/drawing/2014/main" id="{8B0182B7-7751-4FD3-B0C9-41BE1F5E710E}"/>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案例背景：巨型星座的“圈地运动”</a:t>
            </a:r>
          </a:p>
        </p:txBody>
      </p:sp>
      <p:sp>
        <p:nvSpPr>
          <p:cNvPr id="2" name="text-在轨规模、许可规模和申请规模必须">
            <a:extLst xmlns:a="http://schemas.openxmlformats.org/drawingml/2006/main">
              <a:ext uri="{FF2B5EF4-FFF2-40B4-BE49-F238E27FC236}">
                <a16:creationId xmlns:a16="http://schemas.microsoft.com/office/drawing/2014/main" id="{06E0B215-887C-41E3-A640-E52A0AA7007E}"/>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在轨规模、许可规模和申请规模必须分开；提案数量不等于未来必然发射。</a:t>
            </a:r>
          </a:p>
        </p:txBody>
      </p:sp>
      <p:sp>
        <p:nvSpPr>
          <p:cNvPr id="3" name="text-案例导入与危机时间线  /  调">
            <a:extLst xmlns:a="http://schemas.openxmlformats.org/drawingml/2006/main">
              <a:ext uri="{FF2B5EF4-FFF2-40B4-BE49-F238E27FC236}">
                <a16:creationId xmlns:a16="http://schemas.microsoft.com/office/drawing/2014/main" id="{649D7D19-AC0B-467B-BA3C-329CAEDC7936}"/>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案例导入与危机时间线  /  调查组负责人</a:t>
            </a:r>
          </a:p>
        </p:txBody>
      </p:sp>
      <p:sp>
        <p:nvSpPr>
          <p:cNvPr id="4" name="text-04">
            <a:extLst xmlns:a="http://schemas.openxmlformats.org/drawingml/2006/main">
              <a:ext uri="{FF2B5EF4-FFF2-40B4-BE49-F238E27FC236}">
                <a16:creationId xmlns:a16="http://schemas.microsoft.com/office/drawing/2014/main" id="{17E609DC-751A-4084-A79B-375E113E49CD}"/>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04</a:t>
            </a:r>
          </a:p>
        </p:txBody>
      </p:sp>
      <p:sp>
        <p:nvSpPr>
          <p:cNvPr id="5" name="text-万颗级">
            <a:extLst xmlns:a="http://schemas.openxmlformats.org/drawingml/2006/main">
              <a:ext uri="{FF2B5EF4-FFF2-40B4-BE49-F238E27FC236}">
                <a16:creationId xmlns:a16="http://schemas.microsoft.com/office/drawing/2014/main" id="{3FB88BFF-58CD-4902-8BB7-A06E5B990159}"/>
              </a:ext>
            </a:extLst>
          </p:cNvPr>
          <p:cNvSpPr>
            <a:spLocks xmlns:a="http://schemas.openxmlformats.org/drawingml/2006/main" noGrp="1"/>
          </p:cNvSpPr>
          <p:nvPr/>
        </p:nvSpPr>
        <p:spPr>
          <a:xfrm xmlns:a="http://schemas.openxmlformats.org/drawingml/2006/main">
            <a:off x="762000" y="180975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75" b="1">
                <a:solidFill>
                  <a:srgbClr val="073C79"/>
                </a:solidFill>
                <a:latin typeface="Microsoft YaHei"/>
                <a:ea typeface="Microsoft YaHei"/>
                <a:cs typeface="Microsoft YaHei"/>
              </a:defRPr>
            </a:pPr>
            <a:r>
              <a:rPr sz="4575" b="1">
                <a:solidFill>
                  <a:srgbClr val="073C79"/>
                </a:solidFill>
                <a:latin typeface="Microsoft YaHei"/>
                <a:ea typeface="Microsoft YaHei"/>
                <a:cs typeface="Microsoft YaHei"/>
              </a:rPr>
              <a:t>万颗级</a:t>
            </a:r>
          </a:p>
        </p:txBody>
      </p:sp>
      <p:sp>
        <p:nvSpPr>
          <p:cNvPr id="6" name="text-星链运行规模已达万颗级。&#10;发射与">
            <a:extLst xmlns:a="http://schemas.openxmlformats.org/drawingml/2006/main">
              <a:ext uri="{FF2B5EF4-FFF2-40B4-BE49-F238E27FC236}">
                <a16:creationId xmlns:a16="http://schemas.microsoft.com/office/drawing/2014/main" id="{42C4F79D-D541-4BED-809A-620E8643E283}"/>
              </a:ext>
            </a:extLst>
          </p:cNvPr>
          <p:cNvSpPr>
            <a:spLocks xmlns:a="http://schemas.openxmlformats.org/drawingml/2006/main" noGrp="1"/>
          </p:cNvSpPr>
          <p:nvPr/>
        </p:nvSpPr>
        <p:spPr>
          <a:xfrm xmlns:a="http://schemas.openxmlformats.org/drawingml/2006/main">
            <a:off x="762000" y="2943225"/>
            <a:ext cx="32861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星链运行规模已达万颗级。</a:t>
            </a:r>
          </a:p>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发射与再入使数量持续变化。</a:t>
            </a:r>
          </a:p>
        </p:txBody>
      </p:sp>
      <p:sp>
        <p:nvSpPr>
          <p:cNvPr id="7" name="text-100万颗">
            <a:extLst xmlns:a="http://schemas.openxmlformats.org/drawingml/2006/main">
              <a:ext uri="{FF2B5EF4-FFF2-40B4-BE49-F238E27FC236}">
                <a16:creationId xmlns:a16="http://schemas.microsoft.com/office/drawing/2014/main" id="{4DDDBE32-8019-447D-89DE-3F0D76A3619A}"/>
              </a:ext>
            </a:extLst>
          </p:cNvPr>
          <p:cNvSpPr>
            <a:spLocks xmlns:a="http://schemas.openxmlformats.org/drawingml/2006/main" noGrp="1"/>
          </p:cNvSpPr>
          <p:nvPr/>
        </p:nvSpPr>
        <p:spPr>
          <a:xfrm xmlns:a="http://schemas.openxmlformats.org/drawingml/2006/main">
            <a:off x="4476750" y="180975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75" b="1">
                <a:solidFill>
                  <a:srgbClr val="5C5BFA"/>
                </a:solidFill>
                <a:latin typeface="Microsoft YaHei"/>
                <a:ea typeface="Microsoft YaHei"/>
                <a:cs typeface="Microsoft YaHei"/>
              </a:defRPr>
            </a:pPr>
            <a:r>
              <a:rPr sz="4575" b="1">
                <a:solidFill>
                  <a:srgbClr val="5C5BFA"/>
                </a:solidFill>
                <a:latin typeface="Microsoft YaHei"/>
                <a:ea typeface="Microsoft YaHei"/>
                <a:cs typeface="Microsoft YaHei"/>
              </a:rPr>
              <a:t>100万颗</a:t>
            </a:r>
          </a:p>
        </p:txBody>
      </p:sp>
      <p:sp>
        <p:nvSpPr>
          <p:cNvPr id="8" name="text-2026年1月，SpaceX申请">
            <a:extLst xmlns:a="http://schemas.openxmlformats.org/drawingml/2006/main">
              <a:ext uri="{FF2B5EF4-FFF2-40B4-BE49-F238E27FC236}">
                <a16:creationId xmlns:a16="http://schemas.microsoft.com/office/drawing/2014/main" id="{65DFB698-9372-4B14-A5FA-90F6815EE505}"/>
              </a:ext>
            </a:extLst>
          </p:cNvPr>
          <p:cNvSpPr>
            <a:spLocks xmlns:a="http://schemas.openxmlformats.org/drawingml/2006/main" noGrp="1"/>
          </p:cNvSpPr>
          <p:nvPr/>
        </p:nvSpPr>
        <p:spPr>
          <a:xfrm xmlns:a="http://schemas.openxmlformats.org/drawingml/2006/main">
            <a:off x="4476750" y="2943225"/>
            <a:ext cx="32861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2026年1月，SpaceX申请轨道数据中心星座，轨道高度500–2,000 km。</a:t>
            </a:r>
          </a:p>
        </p:txBody>
      </p:sp>
      <p:sp>
        <p:nvSpPr>
          <p:cNvPr id="9" name="text-超过170万">
            <a:extLst xmlns:a="http://schemas.openxmlformats.org/drawingml/2006/main">
              <a:ext uri="{FF2B5EF4-FFF2-40B4-BE49-F238E27FC236}">
                <a16:creationId xmlns:a16="http://schemas.microsoft.com/office/drawing/2014/main" id="{29F50879-434B-460F-98EF-43015AFC3E76}"/>
              </a:ext>
            </a:extLst>
          </p:cNvPr>
          <p:cNvSpPr>
            <a:spLocks xmlns:a="http://schemas.openxmlformats.org/drawingml/2006/main" noGrp="1"/>
          </p:cNvSpPr>
          <p:nvPr/>
        </p:nvSpPr>
        <p:spPr>
          <a:xfrm xmlns:a="http://schemas.openxmlformats.org/drawingml/2006/main">
            <a:off x="8191500" y="180975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ED8B00"/>
                </a:solidFill>
                <a:latin typeface="Microsoft YaHei"/>
                <a:ea typeface="Microsoft YaHei"/>
                <a:cs typeface="Microsoft YaHei"/>
              </a:defRPr>
            </a:pPr>
            <a:r>
              <a:rPr sz="3675" b="1">
                <a:solidFill>
                  <a:srgbClr val="ED8B00"/>
                </a:solidFill>
                <a:latin typeface="Microsoft YaHei"/>
                <a:ea typeface="Microsoft YaHei"/>
                <a:cs typeface="Microsoft YaHei"/>
              </a:rPr>
              <a:t>超过170万</a:t>
            </a:r>
          </a:p>
        </p:txBody>
      </p:sp>
      <p:sp>
        <p:nvSpPr>
          <p:cNvPr id="10" name="text-Hainaut 2026研究汇总">
            <a:extLst xmlns:a="http://schemas.openxmlformats.org/drawingml/2006/main">
              <a:ext uri="{FF2B5EF4-FFF2-40B4-BE49-F238E27FC236}">
                <a16:creationId xmlns:a16="http://schemas.microsoft.com/office/drawing/2014/main" id="{F057FA15-1D61-4081-9271-94FE8612BF80}"/>
              </a:ext>
            </a:extLst>
          </p:cNvPr>
          <p:cNvSpPr>
            <a:spLocks xmlns:a="http://schemas.openxmlformats.org/drawingml/2006/main" noGrp="1"/>
          </p:cNvSpPr>
          <p:nvPr/>
        </p:nvSpPr>
        <p:spPr>
          <a:xfrm xmlns:a="http://schemas.openxmlformats.org/drawingml/2006/main">
            <a:off x="8191500" y="2943225"/>
            <a:ext cx="32861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Hainaut 2026研究汇总的全球公开提案规模，包含通信与新型用途。</a:t>
            </a:r>
          </a:p>
        </p:txBody>
      </p:sp>
    </p:spTree>
    <p:extLst>
      <p:ext uri="{BB962C8B-B14F-4D97-AF65-F5344CB8AC3E}">
        <p14:creationId xmlns:p14="http://schemas.microsoft.com/office/powerpoint/2010/main" val="3868327217"/>
      </p:ext>
    </p:extLst>
  </p:cSld>
</p:sld>
</file>

<file path=ppt/slides/slide7.xml><?xml version="1.0" encoding="utf-8"?>
<p:sld xmlns:p="http://schemas.openxmlformats.org/presentationml/2006/main" showMasterSp="0">
  <p:cSld>
    <p:spTree>
      <p:nvGrpSpPr>
        <p:cNvPr id="1" name=""/>
        <p:cNvGrpSpPr/>
        <p:nvPr/>
      </p:nvGrpSpPr>
      <p:grpSpPr>
        <a:xfrm xmlns:a="http://schemas.openxmlformats.org/drawingml/2006/main"/>
      </p:grpSpPr>
      <p:sp>
        <p:nvSpPr>
          <p:cNvPr id="20"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1"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0"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1"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2"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3"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4"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5"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72" name="text-危机时间线复盘">
            <a:extLst xmlns:a="http://schemas.openxmlformats.org/drawingml/2006/main">
              <a:ext uri="{FF2B5EF4-FFF2-40B4-BE49-F238E27FC236}">
                <a16:creationId xmlns:a16="http://schemas.microsoft.com/office/drawing/2014/main" id="{59F7F638-A10C-4C52-BB81-0F609749E049}"/>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危机时间线复盘</a:t>
            </a:r>
          </a:p>
        </p:txBody>
      </p:sp>
      <p:sp>
        <p:nvSpPr>
          <p:cNvPr id="2" name="text-时间线显示风险管理负担上升，不能">
            <a:extLst xmlns:a="http://schemas.openxmlformats.org/drawingml/2006/main">
              <a:ext uri="{FF2B5EF4-FFF2-40B4-BE49-F238E27FC236}">
                <a16:creationId xmlns:a16="http://schemas.microsoft.com/office/drawing/2014/main" id="{2EB25DF6-F954-485A-B13E-5A1696C1A877}"/>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时间线显示风险管理负担上升，不能单凭机动次数判定碰撞临界点。</a:t>
            </a:r>
          </a:p>
        </p:txBody>
      </p:sp>
      <p:sp>
        <p:nvSpPr>
          <p:cNvPr id="3" name="text-案例导入与危机时间线  /  调">
            <a:extLst xmlns:a="http://schemas.openxmlformats.org/drawingml/2006/main">
              <a:ext uri="{FF2B5EF4-FFF2-40B4-BE49-F238E27FC236}">
                <a16:creationId xmlns:a16="http://schemas.microsoft.com/office/drawing/2014/main" id="{A502BD54-7645-489F-82FD-3063C73668A6}"/>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案例导入与危机时间线  /  调查组负责人</a:t>
            </a:r>
          </a:p>
        </p:txBody>
      </p:sp>
      <p:sp>
        <p:nvSpPr>
          <p:cNvPr id="4" name="text-05">
            <a:extLst xmlns:a="http://schemas.openxmlformats.org/drawingml/2006/main">
              <a:ext uri="{FF2B5EF4-FFF2-40B4-BE49-F238E27FC236}">
                <a16:creationId xmlns:a16="http://schemas.microsoft.com/office/drawing/2014/main" id="{588E71B6-8C7B-4554-92CD-77E7CD917CE2}"/>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05</a:t>
            </a:r>
          </a:p>
        </p:txBody>
      </p:sp>
      <p:sp>
        <p:nvSpPr>
          <p:cNvPr id="5" name="2019.05">
            <a:extLst xmlns:a="http://schemas.openxmlformats.org/drawingml/2006/main">
              <a:ext uri="{FF2B5EF4-FFF2-40B4-BE49-F238E27FC236}">
                <a16:creationId xmlns:a16="http://schemas.microsoft.com/office/drawing/2014/main" id="{E7645FF5-D353-4F10-A17A-EF1FA818DD9A}"/>
              </a:ext>
            </a:extLst>
          </p:cNvPr>
          <p:cNvSpPr>
            <a:spLocks xmlns:a="http://schemas.openxmlformats.org/drawingml/2006/main" noGrp="1"/>
          </p:cNvSpPr>
          <p:nvPr/>
        </p:nvSpPr>
        <p:spPr>
          <a:xfrm xmlns:a="http://schemas.openxmlformats.org/drawingml/2006/main">
            <a:off x="762000" y="1762125"/>
            <a:ext cx="2381250" cy="819150"/>
          </a:xfrm>
          <a:prstGeom xmlns:a="http://schemas.openxmlformats.org/drawingml/2006/main" prst="roundRect">
            <a:avLst>
              <a:gd name="adj" fmla="val 9302"/>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2019.05</a:t>
            </a:r>
          </a:p>
        </p:txBody>
      </p:sp>
      <p:sp>
        <p:nvSpPr>
          <p:cNvPr id="6" name="text-首批星链部署">
            <a:extLst xmlns:a="http://schemas.openxmlformats.org/drawingml/2006/main">
              <a:ext uri="{FF2B5EF4-FFF2-40B4-BE49-F238E27FC236}">
                <a16:creationId xmlns:a16="http://schemas.microsoft.com/office/drawing/2014/main" id="{F095ED08-4743-4113-9B20-CFE308B5B368}"/>
              </a:ext>
            </a:extLst>
          </p:cNvPr>
          <p:cNvSpPr>
            <a:spLocks xmlns:a="http://schemas.openxmlformats.org/drawingml/2006/main" noGrp="1"/>
          </p:cNvSpPr>
          <p:nvPr/>
        </p:nvSpPr>
        <p:spPr>
          <a:xfrm xmlns:a="http://schemas.openxmlformats.org/drawingml/2006/main">
            <a:off x="762000" y="2924175"/>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73C79"/>
                </a:solidFill>
                <a:latin typeface="Microsoft YaHei"/>
                <a:ea typeface="Microsoft YaHei"/>
                <a:cs typeface="Microsoft YaHei"/>
              </a:defRPr>
            </a:pPr>
            <a:r>
              <a:rPr sz="1950" b="1">
                <a:solidFill>
                  <a:srgbClr val="073C79"/>
                </a:solidFill>
                <a:latin typeface="Microsoft YaHei"/>
                <a:ea typeface="Microsoft YaHei"/>
                <a:cs typeface="Microsoft YaHei"/>
              </a:rPr>
              <a:t>首批星链部署</a:t>
            </a:r>
          </a:p>
        </p:txBody>
      </p:sp>
      <p:sp>
        <p:nvSpPr>
          <p:cNvPr id="7" name="text-发射初期的密集卫星列车进入天文观">
            <a:extLst xmlns:a="http://schemas.openxmlformats.org/drawingml/2006/main">
              <a:ext uri="{FF2B5EF4-FFF2-40B4-BE49-F238E27FC236}">
                <a16:creationId xmlns:a16="http://schemas.microsoft.com/office/drawing/2014/main" id="{D02010ED-40E0-4555-AF65-BA9287FC36CC}"/>
              </a:ext>
            </a:extLst>
          </p:cNvPr>
          <p:cNvSpPr>
            <a:spLocks xmlns:a="http://schemas.openxmlformats.org/drawingml/2006/main" noGrp="1"/>
          </p:cNvSpPr>
          <p:nvPr/>
        </p:nvSpPr>
        <p:spPr>
          <a:xfrm xmlns:a="http://schemas.openxmlformats.org/drawingml/2006/main">
            <a:off x="762000" y="3810000"/>
            <a:ext cx="2381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发射初期的密集卫星列车进入天文观测视野。</a:t>
            </a:r>
          </a:p>
        </p:txBody>
      </p:sp>
      <p:sp>
        <p:nvSpPr>
          <p:cNvPr id="8" name="2019.09">
            <a:extLst xmlns:a="http://schemas.openxmlformats.org/drawingml/2006/main">
              <a:ext uri="{FF2B5EF4-FFF2-40B4-BE49-F238E27FC236}">
                <a16:creationId xmlns:a16="http://schemas.microsoft.com/office/drawing/2014/main" id="{7655A971-6E3B-45BD-BCC8-6396C4A4FD70}"/>
              </a:ext>
            </a:extLst>
          </p:cNvPr>
          <p:cNvSpPr>
            <a:spLocks xmlns:a="http://schemas.openxmlformats.org/drawingml/2006/main" noGrp="1"/>
          </p:cNvSpPr>
          <p:nvPr/>
        </p:nvSpPr>
        <p:spPr>
          <a:xfrm xmlns:a="http://schemas.openxmlformats.org/drawingml/2006/main">
            <a:off x="3524250" y="1762125"/>
            <a:ext cx="2381250" cy="819150"/>
          </a:xfrm>
          <a:prstGeom xmlns:a="http://schemas.openxmlformats.org/drawingml/2006/main" prst="roundRect">
            <a:avLst>
              <a:gd name="adj" fmla="val 9302"/>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2019.09</a:t>
            </a:r>
          </a:p>
        </p:txBody>
      </p:sp>
      <p:sp>
        <p:nvSpPr>
          <p:cNvPr id="9" name="text-Aeolus执行避碰">
            <a:extLst xmlns:a="http://schemas.openxmlformats.org/drawingml/2006/main">
              <a:ext uri="{FF2B5EF4-FFF2-40B4-BE49-F238E27FC236}">
                <a16:creationId xmlns:a16="http://schemas.microsoft.com/office/drawing/2014/main" id="{00414577-2E81-442F-8494-D91364275E2F}"/>
              </a:ext>
            </a:extLst>
          </p:cNvPr>
          <p:cNvSpPr>
            <a:spLocks xmlns:a="http://schemas.openxmlformats.org/drawingml/2006/main" noGrp="1"/>
          </p:cNvSpPr>
          <p:nvPr/>
        </p:nvSpPr>
        <p:spPr>
          <a:xfrm xmlns:a="http://schemas.openxmlformats.org/drawingml/2006/main">
            <a:off x="3524250" y="2924175"/>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73C79"/>
                </a:solidFill>
                <a:latin typeface="Microsoft YaHei"/>
                <a:ea typeface="Microsoft YaHei"/>
                <a:cs typeface="Microsoft YaHei"/>
              </a:defRPr>
            </a:pPr>
            <a:r>
              <a:rPr sz="1950" b="1">
                <a:solidFill>
                  <a:srgbClr val="073C79"/>
                </a:solidFill>
                <a:latin typeface="Microsoft YaHei"/>
                <a:ea typeface="Microsoft YaHei"/>
                <a:cs typeface="Microsoft YaHei"/>
              </a:rPr>
              <a:t>Aeolus执行避碰</a:t>
            </a:r>
          </a:p>
        </p:txBody>
      </p:sp>
      <p:sp>
        <p:nvSpPr>
          <p:cNvPr id="10" name="text-ESA卫星因与Starlink-">
            <a:extLst xmlns:a="http://schemas.openxmlformats.org/drawingml/2006/main">
              <a:ext uri="{FF2B5EF4-FFF2-40B4-BE49-F238E27FC236}">
                <a16:creationId xmlns:a16="http://schemas.microsoft.com/office/drawing/2014/main" id="{C1419896-0CEA-4071-B6B3-696BEC431144}"/>
              </a:ext>
            </a:extLst>
          </p:cNvPr>
          <p:cNvSpPr>
            <a:spLocks xmlns:a="http://schemas.openxmlformats.org/drawingml/2006/main" noGrp="1"/>
          </p:cNvSpPr>
          <p:nvPr/>
        </p:nvSpPr>
        <p:spPr>
          <a:xfrm xmlns:a="http://schemas.openxmlformats.org/drawingml/2006/main">
            <a:off x="3524250" y="3810000"/>
            <a:ext cx="2381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ESA卫星因与Starlink-44的交会风险调整轨道。</a:t>
            </a:r>
          </a:p>
        </p:txBody>
      </p:sp>
      <p:sp>
        <p:nvSpPr>
          <p:cNvPr id="11" name="2025.12—&#10;2026.05">
            <a:extLst xmlns:a="http://schemas.openxmlformats.org/drawingml/2006/main">
              <a:ext uri="{FF2B5EF4-FFF2-40B4-BE49-F238E27FC236}">
                <a16:creationId xmlns:a16="http://schemas.microsoft.com/office/drawing/2014/main" id="{9EED2473-4AEF-4DD5-AB7D-CC1BB6F35587}"/>
              </a:ext>
            </a:extLst>
          </p:cNvPr>
          <p:cNvSpPr>
            <a:spLocks xmlns:a="http://schemas.openxmlformats.org/drawingml/2006/main" noGrp="1"/>
          </p:cNvSpPr>
          <p:nvPr/>
        </p:nvSpPr>
        <p:spPr>
          <a:xfrm xmlns:a="http://schemas.openxmlformats.org/drawingml/2006/main">
            <a:off x="6286500" y="1762125"/>
            <a:ext cx="2381250" cy="819150"/>
          </a:xfrm>
          <a:prstGeom xmlns:a="http://schemas.openxmlformats.org/drawingml/2006/main" prst="roundRect">
            <a:avLst>
              <a:gd name="adj" fmla="val 9302"/>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2025.12—</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2026.05</a:t>
            </a:r>
          </a:p>
        </p:txBody>
      </p:sp>
      <p:sp>
        <p:nvSpPr>
          <p:cNvPr id="12" name="text-半年207,152次机动">
            <a:extLst xmlns:a="http://schemas.openxmlformats.org/drawingml/2006/main">
              <a:ext uri="{FF2B5EF4-FFF2-40B4-BE49-F238E27FC236}">
                <a16:creationId xmlns:a16="http://schemas.microsoft.com/office/drawing/2014/main" id="{89A84138-CAB7-4966-B687-A383A7FC3FE3}"/>
              </a:ext>
            </a:extLst>
          </p:cNvPr>
          <p:cNvSpPr>
            <a:spLocks xmlns:a="http://schemas.openxmlformats.org/drawingml/2006/main" noGrp="1"/>
          </p:cNvSpPr>
          <p:nvPr/>
        </p:nvSpPr>
        <p:spPr>
          <a:xfrm xmlns:a="http://schemas.openxmlformats.org/drawingml/2006/main">
            <a:off x="6286500" y="2924175"/>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73C79"/>
                </a:solidFill>
                <a:latin typeface="Microsoft YaHei"/>
                <a:ea typeface="Microsoft YaHei"/>
                <a:cs typeface="Microsoft YaHei"/>
              </a:defRPr>
            </a:pPr>
            <a:r>
              <a:rPr sz="1950" b="1">
                <a:solidFill>
                  <a:srgbClr val="073C79"/>
                </a:solidFill>
                <a:latin typeface="Microsoft YaHei"/>
                <a:ea typeface="Microsoft YaHei"/>
                <a:cs typeface="Microsoft YaHei"/>
              </a:rPr>
              <a:t>半年207,152次机动</a:t>
            </a:r>
          </a:p>
        </p:txBody>
      </p:sp>
      <p:sp>
        <p:nvSpPr>
          <p:cNvPr id="13" name="text-Gen1：65,137次&#10;Gen">
            <a:extLst xmlns:a="http://schemas.openxmlformats.org/drawingml/2006/main">
              <a:ext uri="{FF2B5EF4-FFF2-40B4-BE49-F238E27FC236}">
                <a16:creationId xmlns:a16="http://schemas.microsoft.com/office/drawing/2014/main" id="{F7DF8A8F-C426-42E4-91C7-95A95566C71D}"/>
              </a:ext>
            </a:extLst>
          </p:cNvPr>
          <p:cNvSpPr>
            <a:spLocks xmlns:a="http://schemas.openxmlformats.org/drawingml/2006/main" noGrp="1"/>
          </p:cNvSpPr>
          <p:nvPr/>
        </p:nvSpPr>
        <p:spPr>
          <a:xfrm xmlns:a="http://schemas.openxmlformats.org/drawingml/2006/main">
            <a:off x="6286500" y="3810000"/>
            <a:ext cx="2381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Gen1：65,137次</a:t>
            </a:r>
          </a:p>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Gen2：142,015次</a:t>
            </a:r>
          </a:p>
        </p:txBody>
      </p:sp>
      <p:sp>
        <p:nvSpPr>
          <p:cNvPr id="14" name="2026">
            <a:extLst xmlns:a="http://schemas.openxmlformats.org/drawingml/2006/main">
              <a:ext uri="{FF2B5EF4-FFF2-40B4-BE49-F238E27FC236}">
                <a16:creationId xmlns:a16="http://schemas.microsoft.com/office/drawing/2014/main" id="{1053253D-5A98-4553-AF84-75B88B0A8C5C}"/>
              </a:ext>
            </a:extLst>
          </p:cNvPr>
          <p:cNvSpPr>
            <a:spLocks xmlns:a="http://schemas.openxmlformats.org/drawingml/2006/main" noGrp="1"/>
          </p:cNvSpPr>
          <p:nvPr/>
        </p:nvSpPr>
        <p:spPr>
          <a:xfrm xmlns:a="http://schemas.openxmlformats.org/drawingml/2006/main">
            <a:off x="9048750" y="1762125"/>
            <a:ext cx="2381250" cy="819150"/>
          </a:xfrm>
          <a:prstGeom xmlns:a="http://schemas.openxmlformats.org/drawingml/2006/main" prst="roundRect">
            <a:avLst>
              <a:gd name="adj" fmla="val 9302"/>
            </a:avLst>
          </a:prstGeom>
          <a:solidFill xmlns:a="http://schemas.openxmlformats.org/drawingml/2006/main">
            <a:srgbClr val="5C5BFA"/>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2026</a:t>
            </a:r>
          </a:p>
        </p:txBody>
      </p:sp>
      <p:sp>
        <p:nvSpPr>
          <p:cNvPr id="15" name="text-新用途继续扩张">
            <a:extLst xmlns:a="http://schemas.openxmlformats.org/drawingml/2006/main">
              <a:ext uri="{FF2B5EF4-FFF2-40B4-BE49-F238E27FC236}">
                <a16:creationId xmlns:a16="http://schemas.microsoft.com/office/drawing/2014/main" id="{FAE9DFA0-98C9-4DBC-8ECF-F4598E103437}"/>
              </a:ext>
            </a:extLst>
          </p:cNvPr>
          <p:cNvSpPr>
            <a:spLocks xmlns:a="http://schemas.openxmlformats.org/drawingml/2006/main" noGrp="1"/>
          </p:cNvSpPr>
          <p:nvPr/>
        </p:nvSpPr>
        <p:spPr>
          <a:xfrm xmlns:a="http://schemas.openxmlformats.org/drawingml/2006/main">
            <a:off x="9048750" y="2924175"/>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73C79"/>
                </a:solidFill>
                <a:latin typeface="Microsoft YaHei"/>
                <a:ea typeface="Microsoft YaHei"/>
                <a:cs typeface="Microsoft YaHei"/>
              </a:defRPr>
            </a:pPr>
            <a:r>
              <a:rPr sz="1950" b="1">
                <a:solidFill>
                  <a:srgbClr val="073C79"/>
                </a:solidFill>
                <a:latin typeface="Microsoft YaHei"/>
                <a:ea typeface="Microsoft YaHei"/>
                <a:cs typeface="Microsoft YaHei"/>
              </a:rPr>
              <a:t>新用途继续扩张</a:t>
            </a:r>
          </a:p>
        </p:txBody>
      </p:sp>
      <p:sp>
        <p:nvSpPr>
          <p:cNvPr id="16" name="text-百万颗数据中心申请与Starga">
            <a:extLst xmlns:a="http://schemas.openxmlformats.org/drawingml/2006/main">
              <a:ext uri="{FF2B5EF4-FFF2-40B4-BE49-F238E27FC236}">
                <a16:creationId xmlns:a16="http://schemas.microsoft.com/office/drawing/2014/main" id="{C1AB5EBF-E19A-4141-AF88-1E5AD4428070}"/>
              </a:ext>
            </a:extLst>
          </p:cNvPr>
          <p:cNvSpPr>
            <a:spLocks xmlns:a="http://schemas.openxmlformats.org/drawingml/2006/main" noGrp="1"/>
          </p:cNvSpPr>
          <p:nvPr/>
        </p:nvSpPr>
        <p:spPr>
          <a:xfrm xmlns:a="http://schemas.openxmlformats.org/drawingml/2006/main">
            <a:off x="9048750" y="3810000"/>
            <a:ext cx="2381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百万颗数据中心申请与Stargaze服务提出新的治理问题。</a:t>
            </a:r>
          </a:p>
        </p:txBody>
      </p:sp>
      <p:cxnSp>
        <p:nvCxnSpPr>
          <p:cNvPr id="88" name=""/>
          <p:cNvCxnSpPr>
            <a:stCxn xmlns:a="http://schemas.openxmlformats.org/drawingml/2006/main" id="5" idx="3"/>
            <a:endCxn xmlns:a="http://schemas.openxmlformats.org/drawingml/2006/main" id="8" idx="1"/>
          </p:cNvCxnSpPr>
          <p:nvPr/>
        </p:nvCxnSpPr>
        <p:spPr>
          <a:xfrm xmlns:a="http://schemas.openxmlformats.org/drawingml/2006/main">
            <a:off x="3143250" y="2171700"/>
            <a:ext cx="381000" cy="0"/>
          </a:xfrm>
          <a:prstGeom xmlns:a="http://schemas.openxmlformats.org/drawingml/2006/main" prst="straightConnector1">
            <a:avLst/>
          </a:prstGeom>
          <a:ln xmlns:a="http://schemas.openxmlformats.org/drawingml/2006/main" w="19050">
            <a:solidFill>
              <a:srgbClr val="617186"/>
            </a:solidFill>
            <a:tailEnd type="arrow" w="med" len="med"/>
          </a:ln>
        </p:spPr>
      </p:cxnSp>
      <p:cxnSp>
        <p:nvCxnSpPr>
          <p:cNvPr id="89" name=""/>
          <p:cNvCxnSpPr>
            <a:stCxn xmlns:a="http://schemas.openxmlformats.org/drawingml/2006/main" id="8" idx="3"/>
            <a:endCxn xmlns:a="http://schemas.openxmlformats.org/drawingml/2006/main" id="11" idx="1"/>
          </p:cNvCxnSpPr>
          <p:nvPr/>
        </p:nvCxnSpPr>
        <p:spPr>
          <a:xfrm xmlns:a="http://schemas.openxmlformats.org/drawingml/2006/main">
            <a:off x="5905500" y="2171700"/>
            <a:ext cx="381000" cy="0"/>
          </a:xfrm>
          <a:prstGeom xmlns:a="http://schemas.openxmlformats.org/drawingml/2006/main" prst="straightConnector1">
            <a:avLst/>
          </a:prstGeom>
          <a:ln xmlns:a="http://schemas.openxmlformats.org/drawingml/2006/main" w="19050">
            <a:solidFill>
              <a:srgbClr val="617186"/>
            </a:solidFill>
            <a:tailEnd type="arrow" w="med" len="med"/>
          </a:ln>
        </p:spPr>
      </p:cxnSp>
      <p:cxnSp>
        <p:nvCxnSpPr>
          <p:cNvPr id="90" name=""/>
          <p:cNvCxnSpPr>
            <a:stCxn xmlns:a="http://schemas.openxmlformats.org/drawingml/2006/main" id="11" idx="3"/>
            <a:endCxn xmlns:a="http://schemas.openxmlformats.org/drawingml/2006/main" id="14" idx="1"/>
          </p:cNvCxnSpPr>
          <p:nvPr/>
        </p:nvCxnSpPr>
        <p:spPr>
          <a:xfrm xmlns:a="http://schemas.openxmlformats.org/drawingml/2006/main">
            <a:off x="8667750" y="2171700"/>
            <a:ext cx="381000" cy="0"/>
          </a:xfrm>
          <a:prstGeom xmlns:a="http://schemas.openxmlformats.org/drawingml/2006/main" prst="straightConnector1">
            <a:avLst/>
          </a:prstGeom>
          <a:ln xmlns:a="http://schemas.openxmlformats.org/drawingml/2006/main" w="19050">
            <a:solidFill>
              <a:srgbClr val="617186"/>
            </a:solidFill>
            <a:tailEnd type="arrow" w="med" len="med"/>
          </a:ln>
        </p:spPr>
      </p:cxnSp>
    </p:spTree>
    <p:extLst>
      <p:ext uri="{BB962C8B-B14F-4D97-AF65-F5344CB8AC3E}">
        <p14:creationId xmlns:p14="http://schemas.microsoft.com/office/powerpoint/2010/main" val="3868327217"/>
      </p:ext>
    </p:extLst>
  </p:cSld>
</p:sld>
</file>

<file path=ppt/slides/slide8.xml><?xml version="1.0" encoding="utf-8"?>
<p:sld xmlns:p="http://schemas.openxmlformats.org/presentationml/2006/main" showMasterSp="0">
  <p:cSld>
    <p:spTree>
      <p:nvGrpSpPr>
        <p:cNvPr id="1" name=""/>
        <p:cNvGrpSpPr/>
        <p:nvPr/>
      </p:nvGrpSpPr>
      <p:grpSpPr>
        <a:xfrm xmlns:a="http://schemas.openxmlformats.org/drawingml/2006/main"/>
      </p:grpSpPr>
      <p:sp>
        <p:nvSpPr>
          <p:cNvPr id="14"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6" name="text-关键数据：风险需要分层解读">
            <a:extLst xmlns:a="http://schemas.openxmlformats.org/drawingml/2006/main">
              <a:ext uri="{FF2B5EF4-FFF2-40B4-BE49-F238E27FC236}">
                <a16:creationId xmlns:a16="http://schemas.microsoft.com/office/drawing/2014/main" id="{5F063B52-2599-4C37-A976-3730D7AB6448}"/>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关键数据：风险需要分层解读</a:t>
            </a:r>
          </a:p>
        </p:txBody>
      </p:sp>
      <p:sp>
        <p:nvSpPr>
          <p:cNvPr id="2" name="text-风险还取决于轨道高度、质量、交会">
            <a:extLst xmlns:a="http://schemas.openxmlformats.org/drawingml/2006/main">
              <a:ext uri="{FF2B5EF4-FFF2-40B4-BE49-F238E27FC236}">
                <a16:creationId xmlns:a16="http://schemas.microsoft.com/office/drawing/2014/main" id="{2D943E58-3908-4A74-8429-6E8B09D154A4}"/>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风险还取决于轨道高度、质量、交会速度、寿命和失效状态，不能只数卫星。</a:t>
            </a:r>
          </a:p>
        </p:txBody>
      </p:sp>
      <p:sp>
        <p:nvSpPr>
          <p:cNvPr id="3" name="text-案例导入与危机时间线  /  调">
            <a:extLst xmlns:a="http://schemas.openxmlformats.org/drawingml/2006/main">
              <a:ext uri="{FF2B5EF4-FFF2-40B4-BE49-F238E27FC236}">
                <a16:creationId xmlns:a16="http://schemas.microsoft.com/office/drawing/2014/main" id="{8D055309-B42B-4E6F-914B-AA2BCC3DC3C9}"/>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案例导入与危机时间线  /  调查组负责人</a:t>
            </a:r>
          </a:p>
        </p:txBody>
      </p:sp>
      <p:sp>
        <p:nvSpPr>
          <p:cNvPr id="4" name="text-06">
            <a:extLst xmlns:a="http://schemas.openxmlformats.org/drawingml/2006/main">
              <a:ext uri="{FF2B5EF4-FFF2-40B4-BE49-F238E27FC236}">
                <a16:creationId xmlns:a16="http://schemas.microsoft.com/office/drawing/2014/main" id="{AFF283E2-48BD-4863-99C2-177ED7BAC8F8}"/>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06</a:t>
            </a:r>
          </a:p>
        </p:txBody>
      </p:sp>
      <p:sp>
        <p:nvSpPr>
          <p:cNvPr id="5" name="text-207,152">
            <a:extLst xmlns:a="http://schemas.openxmlformats.org/drawingml/2006/main">
              <a:ext uri="{FF2B5EF4-FFF2-40B4-BE49-F238E27FC236}">
                <a16:creationId xmlns:a16="http://schemas.microsoft.com/office/drawing/2014/main" id="{9DC77604-E02F-48B3-8A3D-607B67468360}"/>
              </a:ext>
            </a:extLst>
          </p:cNvPr>
          <p:cNvSpPr>
            <a:spLocks xmlns:a="http://schemas.openxmlformats.org/drawingml/2006/main" noGrp="1"/>
          </p:cNvSpPr>
          <p:nvPr/>
        </p:nvSpPr>
        <p:spPr>
          <a:xfrm xmlns:a="http://schemas.openxmlformats.org/drawingml/2006/main">
            <a:off x="762000" y="1943100"/>
            <a:ext cx="342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73C79"/>
                </a:solidFill>
                <a:latin typeface="Microsoft YaHei"/>
                <a:ea typeface="Microsoft YaHei"/>
                <a:cs typeface="Microsoft YaHei"/>
              </a:defRPr>
            </a:pPr>
            <a:r>
              <a:rPr sz="4950" b="1">
                <a:solidFill>
                  <a:srgbClr val="073C79"/>
                </a:solidFill>
                <a:latin typeface="Microsoft YaHei"/>
                <a:ea typeface="Microsoft YaHei"/>
                <a:cs typeface="Microsoft YaHei"/>
              </a:rPr>
              <a:t>207,152</a:t>
            </a:r>
          </a:p>
        </p:txBody>
      </p:sp>
      <p:sp>
        <p:nvSpPr>
          <p:cNvPr id="6" name="text-次 / 半年">
            <a:extLst xmlns:a="http://schemas.openxmlformats.org/drawingml/2006/main">
              <a:ext uri="{FF2B5EF4-FFF2-40B4-BE49-F238E27FC236}">
                <a16:creationId xmlns:a16="http://schemas.microsoft.com/office/drawing/2014/main" id="{56BC8333-BBF8-4A35-9338-52B8E961D52F}"/>
              </a:ext>
            </a:extLst>
          </p:cNvPr>
          <p:cNvSpPr>
            <a:spLocks xmlns:a="http://schemas.openxmlformats.org/drawingml/2006/main" noGrp="1"/>
          </p:cNvSpPr>
          <p:nvPr/>
        </p:nvSpPr>
        <p:spPr>
          <a:xfrm xmlns:a="http://schemas.openxmlformats.org/drawingml/2006/main">
            <a:off x="762000" y="30099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次 / 半年</a:t>
            </a:r>
          </a:p>
        </p:txBody>
      </p:sp>
      <p:sp>
        <p:nvSpPr>
          <p:cNvPr id="7" name="text-Gen1 + Gen2推进式避碰">
            <a:extLst xmlns:a="http://schemas.openxmlformats.org/drawingml/2006/main">
              <a:ext uri="{FF2B5EF4-FFF2-40B4-BE49-F238E27FC236}">
                <a16:creationId xmlns:a16="http://schemas.microsoft.com/office/drawing/2014/main" id="{51A5C06A-FEB3-4748-BD52-856642614388}"/>
              </a:ext>
            </a:extLst>
          </p:cNvPr>
          <p:cNvSpPr>
            <a:spLocks xmlns:a="http://schemas.openxmlformats.org/drawingml/2006/main" noGrp="1"/>
          </p:cNvSpPr>
          <p:nvPr/>
        </p:nvSpPr>
        <p:spPr>
          <a:xfrm xmlns:a="http://schemas.openxmlformats.org/drawingml/2006/main">
            <a:off x="762000" y="3714750"/>
            <a:ext cx="3333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Gen1 + Gen2推进式避碰机动</a:t>
            </a:r>
          </a:p>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2025.12—2026.05</a:t>
            </a:r>
          </a:p>
        </p:txBody>
      </p:sp>
      <p:sp>
        <p:nvSpPr>
          <p:cNvPr id="8" name="text-3 × 10⁻⁷">
            <a:extLst xmlns:a="http://schemas.openxmlformats.org/drawingml/2006/main">
              <a:ext uri="{FF2B5EF4-FFF2-40B4-BE49-F238E27FC236}">
                <a16:creationId xmlns:a16="http://schemas.microsoft.com/office/drawing/2014/main" id="{996B256F-17F2-4127-94D4-2A1D8DF9A6B0}"/>
              </a:ext>
            </a:extLst>
          </p:cNvPr>
          <p:cNvSpPr>
            <a:spLocks xmlns:a="http://schemas.openxmlformats.org/drawingml/2006/main" noGrp="1"/>
          </p:cNvSpPr>
          <p:nvPr/>
        </p:nvSpPr>
        <p:spPr>
          <a:xfrm xmlns:a="http://schemas.openxmlformats.org/drawingml/2006/main">
            <a:off x="4476750" y="1943100"/>
            <a:ext cx="342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5C5BFA"/>
                </a:solidFill>
                <a:latin typeface="Microsoft YaHei"/>
                <a:ea typeface="Microsoft YaHei"/>
                <a:cs typeface="Microsoft YaHei"/>
              </a:defRPr>
            </a:pPr>
            <a:r>
              <a:rPr sz="4200" b="1">
                <a:solidFill>
                  <a:srgbClr val="5C5BFA"/>
                </a:solidFill>
                <a:latin typeface="Microsoft YaHei"/>
                <a:ea typeface="Microsoft YaHei"/>
                <a:cs typeface="Microsoft YaHei"/>
              </a:rPr>
              <a:t>3 × 10⁻⁷</a:t>
            </a:r>
          </a:p>
        </p:txBody>
      </p:sp>
      <p:sp>
        <p:nvSpPr>
          <p:cNvPr id="9" name="text-碰撞概率阈值">
            <a:extLst xmlns:a="http://schemas.openxmlformats.org/drawingml/2006/main">
              <a:ext uri="{FF2B5EF4-FFF2-40B4-BE49-F238E27FC236}">
                <a16:creationId xmlns:a16="http://schemas.microsoft.com/office/drawing/2014/main" id="{19862049-CD1B-4DE9-8860-6166A8E78100}"/>
              </a:ext>
            </a:extLst>
          </p:cNvPr>
          <p:cNvSpPr>
            <a:spLocks xmlns:a="http://schemas.openxmlformats.org/drawingml/2006/main" noGrp="1"/>
          </p:cNvSpPr>
          <p:nvPr/>
        </p:nvSpPr>
        <p:spPr>
          <a:xfrm xmlns:a="http://schemas.openxmlformats.org/drawingml/2006/main">
            <a:off x="4476750" y="30099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碰撞概率阈值</a:t>
            </a:r>
          </a:p>
        </p:txBody>
      </p:sp>
      <p:sp>
        <p:nvSpPr>
          <p:cNvPr id="10" name="text-健康、在位星链卫星的触发条件之一">
            <a:extLst xmlns:a="http://schemas.openxmlformats.org/drawingml/2006/main">
              <a:ext uri="{FF2B5EF4-FFF2-40B4-BE49-F238E27FC236}">
                <a16:creationId xmlns:a16="http://schemas.microsoft.com/office/drawing/2014/main" id="{A2DE02E0-495F-4AF0-ADE6-C5114DCA8A1F}"/>
              </a:ext>
            </a:extLst>
          </p:cNvPr>
          <p:cNvSpPr>
            <a:spLocks xmlns:a="http://schemas.openxmlformats.org/drawingml/2006/main" noGrp="1"/>
          </p:cNvSpPr>
          <p:nvPr/>
        </p:nvSpPr>
        <p:spPr>
          <a:xfrm xmlns:a="http://schemas.openxmlformats.org/drawingml/2006/main">
            <a:off x="4476750" y="3714750"/>
            <a:ext cx="3333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健康、在位星链卫星的触发条件之一</a:t>
            </a:r>
          </a:p>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另有最近接距离条件</a:t>
            </a:r>
          </a:p>
        </p:txBody>
      </p:sp>
      <p:sp>
        <p:nvSpPr>
          <p:cNvPr id="11" name="text-&gt;120万">
            <a:extLst xmlns:a="http://schemas.openxmlformats.org/drawingml/2006/main">
              <a:ext uri="{FF2B5EF4-FFF2-40B4-BE49-F238E27FC236}">
                <a16:creationId xmlns:a16="http://schemas.microsoft.com/office/drawing/2014/main" id="{844D2EF5-048A-457E-9944-ED05D1FF1EB4}"/>
              </a:ext>
            </a:extLst>
          </p:cNvPr>
          <p:cNvSpPr>
            <a:spLocks xmlns:a="http://schemas.openxmlformats.org/drawingml/2006/main" noGrp="1"/>
          </p:cNvSpPr>
          <p:nvPr/>
        </p:nvSpPr>
        <p:spPr>
          <a:xfrm xmlns:a="http://schemas.openxmlformats.org/drawingml/2006/main">
            <a:off x="8191500" y="1943100"/>
            <a:ext cx="342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ED8B00"/>
                </a:solidFill>
                <a:latin typeface="Microsoft YaHei"/>
                <a:ea typeface="Microsoft YaHei"/>
                <a:cs typeface="Microsoft YaHei"/>
              </a:defRPr>
            </a:pPr>
            <a:r>
              <a:rPr sz="4950" b="1">
                <a:solidFill>
                  <a:srgbClr val="ED8B00"/>
                </a:solidFill>
                <a:latin typeface="Microsoft YaHei"/>
                <a:ea typeface="Microsoft YaHei"/>
                <a:cs typeface="Microsoft YaHei"/>
              </a:rPr>
              <a:t>&gt;120万</a:t>
            </a:r>
          </a:p>
        </p:txBody>
      </p:sp>
      <p:sp>
        <p:nvSpPr>
          <p:cNvPr id="12" name="text-个 / 大于1 cm">
            <a:extLst xmlns:a="http://schemas.openxmlformats.org/drawingml/2006/main">
              <a:ext uri="{FF2B5EF4-FFF2-40B4-BE49-F238E27FC236}">
                <a16:creationId xmlns:a16="http://schemas.microsoft.com/office/drawing/2014/main" id="{0AEBA96B-532B-481E-9158-EF13BBCCFEC7}"/>
              </a:ext>
            </a:extLst>
          </p:cNvPr>
          <p:cNvSpPr>
            <a:spLocks xmlns:a="http://schemas.openxmlformats.org/drawingml/2006/main" noGrp="1"/>
          </p:cNvSpPr>
          <p:nvPr/>
        </p:nvSpPr>
        <p:spPr>
          <a:xfrm xmlns:a="http://schemas.openxmlformats.org/drawingml/2006/main">
            <a:off x="8191500" y="30099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个 / 大于1 cm</a:t>
            </a:r>
          </a:p>
        </p:txBody>
      </p:sp>
      <p:sp>
        <p:nvSpPr>
          <p:cNvPr id="13" name="text-ESA 2025报告估算的碎片数">
            <a:extLst xmlns:a="http://schemas.openxmlformats.org/drawingml/2006/main">
              <a:ext uri="{FF2B5EF4-FFF2-40B4-BE49-F238E27FC236}">
                <a16:creationId xmlns:a16="http://schemas.microsoft.com/office/drawing/2014/main" id="{2E5C344B-1BD2-46D2-81EA-32D7C4C0276F}"/>
              </a:ext>
            </a:extLst>
          </p:cNvPr>
          <p:cNvSpPr>
            <a:spLocks xmlns:a="http://schemas.openxmlformats.org/drawingml/2006/main" noGrp="1"/>
          </p:cNvSpPr>
          <p:nvPr/>
        </p:nvSpPr>
        <p:spPr>
          <a:xfrm xmlns:a="http://schemas.openxmlformats.org/drawingml/2006/main">
            <a:off x="8191500" y="3714750"/>
            <a:ext cx="3333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ESA 2025报告估算的碎片数量</a:t>
            </a:r>
          </a:p>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远多于可逐一跟踪的对象</a:t>
            </a:r>
          </a:p>
        </p:txBody>
      </p:sp>
    </p:spTree>
    <p:extLst>
      <p:ext uri="{BB962C8B-B14F-4D97-AF65-F5344CB8AC3E}">
        <p14:creationId xmlns:p14="http://schemas.microsoft.com/office/powerpoint/2010/main" val="3868327217"/>
      </p:ext>
    </p:extLst>
  </p:cSld>
</p:sld>
</file>

<file path=ppt/slides/slide9.xml><?xml version="1.0" encoding="utf-8"?>
<p:sld xmlns:p="http://schemas.openxmlformats.org/presentationml/2006/main" showMasterSp="0">
  <p:cSld>
    <p:spTree>
      <p:nvGrpSpPr>
        <p:cNvPr id="1" name=""/>
        <p:cNvGrpSpPr/>
        <p:nvPr/>
      </p:nvGrpSpPr>
      <p:grpSpPr>
        <a:xfrm xmlns:a="http://schemas.openxmlformats.org/drawingml/2006/main"/>
      </p:grpSpPr>
      <p:sp>
        <p:nvSpPr>
          <p:cNvPr id="18"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0"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1"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2"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3"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70" name="text-技术机制：自动避碰如何运作">
            <a:extLst xmlns:a="http://schemas.openxmlformats.org/drawingml/2006/main">
              <a:ext uri="{FF2B5EF4-FFF2-40B4-BE49-F238E27FC236}">
                <a16:creationId xmlns:a16="http://schemas.microsoft.com/office/drawing/2014/main" id="{6B7E3D33-62B2-4666-9295-ED88F1CEC1B5}"/>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技术机制：自动避碰如何运作</a:t>
            </a:r>
          </a:p>
        </p:txBody>
      </p:sp>
      <p:sp>
        <p:nvSpPr>
          <p:cNvPr id="2" name="text-参数具有伦理后果：预警时间窗、协">
            <a:extLst xmlns:a="http://schemas.openxmlformats.org/drawingml/2006/main">
              <a:ext uri="{FF2B5EF4-FFF2-40B4-BE49-F238E27FC236}">
                <a16:creationId xmlns:a16="http://schemas.microsoft.com/office/drawing/2014/main" id="{A021AA70-67F7-4991-9416-0CEE7658B167}"/>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参数具有伦理后果：预警时间窗、协方差和安全余量会改变其他人的风险。</a:t>
            </a:r>
          </a:p>
        </p:txBody>
      </p:sp>
      <p:sp>
        <p:nvSpPr>
          <p:cNvPr id="3" name="text-技术根因与避碰黑箱  /  技术">
            <a:extLst xmlns:a="http://schemas.openxmlformats.org/drawingml/2006/main">
              <a:ext uri="{FF2B5EF4-FFF2-40B4-BE49-F238E27FC236}">
                <a16:creationId xmlns:a16="http://schemas.microsoft.com/office/drawing/2014/main" id="{9AADC1E7-9AC8-44A4-AA7C-67189ECA028C}"/>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技术根因与避碰黑箱  /  技术专家</a:t>
            </a:r>
          </a:p>
        </p:txBody>
      </p:sp>
      <p:sp>
        <p:nvSpPr>
          <p:cNvPr id="4" name="text-07">
            <a:extLst xmlns:a="http://schemas.openxmlformats.org/drawingml/2006/main">
              <a:ext uri="{FF2B5EF4-FFF2-40B4-BE49-F238E27FC236}">
                <a16:creationId xmlns:a16="http://schemas.microsoft.com/office/drawing/2014/main" id="{47ECFB1A-FEFC-40F7-B137-568DA4609F2E}"/>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07</a:t>
            </a:r>
          </a:p>
        </p:txBody>
      </p:sp>
      <p:sp>
        <p:nvSpPr>
          <p:cNvPr id="5" name="状态估计">
            <a:extLst xmlns:a="http://schemas.openxmlformats.org/drawingml/2006/main">
              <a:ext uri="{FF2B5EF4-FFF2-40B4-BE49-F238E27FC236}">
                <a16:creationId xmlns:a16="http://schemas.microsoft.com/office/drawing/2014/main" id="{B0FA7104-5113-44CA-B964-85859709F672}"/>
              </a:ext>
            </a:extLst>
          </p:cNvPr>
          <p:cNvSpPr>
            <a:spLocks xmlns:a="http://schemas.openxmlformats.org/drawingml/2006/main" noGrp="1"/>
          </p:cNvSpPr>
          <p:nvPr/>
        </p:nvSpPr>
        <p:spPr>
          <a:xfrm xmlns:a="http://schemas.openxmlformats.org/drawingml/2006/main">
            <a:off x="762000" y="2276475"/>
            <a:ext cx="2381250" cy="809625"/>
          </a:xfrm>
          <a:prstGeom xmlns:a="http://schemas.openxmlformats.org/drawingml/2006/main" prst="roundRect">
            <a:avLst>
              <a:gd name="adj" fmla="val 9412"/>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状态估计</a:t>
            </a:r>
          </a:p>
        </p:txBody>
      </p:sp>
      <p:sp>
        <p:nvSpPr>
          <p:cNvPr id="6" name="text-GNSS定位本星&#10;观测其他物体">
            <a:extLst xmlns:a="http://schemas.openxmlformats.org/drawingml/2006/main">
              <a:ext uri="{FF2B5EF4-FFF2-40B4-BE49-F238E27FC236}">
                <a16:creationId xmlns:a16="http://schemas.microsoft.com/office/drawing/2014/main" id="{D1ECFA0A-F70E-4638-94A8-97CFA9516873}"/>
              </a:ext>
            </a:extLst>
          </p:cNvPr>
          <p:cNvSpPr>
            <a:spLocks xmlns:a="http://schemas.openxmlformats.org/drawingml/2006/main" noGrp="1"/>
          </p:cNvSpPr>
          <p:nvPr/>
        </p:nvSpPr>
        <p:spPr>
          <a:xfrm xmlns:a="http://schemas.openxmlformats.org/drawingml/2006/main">
            <a:off x="762000" y="3457575"/>
            <a:ext cx="2381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GNSS定位本星</a:t>
            </a:r>
          </a:p>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观测其他物体</a:t>
            </a:r>
          </a:p>
        </p:txBody>
      </p:sp>
      <p:sp>
        <p:nvSpPr>
          <p:cNvPr id="7" name="交会筛查">
            <a:extLst xmlns:a="http://schemas.openxmlformats.org/drawingml/2006/main">
              <a:ext uri="{FF2B5EF4-FFF2-40B4-BE49-F238E27FC236}">
                <a16:creationId xmlns:a16="http://schemas.microsoft.com/office/drawing/2014/main" id="{2A323044-CC29-4B27-B6B8-01CFE53A7C71}"/>
              </a:ext>
            </a:extLst>
          </p:cNvPr>
          <p:cNvSpPr>
            <a:spLocks xmlns:a="http://schemas.openxmlformats.org/drawingml/2006/main" noGrp="1"/>
          </p:cNvSpPr>
          <p:nvPr/>
        </p:nvSpPr>
        <p:spPr>
          <a:xfrm xmlns:a="http://schemas.openxmlformats.org/drawingml/2006/main">
            <a:off x="3524250" y="2276475"/>
            <a:ext cx="2381250" cy="809625"/>
          </a:xfrm>
          <a:prstGeom xmlns:a="http://schemas.openxmlformats.org/drawingml/2006/main" prst="roundRect">
            <a:avLst>
              <a:gd name="adj" fmla="val 9412"/>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交会筛查</a:t>
            </a:r>
          </a:p>
        </p:txBody>
      </p:sp>
      <p:sp>
        <p:nvSpPr>
          <p:cNvPr id="8" name="text-预测轨迹与不确定性&#10;生成交会消息">
            <a:extLst xmlns:a="http://schemas.openxmlformats.org/drawingml/2006/main">
              <a:ext uri="{FF2B5EF4-FFF2-40B4-BE49-F238E27FC236}">
                <a16:creationId xmlns:a16="http://schemas.microsoft.com/office/drawing/2014/main" id="{DC3EE852-6072-47F7-B983-D1B24BF4DBC2}"/>
              </a:ext>
            </a:extLst>
          </p:cNvPr>
          <p:cNvSpPr>
            <a:spLocks xmlns:a="http://schemas.openxmlformats.org/drawingml/2006/main" noGrp="1"/>
          </p:cNvSpPr>
          <p:nvPr/>
        </p:nvSpPr>
        <p:spPr>
          <a:xfrm xmlns:a="http://schemas.openxmlformats.org/drawingml/2006/main">
            <a:off x="3524250" y="3457575"/>
            <a:ext cx="2381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预测轨迹与不确定性</a:t>
            </a:r>
          </a:p>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生成交会消息</a:t>
            </a:r>
          </a:p>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（CDM）</a:t>
            </a:r>
          </a:p>
        </p:txBody>
      </p:sp>
      <p:sp>
        <p:nvSpPr>
          <p:cNvPr id="9" name="风险决策">
            <a:extLst xmlns:a="http://schemas.openxmlformats.org/drawingml/2006/main">
              <a:ext uri="{FF2B5EF4-FFF2-40B4-BE49-F238E27FC236}">
                <a16:creationId xmlns:a16="http://schemas.microsoft.com/office/drawing/2014/main" id="{5CFEBA14-5FF9-4495-85DE-EB16E4A390DA}"/>
              </a:ext>
            </a:extLst>
          </p:cNvPr>
          <p:cNvSpPr>
            <a:spLocks xmlns:a="http://schemas.openxmlformats.org/drawingml/2006/main" noGrp="1"/>
          </p:cNvSpPr>
          <p:nvPr/>
        </p:nvSpPr>
        <p:spPr>
          <a:xfrm xmlns:a="http://schemas.openxmlformats.org/drawingml/2006/main">
            <a:off x="6286500" y="2276475"/>
            <a:ext cx="2381250" cy="809625"/>
          </a:xfrm>
          <a:prstGeom xmlns:a="http://schemas.openxmlformats.org/drawingml/2006/main" prst="roundRect">
            <a:avLst>
              <a:gd name="adj" fmla="val 9412"/>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风险决策</a:t>
            </a:r>
          </a:p>
        </p:txBody>
      </p:sp>
      <p:sp>
        <p:nvSpPr>
          <p:cNvPr id="10" name="text-比较概率与距离阈值&#10;检查可执行机">
            <a:extLst xmlns:a="http://schemas.openxmlformats.org/drawingml/2006/main">
              <a:ext uri="{FF2B5EF4-FFF2-40B4-BE49-F238E27FC236}">
                <a16:creationId xmlns:a16="http://schemas.microsoft.com/office/drawing/2014/main" id="{3BAFDEE5-8875-4344-864F-0436548F846F}"/>
              </a:ext>
            </a:extLst>
          </p:cNvPr>
          <p:cNvSpPr>
            <a:spLocks xmlns:a="http://schemas.openxmlformats.org/drawingml/2006/main" noGrp="1"/>
          </p:cNvSpPr>
          <p:nvPr/>
        </p:nvSpPr>
        <p:spPr>
          <a:xfrm xmlns:a="http://schemas.openxmlformats.org/drawingml/2006/main">
            <a:off x="6286500" y="3457575"/>
            <a:ext cx="2381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比较概率与距离阈值</a:t>
            </a:r>
          </a:p>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检查可执行机动方案</a:t>
            </a:r>
          </a:p>
        </p:txBody>
      </p:sp>
      <p:sp>
        <p:nvSpPr>
          <p:cNvPr id="11" name="执行与更新">
            <a:extLst xmlns:a="http://schemas.openxmlformats.org/drawingml/2006/main">
              <a:ext uri="{FF2B5EF4-FFF2-40B4-BE49-F238E27FC236}">
                <a16:creationId xmlns:a16="http://schemas.microsoft.com/office/drawing/2014/main" id="{FAF366C3-5217-473E-805C-342F485926FF}"/>
              </a:ext>
            </a:extLst>
          </p:cNvPr>
          <p:cNvSpPr>
            <a:spLocks xmlns:a="http://schemas.openxmlformats.org/drawingml/2006/main" noGrp="1"/>
          </p:cNvSpPr>
          <p:nvPr/>
        </p:nvSpPr>
        <p:spPr>
          <a:xfrm xmlns:a="http://schemas.openxmlformats.org/drawingml/2006/main">
            <a:off x="9048750" y="2276475"/>
            <a:ext cx="2381250" cy="809625"/>
          </a:xfrm>
          <a:prstGeom xmlns:a="http://schemas.openxmlformats.org/drawingml/2006/main" prst="roundRect">
            <a:avLst>
              <a:gd name="adj" fmla="val 9412"/>
            </a:avLst>
          </a:prstGeom>
          <a:solidFill xmlns:a="http://schemas.openxmlformats.org/drawingml/2006/main">
            <a:srgbClr val="5C5BFA"/>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执行与更新</a:t>
            </a:r>
          </a:p>
        </p:txBody>
      </p:sp>
      <p:sp>
        <p:nvSpPr>
          <p:cNvPr id="12" name="text-星上规划和执行&#10;更新星历并持续复">
            <a:extLst xmlns:a="http://schemas.openxmlformats.org/drawingml/2006/main">
              <a:ext uri="{FF2B5EF4-FFF2-40B4-BE49-F238E27FC236}">
                <a16:creationId xmlns:a16="http://schemas.microsoft.com/office/drawing/2014/main" id="{2B926D80-D5B7-428A-BF5F-D9EE7D8DC4DE}"/>
              </a:ext>
            </a:extLst>
          </p:cNvPr>
          <p:cNvSpPr>
            <a:spLocks xmlns:a="http://schemas.openxmlformats.org/drawingml/2006/main" noGrp="1"/>
          </p:cNvSpPr>
          <p:nvPr/>
        </p:nvSpPr>
        <p:spPr>
          <a:xfrm xmlns:a="http://schemas.openxmlformats.org/drawingml/2006/main">
            <a:off x="9048750" y="3457575"/>
            <a:ext cx="2381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星上规划和执行</a:t>
            </a:r>
          </a:p>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更新星历并持续复算</a:t>
            </a:r>
          </a:p>
        </p:txBody>
      </p:sp>
      <p:cxnSp>
        <p:nvCxnSpPr>
          <p:cNvPr id="82" name=""/>
          <p:cNvCxnSpPr>
            <a:stCxn xmlns:a="http://schemas.openxmlformats.org/drawingml/2006/main" id="5" idx="3"/>
            <a:endCxn xmlns:a="http://schemas.openxmlformats.org/drawingml/2006/main" id="7" idx="1"/>
          </p:cNvCxnSpPr>
          <p:nvPr/>
        </p:nvCxnSpPr>
        <p:spPr>
          <a:xfrm xmlns:a="http://schemas.openxmlformats.org/drawingml/2006/main">
            <a:off x="3143250" y="2681288"/>
            <a:ext cx="381000" cy="0"/>
          </a:xfrm>
          <a:prstGeom xmlns:a="http://schemas.openxmlformats.org/drawingml/2006/main" prst="straightConnector1">
            <a:avLst/>
          </a:prstGeom>
          <a:ln xmlns:a="http://schemas.openxmlformats.org/drawingml/2006/main" w="19050">
            <a:solidFill>
              <a:srgbClr val="617186"/>
            </a:solidFill>
            <a:tailEnd type="arrow" w="med" len="med"/>
          </a:ln>
        </p:spPr>
      </p:cxnSp>
      <p:cxnSp>
        <p:nvCxnSpPr>
          <p:cNvPr id="83" name=""/>
          <p:cNvCxnSpPr>
            <a:stCxn xmlns:a="http://schemas.openxmlformats.org/drawingml/2006/main" id="7" idx="3"/>
            <a:endCxn xmlns:a="http://schemas.openxmlformats.org/drawingml/2006/main" id="9" idx="1"/>
          </p:cNvCxnSpPr>
          <p:nvPr/>
        </p:nvCxnSpPr>
        <p:spPr>
          <a:xfrm xmlns:a="http://schemas.openxmlformats.org/drawingml/2006/main">
            <a:off x="5905500" y="2681288"/>
            <a:ext cx="381000" cy="0"/>
          </a:xfrm>
          <a:prstGeom xmlns:a="http://schemas.openxmlformats.org/drawingml/2006/main" prst="straightConnector1">
            <a:avLst/>
          </a:prstGeom>
          <a:ln xmlns:a="http://schemas.openxmlformats.org/drawingml/2006/main" w="19050">
            <a:solidFill>
              <a:srgbClr val="617186"/>
            </a:solidFill>
            <a:tailEnd type="arrow" w="med" len="med"/>
          </a:ln>
        </p:spPr>
      </p:cxnSp>
      <p:cxnSp>
        <p:nvCxnSpPr>
          <p:cNvPr id="84" name=""/>
          <p:cNvCxnSpPr>
            <a:stCxn xmlns:a="http://schemas.openxmlformats.org/drawingml/2006/main" id="9" idx="3"/>
            <a:endCxn xmlns:a="http://schemas.openxmlformats.org/drawingml/2006/main" id="11" idx="1"/>
          </p:cNvCxnSpPr>
          <p:nvPr/>
        </p:nvCxnSpPr>
        <p:spPr>
          <a:xfrm xmlns:a="http://schemas.openxmlformats.org/drawingml/2006/main">
            <a:off x="8667750" y="2681288"/>
            <a:ext cx="381000" cy="0"/>
          </a:xfrm>
          <a:prstGeom xmlns:a="http://schemas.openxmlformats.org/drawingml/2006/main" prst="straightConnector1">
            <a:avLst/>
          </a:prstGeom>
          <a:ln xmlns:a="http://schemas.openxmlformats.org/drawingml/2006/main" w="19050">
            <a:solidFill>
              <a:srgbClr val="617186"/>
            </a:solidFill>
            <a:tailEnd type="arrow" w="med" len="med"/>
          </a:ln>
        </p:spPr>
      </p:cxnSp>
      <p:sp>
        <p:nvSpPr>
          <p:cNvPr id="16" name="text-观测与定位">
            <a:extLst xmlns:a="http://schemas.openxmlformats.org/drawingml/2006/main">
              <a:ext uri="{FF2B5EF4-FFF2-40B4-BE49-F238E27FC236}">
                <a16:creationId xmlns:a16="http://schemas.microsoft.com/office/drawing/2014/main" id="{282D9D6A-D40E-4E03-936A-0D9063832C40}"/>
              </a:ext>
            </a:extLst>
          </p:cNvPr>
          <p:cNvSpPr>
            <a:spLocks xmlns:a="http://schemas.openxmlformats.org/drawingml/2006/main" noGrp="1"/>
          </p:cNvSpPr>
          <p:nvPr/>
        </p:nvSpPr>
        <p:spPr>
          <a:xfrm xmlns:a="http://schemas.openxmlformats.org/drawingml/2006/main">
            <a:off x="762000" y="160020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17186"/>
                </a:solidFill>
                <a:latin typeface="Microsoft YaHei"/>
                <a:ea typeface="Microsoft YaHei"/>
                <a:cs typeface="Microsoft YaHei"/>
              </a:defRPr>
            </a:pPr>
            <a:r>
              <a:rPr sz="1650" b="0">
                <a:solidFill>
                  <a:srgbClr val="617186"/>
                </a:solidFill>
                <a:latin typeface="Microsoft YaHei"/>
                <a:ea typeface="Microsoft YaHei"/>
                <a:cs typeface="Microsoft YaHei"/>
              </a:rPr>
              <a:t>观测与定位</a:t>
            </a:r>
          </a:p>
        </p:txBody>
      </p:sp>
      <p:sp>
        <p:nvSpPr>
          <p:cNvPr id="17" name="text-筛查、决策与行动">
            <a:extLst xmlns:a="http://schemas.openxmlformats.org/drawingml/2006/main">
              <a:ext uri="{FF2B5EF4-FFF2-40B4-BE49-F238E27FC236}">
                <a16:creationId xmlns:a16="http://schemas.microsoft.com/office/drawing/2014/main" id="{27A450E3-638D-4EEA-9FED-734B7227D6BF}"/>
              </a:ext>
            </a:extLst>
          </p:cNvPr>
          <p:cNvSpPr>
            <a:spLocks xmlns:a="http://schemas.openxmlformats.org/drawingml/2006/main" noGrp="1"/>
          </p:cNvSpPr>
          <p:nvPr/>
        </p:nvSpPr>
        <p:spPr>
          <a:xfrm xmlns:a="http://schemas.openxmlformats.org/drawingml/2006/main">
            <a:off x="6286500" y="16002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17186"/>
                </a:solidFill>
                <a:latin typeface="Microsoft YaHei"/>
                <a:ea typeface="Microsoft YaHei"/>
                <a:cs typeface="Microsoft YaHei"/>
              </a:defRPr>
            </a:pPr>
            <a:r>
              <a:rPr sz="1650" b="0">
                <a:solidFill>
                  <a:srgbClr val="617186"/>
                </a:solidFill>
                <a:latin typeface="Microsoft YaHei"/>
                <a:ea typeface="Microsoft YaHei"/>
                <a:cs typeface="Microsoft YaHei"/>
              </a:rPr>
              <a:t>筛查、决策与行动</a:t>
            </a:r>
          </a:p>
        </p:txBody>
      </p:sp>
    </p:spTree>
    <p:extLst>
      <p:ext uri="{BB962C8B-B14F-4D97-AF65-F5344CB8AC3E}">
        <p14:creationId xmlns:p14="http://schemas.microsoft.com/office/powerpoint/2010/main" val="3868327217"/>
      </p:ext>
    </p:extLst>
  </p:cSld>
</p:sld>
</file>

<file path=ppt/slides/slide10.xml><?xml version="1.0" encoding="utf-8"?>
<p:sld xmlns:p="http://schemas.openxmlformats.org/presentationml/2006/main" showMasterSp="0">
  <p:cSld>
    <p:spTree>
      <p:nvGrpSpPr>
        <p:cNvPr id="1" name=""/>
        <p:cNvGrpSpPr/>
        <p:nvPr/>
      </p:nvGrpSpPr>
      <p:grpSpPr>
        <a:xfrm xmlns:a="http://schemas.openxmlformats.org/drawingml/2006/main"/>
      </p:grpSpPr>
      <p:sp>
        <p:nvSpPr>
          <p:cNvPr id="14"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6" name="text-技术黑箱：高频机动的外部性">
            <a:extLst xmlns:a="http://schemas.openxmlformats.org/drawingml/2006/main">
              <a:ext uri="{FF2B5EF4-FFF2-40B4-BE49-F238E27FC236}">
                <a16:creationId xmlns:a16="http://schemas.microsoft.com/office/drawing/2014/main" id="{05C46C8E-6F57-4B34-82C4-19489FD7A922}"/>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技术黑箱：高频机动的外部性</a:t>
            </a:r>
          </a:p>
        </p:txBody>
      </p:sp>
      <p:sp>
        <p:nvSpPr>
          <p:cNvPr id="2" name="text-“机动更多”本身不能证明“更危险">
            <a:extLst xmlns:a="http://schemas.openxmlformats.org/drawingml/2006/main">
              <a:ext uri="{FF2B5EF4-FFF2-40B4-BE49-F238E27FC236}">
                <a16:creationId xmlns:a16="http://schemas.microsoft.com/office/drawing/2014/main" id="{B8C42B02-293A-4200-B4A3-D8ACB3C350FA}"/>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“机动更多”本身不能证明“更危险”；应审核机动前后的全局风险与协调成本。</a:t>
            </a:r>
          </a:p>
        </p:txBody>
      </p:sp>
      <p:sp>
        <p:nvSpPr>
          <p:cNvPr id="3" name="text-技术根因与避碰黑箱  /  技术">
            <a:extLst xmlns:a="http://schemas.openxmlformats.org/drawingml/2006/main">
              <a:ext uri="{FF2B5EF4-FFF2-40B4-BE49-F238E27FC236}">
                <a16:creationId xmlns:a16="http://schemas.microsoft.com/office/drawing/2014/main" id="{E899DA4C-1E51-4247-B88F-C5BBB7AD9229}"/>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技术根因与避碰黑箱  /  技术专家</a:t>
            </a:r>
          </a:p>
        </p:txBody>
      </p:sp>
      <p:sp>
        <p:nvSpPr>
          <p:cNvPr id="4" name="text-08">
            <a:extLst xmlns:a="http://schemas.openxmlformats.org/drawingml/2006/main">
              <a:ext uri="{FF2B5EF4-FFF2-40B4-BE49-F238E27FC236}">
                <a16:creationId xmlns:a16="http://schemas.microsoft.com/office/drawing/2014/main" id="{4642829A-BCF4-4B78-92C8-0BBDE58EA4A3}"/>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08</a:t>
            </a:r>
          </a:p>
        </p:txBody>
      </p:sp>
      <p:sp>
        <p:nvSpPr>
          <p:cNvPr id="5" name="text-3 × 10⁻⁷">
            <a:extLst xmlns:a="http://schemas.openxmlformats.org/drawingml/2006/main">
              <a:ext uri="{FF2B5EF4-FFF2-40B4-BE49-F238E27FC236}">
                <a16:creationId xmlns:a16="http://schemas.microsoft.com/office/drawing/2014/main" id="{CA9FD3F5-E502-4DDA-A5DC-BE5A3124CB17}"/>
              </a:ext>
            </a:extLst>
          </p:cNvPr>
          <p:cNvSpPr>
            <a:spLocks xmlns:a="http://schemas.openxmlformats.org/drawingml/2006/main" noGrp="1"/>
          </p:cNvSpPr>
          <p:nvPr/>
        </p:nvSpPr>
        <p:spPr>
          <a:xfrm xmlns:a="http://schemas.openxmlformats.org/drawingml/2006/main">
            <a:off x="762000" y="187642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75" b="1">
                <a:solidFill>
                  <a:srgbClr val="5C5BFA"/>
                </a:solidFill>
                <a:latin typeface="Microsoft YaHei"/>
                <a:ea typeface="Microsoft YaHei"/>
                <a:cs typeface="Microsoft YaHei"/>
              </a:defRPr>
            </a:pPr>
            <a:r>
              <a:rPr sz="4875" b="1">
                <a:solidFill>
                  <a:srgbClr val="5C5BFA"/>
                </a:solidFill>
                <a:latin typeface="Microsoft YaHei"/>
                <a:ea typeface="Microsoft YaHei"/>
                <a:cs typeface="Microsoft YaHei"/>
              </a:rPr>
              <a:t>3 × 10⁻⁷</a:t>
            </a:r>
          </a:p>
        </p:txBody>
      </p:sp>
      <p:sp>
        <p:nvSpPr>
          <p:cNvPr id="6" name="text-更早触发的安全策略">
            <a:extLst xmlns:a="http://schemas.openxmlformats.org/drawingml/2006/main">
              <a:ext uri="{FF2B5EF4-FFF2-40B4-BE49-F238E27FC236}">
                <a16:creationId xmlns:a16="http://schemas.microsoft.com/office/drawing/2014/main" id="{AA4BAA2A-E9DB-4EC6-8B57-0DBC91CB18B3}"/>
              </a:ext>
            </a:extLst>
          </p:cNvPr>
          <p:cNvSpPr>
            <a:spLocks xmlns:a="http://schemas.openxmlformats.org/drawingml/2006/main" noGrp="1"/>
          </p:cNvSpPr>
          <p:nvPr/>
        </p:nvSpPr>
        <p:spPr>
          <a:xfrm xmlns:a="http://schemas.openxmlformats.org/drawingml/2006/main">
            <a:off x="762000" y="3000375"/>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73C79"/>
                </a:solidFill>
                <a:latin typeface="Microsoft YaHei"/>
                <a:ea typeface="Microsoft YaHei"/>
                <a:cs typeface="Microsoft YaHei"/>
              </a:defRPr>
            </a:pPr>
            <a:r>
              <a:rPr sz="2250" b="1">
                <a:solidFill>
                  <a:srgbClr val="073C79"/>
                </a:solidFill>
                <a:latin typeface="Microsoft YaHei"/>
                <a:ea typeface="Microsoft YaHei"/>
                <a:cs typeface="Microsoft YaHei"/>
              </a:rPr>
              <a:t>更早触发的安全策略</a:t>
            </a:r>
          </a:p>
        </p:txBody>
      </p:sp>
      <p:sp>
        <p:nvSpPr>
          <p:cNvPr id="7" name="text-单次交会安全&#10;与系统协调成本&#10;需">
            <a:extLst xmlns:a="http://schemas.openxmlformats.org/drawingml/2006/main">
              <a:ext uri="{FF2B5EF4-FFF2-40B4-BE49-F238E27FC236}">
                <a16:creationId xmlns:a16="http://schemas.microsoft.com/office/drawing/2014/main" id="{DC4CB9F7-EFC4-4124-BC89-534A63EDBBBA}"/>
              </a:ext>
            </a:extLst>
          </p:cNvPr>
          <p:cNvSpPr>
            <a:spLocks xmlns:a="http://schemas.openxmlformats.org/drawingml/2006/main" noGrp="1"/>
          </p:cNvSpPr>
          <p:nvPr/>
        </p:nvSpPr>
        <p:spPr>
          <a:xfrm xmlns:a="http://schemas.openxmlformats.org/drawingml/2006/main">
            <a:off x="762000" y="3695700"/>
            <a:ext cx="3714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3F"/>
                </a:solidFill>
                <a:latin typeface="Microsoft YaHei"/>
                <a:ea typeface="Microsoft YaHei"/>
                <a:cs typeface="Microsoft YaHei"/>
              </a:defRPr>
            </a:pPr>
            <a:r>
              <a:rPr sz="2175" b="0">
                <a:solidFill>
                  <a:srgbClr val="14283F"/>
                </a:solidFill>
                <a:latin typeface="Microsoft YaHei"/>
                <a:ea typeface="Microsoft YaHei"/>
                <a:cs typeface="Microsoft YaHei"/>
              </a:rPr>
              <a:t>单次交会安全</a:t>
            </a:r>
          </a:p>
          <a:p xmlns:a="http://schemas.openxmlformats.org/drawingml/2006/main">
            <a:pPr algn="l">
              <a:defRPr sz="2175" b="0">
                <a:solidFill>
                  <a:srgbClr val="14283F"/>
                </a:solidFill>
                <a:latin typeface="Microsoft YaHei"/>
                <a:ea typeface="Microsoft YaHei"/>
                <a:cs typeface="Microsoft YaHei"/>
              </a:defRPr>
            </a:pPr>
            <a:r>
              <a:rPr sz="2175" b="0">
                <a:solidFill>
                  <a:srgbClr val="14283F"/>
                </a:solidFill>
                <a:latin typeface="Microsoft YaHei"/>
                <a:ea typeface="Microsoft YaHei"/>
                <a:cs typeface="Microsoft YaHei"/>
              </a:rPr>
              <a:t>与系统协调成本</a:t>
            </a:r>
          </a:p>
          <a:p xmlns:a="http://schemas.openxmlformats.org/drawingml/2006/main">
            <a:pPr algn="l">
              <a:defRPr sz="2175" b="0">
                <a:solidFill>
                  <a:srgbClr val="14283F"/>
                </a:solidFill>
                <a:latin typeface="Microsoft YaHei"/>
                <a:ea typeface="Microsoft YaHei"/>
                <a:cs typeface="Microsoft YaHei"/>
              </a:defRPr>
            </a:pPr>
            <a:r>
              <a:rPr sz="2175" b="0">
                <a:solidFill>
                  <a:srgbClr val="14283F"/>
                </a:solidFill>
                <a:latin typeface="Microsoft YaHei"/>
                <a:ea typeface="Microsoft YaHei"/>
                <a:cs typeface="Microsoft YaHei"/>
              </a:rPr>
              <a:t>需要同时评估</a:t>
            </a:r>
          </a:p>
        </p:txBody>
      </p:sp>
      <p:sp>
        <p:nvSpPr>
          <p:cNvPr id="8" name="text-安全收益">
            <a:extLst xmlns:a="http://schemas.openxmlformats.org/drawingml/2006/main">
              <a:ext uri="{FF2B5EF4-FFF2-40B4-BE49-F238E27FC236}">
                <a16:creationId xmlns:a16="http://schemas.microsoft.com/office/drawing/2014/main" id="{1652CBC7-D4AB-43D1-8B84-0DFD0D4F5F6C}"/>
              </a:ext>
            </a:extLst>
          </p:cNvPr>
          <p:cNvSpPr>
            <a:spLocks xmlns:a="http://schemas.openxmlformats.org/drawingml/2006/main" noGrp="1"/>
          </p:cNvSpPr>
          <p:nvPr/>
        </p:nvSpPr>
        <p:spPr>
          <a:xfrm xmlns:a="http://schemas.openxmlformats.org/drawingml/2006/main">
            <a:off x="5191125" y="1590675"/>
            <a:ext cx="623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安全收益</a:t>
            </a:r>
          </a:p>
        </p:txBody>
      </p:sp>
      <p:sp>
        <p:nvSpPr>
          <p:cNvPr id="9" name="text-更保守的触发阈值可降低单次交会风">
            <a:extLst xmlns:a="http://schemas.openxmlformats.org/drawingml/2006/main">
              <a:ext uri="{FF2B5EF4-FFF2-40B4-BE49-F238E27FC236}">
                <a16:creationId xmlns:a16="http://schemas.microsoft.com/office/drawing/2014/main" id="{F51E5E27-45A4-49C9-BFC4-68BE1CD5386E}"/>
              </a:ext>
            </a:extLst>
          </p:cNvPr>
          <p:cNvSpPr>
            <a:spLocks xmlns:a="http://schemas.openxmlformats.org/drawingml/2006/main" noGrp="1"/>
          </p:cNvSpPr>
          <p:nvPr/>
        </p:nvSpPr>
        <p:spPr>
          <a:xfrm xmlns:a="http://schemas.openxmlformats.org/drawingml/2006/main">
            <a:off x="5191125" y="2047875"/>
            <a:ext cx="62388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更保守的触发阈值可降低单次交会风险，及时更新轨迹也有助于协同。</a:t>
            </a:r>
          </a:p>
        </p:txBody>
      </p:sp>
      <p:sp>
        <p:nvSpPr>
          <p:cNvPr id="10" name="text-潜在代价">
            <a:extLst xmlns:a="http://schemas.openxmlformats.org/drawingml/2006/main">
              <a:ext uri="{FF2B5EF4-FFF2-40B4-BE49-F238E27FC236}">
                <a16:creationId xmlns:a16="http://schemas.microsoft.com/office/drawing/2014/main" id="{511B4ED3-3028-4F53-9221-D34C9F1477FF}"/>
              </a:ext>
            </a:extLst>
          </p:cNvPr>
          <p:cNvSpPr>
            <a:spLocks xmlns:a="http://schemas.openxmlformats.org/drawingml/2006/main" noGrp="1"/>
          </p:cNvSpPr>
          <p:nvPr/>
        </p:nvSpPr>
        <p:spPr>
          <a:xfrm xmlns:a="http://schemas.openxmlformats.org/drawingml/2006/main">
            <a:off x="5191125" y="2857500"/>
            <a:ext cx="623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潜在代价</a:t>
            </a:r>
          </a:p>
        </p:txBody>
      </p:sp>
      <p:sp>
        <p:nvSpPr>
          <p:cNvPr id="11" name="text-推进剂、运控工作量和第三方重算负">
            <a:extLst xmlns:a="http://schemas.openxmlformats.org/drawingml/2006/main">
              <a:ext uri="{FF2B5EF4-FFF2-40B4-BE49-F238E27FC236}">
                <a16:creationId xmlns:a16="http://schemas.microsoft.com/office/drawing/2014/main" id="{9965E4B2-FFDA-4BE3-AD89-EFADA325DCD9}"/>
              </a:ext>
            </a:extLst>
          </p:cNvPr>
          <p:cNvSpPr>
            <a:spLocks xmlns:a="http://schemas.openxmlformats.org/drawingml/2006/main" noGrp="1"/>
          </p:cNvSpPr>
          <p:nvPr/>
        </p:nvSpPr>
        <p:spPr>
          <a:xfrm xmlns:a="http://schemas.openxmlformats.org/drawingml/2006/main">
            <a:off x="5191125" y="3314700"/>
            <a:ext cx="62388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推进剂、运控工作量和第三方重算负担增加；实际影响需结合任务与数据测量。</a:t>
            </a:r>
          </a:p>
        </p:txBody>
      </p:sp>
      <p:sp>
        <p:nvSpPr>
          <p:cNvPr id="12" name="text-公平边界">
            <a:extLst xmlns:a="http://schemas.openxmlformats.org/drawingml/2006/main">
              <a:ext uri="{FF2B5EF4-FFF2-40B4-BE49-F238E27FC236}">
                <a16:creationId xmlns:a16="http://schemas.microsoft.com/office/drawing/2014/main" id="{602EF722-5B57-49DD-9600-8E22E5A29593}"/>
              </a:ext>
            </a:extLst>
          </p:cNvPr>
          <p:cNvSpPr>
            <a:spLocks xmlns:a="http://schemas.openxmlformats.org/drawingml/2006/main" noGrp="1"/>
          </p:cNvSpPr>
          <p:nvPr/>
        </p:nvSpPr>
        <p:spPr>
          <a:xfrm xmlns:a="http://schemas.openxmlformats.org/drawingml/2006/main">
            <a:off x="5191125" y="4124325"/>
            <a:ext cx="623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公平边界</a:t>
            </a:r>
          </a:p>
        </p:txBody>
      </p:sp>
      <p:sp>
        <p:nvSpPr>
          <p:cNvPr id="13" name="text-无推进能力或资源有限的运营者，更">
            <a:extLst xmlns:a="http://schemas.openxmlformats.org/drawingml/2006/main">
              <a:ext uri="{FF2B5EF4-FFF2-40B4-BE49-F238E27FC236}">
                <a16:creationId xmlns:a16="http://schemas.microsoft.com/office/drawing/2014/main" id="{DEDF589E-9B27-4616-BE9A-CCA8E18EA8B1}"/>
              </a:ext>
            </a:extLst>
          </p:cNvPr>
          <p:cNvSpPr>
            <a:spLocks xmlns:a="http://schemas.openxmlformats.org/drawingml/2006/main" noGrp="1"/>
          </p:cNvSpPr>
          <p:nvPr/>
        </p:nvSpPr>
        <p:spPr>
          <a:xfrm xmlns:a="http://schemas.openxmlformats.org/drawingml/2006/main">
            <a:off x="5191125" y="4581525"/>
            <a:ext cx="62388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无推进能力或资源有限的运营者，更难应对短时通知和不一致预测。</a:t>
            </a:r>
          </a:p>
        </p:txBody>
      </p:sp>
    </p:spTree>
    <p:extLst>
      <p:ext uri="{BB962C8B-B14F-4D97-AF65-F5344CB8AC3E}">
        <p14:creationId xmlns:p14="http://schemas.microsoft.com/office/powerpoint/2010/main" val="3868327217"/>
      </p:ext>
    </p:extLst>
  </p:cSld>
</p:sld>
</file>

<file path=ppt/slides/slide11.xml><?xml version="1.0" encoding="utf-8"?>
<p:sld xmlns:p="http://schemas.openxmlformats.org/presentationml/2006/main" showMasterSp="0">
  <p:cSld>
    <p:spTree>
      <p:nvGrpSpPr>
        <p:cNvPr id="1" name=""/>
        <p:cNvGrpSpPr/>
        <p:nvPr/>
      </p:nvGrpSpPr>
      <p:grpSpPr>
        <a:xfrm xmlns:a="http://schemas.openxmlformats.org/drawingml/2006/main"/>
      </p:grpSpPr>
      <p:sp>
        <p:nvSpPr>
          <p:cNvPr id="19"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0"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0"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1"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2"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3"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4"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71" name="text-数据换安全：Stargaze的双">
            <a:extLst xmlns:a="http://schemas.openxmlformats.org/drawingml/2006/main">
              <a:ext uri="{FF2B5EF4-FFF2-40B4-BE49-F238E27FC236}">
                <a16:creationId xmlns:a16="http://schemas.microsoft.com/office/drawing/2014/main" id="{5E7CE50B-725A-48B8-9ABF-739AF5D619B5}"/>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数据换安全：Stargaze的双重角色</a:t>
            </a:r>
          </a:p>
        </p:txBody>
      </p:sp>
      <p:sp>
        <p:nvSpPr>
          <p:cNvPr id="2" name="text-“数据换安全”并不自动构成垄断；">
            <a:extLst xmlns:a="http://schemas.openxmlformats.org/drawingml/2006/main">
              <a:ext uri="{FF2B5EF4-FFF2-40B4-BE49-F238E27FC236}">
                <a16:creationId xmlns:a16="http://schemas.microsoft.com/office/drawing/2014/main" id="{1B92EE6D-D872-41A4-8443-A1BD06B36998}"/>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“数据换安全”并不自动构成垄断；利益冲突需要制度约束与实证判断。</a:t>
            </a:r>
          </a:p>
        </p:txBody>
      </p:sp>
      <p:sp>
        <p:nvSpPr>
          <p:cNvPr id="3" name="text-技术根因与避碰黑箱  /  技术">
            <a:extLst xmlns:a="http://schemas.openxmlformats.org/drawingml/2006/main">
              <a:ext uri="{FF2B5EF4-FFF2-40B4-BE49-F238E27FC236}">
                <a16:creationId xmlns:a16="http://schemas.microsoft.com/office/drawing/2014/main" id="{46B901E7-06B1-4DC0-9C60-0497B97D2438}"/>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技术根因与避碰黑箱  /  技术专家</a:t>
            </a:r>
          </a:p>
        </p:txBody>
      </p:sp>
      <p:sp>
        <p:nvSpPr>
          <p:cNvPr id="4" name="text-09">
            <a:extLst xmlns:a="http://schemas.openxmlformats.org/drawingml/2006/main">
              <a:ext uri="{FF2B5EF4-FFF2-40B4-BE49-F238E27FC236}">
                <a16:creationId xmlns:a16="http://schemas.microsoft.com/office/drawing/2014/main" id="{55C93227-6549-4702-B243-41702F3D524F}"/>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09</a:t>
            </a:r>
          </a:p>
        </p:txBody>
      </p:sp>
      <p:sp>
        <p:nvSpPr>
          <p:cNvPr id="5" name="text-共享数据确有安全价值">
            <a:extLst xmlns:a="http://schemas.openxmlformats.org/drawingml/2006/main">
              <a:ext uri="{FF2B5EF4-FFF2-40B4-BE49-F238E27FC236}">
                <a16:creationId xmlns:a16="http://schemas.microsoft.com/office/drawing/2014/main" id="{7442C5F4-5F0D-47D3-9DF0-45DED46F0473}"/>
              </a:ext>
            </a:extLst>
          </p:cNvPr>
          <p:cNvSpPr>
            <a:spLocks xmlns:a="http://schemas.openxmlformats.org/drawingml/2006/main" noGrp="1"/>
          </p:cNvSpPr>
          <p:nvPr/>
        </p:nvSpPr>
        <p:spPr>
          <a:xfrm xmlns:a="http://schemas.openxmlformats.org/drawingml/2006/main">
            <a:off x="762000" y="16478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73C79"/>
                </a:solidFill>
                <a:latin typeface="Microsoft YaHei"/>
                <a:ea typeface="Microsoft YaHei"/>
                <a:cs typeface="Microsoft YaHei"/>
              </a:defRPr>
            </a:pPr>
            <a:r>
              <a:rPr sz="2400" b="1">
                <a:solidFill>
                  <a:srgbClr val="073C79"/>
                </a:solidFill>
                <a:latin typeface="Microsoft YaHei"/>
                <a:ea typeface="Microsoft YaHei"/>
                <a:cs typeface="Microsoft YaHei"/>
              </a:rPr>
              <a:t>共享数据确有安全价值</a:t>
            </a:r>
          </a:p>
        </p:txBody>
      </p:sp>
      <p:sp>
        <p:nvSpPr>
          <p:cNvPr id="6" name="text-公共依赖需要治理保障">
            <a:extLst xmlns:a="http://schemas.openxmlformats.org/drawingml/2006/main">
              <a:ext uri="{FF2B5EF4-FFF2-40B4-BE49-F238E27FC236}">
                <a16:creationId xmlns:a16="http://schemas.microsoft.com/office/drawing/2014/main" id="{D387D8D3-B99E-4F3D-9036-EC157EC2A201}"/>
              </a:ext>
            </a:extLst>
          </p:cNvPr>
          <p:cNvSpPr>
            <a:spLocks xmlns:a="http://schemas.openxmlformats.org/drawingml/2006/main" noGrp="1"/>
          </p:cNvSpPr>
          <p:nvPr/>
        </p:nvSpPr>
        <p:spPr>
          <a:xfrm xmlns:a="http://schemas.openxmlformats.org/drawingml/2006/main">
            <a:off x="6524625" y="16478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5C5BFA"/>
                </a:solidFill>
                <a:latin typeface="Microsoft YaHei"/>
                <a:ea typeface="Microsoft YaHei"/>
                <a:cs typeface="Microsoft YaHei"/>
              </a:defRPr>
            </a:pPr>
            <a:r>
              <a:rPr sz="2400" b="1">
                <a:solidFill>
                  <a:srgbClr val="5C5BFA"/>
                </a:solidFill>
                <a:latin typeface="Microsoft YaHei"/>
                <a:ea typeface="Microsoft YaHei"/>
                <a:cs typeface="Microsoft YaHei"/>
              </a:rPr>
              <a:t>公共依赖需要治理保障</a:t>
            </a:r>
          </a:p>
        </p:txBody>
      </p:sp>
      <p:sp>
        <p:nvSpPr>
          <p:cNvPr id="7" name="text-01">
            <a:extLst xmlns:a="http://schemas.openxmlformats.org/drawingml/2006/main">
              <a:ext uri="{FF2B5EF4-FFF2-40B4-BE49-F238E27FC236}">
                <a16:creationId xmlns:a16="http://schemas.microsoft.com/office/drawing/2014/main" id="{8D567A13-C0E1-44BE-A1D1-CEE59CB26039}"/>
              </a:ext>
            </a:extLst>
          </p:cNvPr>
          <p:cNvSpPr>
            <a:spLocks xmlns:a="http://schemas.openxmlformats.org/drawingml/2006/main" noGrp="1"/>
          </p:cNvSpPr>
          <p:nvPr/>
        </p:nvSpPr>
        <p:spPr>
          <a:xfrm xmlns:a="http://schemas.openxmlformats.org/drawingml/2006/main">
            <a:off x="762000" y="24479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C5BFA"/>
                </a:solidFill>
                <a:latin typeface="Microsoft YaHei"/>
                <a:ea typeface="Microsoft YaHei"/>
                <a:cs typeface="Microsoft YaHei"/>
              </a:defRPr>
            </a:pPr>
            <a:r>
              <a:rPr sz="2025" b="1">
                <a:solidFill>
                  <a:srgbClr val="5C5BFA"/>
                </a:solidFill>
                <a:latin typeface="Microsoft YaHei"/>
                <a:ea typeface="Microsoft YaHei"/>
                <a:cs typeface="Microsoft YaHei"/>
              </a:rPr>
              <a:t>01</a:t>
            </a:r>
          </a:p>
        </p:txBody>
      </p:sp>
      <p:sp>
        <p:nvSpPr>
          <p:cNvPr id="8" name="text-运营商上传星历，免费获取交会消息">
            <a:extLst xmlns:a="http://schemas.openxmlformats.org/drawingml/2006/main">
              <a:ext uri="{FF2B5EF4-FFF2-40B4-BE49-F238E27FC236}">
                <a16:creationId xmlns:a16="http://schemas.microsoft.com/office/drawing/2014/main" id="{CDB4DB55-38DA-414D-80BA-B18D886D7D03}"/>
              </a:ext>
            </a:extLst>
          </p:cNvPr>
          <p:cNvSpPr>
            <a:spLocks xmlns:a="http://schemas.openxmlformats.org/drawingml/2006/main" noGrp="1"/>
          </p:cNvSpPr>
          <p:nvPr/>
        </p:nvSpPr>
        <p:spPr>
          <a:xfrm xmlns:a="http://schemas.openxmlformats.org/drawingml/2006/main">
            <a:off x="1381125" y="2447925"/>
            <a:ext cx="4381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运营商上传星历，免费获取交会消息。</a:t>
            </a:r>
          </a:p>
        </p:txBody>
      </p:sp>
      <p:sp>
        <p:nvSpPr>
          <p:cNvPr id="9" name="text-02">
            <a:extLst xmlns:a="http://schemas.openxmlformats.org/drawingml/2006/main">
              <a:ext uri="{FF2B5EF4-FFF2-40B4-BE49-F238E27FC236}">
                <a16:creationId xmlns:a16="http://schemas.microsoft.com/office/drawing/2014/main" id="{70E7BDED-736A-433C-8D51-3DE1C723FD53}"/>
              </a:ext>
            </a:extLst>
          </p:cNvPr>
          <p:cNvSpPr>
            <a:spLocks xmlns:a="http://schemas.openxmlformats.org/drawingml/2006/main" noGrp="1"/>
          </p:cNvSpPr>
          <p:nvPr/>
        </p:nvSpPr>
        <p:spPr>
          <a:xfrm xmlns:a="http://schemas.openxmlformats.org/drawingml/2006/main">
            <a:off x="762000" y="339090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C5BFA"/>
                </a:solidFill>
                <a:latin typeface="Microsoft YaHei"/>
                <a:ea typeface="Microsoft YaHei"/>
                <a:cs typeface="Microsoft YaHei"/>
              </a:defRPr>
            </a:pPr>
            <a:r>
              <a:rPr sz="2025" b="1">
                <a:solidFill>
                  <a:srgbClr val="5C5BFA"/>
                </a:solidFill>
                <a:latin typeface="Microsoft YaHei"/>
                <a:ea typeface="Microsoft YaHei"/>
                <a:cs typeface="Microsoft YaHei"/>
              </a:rPr>
              <a:t>02</a:t>
            </a:r>
          </a:p>
        </p:txBody>
      </p:sp>
      <p:sp>
        <p:nvSpPr>
          <p:cNvPr id="10" name="text-近实时观测有助于更早发现轨迹变化">
            <a:extLst xmlns:a="http://schemas.openxmlformats.org/drawingml/2006/main">
              <a:ext uri="{FF2B5EF4-FFF2-40B4-BE49-F238E27FC236}">
                <a16:creationId xmlns:a16="http://schemas.microsoft.com/office/drawing/2014/main" id="{7386A12E-00A0-4B80-9419-BC02DEC0E05C}"/>
              </a:ext>
            </a:extLst>
          </p:cNvPr>
          <p:cNvSpPr>
            <a:spLocks xmlns:a="http://schemas.openxmlformats.org/drawingml/2006/main" noGrp="1"/>
          </p:cNvSpPr>
          <p:nvPr/>
        </p:nvSpPr>
        <p:spPr>
          <a:xfrm xmlns:a="http://schemas.openxmlformats.org/drawingml/2006/main">
            <a:off x="1381125" y="3390900"/>
            <a:ext cx="4381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近实时观测有助于更早发现轨迹变化。</a:t>
            </a:r>
          </a:p>
        </p:txBody>
      </p:sp>
      <p:sp>
        <p:nvSpPr>
          <p:cNvPr id="11" name="text-03">
            <a:extLst xmlns:a="http://schemas.openxmlformats.org/drawingml/2006/main">
              <a:ext uri="{FF2B5EF4-FFF2-40B4-BE49-F238E27FC236}">
                <a16:creationId xmlns:a16="http://schemas.microsoft.com/office/drawing/2014/main" id="{66016B59-9BE4-4F76-B1B2-9E36B698A856}"/>
              </a:ext>
            </a:extLst>
          </p:cNvPr>
          <p:cNvSpPr>
            <a:spLocks xmlns:a="http://schemas.openxmlformats.org/drawingml/2006/main" noGrp="1"/>
          </p:cNvSpPr>
          <p:nvPr/>
        </p:nvSpPr>
        <p:spPr>
          <a:xfrm xmlns:a="http://schemas.openxmlformats.org/drawingml/2006/main">
            <a:off x="762000" y="43338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C5BFA"/>
                </a:solidFill>
                <a:latin typeface="Microsoft YaHei"/>
                <a:ea typeface="Microsoft YaHei"/>
                <a:cs typeface="Microsoft YaHei"/>
              </a:defRPr>
            </a:pPr>
            <a:r>
              <a:rPr sz="2025" b="1">
                <a:solidFill>
                  <a:srgbClr val="5C5BFA"/>
                </a:solidFill>
                <a:latin typeface="Microsoft YaHei"/>
                <a:ea typeface="Microsoft YaHei"/>
                <a:cs typeface="Microsoft YaHei"/>
              </a:rPr>
              <a:t>03</a:t>
            </a:r>
          </a:p>
        </p:txBody>
      </p:sp>
      <p:sp>
        <p:nvSpPr>
          <p:cNvPr id="12" name="text-星历包含计划机动，通常比单纯外部">
            <a:extLst xmlns:a="http://schemas.openxmlformats.org/drawingml/2006/main">
              <a:ext uri="{FF2B5EF4-FFF2-40B4-BE49-F238E27FC236}">
                <a16:creationId xmlns:a16="http://schemas.microsoft.com/office/drawing/2014/main" id="{A8FDFC7B-0E07-4FAB-83F9-E5DD13ED442F}"/>
              </a:ext>
            </a:extLst>
          </p:cNvPr>
          <p:cNvSpPr>
            <a:spLocks xmlns:a="http://schemas.openxmlformats.org/drawingml/2006/main" noGrp="1"/>
          </p:cNvSpPr>
          <p:nvPr/>
        </p:nvSpPr>
        <p:spPr>
          <a:xfrm xmlns:a="http://schemas.openxmlformats.org/drawingml/2006/main">
            <a:off x="1381125" y="4333875"/>
            <a:ext cx="4381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星历包含计划机动，通常比单纯外部观测更及时。</a:t>
            </a:r>
          </a:p>
        </p:txBody>
      </p:sp>
      <p:sp>
        <p:nvSpPr>
          <p:cNvPr id="13" name="text-01">
            <a:extLst xmlns:a="http://schemas.openxmlformats.org/drawingml/2006/main">
              <a:ext uri="{FF2B5EF4-FFF2-40B4-BE49-F238E27FC236}">
                <a16:creationId xmlns:a16="http://schemas.microsoft.com/office/drawing/2014/main" id="{97D61359-5A8C-4459-9563-856E2DD9651F}"/>
              </a:ext>
            </a:extLst>
          </p:cNvPr>
          <p:cNvSpPr>
            <a:spLocks xmlns:a="http://schemas.openxmlformats.org/drawingml/2006/main" noGrp="1"/>
          </p:cNvSpPr>
          <p:nvPr/>
        </p:nvSpPr>
        <p:spPr>
          <a:xfrm xmlns:a="http://schemas.openxmlformats.org/drawingml/2006/main">
            <a:off x="6524625" y="24479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C5BFA"/>
                </a:solidFill>
                <a:latin typeface="Microsoft YaHei"/>
                <a:ea typeface="Microsoft YaHei"/>
                <a:cs typeface="Microsoft YaHei"/>
              </a:defRPr>
            </a:pPr>
            <a:r>
              <a:rPr sz="2025" b="1">
                <a:solidFill>
                  <a:srgbClr val="5C5BFA"/>
                </a:solidFill>
                <a:latin typeface="Microsoft YaHei"/>
                <a:ea typeface="Microsoft YaHei"/>
                <a:cs typeface="Microsoft YaHei"/>
              </a:rPr>
              <a:t>01</a:t>
            </a:r>
          </a:p>
        </p:txBody>
      </p:sp>
      <p:sp>
        <p:nvSpPr>
          <p:cNvPr id="14" name="text-运营者同时提供安全平台，可能产生">
            <a:extLst xmlns:a="http://schemas.openxmlformats.org/drawingml/2006/main">
              <a:ext uri="{FF2B5EF4-FFF2-40B4-BE49-F238E27FC236}">
                <a16:creationId xmlns:a16="http://schemas.microsoft.com/office/drawing/2014/main" id="{C23DAE0E-BF56-480B-8B7B-D63C0A099C1B}"/>
              </a:ext>
            </a:extLst>
          </p:cNvPr>
          <p:cNvSpPr>
            <a:spLocks xmlns:a="http://schemas.openxmlformats.org/drawingml/2006/main" noGrp="1"/>
          </p:cNvSpPr>
          <p:nvPr/>
        </p:nvSpPr>
        <p:spPr>
          <a:xfrm xmlns:a="http://schemas.openxmlformats.org/drawingml/2006/main">
            <a:off x="7143750" y="2447925"/>
            <a:ext cx="4333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运营者同时提供安全平台，可能产生规则制定与商业利益冲突。</a:t>
            </a:r>
          </a:p>
        </p:txBody>
      </p:sp>
      <p:sp>
        <p:nvSpPr>
          <p:cNvPr id="15" name="text-02">
            <a:extLst xmlns:a="http://schemas.openxmlformats.org/drawingml/2006/main">
              <a:ext uri="{FF2B5EF4-FFF2-40B4-BE49-F238E27FC236}">
                <a16:creationId xmlns:a16="http://schemas.microsoft.com/office/drawing/2014/main" id="{11D4EC9F-E86E-41B5-89D5-928AD422CB7E}"/>
              </a:ext>
            </a:extLst>
          </p:cNvPr>
          <p:cNvSpPr>
            <a:spLocks xmlns:a="http://schemas.openxmlformats.org/drawingml/2006/main" noGrp="1"/>
          </p:cNvSpPr>
          <p:nvPr/>
        </p:nvSpPr>
        <p:spPr>
          <a:xfrm xmlns:a="http://schemas.openxmlformats.org/drawingml/2006/main">
            <a:off x="6524625" y="339090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C5BFA"/>
                </a:solidFill>
                <a:latin typeface="Microsoft YaHei"/>
                <a:ea typeface="Microsoft YaHei"/>
                <a:cs typeface="Microsoft YaHei"/>
              </a:defRPr>
            </a:pPr>
            <a:r>
              <a:rPr sz="2025" b="1">
                <a:solidFill>
                  <a:srgbClr val="5C5BFA"/>
                </a:solidFill>
                <a:latin typeface="Microsoft YaHei"/>
                <a:ea typeface="Microsoft YaHei"/>
                <a:cs typeface="Microsoft YaHei"/>
              </a:rPr>
              <a:t>02</a:t>
            </a:r>
          </a:p>
        </p:txBody>
      </p:sp>
      <p:sp>
        <p:nvSpPr>
          <p:cNvPr id="16" name="text-需约束数据用途，公开访问条件与服">
            <a:extLst xmlns:a="http://schemas.openxmlformats.org/drawingml/2006/main">
              <a:ext uri="{FF2B5EF4-FFF2-40B4-BE49-F238E27FC236}">
                <a16:creationId xmlns:a16="http://schemas.microsoft.com/office/drawing/2014/main" id="{29C1FF36-A677-41A4-AD97-61E9C4BAB2E3}"/>
              </a:ext>
            </a:extLst>
          </p:cNvPr>
          <p:cNvSpPr>
            <a:spLocks xmlns:a="http://schemas.openxmlformats.org/drawingml/2006/main" noGrp="1"/>
          </p:cNvSpPr>
          <p:nvPr/>
        </p:nvSpPr>
        <p:spPr>
          <a:xfrm xmlns:a="http://schemas.openxmlformats.org/drawingml/2006/main">
            <a:off x="7143750" y="3390900"/>
            <a:ext cx="4333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需约束数据用途，公开访问条件与服务中断预案。</a:t>
            </a:r>
          </a:p>
        </p:txBody>
      </p:sp>
      <p:sp>
        <p:nvSpPr>
          <p:cNvPr id="17" name="text-03">
            <a:extLst xmlns:a="http://schemas.openxmlformats.org/drawingml/2006/main">
              <a:ext uri="{FF2B5EF4-FFF2-40B4-BE49-F238E27FC236}">
                <a16:creationId xmlns:a16="http://schemas.microsoft.com/office/drawing/2014/main" id="{056E3DDA-0844-486D-9015-7DC06FEB81C8}"/>
              </a:ext>
            </a:extLst>
          </p:cNvPr>
          <p:cNvSpPr>
            <a:spLocks xmlns:a="http://schemas.openxmlformats.org/drawingml/2006/main" noGrp="1"/>
          </p:cNvSpPr>
          <p:nvPr/>
        </p:nvSpPr>
        <p:spPr>
          <a:xfrm xmlns:a="http://schemas.openxmlformats.org/drawingml/2006/main">
            <a:off x="6524625" y="43338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C5BFA"/>
                </a:solidFill>
                <a:latin typeface="Microsoft YaHei"/>
                <a:ea typeface="Microsoft YaHei"/>
                <a:cs typeface="Microsoft YaHei"/>
              </a:defRPr>
            </a:pPr>
            <a:r>
              <a:rPr sz="2025" b="1">
                <a:solidFill>
                  <a:srgbClr val="5C5BFA"/>
                </a:solidFill>
                <a:latin typeface="Microsoft YaHei"/>
                <a:ea typeface="Microsoft YaHei"/>
                <a:cs typeface="Microsoft YaHei"/>
              </a:rPr>
              <a:t>03</a:t>
            </a:r>
          </a:p>
        </p:txBody>
      </p:sp>
      <p:sp>
        <p:nvSpPr>
          <p:cNvPr id="18" name="text-独立数据交叉校验、审计与可迁移接">
            <a:extLst xmlns:a="http://schemas.openxmlformats.org/drawingml/2006/main">
              <a:ext uri="{FF2B5EF4-FFF2-40B4-BE49-F238E27FC236}">
                <a16:creationId xmlns:a16="http://schemas.microsoft.com/office/drawing/2014/main" id="{7FE350D3-CF91-4351-B15E-53C1A38B8CE4}"/>
              </a:ext>
            </a:extLst>
          </p:cNvPr>
          <p:cNvSpPr>
            <a:spLocks xmlns:a="http://schemas.openxmlformats.org/drawingml/2006/main" noGrp="1"/>
          </p:cNvSpPr>
          <p:nvPr/>
        </p:nvSpPr>
        <p:spPr>
          <a:xfrm xmlns:a="http://schemas.openxmlformats.org/drawingml/2006/main">
            <a:off x="7143750" y="4333875"/>
            <a:ext cx="4333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独立数据交叉校验、审计与可迁移接口可降低锁定风险。</a:t>
            </a:r>
          </a:p>
        </p:txBody>
      </p:sp>
    </p:spTree>
    <p:extLst>
      <p:ext uri="{BB962C8B-B14F-4D97-AF65-F5344CB8AC3E}">
        <p14:creationId xmlns:p14="http://schemas.microsoft.com/office/powerpoint/2010/main" val="3868327217"/>
      </p:ext>
    </p:extLst>
  </p:cSld>
</p:sld>
</file>

<file path=ppt/slides/slide12.xml><?xml version="1.0" encoding="utf-8"?>
<p:sld xmlns:p="http://schemas.openxmlformats.org/presentationml/2006/main" showMasterSp="0">
  <p:cSld>
    <p:spTree>
      <p:nvGrpSpPr>
        <p:cNvPr id="1" name=""/>
        <p:cNvGrpSpPr/>
        <p:nvPr/>
      </p:nvGrpSpPr>
      <p:grpSpPr>
        <a:xfrm xmlns:a="http://schemas.openxmlformats.org/drawingml/2006/main"/>
      </p:grpSpPr>
      <p:sp>
        <p:nvSpPr>
          <p:cNvPr id="11"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3"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4"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5"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3" name="text-天文观测：拖线与天空增亮">
            <a:extLst xmlns:a="http://schemas.openxmlformats.org/drawingml/2006/main">
              <a:ext uri="{FF2B5EF4-FFF2-40B4-BE49-F238E27FC236}">
                <a16:creationId xmlns:a16="http://schemas.microsoft.com/office/drawing/2014/main" id="{15BB27CD-9950-444C-BB28-E3EC00344C8A}"/>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天文观测：拖线与天空增亮</a:t>
            </a:r>
          </a:p>
        </p:txBody>
      </p:sp>
      <p:sp>
        <p:nvSpPr>
          <p:cNvPr id="2" name="text-20–30%与200–300%来">
            <a:extLst xmlns:a="http://schemas.openxmlformats.org/drawingml/2006/main">
              <a:ext uri="{FF2B5EF4-FFF2-40B4-BE49-F238E27FC236}">
                <a16:creationId xmlns:a16="http://schemas.microsoft.com/office/drawing/2014/main" id="{E9B5B006-9A4B-41E1-9E9A-59F1D5241810}"/>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20–30%与200–300%来自极亮反射镜星座情景，不能当作普通星链现状。</a:t>
            </a:r>
          </a:p>
        </p:txBody>
      </p:sp>
      <p:sp>
        <p:nvSpPr>
          <p:cNvPr id="3" name="text-经济社会与公共资源损害  /  ">
            <a:extLst xmlns:a="http://schemas.openxmlformats.org/drawingml/2006/main">
              <a:ext uri="{FF2B5EF4-FFF2-40B4-BE49-F238E27FC236}">
                <a16:creationId xmlns:a16="http://schemas.microsoft.com/office/drawing/2014/main" id="{C7A756CF-95B6-4962-A29E-5BB27B0A07B3}"/>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经济社会与公共资源损害  /  影响专家</a:t>
            </a:r>
          </a:p>
        </p:txBody>
      </p:sp>
      <p:sp>
        <p:nvSpPr>
          <p:cNvPr id="4" name="text-10">
            <a:extLst xmlns:a="http://schemas.openxmlformats.org/drawingml/2006/main">
              <a:ext uri="{FF2B5EF4-FFF2-40B4-BE49-F238E27FC236}">
                <a16:creationId xmlns:a16="http://schemas.microsoft.com/office/drawing/2014/main" id="{C98D606B-CF03-49D8-B407-8FF0D92006B5}"/>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10</a:t>
            </a:r>
          </a:p>
        </p:txBody>
      </p:sp>
      <p:sp>
        <p:nvSpPr>
          <p:cNvPr id="5" name="text-极亮反射镜星座的模拟增亮幅度">
            <a:extLst xmlns:a="http://schemas.openxmlformats.org/drawingml/2006/main">
              <a:ext uri="{FF2B5EF4-FFF2-40B4-BE49-F238E27FC236}">
                <a16:creationId xmlns:a16="http://schemas.microsoft.com/office/drawing/2014/main" id="{883180BD-8D87-454B-9B73-EBA6ED9867C0}"/>
              </a:ext>
            </a:extLst>
          </p:cNvPr>
          <p:cNvSpPr>
            <a:spLocks xmlns:a="http://schemas.openxmlformats.org/drawingml/2006/main" noGrp="1"/>
          </p:cNvSpPr>
          <p:nvPr/>
        </p:nvSpPr>
        <p:spPr>
          <a:xfrm xmlns:a="http://schemas.openxmlformats.org/drawingml/2006/main">
            <a:off x="762000" y="1533525"/>
            <a:ext cx="685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73C79"/>
                </a:solidFill>
                <a:latin typeface="Microsoft YaHei"/>
                <a:ea typeface="Microsoft YaHei"/>
                <a:cs typeface="Microsoft YaHei"/>
              </a:defRPr>
            </a:pPr>
            <a:r>
              <a:rPr sz="2250" b="1">
                <a:solidFill>
                  <a:srgbClr val="073C79"/>
                </a:solidFill>
                <a:latin typeface="Microsoft YaHei"/>
                <a:ea typeface="Microsoft YaHei"/>
                <a:cs typeface="Microsoft YaHei"/>
              </a:rPr>
              <a:t>极亮反射镜星座的模拟增亮幅度</a:t>
            </a:r>
          </a:p>
        </p:txBody>
      </p:sp>
      <p:graphicFrame>
        <p:nvGraphicFramePr>
          <p:cNvPr id="68" name="Chart"/>
          <p:cNvGraphicFramePr/>
          <p:nvPr/>
        </p:nvGraphicFramePr>
        <p:xfrm>
          <a:off xmlns:a="http://schemas.openxmlformats.org/drawingml/2006/main" x="666750" y="2209800"/>
          <a:ext xmlns:a="http://schemas.openxmlformats.org/drawingml/2006/main" cx="6638925" cy="3000375"/>
        </p:xfrm>
        <a:graphic xmlns:a="http://schemas.openxmlformats.org/drawingml/2006/main">
          <a:graphicData uri="http://schemas.openxmlformats.org/drawingml/2006/chart">
            <c:chart xmlns:r="http://schemas.openxmlformats.org/officeDocument/2006/relationships" xmlns:c="http://schemas.openxmlformats.org/drawingml/2006/chart" r:id="Rc3482f0abbb84348"/>
          </a:graphicData>
        </a:graphic>
      </p:graphicFrame>
      <p:sp>
        <p:nvSpPr>
          <p:cNvPr id="7" name="text-机制一：直接拖线">
            <a:extLst xmlns:a="http://schemas.openxmlformats.org/drawingml/2006/main">
              <a:ext uri="{FF2B5EF4-FFF2-40B4-BE49-F238E27FC236}">
                <a16:creationId xmlns:a16="http://schemas.microsoft.com/office/drawing/2014/main" id="{9C7EEB64-0A16-40E3-9712-D781A7CF943E}"/>
              </a:ext>
            </a:extLst>
          </p:cNvPr>
          <p:cNvSpPr>
            <a:spLocks xmlns:a="http://schemas.openxmlformats.org/drawingml/2006/main" noGrp="1"/>
          </p:cNvSpPr>
          <p:nvPr/>
        </p:nvSpPr>
        <p:spPr>
          <a:xfrm xmlns:a="http://schemas.openxmlformats.org/drawingml/2006/main">
            <a:off x="7858125" y="1733550"/>
            <a:ext cx="357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机制一：直接拖线</a:t>
            </a:r>
          </a:p>
        </p:txBody>
      </p:sp>
      <p:sp>
        <p:nvSpPr>
          <p:cNvPr id="8" name="text-亮轨迹覆盖目标，探测器饱和可能产">
            <a:extLst xmlns:a="http://schemas.openxmlformats.org/drawingml/2006/main">
              <a:ext uri="{FF2B5EF4-FFF2-40B4-BE49-F238E27FC236}">
                <a16:creationId xmlns:a16="http://schemas.microsoft.com/office/drawing/2014/main" id="{99E67B78-C2F5-433C-9356-1F7E90AEAD57}"/>
              </a:ext>
            </a:extLst>
          </p:cNvPr>
          <p:cNvSpPr>
            <a:spLocks xmlns:a="http://schemas.openxmlformats.org/drawingml/2006/main" noGrp="1"/>
          </p:cNvSpPr>
          <p:nvPr/>
        </p:nvSpPr>
        <p:spPr>
          <a:xfrm xmlns:a="http://schemas.openxmlformats.org/drawingml/2006/main">
            <a:off x="7858125" y="2190750"/>
            <a:ext cx="3571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亮轨迹覆盖目标，探测器饱和可能产生更广泛的伪影。</a:t>
            </a:r>
          </a:p>
        </p:txBody>
      </p:sp>
      <p:sp>
        <p:nvSpPr>
          <p:cNvPr id="9" name="text-机制二：散射光">
            <a:extLst xmlns:a="http://schemas.openxmlformats.org/drawingml/2006/main">
              <a:ext uri="{FF2B5EF4-FFF2-40B4-BE49-F238E27FC236}">
                <a16:creationId xmlns:a16="http://schemas.microsoft.com/office/drawing/2014/main" id="{3D08B667-74B8-4246-9F81-DC65736CE1CA}"/>
              </a:ext>
            </a:extLst>
          </p:cNvPr>
          <p:cNvSpPr>
            <a:spLocks xmlns:a="http://schemas.openxmlformats.org/drawingml/2006/main" noGrp="1"/>
          </p:cNvSpPr>
          <p:nvPr/>
        </p:nvSpPr>
        <p:spPr>
          <a:xfrm xmlns:a="http://schemas.openxmlformats.org/drawingml/2006/main">
            <a:off x="7858125" y="3495675"/>
            <a:ext cx="357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机制二：散射光</a:t>
            </a:r>
          </a:p>
        </p:txBody>
      </p:sp>
      <p:sp>
        <p:nvSpPr>
          <p:cNvPr id="10" name="text-大气散射提高天空背景，降低微弱天">
            <a:extLst xmlns:a="http://schemas.openxmlformats.org/drawingml/2006/main">
              <a:ext uri="{FF2B5EF4-FFF2-40B4-BE49-F238E27FC236}">
                <a16:creationId xmlns:a16="http://schemas.microsoft.com/office/drawing/2014/main" id="{14B33630-9264-4A00-BF14-540FE8295658}"/>
              </a:ext>
            </a:extLst>
          </p:cNvPr>
          <p:cNvSpPr>
            <a:spLocks xmlns:a="http://schemas.openxmlformats.org/drawingml/2006/main" noGrp="1"/>
          </p:cNvSpPr>
          <p:nvPr/>
        </p:nvSpPr>
        <p:spPr>
          <a:xfrm xmlns:a="http://schemas.openxmlformats.org/drawingml/2006/main">
            <a:off x="7858125" y="3952875"/>
            <a:ext cx="3571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大气散射提高天空背景，降低微弱天体的可辨识度。</a:t>
            </a:r>
          </a:p>
        </p:txBody>
      </p:sp>
    </p:spTree>
    <p:extLst>
      <p:ext uri="{BB962C8B-B14F-4D97-AF65-F5344CB8AC3E}">
        <p14:creationId xmlns:p14="http://schemas.microsoft.com/office/powerpoint/2010/main" val="3868327217"/>
      </p:ext>
    </p:extLst>
  </p:cSld>
</p:sld>
</file>

<file path=ppt/slides/slide13.xml><?xml version="1.0" encoding="utf-8"?>
<p:sld xmlns:p="http://schemas.openxmlformats.org/presentationml/2006/main" showMasterSp="0">
  <p:cSld>
    <p:spTree>
      <p:nvGrpSpPr>
        <p:cNvPr id="1" name=""/>
        <p:cNvGrpSpPr/>
        <p:nvPr/>
      </p:nvGrpSpPr>
      <p:grpSpPr>
        <a:xfrm xmlns:a="http://schemas.openxmlformats.org/drawingml/2006/main"/>
      </p:grpSpPr>
      <p:sp>
        <p:nvSpPr>
          <p:cNvPr id="13"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5"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5" name="text-经济损失与风险外溢">
            <a:extLst xmlns:a="http://schemas.openxmlformats.org/drawingml/2006/main">
              <a:ext uri="{FF2B5EF4-FFF2-40B4-BE49-F238E27FC236}">
                <a16:creationId xmlns:a16="http://schemas.microsoft.com/office/drawing/2014/main" id="{3403DBD0-F381-4B69-B291-4E832AB3FCC0}"/>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经济损失与风险外溢</a:t>
            </a:r>
          </a:p>
        </p:txBody>
      </p:sp>
      <p:sp>
        <p:nvSpPr>
          <p:cNvPr id="2" name="text-类比说明基础设施中断可以跨行业传">
            <a:extLst xmlns:a="http://schemas.openxmlformats.org/drawingml/2006/main">
              <a:ext uri="{FF2B5EF4-FFF2-40B4-BE49-F238E27FC236}">
                <a16:creationId xmlns:a16="http://schemas.microsoft.com/office/drawing/2014/main" id="{EDD5337F-1304-4768-A7EA-EBA2649DC4E4}"/>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类比说明基础设施中断可以跨行业传导；上述金额不是太空事故损失预测。</a:t>
            </a:r>
          </a:p>
        </p:txBody>
      </p:sp>
      <p:sp>
        <p:nvSpPr>
          <p:cNvPr id="3" name="text-经济社会与公共资源损害  /  ">
            <a:extLst xmlns:a="http://schemas.openxmlformats.org/drawingml/2006/main">
              <a:ext uri="{FF2B5EF4-FFF2-40B4-BE49-F238E27FC236}">
                <a16:creationId xmlns:a16="http://schemas.microsoft.com/office/drawing/2014/main" id="{9B802142-8C87-4EB6-857B-0BA04FECA290}"/>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经济社会与公共资源损害  /  影响专家</a:t>
            </a:r>
          </a:p>
        </p:txBody>
      </p:sp>
      <p:sp>
        <p:nvSpPr>
          <p:cNvPr id="4" name="text-11">
            <a:extLst xmlns:a="http://schemas.openxmlformats.org/drawingml/2006/main">
              <a:ext uri="{FF2B5EF4-FFF2-40B4-BE49-F238E27FC236}">
                <a16:creationId xmlns:a16="http://schemas.microsoft.com/office/drawing/2014/main" id="{4C1CC693-E906-455B-961F-E36BBAE3FD7A}"/>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11</a:t>
            </a:r>
          </a:p>
        </p:txBody>
      </p:sp>
      <p:sp>
        <p:nvSpPr>
          <p:cNvPr id="5" name="text-54亿美元">
            <a:extLst xmlns:a="http://schemas.openxmlformats.org/drawingml/2006/main">
              <a:ext uri="{FF2B5EF4-FFF2-40B4-BE49-F238E27FC236}">
                <a16:creationId xmlns:a16="http://schemas.microsoft.com/office/drawing/2014/main" id="{CB3B04B8-0C72-41B5-A281-F0BBC4A75B1C}"/>
              </a:ext>
            </a:extLst>
          </p:cNvPr>
          <p:cNvSpPr>
            <a:spLocks xmlns:a="http://schemas.openxmlformats.org/drawingml/2006/main" noGrp="1"/>
          </p:cNvSpPr>
          <p:nvPr/>
        </p:nvSpPr>
        <p:spPr>
          <a:xfrm xmlns:a="http://schemas.openxmlformats.org/drawingml/2006/main">
            <a:off x="762000" y="1581150"/>
            <a:ext cx="5000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073C79"/>
                </a:solidFill>
                <a:latin typeface="Microsoft YaHei"/>
                <a:ea typeface="Microsoft YaHei"/>
                <a:cs typeface="Microsoft YaHei"/>
              </a:defRPr>
            </a:pPr>
            <a:r>
              <a:rPr sz="4800" b="1">
                <a:solidFill>
                  <a:srgbClr val="073C79"/>
                </a:solidFill>
                <a:latin typeface="Microsoft YaHei"/>
                <a:ea typeface="Microsoft YaHei"/>
                <a:cs typeface="Microsoft YaHei"/>
              </a:rPr>
              <a:t>54亿美元</a:t>
            </a:r>
          </a:p>
        </p:txBody>
      </p:sp>
      <p:sp>
        <p:nvSpPr>
          <p:cNvPr id="6" name="text-Parametrix估算">
            <a:extLst xmlns:a="http://schemas.openxmlformats.org/drawingml/2006/main">
              <a:ext uri="{FF2B5EF4-FFF2-40B4-BE49-F238E27FC236}">
                <a16:creationId xmlns:a16="http://schemas.microsoft.com/office/drawing/2014/main" id="{45DF7D81-C3F4-4F89-A192-D93342CCDF51}"/>
              </a:ext>
            </a:extLst>
          </p:cNvPr>
          <p:cNvSpPr>
            <a:spLocks xmlns:a="http://schemas.openxmlformats.org/drawingml/2006/main" noGrp="1"/>
          </p:cNvSpPr>
          <p:nvPr/>
        </p:nvSpPr>
        <p:spPr>
          <a:xfrm xmlns:a="http://schemas.openxmlformats.org/drawingml/2006/main">
            <a:off x="762000" y="26384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Parametrix估算</a:t>
            </a:r>
          </a:p>
        </p:txBody>
      </p:sp>
      <p:sp>
        <p:nvSpPr>
          <p:cNvPr id="7" name="text-CrowdStrike事件中，美">
            <a:extLst xmlns:a="http://schemas.openxmlformats.org/drawingml/2006/main">
              <a:ext uri="{FF2B5EF4-FFF2-40B4-BE49-F238E27FC236}">
                <a16:creationId xmlns:a16="http://schemas.microsoft.com/office/drawing/2014/main" id="{1F12784D-C235-4EF1-A75D-E96E28002674}"/>
              </a:ext>
            </a:extLst>
          </p:cNvPr>
          <p:cNvSpPr>
            <a:spLocks xmlns:a="http://schemas.openxmlformats.org/drawingml/2006/main" noGrp="1"/>
          </p:cNvSpPr>
          <p:nvPr/>
        </p:nvSpPr>
        <p:spPr>
          <a:xfrm xmlns:a="http://schemas.openxmlformats.org/drawingml/2006/main">
            <a:off x="762000" y="3190875"/>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CrowdStrike事件中，美国财富500强直接损失估计，排除微软。</a:t>
            </a:r>
          </a:p>
        </p:txBody>
      </p:sp>
      <p:sp>
        <p:nvSpPr>
          <p:cNvPr id="8" name="text-5.5亿美元">
            <a:extLst xmlns:a="http://schemas.openxmlformats.org/drawingml/2006/main">
              <a:ext uri="{FF2B5EF4-FFF2-40B4-BE49-F238E27FC236}">
                <a16:creationId xmlns:a16="http://schemas.microsoft.com/office/drawing/2014/main" id="{920AB4C9-FB49-4131-AA43-AA466E687A39}"/>
              </a:ext>
            </a:extLst>
          </p:cNvPr>
          <p:cNvSpPr>
            <a:spLocks xmlns:a="http://schemas.openxmlformats.org/drawingml/2006/main" noGrp="1"/>
          </p:cNvSpPr>
          <p:nvPr/>
        </p:nvSpPr>
        <p:spPr>
          <a:xfrm xmlns:a="http://schemas.openxmlformats.org/drawingml/2006/main">
            <a:off x="6477000" y="1581150"/>
            <a:ext cx="5000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5C5BFA"/>
                </a:solidFill>
                <a:latin typeface="Microsoft YaHei"/>
                <a:ea typeface="Microsoft YaHei"/>
                <a:cs typeface="Microsoft YaHei"/>
              </a:defRPr>
            </a:pPr>
            <a:r>
              <a:rPr sz="4800" b="1">
                <a:solidFill>
                  <a:srgbClr val="5C5BFA"/>
                </a:solidFill>
                <a:latin typeface="Microsoft YaHei"/>
                <a:ea typeface="Microsoft YaHei"/>
                <a:cs typeface="Microsoft YaHei"/>
              </a:rPr>
              <a:t>5.5亿美元</a:t>
            </a:r>
          </a:p>
        </p:txBody>
      </p:sp>
      <p:sp>
        <p:nvSpPr>
          <p:cNvPr id="9" name="text-Delta初步披露">
            <a:extLst xmlns:a="http://schemas.openxmlformats.org/drawingml/2006/main">
              <a:ext uri="{FF2B5EF4-FFF2-40B4-BE49-F238E27FC236}">
                <a16:creationId xmlns:a16="http://schemas.microsoft.com/office/drawing/2014/main" id="{F898B554-DF88-4F91-9D98-7953B6F539FF}"/>
              </a:ext>
            </a:extLst>
          </p:cNvPr>
          <p:cNvSpPr>
            <a:spLocks xmlns:a="http://schemas.openxmlformats.org/drawingml/2006/main" noGrp="1"/>
          </p:cNvSpPr>
          <p:nvPr/>
        </p:nvSpPr>
        <p:spPr>
          <a:xfrm xmlns:a="http://schemas.openxmlformats.org/drawingml/2006/main">
            <a:off x="6477000" y="26384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Delta初步披露</a:t>
            </a:r>
          </a:p>
        </p:txBody>
      </p:sp>
      <p:sp>
        <p:nvSpPr>
          <p:cNvPr id="10" name="text-3.8亿美元收入影响 + 1.7">
            <a:extLst xmlns:a="http://schemas.openxmlformats.org/drawingml/2006/main">
              <a:ext uri="{FF2B5EF4-FFF2-40B4-BE49-F238E27FC236}">
                <a16:creationId xmlns:a16="http://schemas.microsoft.com/office/drawing/2014/main" id="{4D4928F9-B1CD-4552-A077-FA05CDF0FD81}"/>
              </a:ext>
            </a:extLst>
          </p:cNvPr>
          <p:cNvSpPr>
            <a:spLocks xmlns:a="http://schemas.openxmlformats.org/drawingml/2006/main" noGrp="1"/>
          </p:cNvSpPr>
          <p:nvPr/>
        </p:nvSpPr>
        <p:spPr>
          <a:xfrm xmlns:a="http://schemas.openxmlformats.org/drawingml/2006/main">
            <a:off x="6477000" y="3190875"/>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3.8亿美元收入影响 + 1.7亿美元额外非燃油支出。</a:t>
            </a:r>
          </a:p>
        </p:txBody>
      </p:sp>
      <p:sp>
        <p:nvSpPr>
          <p:cNvPr id="11" name="text-航天领域的外溢路径">
            <a:extLst xmlns:a="http://schemas.openxmlformats.org/drawingml/2006/main">
              <a:ext uri="{FF2B5EF4-FFF2-40B4-BE49-F238E27FC236}">
                <a16:creationId xmlns:a16="http://schemas.microsoft.com/office/drawing/2014/main" id="{AEA143E7-5FCB-4A18-9051-8C6BFA89485F}"/>
              </a:ext>
            </a:extLst>
          </p:cNvPr>
          <p:cNvSpPr>
            <a:spLocks xmlns:a="http://schemas.openxmlformats.org/drawingml/2006/main" noGrp="1"/>
          </p:cNvSpPr>
          <p:nvPr/>
        </p:nvSpPr>
        <p:spPr>
          <a:xfrm xmlns:a="http://schemas.openxmlformats.org/drawingml/2006/main">
            <a:off x="762000" y="461010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航天领域的外溢路径</a:t>
            </a:r>
          </a:p>
        </p:txBody>
      </p:sp>
      <p:sp>
        <p:nvSpPr>
          <p:cNvPr id="12" name="text-通信或遥感中断影响依赖业务，损失">
            <a:extLst xmlns:a="http://schemas.openxmlformats.org/drawingml/2006/main">
              <a:ext uri="{FF2B5EF4-FFF2-40B4-BE49-F238E27FC236}">
                <a16:creationId xmlns:a16="http://schemas.microsoft.com/office/drawing/2014/main" id="{6F31DC86-933C-45D7-AA7F-85228DD7E52F}"/>
              </a:ext>
            </a:extLst>
          </p:cNvPr>
          <p:cNvSpPr>
            <a:spLocks xmlns:a="http://schemas.openxmlformats.org/drawingml/2006/main" noGrp="1"/>
          </p:cNvSpPr>
          <p:nvPr/>
        </p:nvSpPr>
        <p:spPr>
          <a:xfrm xmlns:a="http://schemas.openxmlformats.org/drawingml/2006/main">
            <a:off x="4829175" y="4610100"/>
            <a:ext cx="65817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通信或遥感中断影响依赖业务，损失取决于备份、轨道位置与恢复时间。</a:t>
            </a:r>
          </a:p>
        </p:txBody>
      </p:sp>
    </p:spTree>
    <p:extLst>
      <p:ext uri="{BB962C8B-B14F-4D97-AF65-F5344CB8AC3E}">
        <p14:creationId xmlns:p14="http://schemas.microsoft.com/office/powerpoint/2010/main" val="3868327217"/>
      </p:ext>
    </p:extLst>
  </p:cSld>
</p:sld>
</file>

<file path=ppt/slides/slide14.xml><?xml version="1.0" encoding="utf-8"?>
<p:sld xmlns:p="http://schemas.openxmlformats.org/presentationml/2006/main" showMasterSp="0">
  <p:cSld>
    <p:spTree>
      <p:nvGrpSpPr>
        <p:cNvPr id="1" name=""/>
        <p:cNvGrpSpPr/>
        <p:nvPr/>
      </p:nvGrpSpPr>
      <p:grpSpPr>
        <a:xfrm xmlns:a="http://schemas.openxmlformats.org/drawingml/2006/main"/>
      </p:grpSpPr>
      <p:sp>
        <p:nvSpPr>
          <p:cNvPr id="19"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0"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0"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1"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2"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3"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4"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71" name="text-负外部性与代际公平">
            <a:extLst xmlns:a="http://schemas.openxmlformats.org/drawingml/2006/main">
              <a:ext uri="{FF2B5EF4-FFF2-40B4-BE49-F238E27FC236}">
                <a16:creationId xmlns:a16="http://schemas.microsoft.com/office/drawing/2014/main" id="{66A8C586-A1A5-421D-96CE-6DDBF94E26DA}"/>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负外部性与代际公平</a:t>
            </a:r>
          </a:p>
        </p:txBody>
      </p:sp>
      <p:sp>
        <p:nvSpPr>
          <p:cNvPr id="2" name="text-收益集中、损失分散，是需要校正的">
            <a:extLst xmlns:a="http://schemas.openxmlformats.org/drawingml/2006/main">
              <a:ext uri="{FF2B5EF4-FFF2-40B4-BE49-F238E27FC236}">
                <a16:creationId xmlns:a16="http://schemas.microsoft.com/office/drawing/2014/main" id="{E63941A2-C09A-4655-91B6-F8936707AB9B}"/>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收益集中、损失分散，是需要校正的激励结构。</a:t>
            </a:r>
          </a:p>
        </p:txBody>
      </p:sp>
      <p:sp>
        <p:nvSpPr>
          <p:cNvPr id="3" name="text-经济社会与公共资源损害  /  ">
            <a:extLst xmlns:a="http://schemas.openxmlformats.org/drawingml/2006/main">
              <a:ext uri="{FF2B5EF4-FFF2-40B4-BE49-F238E27FC236}">
                <a16:creationId xmlns:a16="http://schemas.microsoft.com/office/drawing/2014/main" id="{F52525B4-48D4-487D-AF92-48FEE3A316A2}"/>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经济社会与公共资源损害  /  影响专家</a:t>
            </a:r>
          </a:p>
        </p:txBody>
      </p:sp>
      <p:sp>
        <p:nvSpPr>
          <p:cNvPr id="4" name="text-12">
            <a:extLst xmlns:a="http://schemas.openxmlformats.org/drawingml/2006/main">
              <a:ext uri="{FF2B5EF4-FFF2-40B4-BE49-F238E27FC236}">
                <a16:creationId xmlns:a16="http://schemas.microsoft.com/office/drawing/2014/main" id="{F66BEE5B-B2E1-4811-9238-E0A9694406CD}"/>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12</a:t>
            </a:r>
          </a:p>
        </p:txBody>
      </p:sp>
      <p:sp>
        <p:nvSpPr>
          <p:cNvPr id="5" name="text-收益主要进入当前交易">
            <a:extLst xmlns:a="http://schemas.openxmlformats.org/drawingml/2006/main">
              <a:ext uri="{FF2B5EF4-FFF2-40B4-BE49-F238E27FC236}">
                <a16:creationId xmlns:a16="http://schemas.microsoft.com/office/drawing/2014/main" id="{41395418-83F7-4ED0-A8EF-2F517390344E}"/>
              </a:ext>
            </a:extLst>
          </p:cNvPr>
          <p:cNvSpPr>
            <a:spLocks xmlns:a="http://schemas.openxmlformats.org/drawingml/2006/main" noGrp="1"/>
          </p:cNvSpPr>
          <p:nvPr/>
        </p:nvSpPr>
        <p:spPr>
          <a:xfrm xmlns:a="http://schemas.openxmlformats.org/drawingml/2006/main">
            <a:off x="762000" y="16478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73C79"/>
                </a:solidFill>
                <a:latin typeface="Microsoft YaHei"/>
                <a:ea typeface="Microsoft YaHei"/>
                <a:cs typeface="Microsoft YaHei"/>
              </a:defRPr>
            </a:pPr>
            <a:r>
              <a:rPr sz="2400" b="1">
                <a:solidFill>
                  <a:srgbClr val="073C79"/>
                </a:solidFill>
                <a:latin typeface="Microsoft YaHei"/>
                <a:ea typeface="Microsoft YaHei"/>
                <a:cs typeface="Microsoft YaHei"/>
              </a:rPr>
              <a:t>收益主要进入当前交易</a:t>
            </a:r>
          </a:p>
        </p:txBody>
      </p:sp>
      <p:sp>
        <p:nvSpPr>
          <p:cNvPr id="6" name="text-部分代价进入公共账本">
            <a:extLst xmlns:a="http://schemas.openxmlformats.org/drawingml/2006/main">
              <a:ext uri="{FF2B5EF4-FFF2-40B4-BE49-F238E27FC236}">
                <a16:creationId xmlns:a16="http://schemas.microsoft.com/office/drawing/2014/main" id="{362F10AD-34B9-4135-A933-F94758EABE96}"/>
              </a:ext>
            </a:extLst>
          </p:cNvPr>
          <p:cNvSpPr>
            <a:spLocks xmlns:a="http://schemas.openxmlformats.org/drawingml/2006/main" noGrp="1"/>
          </p:cNvSpPr>
          <p:nvPr/>
        </p:nvSpPr>
        <p:spPr>
          <a:xfrm xmlns:a="http://schemas.openxmlformats.org/drawingml/2006/main">
            <a:off x="6524625" y="16478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5C5BFA"/>
                </a:solidFill>
                <a:latin typeface="Microsoft YaHei"/>
                <a:ea typeface="Microsoft YaHei"/>
                <a:cs typeface="Microsoft YaHei"/>
              </a:defRPr>
            </a:pPr>
            <a:r>
              <a:rPr sz="2400" b="1">
                <a:solidFill>
                  <a:srgbClr val="5C5BFA"/>
                </a:solidFill>
                <a:latin typeface="Microsoft YaHei"/>
                <a:ea typeface="Microsoft YaHei"/>
                <a:cs typeface="Microsoft YaHei"/>
              </a:rPr>
              <a:t>部分代价进入公共账本</a:t>
            </a:r>
          </a:p>
        </p:txBody>
      </p:sp>
      <p:sp>
        <p:nvSpPr>
          <p:cNvPr id="7" name="text-01">
            <a:extLst xmlns:a="http://schemas.openxmlformats.org/drawingml/2006/main">
              <a:ext uri="{FF2B5EF4-FFF2-40B4-BE49-F238E27FC236}">
                <a16:creationId xmlns:a16="http://schemas.microsoft.com/office/drawing/2014/main" id="{9D8B6CB7-2C40-43E6-8CEA-740F542CB38A}"/>
              </a:ext>
            </a:extLst>
          </p:cNvPr>
          <p:cNvSpPr>
            <a:spLocks xmlns:a="http://schemas.openxmlformats.org/drawingml/2006/main" noGrp="1"/>
          </p:cNvSpPr>
          <p:nvPr/>
        </p:nvSpPr>
        <p:spPr>
          <a:xfrm xmlns:a="http://schemas.openxmlformats.org/drawingml/2006/main">
            <a:off x="762000" y="24479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C5BFA"/>
                </a:solidFill>
                <a:latin typeface="Microsoft YaHei"/>
                <a:ea typeface="Microsoft YaHei"/>
                <a:cs typeface="Microsoft YaHei"/>
              </a:defRPr>
            </a:pPr>
            <a:r>
              <a:rPr sz="2025" b="1">
                <a:solidFill>
                  <a:srgbClr val="5C5BFA"/>
                </a:solidFill>
                <a:latin typeface="Microsoft YaHei"/>
                <a:ea typeface="Microsoft YaHei"/>
                <a:cs typeface="Microsoft YaHei"/>
              </a:rPr>
              <a:t>01</a:t>
            </a:r>
          </a:p>
        </p:txBody>
      </p:sp>
      <p:sp>
        <p:nvSpPr>
          <p:cNvPr id="8" name="text-运营者取得收入与商业先发优势。">
            <a:extLst xmlns:a="http://schemas.openxmlformats.org/drawingml/2006/main">
              <a:ext uri="{FF2B5EF4-FFF2-40B4-BE49-F238E27FC236}">
                <a16:creationId xmlns:a16="http://schemas.microsoft.com/office/drawing/2014/main" id="{DD656587-7655-43A4-8296-EB8D0AC0AF9D}"/>
              </a:ext>
            </a:extLst>
          </p:cNvPr>
          <p:cNvSpPr>
            <a:spLocks xmlns:a="http://schemas.openxmlformats.org/drawingml/2006/main" noGrp="1"/>
          </p:cNvSpPr>
          <p:nvPr/>
        </p:nvSpPr>
        <p:spPr>
          <a:xfrm xmlns:a="http://schemas.openxmlformats.org/drawingml/2006/main">
            <a:off x="1381125" y="2447925"/>
            <a:ext cx="4381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运营者取得收入与商业先发优势。</a:t>
            </a:r>
          </a:p>
        </p:txBody>
      </p:sp>
      <p:sp>
        <p:nvSpPr>
          <p:cNvPr id="9" name="text-02">
            <a:extLst xmlns:a="http://schemas.openxmlformats.org/drawingml/2006/main">
              <a:ext uri="{FF2B5EF4-FFF2-40B4-BE49-F238E27FC236}">
                <a16:creationId xmlns:a16="http://schemas.microsoft.com/office/drawing/2014/main" id="{0AA0F665-6837-47BA-AE30-FD58B21B92AA}"/>
              </a:ext>
            </a:extLst>
          </p:cNvPr>
          <p:cNvSpPr>
            <a:spLocks xmlns:a="http://schemas.openxmlformats.org/drawingml/2006/main" noGrp="1"/>
          </p:cNvSpPr>
          <p:nvPr/>
        </p:nvSpPr>
        <p:spPr>
          <a:xfrm xmlns:a="http://schemas.openxmlformats.org/drawingml/2006/main">
            <a:off x="762000" y="339090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C5BFA"/>
                </a:solidFill>
                <a:latin typeface="Microsoft YaHei"/>
                <a:ea typeface="Microsoft YaHei"/>
                <a:cs typeface="Microsoft YaHei"/>
              </a:defRPr>
            </a:pPr>
            <a:r>
              <a:rPr sz="2025" b="1">
                <a:solidFill>
                  <a:srgbClr val="5C5BFA"/>
                </a:solidFill>
                <a:latin typeface="Microsoft YaHei"/>
                <a:ea typeface="Microsoft YaHei"/>
                <a:cs typeface="Microsoft YaHei"/>
              </a:rPr>
              <a:t>02</a:t>
            </a:r>
          </a:p>
        </p:txBody>
      </p:sp>
      <p:sp>
        <p:nvSpPr>
          <p:cNvPr id="10" name="text-客户获得覆盖、带宽和服务便利。">
            <a:extLst xmlns:a="http://schemas.openxmlformats.org/drawingml/2006/main">
              <a:ext uri="{FF2B5EF4-FFF2-40B4-BE49-F238E27FC236}">
                <a16:creationId xmlns:a16="http://schemas.microsoft.com/office/drawing/2014/main" id="{4AE48D2A-1036-4A6D-B750-236BFB035C78}"/>
              </a:ext>
            </a:extLst>
          </p:cNvPr>
          <p:cNvSpPr>
            <a:spLocks xmlns:a="http://schemas.openxmlformats.org/drawingml/2006/main" noGrp="1"/>
          </p:cNvSpPr>
          <p:nvPr/>
        </p:nvSpPr>
        <p:spPr>
          <a:xfrm xmlns:a="http://schemas.openxmlformats.org/drawingml/2006/main">
            <a:off x="1381125" y="3390900"/>
            <a:ext cx="4381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客户获得覆盖、带宽和服务便利。</a:t>
            </a:r>
          </a:p>
        </p:txBody>
      </p:sp>
      <p:sp>
        <p:nvSpPr>
          <p:cNvPr id="11" name="text-03">
            <a:extLst xmlns:a="http://schemas.openxmlformats.org/drawingml/2006/main">
              <a:ext uri="{FF2B5EF4-FFF2-40B4-BE49-F238E27FC236}">
                <a16:creationId xmlns:a16="http://schemas.microsoft.com/office/drawing/2014/main" id="{4E6A399C-86D9-4CC2-B25D-A9AC339CCB1D}"/>
              </a:ext>
            </a:extLst>
          </p:cNvPr>
          <p:cNvSpPr>
            <a:spLocks xmlns:a="http://schemas.openxmlformats.org/drawingml/2006/main" noGrp="1"/>
          </p:cNvSpPr>
          <p:nvPr/>
        </p:nvSpPr>
        <p:spPr>
          <a:xfrm xmlns:a="http://schemas.openxmlformats.org/drawingml/2006/main">
            <a:off x="762000" y="43338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C5BFA"/>
                </a:solidFill>
                <a:latin typeface="Microsoft YaHei"/>
                <a:ea typeface="Microsoft YaHei"/>
                <a:cs typeface="Microsoft YaHei"/>
              </a:defRPr>
            </a:pPr>
            <a:r>
              <a:rPr sz="2025" b="1">
                <a:solidFill>
                  <a:srgbClr val="5C5BFA"/>
                </a:solidFill>
                <a:latin typeface="Microsoft YaHei"/>
                <a:ea typeface="Microsoft YaHei"/>
                <a:cs typeface="Microsoft YaHei"/>
              </a:rPr>
              <a:t>03</a:t>
            </a:r>
          </a:p>
        </p:txBody>
      </p:sp>
      <p:sp>
        <p:nvSpPr>
          <p:cNvPr id="12" name="text-发射与制造环节分享产业收益。">
            <a:extLst xmlns:a="http://schemas.openxmlformats.org/drawingml/2006/main">
              <a:ext uri="{FF2B5EF4-FFF2-40B4-BE49-F238E27FC236}">
                <a16:creationId xmlns:a16="http://schemas.microsoft.com/office/drawing/2014/main" id="{E83B051D-CD9F-4476-BAB7-6A17B13F94F0}"/>
              </a:ext>
            </a:extLst>
          </p:cNvPr>
          <p:cNvSpPr>
            <a:spLocks xmlns:a="http://schemas.openxmlformats.org/drawingml/2006/main" noGrp="1"/>
          </p:cNvSpPr>
          <p:nvPr/>
        </p:nvSpPr>
        <p:spPr>
          <a:xfrm xmlns:a="http://schemas.openxmlformats.org/drawingml/2006/main">
            <a:off x="1381125" y="4333875"/>
            <a:ext cx="4381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发射与制造环节分享产业收益。</a:t>
            </a:r>
          </a:p>
        </p:txBody>
      </p:sp>
      <p:sp>
        <p:nvSpPr>
          <p:cNvPr id="13" name="text-01">
            <a:extLst xmlns:a="http://schemas.openxmlformats.org/drawingml/2006/main">
              <a:ext uri="{FF2B5EF4-FFF2-40B4-BE49-F238E27FC236}">
                <a16:creationId xmlns:a16="http://schemas.microsoft.com/office/drawing/2014/main" id="{7685C765-86C8-4E1D-AAB8-979D79359916}"/>
              </a:ext>
            </a:extLst>
          </p:cNvPr>
          <p:cNvSpPr>
            <a:spLocks xmlns:a="http://schemas.openxmlformats.org/drawingml/2006/main" noGrp="1"/>
          </p:cNvSpPr>
          <p:nvPr/>
        </p:nvSpPr>
        <p:spPr>
          <a:xfrm xmlns:a="http://schemas.openxmlformats.org/drawingml/2006/main">
            <a:off x="6524625" y="24479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C5BFA"/>
                </a:solidFill>
                <a:latin typeface="Microsoft YaHei"/>
                <a:ea typeface="Microsoft YaHei"/>
                <a:cs typeface="Microsoft YaHei"/>
              </a:defRPr>
            </a:pPr>
            <a:r>
              <a:rPr sz="2025" b="1">
                <a:solidFill>
                  <a:srgbClr val="5C5BFA"/>
                </a:solidFill>
                <a:latin typeface="Microsoft YaHei"/>
                <a:ea typeface="Microsoft YaHei"/>
                <a:cs typeface="Microsoft YaHei"/>
              </a:rPr>
              <a:t>01</a:t>
            </a:r>
          </a:p>
        </p:txBody>
      </p:sp>
      <p:sp>
        <p:nvSpPr>
          <p:cNvPr id="14" name="text-天文台增加图像清洗与重复观测成本">
            <a:extLst xmlns:a="http://schemas.openxmlformats.org/drawingml/2006/main">
              <a:ext uri="{FF2B5EF4-FFF2-40B4-BE49-F238E27FC236}">
                <a16:creationId xmlns:a16="http://schemas.microsoft.com/office/drawing/2014/main" id="{285393F5-7051-45B6-A2A7-8430054496CB}"/>
              </a:ext>
            </a:extLst>
          </p:cNvPr>
          <p:cNvSpPr>
            <a:spLocks xmlns:a="http://schemas.openxmlformats.org/drawingml/2006/main" noGrp="1"/>
          </p:cNvSpPr>
          <p:nvPr/>
        </p:nvSpPr>
        <p:spPr>
          <a:xfrm xmlns:a="http://schemas.openxmlformats.org/drawingml/2006/main">
            <a:off x="7143750" y="2447925"/>
            <a:ext cx="4333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天文台增加图像清洗与重复观测成本。</a:t>
            </a:r>
          </a:p>
        </p:txBody>
      </p:sp>
      <p:sp>
        <p:nvSpPr>
          <p:cNvPr id="15" name="text-02">
            <a:extLst xmlns:a="http://schemas.openxmlformats.org/drawingml/2006/main">
              <a:ext uri="{FF2B5EF4-FFF2-40B4-BE49-F238E27FC236}">
                <a16:creationId xmlns:a16="http://schemas.microsoft.com/office/drawing/2014/main" id="{D5CA984F-E9C0-47E6-8A4A-BE0F8FA27891}"/>
              </a:ext>
            </a:extLst>
          </p:cNvPr>
          <p:cNvSpPr>
            <a:spLocks xmlns:a="http://schemas.openxmlformats.org/drawingml/2006/main" noGrp="1"/>
          </p:cNvSpPr>
          <p:nvPr/>
        </p:nvSpPr>
        <p:spPr>
          <a:xfrm xmlns:a="http://schemas.openxmlformats.org/drawingml/2006/main">
            <a:off x="6524625" y="339090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C5BFA"/>
                </a:solidFill>
                <a:latin typeface="Microsoft YaHei"/>
                <a:ea typeface="Microsoft YaHei"/>
                <a:cs typeface="Microsoft YaHei"/>
              </a:defRPr>
            </a:pPr>
            <a:r>
              <a:rPr sz="2025" b="1">
                <a:solidFill>
                  <a:srgbClr val="5C5BFA"/>
                </a:solidFill>
                <a:latin typeface="Microsoft YaHei"/>
                <a:ea typeface="Microsoft YaHei"/>
                <a:cs typeface="Microsoft YaHei"/>
              </a:rPr>
              <a:t>02</a:t>
            </a:r>
          </a:p>
        </p:txBody>
      </p:sp>
      <p:sp>
        <p:nvSpPr>
          <p:cNvPr id="16" name="text-其他航天器增加协调和风险缓解支出">
            <a:extLst xmlns:a="http://schemas.openxmlformats.org/drawingml/2006/main">
              <a:ext uri="{FF2B5EF4-FFF2-40B4-BE49-F238E27FC236}">
                <a16:creationId xmlns:a16="http://schemas.microsoft.com/office/drawing/2014/main" id="{3D28CBC6-7E2F-4857-9DE0-504BCA20D65F}"/>
              </a:ext>
            </a:extLst>
          </p:cNvPr>
          <p:cNvSpPr>
            <a:spLocks xmlns:a="http://schemas.openxmlformats.org/drawingml/2006/main" noGrp="1"/>
          </p:cNvSpPr>
          <p:nvPr/>
        </p:nvSpPr>
        <p:spPr>
          <a:xfrm xmlns:a="http://schemas.openxmlformats.org/drawingml/2006/main">
            <a:off x="7143750" y="3390900"/>
            <a:ext cx="4333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其他航天器增加协调和风险缓解支出。</a:t>
            </a:r>
          </a:p>
        </p:txBody>
      </p:sp>
      <p:sp>
        <p:nvSpPr>
          <p:cNvPr id="17" name="text-03">
            <a:extLst xmlns:a="http://schemas.openxmlformats.org/drawingml/2006/main">
              <a:ext uri="{FF2B5EF4-FFF2-40B4-BE49-F238E27FC236}">
                <a16:creationId xmlns:a16="http://schemas.microsoft.com/office/drawing/2014/main" id="{CB1DD4E7-A6AB-4CCC-A217-DE02BE7DCD57}"/>
              </a:ext>
            </a:extLst>
          </p:cNvPr>
          <p:cNvSpPr>
            <a:spLocks xmlns:a="http://schemas.openxmlformats.org/drawingml/2006/main" noGrp="1"/>
          </p:cNvSpPr>
          <p:nvPr/>
        </p:nvSpPr>
        <p:spPr>
          <a:xfrm xmlns:a="http://schemas.openxmlformats.org/drawingml/2006/main">
            <a:off x="6524625" y="43338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C5BFA"/>
                </a:solidFill>
                <a:latin typeface="Microsoft YaHei"/>
                <a:ea typeface="Microsoft YaHei"/>
                <a:cs typeface="Microsoft YaHei"/>
              </a:defRPr>
            </a:pPr>
            <a:r>
              <a:rPr sz="2025" b="1">
                <a:solidFill>
                  <a:srgbClr val="5C5BFA"/>
                </a:solidFill>
                <a:latin typeface="Microsoft YaHei"/>
                <a:ea typeface="Microsoft YaHei"/>
                <a:cs typeface="Microsoft YaHei"/>
              </a:rPr>
              <a:t>03</a:t>
            </a:r>
          </a:p>
        </p:txBody>
      </p:sp>
      <p:sp>
        <p:nvSpPr>
          <p:cNvPr id="18" name="text-长寿命碎片压缩后代选择轨道的空间">
            <a:extLst xmlns:a="http://schemas.openxmlformats.org/drawingml/2006/main">
              <a:ext uri="{FF2B5EF4-FFF2-40B4-BE49-F238E27FC236}">
                <a16:creationId xmlns:a16="http://schemas.microsoft.com/office/drawing/2014/main" id="{F56B74E6-ADBD-4BCE-9837-4040BC45570B}"/>
              </a:ext>
            </a:extLst>
          </p:cNvPr>
          <p:cNvSpPr>
            <a:spLocks xmlns:a="http://schemas.openxmlformats.org/drawingml/2006/main" noGrp="1"/>
          </p:cNvSpPr>
          <p:nvPr/>
        </p:nvSpPr>
        <p:spPr>
          <a:xfrm xmlns:a="http://schemas.openxmlformats.org/drawingml/2006/main">
            <a:off x="7143750" y="4333875"/>
            <a:ext cx="4333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3F"/>
                </a:solidFill>
                <a:latin typeface="Microsoft YaHei"/>
                <a:ea typeface="Microsoft YaHei"/>
                <a:cs typeface="Microsoft YaHei"/>
              </a:defRPr>
            </a:pPr>
            <a:r>
              <a:rPr sz="1950" b="0">
                <a:solidFill>
                  <a:srgbClr val="14283F"/>
                </a:solidFill>
                <a:latin typeface="Microsoft YaHei"/>
                <a:ea typeface="Microsoft YaHei"/>
                <a:cs typeface="Microsoft YaHei"/>
              </a:rPr>
              <a:t>长寿命碎片压缩后代选择轨道的空间。</a:t>
            </a:r>
          </a:p>
        </p:txBody>
      </p:sp>
    </p:spTree>
    <p:extLst>
      <p:ext uri="{BB962C8B-B14F-4D97-AF65-F5344CB8AC3E}">
        <p14:creationId xmlns:p14="http://schemas.microsoft.com/office/powerpoint/2010/main" val="3868327217"/>
      </p:ext>
    </p:extLst>
  </p:cSld>
</p:sld>
</file>

<file path=ppt/slides/slide15.xml><?xml version="1.0" encoding="utf-8"?>
<p:sld xmlns:p="http://schemas.openxmlformats.org/presentationml/2006/main" showMasterSp="0">
  <p:cSld>
    <p:spTree>
      <p:nvGrpSpPr>
        <p:cNvPr id="1" name=""/>
        <p:cNvGrpSpPr/>
        <p:nvPr/>
      </p:nvGrpSpPr>
      <p:grpSpPr>
        <a:xfrm xmlns:a="http://schemas.openxmlformats.org/drawingml/2006/main"/>
      </p:grpSpPr>
      <p:sp>
        <p:nvSpPr>
          <p:cNvPr id="13"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5"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5" name="text-安全与风险控制">
            <a:extLst xmlns:a="http://schemas.openxmlformats.org/drawingml/2006/main">
              <a:ext uri="{FF2B5EF4-FFF2-40B4-BE49-F238E27FC236}">
                <a16:creationId xmlns:a16="http://schemas.microsoft.com/office/drawing/2014/main" id="{110C1606-39B1-4EA1-8346-61956C0D414D}"/>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安全与风险控制</a:t>
            </a:r>
          </a:p>
        </p:txBody>
      </p:sp>
      <p:sp>
        <p:nvSpPr>
          <p:cNvPr id="2" name="text-测试通过只是证据之一，仍需评估失">
            <a:extLst xmlns:a="http://schemas.openxmlformats.org/drawingml/2006/main">
              <a:ext uri="{FF2B5EF4-FFF2-40B4-BE49-F238E27FC236}">
                <a16:creationId xmlns:a16="http://schemas.microsoft.com/office/drawing/2014/main" id="{F6F146A2-D489-4DA0-A7B8-CE7458E7D2A6}"/>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测试通过只是证据之一，仍需评估失效后果、可恢复性与受影响范围。</a:t>
            </a:r>
          </a:p>
        </p:txBody>
      </p:sp>
      <p:sp>
        <p:nvSpPr>
          <p:cNvPr id="3" name="text-工程伦理核心冲突  /  伦理专">
            <a:extLst xmlns:a="http://schemas.openxmlformats.org/drawingml/2006/main">
              <a:ext uri="{FF2B5EF4-FFF2-40B4-BE49-F238E27FC236}">
                <a16:creationId xmlns:a16="http://schemas.microsoft.com/office/drawing/2014/main" id="{D8835295-C7D0-4F99-8A19-79E52DCC5B8C}"/>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工程伦理核心冲突  /  伦理专家</a:t>
            </a:r>
          </a:p>
        </p:txBody>
      </p:sp>
      <p:sp>
        <p:nvSpPr>
          <p:cNvPr id="4" name="text-13">
            <a:extLst xmlns:a="http://schemas.openxmlformats.org/drawingml/2006/main">
              <a:ext uri="{FF2B5EF4-FFF2-40B4-BE49-F238E27FC236}">
                <a16:creationId xmlns:a16="http://schemas.microsoft.com/office/drawing/2014/main" id="{891EEE2F-F6D7-4FE4-9644-0F736F4F6809}"/>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13</a:t>
            </a:r>
          </a:p>
        </p:txBody>
      </p:sp>
      <p:sp>
        <p:nvSpPr>
          <p:cNvPr id="5" name="text-“测试可以揭示缺陷的存在，&#10;却不">
            <a:extLst xmlns:a="http://schemas.openxmlformats.org/drawingml/2006/main">
              <a:ext uri="{FF2B5EF4-FFF2-40B4-BE49-F238E27FC236}">
                <a16:creationId xmlns:a16="http://schemas.microsoft.com/office/drawing/2014/main" id="{DF8FA996-954A-40F9-9615-106D61C851C8}"/>
              </a:ext>
            </a:extLst>
          </p:cNvPr>
          <p:cNvSpPr>
            <a:spLocks xmlns:a="http://schemas.openxmlformats.org/drawingml/2006/main" noGrp="1"/>
          </p:cNvSpPr>
          <p:nvPr/>
        </p:nvSpPr>
        <p:spPr>
          <a:xfrm xmlns:a="http://schemas.openxmlformats.org/drawingml/2006/main">
            <a:off x="762000" y="1733550"/>
            <a:ext cx="6096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073C79"/>
                </a:solidFill>
                <a:latin typeface="Microsoft YaHei"/>
                <a:ea typeface="Microsoft YaHei"/>
                <a:cs typeface="Microsoft YaHei"/>
              </a:defRPr>
            </a:pPr>
            <a:r>
              <a:rPr sz="3075" b="1">
                <a:solidFill>
                  <a:srgbClr val="073C79"/>
                </a:solidFill>
                <a:latin typeface="Microsoft YaHei"/>
                <a:ea typeface="Microsoft YaHei"/>
                <a:cs typeface="Microsoft YaHei"/>
              </a:rPr>
              <a:t>“测试可以揭示缺陷的存在，</a:t>
            </a:r>
          </a:p>
          <a:p xmlns:a="http://schemas.openxmlformats.org/drawingml/2006/main">
            <a:pPr algn="l">
              <a:defRPr sz="3075" b="1">
                <a:solidFill>
                  <a:srgbClr val="073C79"/>
                </a:solidFill>
                <a:latin typeface="Microsoft YaHei"/>
                <a:ea typeface="Microsoft YaHei"/>
                <a:cs typeface="Microsoft YaHei"/>
              </a:defRPr>
            </a:pPr>
            <a:r>
              <a:rPr sz="3075" b="1">
                <a:solidFill>
                  <a:srgbClr val="073C79"/>
                </a:solidFill>
                <a:latin typeface="Microsoft YaHei"/>
                <a:ea typeface="Microsoft YaHei"/>
                <a:cs typeface="Microsoft YaHei"/>
              </a:rPr>
              <a:t>却不能证明缺陷不存在。”</a:t>
            </a:r>
          </a:p>
        </p:txBody>
      </p:sp>
      <p:sp>
        <p:nvSpPr>
          <p:cNvPr id="6" name="text-据 Dijkstra，EWD26">
            <a:extLst xmlns:a="http://schemas.openxmlformats.org/drawingml/2006/main">
              <a:ext uri="{FF2B5EF4-FFF2-40B4-BE49-F238E27FC236}">
                <a16:creationId xmlns:a16="http://schemas.microsoft.com/office/drawing/2014/main" id="{C0491082-E4FF-4119-85E0-8392FD53A708}"/>
              </a:ext>
            </a:extLst>
          </p:cNvPr>
          <p:cNvSpPr>
            <a:spLocks xmlns:a="http://schemas.openxmlformats.org/drawingml/2006/main" noGrp="1"/>
          </p:cNvSpPr>
          <p:nvPr/>
        </p:nvSpPr>
        <p:spPr>
          <a:xfrm xmlns:a="http://schemas.openxmlformats.org/drawingml/2006/main">
            <a:off x="781050" y="3295650"/>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17186"/>
                </a:solidFill>
                <a:latin typeface="Microsoft YaHei"/>
                <a:ea typeface="Microsoft YaHei"/>
                <a:cs typeface="Microsoft YaHei"/>
              </a:defRPr>
            </a:pPr>
            <a:r>
              <a:rPr sz="1575" b="0">
                <a:solidFill>
                  <a:srgbClr val="617186"/>
                </a:solidFill>
                <a:latin typeface="Microsoft YaHei"/>
                <a:ea typeface="Microsoft YaHei"/>
                <a:cs typeface="Microsoft YaHei"/>
              </a:rPr>
              <a:t>据 Dijkstra，EWD268（1969）译述</a:t>
            </a:r>
          </a:p>
        </p:txBody>
      </p:sp>
      <p:sp>
        <p:nvSpPr>
          <p:cNvPr id="7" name="text-上线前">
            <a:extLst xmlns:a="http://schemas.openxmlformats.org/drawingml/2006/main">
              <a:ext uri="{FF2B5EF4-FFF2-40B4-BE49-F238E27FC236}">
                <a16:creationId xmlns:a16="http://schemas.microsoft.com/office/drawing/2014/main" id="{69506984-E072-4EA5-9A80-71F6FE0EFE56}"/>
              </a:ext>
            </a:extLst>
          </p:cNvPr>
          <p:cNvSpPr>
            <a:spLocks xmlns:a="http://schemas.openxmlformats.org/drawingml/2006/main" noGrp="1"/>
          </p:cNvSpPr>
          <p:nvPr/>
        </p:nvSpPr>
        <p:spPr>
          <a:xfrm xmlns:a="http://schemas.openxmlformats.org/drawingml/2006/main">
            <a:off x="7429500" y="16478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上线前</a:t>
            </a:r>
          </a:p>
        </p:txBody>
      </p:sp>
      <p:sp>
        <p:nvSpPr>
          <p:cNvPr id="8" name="text-极端工况仿真、故障注入、参数变更">
            <a:extLst xmlns:a="http://schemas.openxmlformats.org/drawingml/2006/main">
              <a:ext uri="{FF2B5EF4-FFF2-40B4-BE49-F238E27FC236}">
                <a16:creationId xmlns:a16="http://schemas.microsoft.com/office/drawing/2014/main" id="{7B8F2DA5-219D-42D8-901E-979139DBB889}"/>
              </a:ext>
            </a:extLst>
          </p:cNvPr>
          <p:cNvSpPr>
            <a:spLocks xmlns:a="http://schemas.openxmlformats.org/drawingml/2006/main" noGrp="1"/>
          </p:cNvSpPr>
          <p:nvPr/>
        </p:nvSpPr>
        <p:spPr>
          <a:xfrm xmlns:a="http://schemas.openxmlformats.org/drawingml/2006/main">
            <a:off x="7429500" y="2105025"/>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极端工况仿真、故障注入、参数变更评审。</a:t>
            </a:r>
          </a:p>
        </p:txBody>
      </p:sp>
      <p:sp>
        <p:nvSpPr>
          <p:cNvPr id="9" name="text-运行中">
            <a:extLst xmlns:a="http://schemas.openxmlformats.org/drawingml/2006/main">
              <a:ext uri="{FF2B5EF4-FFF2-40B4-BE49-F238E27FC236}">
                <a16:creationId xmlns:a16="http://schemas.microsoft.com/office/drawing/2014/main" id="{4970F489-896C-42CB-A5B7-3F40BB1F76A8}"/>
              </a:ext>
            </a:extLst>
          </p:cNvPr>
          <p:cNvSpPr>
            <a:spLocks xmlns:a="http://schemas.openxmlformats.org/drawingml/2006/main" noGrp="1"/>
          </p:cNvSpPr>
          <p:nvPr/>
        </p:nvSpPr>
        <p:spPr>
          <a:xfrm xmlns:a="http://schemas.openxmlformats.org/drawingml/2006/main">
            <a:off x="7429500" y="28670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运行中</a:t>
            </a:r>
          </a:p>
        </p:txBody>
      </p:sp>
      <p:sp>
        <p:nvSpPr>
          <p:cNvPr id="10" name="text-分阶段发布，设回退方案与异常人工">
            <a:extLst xmlns:a="http://schemas.openxmlformats.org/drawingml/2006/main">
              <a:ext uri="{FF2B5EF4-FFF2-40B4-BE49-F238E27FC236}">
                <a16:creationId xmlns:a16="http://schemas.microsoft.com/office/drawing/2014/main" id="{D137175A-E619-4FC0-8319-05648EFA8605}"/>
              </a:ext>
            </a:extLst>
          </p:cNvPr>
          <p:cNvSpPr>
            <a:spLocks xmlns:a="http://schemas.openxmlformats.org/drawingml/2006/main" noGrp="1"/>
          </p:cNvSpPr>
          <p:nvPr/>
        </p:nvSpPr>
        <p:spPr>
          <a:xfrm xmlns:a="http://schemas.openxmlformats.org/drawingml/2006/main">
            <a:off x="7429500" y="3324225"/>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分阶段发布，设回退方案与异常人工接管条件。</a:t>
            </a:r>
          </a:p>
        </p:txBody>
      </p:sp>
      <p:sp>
        <p:nvSpPr>
          <p:cNvPr id="11" name="text-退役时">
            <a:extLst xmlns:a="http://schemas.openxmlformats.org/drawingml/2006/main">
              <a:ext uri="{FF2B5EF4-FFF2-40B4-BE49-F238E27FC236}">
                <a16:creationId xmlns:a16="http://schemas.microsoft.com/office/drawing/2014/main" id="{19417C7D-169A-4EBF-A30A-CB7C1F100374}"/>
              </a:ext>
            </a:extLst>
          </p:cNvPr>
          <p:cNvSpPr>
            <a:spLocks xmlns:a="http://schemas.openxmlformats.org/drawingml/2006/main" noGrp="1"/>
          </p:cNvSpPr>
          <p:nvPr/>
        </p:nvSpPr>
        <p:spPr>
          <a:xfrm xmlns:a="http://schemas.openxmlformats.org/drawingml/2006/main">
            <a:off x="7429500" y="40862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退役时</a:t>
            </a:r>
          </a:p>
        </p:txBody>
      </p:sp>
      <p:sp>
        <p:nvSpPr>
          <p:cNvPr id="12" name="text-验证离轨资源和失效后处置路径，减">
            <a:extLst xmlns:a="http://schemas.openxmlformats.org/drawingml/2006/main">
              <a:ext uri="{FF2B5EF4-FFF2-40B4-BE49-F238E27FC236}">
                <a16:creationId xmlns:a16="http://schemas.microsoft.com/office/drawing/2014/main" id="{35267A10-6123-4A1F-9692-DB2A6AFBB815}"/>
              </a:ext>
            </a:extLst>
          </p:cNvPr>
          <p:cNvSpPr>
            <a:spLocks xmlns:a="http://schemas.openxmlformats.org/drawingml/2006/main" noGrp="1"/>
          </p:cNvSpPr>
          <p:nvPr/>
        </p:nvSpPr>
        <p:spPr>
          <a:xfrm xmlns:a="http://schemas.openxmlformats.org/drawingml/2006/main">
            <a:off x="7429500" y="4543425"/>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验证离轨资源和失效后处置路径，减少残余风险。</a:t>
            </a:r>
          </a:p>
        </p:txBody>
      </p:sp>
    </p:spTree>
    <p:extLst>
      <p:ext uri="{BB962C8B-B14F-4D97-AF65-F5344CB8AC3E}">
        <p14:creationId xmlns:p14="http://schemas.microsoft.com/office/powerpoint/2010/main" val="3868327217"/>
      </p:ext>
    </p:extLst>
  </p:cSld>
</p:sld>
</file>

<file path=ppt/slides/slide16.xml><?xml version="1.0" encoding="utf-8"?>
<p:sld xmlns:p="http://schemas.openxmlformats.org/presentationml/2006/main" showMasterSp="0">
  <p:cSld>
    <p:spTree>
      <p:nvGrpSpPr>
        <p:cNvPr id="1" name=""/>
        <p:cNvGrpSpPr/>
        <p:nvPr/>
      </p:nvGrpSpPr>
      <p:grpSpPr>
        <a:xfrm xmlns:a="http://schemas.openxmlformats.org/drawingml/2006/main"/>
      </p:grpSpPr>
      <p:sp>
        <p:nvSpPr>
          <p:cNvPr id="20"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1"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0"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1"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2"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3"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4"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5"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72" name="text-工程责任与全生命周期伦理">
            <a:extLst xmlns:a="http://schemas.openxmlformats.org/drawingml/2006/main">
              <a:ext uri="{FF2B5EF4-FFF2-40B4-BE49-F238E27FC236}">
                <a16:creationId xmlns:a16="http://schemas.microsoft.com/office/drawing/2014/main" id="{6711D90D-82D6-4B82-B166-F863DF1C76D8}"/>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工程责任与全生命周期伦理</a:t>
            </a:r>
          </a:p>
        </p:txBody>
      </p:sp>
      <p:sp>
        <p:nvSpPr>
          <p:cNvPr id="2" name="text-伦理底线是可验证的安全处置；在轨">
            <a:extLst xmlns:a="http://schemas.openxmlformats.org/drawingml/2006/main">
              <a:ext uri="{FF2B5EF4-FFF2-40B4-BE49-F238E27FC236}">
                <a16:creationId xmlns:a16="http://schemas.microsoft.com/office/drawing/2014/main" id="{87E3D52A-F0A6-4FDE-9B7F-113171413058}"/>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伦理底线是可验证的安全处置；在轨爆炸式“自毁”会制造更多碎片。</a:t>
            </a:r>
          </a:p>
        </p:txBody>
      </p:sp>
      <p:sp>
        <p:nvSpPr>
          <p:cNvPr id="3" name="text-工程伦理核心冲突  /  伦理专">
            <a:extLst xmlns:a="http://schemas.openxmlformats.org/drawingml/2006/main">
              <a:ext uri="{FF2B5EF4-FFF2-40B4-BE49-F238E27FC236}">
                <a16:creationId xmlns:a16="http://schemas.microsoft.com/office/drawing/2014/main" id="{3F277791-2430-49CE-A146-3F86C5155321}"/>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工程伦理核心冲突  /  伦理专家</a:t>
            </a:r>
          </a:p>
        </p:txBody>
      </p:sp>
      <p:sp>
        <p:nvSpPr>
          <p:cNvPr id="4" name="text-14">
            <a:extLst xmlns:a="http://schemas.openxmlformats.org/drawingml/2006/main">
              <a:ext uri="{FF2B5EF4-FFF2-40B4-BE49-F238E27FC236}">
                <a16:creationId xmlns:a16="http://schemas.microsoft.com/office/drawing/2014/main" id="{6419341E-7F71-4146-8E75-04FD7715FA1D}"/>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14</a:t>
            </a:r>
          </a:p>
        </p:txBody>
      </p:sp>
      <p:sp>
        <p:nvSpPr>
          <p:cNvPr id="5" name="设计">
            <a:extLst xmlns:a="http://schemas.openxmlformats.org/drawingml/2006/main">
              <a:ext uri="{FF2B5EF4-FFF2-40B4-BE49-F238E27FC236}">
                <a16:creationId xmlns:a16="http://schemas.microsoft.com/office/drawing/2014/main" id="{0CE10A22-5F10-4A58-84FF-5ABE37F536E5}"/>
              </a:ext>
            </a:extLst>
          </p:cNvPr>
          <p:cNvSpPr>
            <a:spLocks xmlns:a="http://schemas.openxmlformats.org/drawingml/2006/main" noGrp="1"/>
          </p:cNvSpPr>
          <p:nvPr/>
        </p:nvSpPr>
        <p:spPr>
          <a:xfrm xmlns:a="http://schemas.openxmlformats.org/drawingml/2006/main">
            <a:off x="762000" y="1619250"/>
            <a:ext cx="2381250" cy="685800"/>
          </a:xfrm>
          <a:prstGeom xmlns:a="http://schemas.openxmlformats.org/drawingml/2006/main" prst="roundRect">
            <a:avLst>
              <a:gd name="adj" fmla="val 11111"/>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设计</a:t>
            </a:r>
          </a:p>
        </p:txBody>
      </p:sp>
      <p:sp>
        <p:nvSpPr>
          <p:cNvPr id="6" name="text-预留离轨推进剂&#10;失效降级与可跟踪">
            <a:extLst xmlns:a="http://schemas.openxmlformats.org/drawingml/2006/main">
              <a:ext uri="{FF2B5EF4-FFF2-40B4-BE49-F238E27FC236}">
                <a16:creationId xmlns:a16="http://schemas.microsoft.com/office/drawing/2014/main" id="{1D19A303-C79A-46B5-9052-0223364D1F49}"/>
              </a:ext>
            </a:extLst>
          </p:cNvPr>
          <p:cNvSpPr>
            <a:spLocks xmlns:a="http://schemas.openxmlformats.org/drawingml/2006/main" noGrp="1"/>
          </p:cNvSpPr>
          <p:nvPr/>
        </p:nvSpPr>
        <p:spPr>
          <a:xfrm xmlns:a="http://schemas.openxmlformats.org/drawingml/2006/main">
            <a:off x="762000" y="2590800"/>
            <a:ext cx="2419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预留离轨推进剂</a:t>
            </a:r>
          </a:p>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失效降级与可跟踪性</a:t>
            </a:r>
          </a:p>
        </p:txBody>
      </p:sp>
      <p:sp>
        <p:nvSpPr>
          <p:cNvPr id="7" name="部署">
            <a:extLst xmlns:a="http://schemas.openxmlformats.org/drawingml/2006/main">
              <a:ext uri="{FF2B5EF4-FFF2-40B4-BE49-F238E27FC236}">
                <a16:creationId xmlns:a16="http://schemas.microsoft.com/office/drawing/2014/main" id="{7C08C61C-B33D-44DD-8099-9CECA40EE64A}"/>
              </a:ext>
            </a:extLst>
          </p:cNvPr>
          <p:cNvSpPr>
            <a:spLocks xmlns:a="http://schemas.openxmlformats.org/drawingml/2006/main" noGrp="1"/>
          </p:cNvSpPr>
          <p:nvPr/>
        </p:nvSpPr>
        <p:spPr>
          <a:xfrm xmlns:a="http://schemas.openxmlformats.org/drawingml/2006/main">
            <a:off x="3524250" y="1619250"/>
            <a:ext cx="2381250" cy="685800"/>
          </a:xfrm>
          <a:prstGeom xmlns:a="http://schemas.openxmlformats.org/drawingml/2006/main" prst="roundRect">
            <a:avLst>
              <a:gd name="adj" fmla="val 11111"/>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部署</a:t>
            </a:r>
          </a:p>
        </p:txBody>
      </p:sp>
      <p:sp>
        <p:nvSpPr>
          <p:cNvPr id="8" name="text-发射前碎片减缓审查&#10;验证轨道与处">
            <a:extLst xmlns:a="http://schemas.openxmlformats.org/drawingml/2006/main">
              <a:ext uri="{FF2B5EF4-FFF2-40B4-BE49-F238E27FC236}">
                <a16:creationId xmlns:a16="http://schemas.microsoft.com/office/drawing/2014/main" id="{619CCC07-833C-48D1-A6F3-6B21C47E5C3A}"/>
              </a:ext>
            </a:extLst>
          </p:cNvPr>
          <p:cNvSpPr>
            <a:spLocks xmlns:a="http://schemas.openxmlformats.org/drawingml/2006/main" noGrp="1"/>
          </p:cNvSpPr>
          <p:nvPr/>
        </p:nvSpPr>
        <p:spPr>
          <a:xfrm xmlns:a="http://schemas.openxmlformats.org/drawingml/2006/main">
            <a:off x="3524250" y="2590800"/>
            <a:ext cx="2419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发射前碎片减缓审查</a:t>
            </a:r>
          </a:p>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验证轨道与处置方案</a:t>
            </a:r>
          </a:p>
        </p:txBody>
      </p:sp>
      <p:sp>
        <p:nvSpPr>
          <p:cNvPr id="9" name="运行">
            <a:extLst xmlns:a="http://schemas.openxmlformats.org/drawingml/2006/main">
              <a:ext uri="{FF2B5EF4-FFF2-40B4-BE49-F238E27FC236}">
                <a16:creationId xmlns:a16="http://schemas.microsoft.com/office/drawing/2014/main" id="{D1DCCACC-AE23-483A-9B04-501B520022C3}"/>
              </a:ext>
            </a:extLst>
          </p:cNvPr>
          <p:cNvSpPr>
            <a:spLocks xmlns:a="http://schemas.openxmlformats.org/drawingml/2006/main" noGrp="1"/>
          </p:cNvSpPr>
          <p:nvPr/>
        </p:nvSpPr>
        <p:spPr>
          <a:xfrm xmlns:a="http://schemas.openxmlformats.org/drawingml/2006/main">
            <a:off x="6286500" y="1619250"/>
            <a:ext cx="2381250" cy="685800"/>
          </a:xfrm>
          <a:prstGeom xmlns:a="http://schemas.openxmlformats.org/drawingml/2006/main" prst="roundRect">
            <a:avLst>
              <a:gd name="adj" fmla="val 11111"/>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运行</a:t>
            </a:r>
          </a:p>
        </p:txBody>
      </p:sp>
      <p:sp>
        <p:nvSpPr>
          <p:cNvPr id="10" name="text-记录风险与机动&#10;更新失效与机动能">
            <a:extLst xmlns:a="http://schemas.openxmlformats.org/drawingml/2006/main">
              <a:ext uri="{FF2B5EF4-FFF2-40B4-BE49-F238E27FC236}">
                <a16:creationId xmlns:a16="http://schemas.microsoft.com/office/drawing/2014/main" id="{647183B1-7CBF-4778-9130-B1BF630EA3D8}"/>
              </a:ext>
            </a:extLst>
          </p:cNvPr>
          <p:cNvSpPr>
            <a:spLocks xmlns:a="http://schemas.openxmlformats.org/drawingml/2006/main" noGrp="1"/>
          </p:cNvSpPr>
          <p:nvPr/>
        </p:nvSpPr>
        <p:spPr>
          <a:xfrm xmlns:a="http://schemas.openxmlformats.org/drawingml/2006/main">
            <a:off x="6286500" y="2590800"/>
            <a:ext cx="2419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记录风险与机动</a:t>
            </a:r>
          </a:p>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更新失效与机动能力</a:t>
            </a:r>
          </a:p>
        </p:txBody>
      </p:sp>
      <p:sp>
        <p:nvSpPr>
          <p:cNvPr id="11" name="退役">
            <a:extLst xmlns:a="http://schemas.openxmlformats.org/drawingml/2006/main">
              <a:ext uri="{FF2B5EF4-FFF2-40B4-BE49-F238E27FC236}">
                <a16:creationId xmlns:a16="http://schemas.microsoft.com/office/drawing/2014/main" id="{EA10C606-6074-47BB-8799-EFFB466A110D}"/>
              </a:ext>
            </a:extLst>
          </p:cNvPr>
          <p:cNvSpPr>
            <a:spLocks xmlns:a="http://schemas.openxmlformats.org/drawingml/2006/main" noGrp="1"/>
          </p:cNvSpPr>
          <p:nvPr/>
        </p:nvSpPr>
        <p:spPr>
          <a:xfrm xmlns:a="http://schemas.openxmlformats.org/drawingml/2006/main">
            <a:off x="9048750" y="1619250"/>
            <a:ext cx="2381250" cy="685800"/>
          </a:xfrm>
          <a:prstGeom xmlns:a="http://schemas.openxmlformats.org/drawingml/2006/main" prst="roundRect">
            <a:avLst>
              <a:gd name="adj" fmla="val 11111"/>
            </a:avLst>
          </a:prstGeom>
          <a:solidFill xmlns:a="http://schemas.openxmlformats.org/drawingml/2006/main">
            <a:srgbClr val="5C5BFA"/>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退役</a:t>
            </a:r>
          </a:p>
        </p:txBody>
      </p:sp>
      <p:sp>
        <p:nvSpPr>
          <p:cNvPr id="12" name="text-离轨、钝化与再入安全&#10;核验任务后">
            <a:extLst xmlns:a="http://schemas.openxmlformats.org/drawingml/2006/main">
              <a:ext uri="{FF2B5EF4-FFF2-40B4-BE49-F238E27FC236}">
                <a16:creationId xmlns:a16="http://schemas.microsoft.com/office/drawing/2014/main" id="{0C652057-7B82-47BA-BCB8-50334FFF528D}"/>
              </a:ext>
            </a:extLst>
          </p:cNvPr>
          <p:cNvSpPr>
            <a:spLocks xmlns:a="http://schemas.openxmlformats.org/drawingml/2006/main" noGrp="1"/>
          </p:cNvSpPr>
          <p:nvPr/>
        </p:nvSpPr>
        <p:spPr>
          <a:xfrm xmlns:a="http://schemas.openxmlformats.org/drawingml/2006/main">
            <a:off x="9048750" y="2590800"/>
            <a:ext cx="2419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离轨、钝化与再入安全</a:t>
            </a:r>
          </a:p>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核验任务后处置完成</a:t>
            </a:r>
          </a:p>
        </p:txBody>
      </p:sp>
      <p:cxnSp>
        <p:nvCxnSpPr>
          <p:cNvPr id="84" name=""/>
          <p:cNvCxnSpPr>
            <a:stCxn xmlns:a="http://schemas.openxmlformats.org/drawingml/2006/main" id="5" idx="3"/>
            <a:endCxn xmlns:a="http://schemas.openxmlformats.org/drawingml/2006/main" id="7" idx="1"/>
          </p:cNvCxnSpPr>
          <p:nvPr/>
        </p:nvCxnSpPr>
        <p:spPr>
          <a:xfrm xmlns:a="http://schemas.openxmlformats.org/drawingml/2006/main">
            <a:off x="3143250" y="1962150"/>
            <a:ext cx="381000" cy="0"/>
          </a:xfrm>
          <a:prstGeom xmlns:a="http://schemas.openxmlformats.org/drawingml/2006/main" prst="straightConnector1">
            <a:avLst/>
          </a:prstGeom>
          <a:ln xmlns:a="http://schemas.openxmlformats.org/drawingml/2006/main" w="19050">
            <a:solidFill>
              <a:srgbClr val="617186"/>
            </a:solidFill>
            <a:tailEnd type="arrow" w="med" len="med"/>
          </a:ln>
        </p:spPr>
      </p:cxnSp>
      <p:cxnSp>
        <p:nvCxnSpPr>
          <p:cNvPr id="85" name=""/>
          <p:cNvCxnSpPr>
            <a:stCxn xmlns:a="http://schemas.openxmlformats.org/drawingml/2006/main" id="7" idx="3"/>
            <a:endCxn xmlns:a="http://schemas.openxmlformats.org/drawingml/2006/main" id="9" idx="1"/>
          </p:cNvCxnSpPr>
          <p:nvPr/>
        </p:nvCxnSpPr>
        <p:spPr>
          <a:xfrm xmlns:a="http://schemas.openxmlformats.org/drawingml/2006/main">
            <a:off x="5905500" y="1962150"/>
            <a:ext cx="381000" cy="0"/>
          </a:xfrm>
          <a:prstGeom xmlns:a="http://schemas.openxmlformats.org/drawingml/2006/main" prst="straightConnector1">
            <a:avLst/>
          </a:prstGeom>
          <a:ln xmlns:a="http://schemas.openxmlformats.org/drawingml/2006/main" w="19050">
            <a:solidFill>
              <a:srgbClr val="617186"/>
            </a:solidFill>
            <a:tailEnd type="arrow" w="med" len="med"/>
          </a:ln>
        </p:spPr>
      </p:cxnSp>
      <p:cxnSp>
        <p:nvCxnSpPr>
          <p:cNvPr id="86" name=""/>
          <p:cNvCxnSpPr>
            <a:stCxn xmlns:a="http://schemas.openxmlformats.org/drawingml/2006/main" id="9" idx="3"/>
            <a:endCxn xmlns:a="http://schemas.openxmlformats.org/drawingml/2006/main" id="11" idx="1"/>
          </p:cNvCxnSpPr>
          <p:nvPr/>
        </p:nvCxnSpPr>
        <p:spPr>
          <a:xfrm xmlns:a="http://schemas.openxmlformats.org/drawingml/2006/main">
            <a:off x="8667750" y="1962150"/>
            <a:ext cx="381000" cy="0"/>
          </a:xfrm>
          <a:prstGeom xmlns:a="http://schemas.openxmlformats.org/drawingml/2006/main" prst="straightConnector1">
            <a:avLst/>
          </a:prstGeom>
          <a:ln xmlns:a="http://schemas.openxmlformats.org/drawingml/2006/main" w="19050">
            <a:solidFill>
              <a:srgbClr val="617186"/>
            </a:solidFill>
            <a:tailEnd type="arrow" w="med" len="med"/>
          </a:ln>
        </p:spPr>
      </p:cxnSp>
      <p:sp>
        <p:nvSpPr>
          <p:cNvPr id="16" name="text-ESA Design for D">
            <a:extLst xmlns:a="http://schemas.openxmlformats.org/drawingml/2006/main">
              <a:ext uri="{FF2B5EF4-FFF2-40B4-BE49-F238E27FC236}">
                <a16:creationId xmlns:a16="http://schemas.microsoft.com/office/drawing/2014/main" id="{4A8E9278-8389-43F8-B8C0-41B492127B6A}"/>
              </a:ext>
            </a:extLst>
          </p:cNvPr>
          <p:cNvSpPr>
            <a:spLocks xmlns:a="http://schemas.openxmlformats.org/drawingml/2006/main" noGrp="1"/>
          </p:cNvSpPr>
          <p:nvPr/>
        </p:nvSpPr>
        <p:spPr>
          <a:xfrm xmlns:a="http://schemas.openxmlformats.org/drawingml/2006/main">
            <a:off x="762000" y="411480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ESA Design for Demise</a:t>
            </a:r>
          </a:p>
        </p:txBody>
      </p:sp>
      <p:sp>
        <p:nvSpPr>
          <p:cNvPr id="17" name="text-侧重再入可烧蚀设计与地面风险控制">
            <a:extLst xmlns:a="http://schemas.openxmlformats.org/drawingml/2006/main">
              <a:ext uri="{FF2B5EF4-FFF2-40B4-BE49-F238E27FC236}">
                <a16:creationId xmlns:a16="http://schemas.microsoft.com/office/drawing/2014/main" id="{A13AFF26-A9EC-4017-B880-B46E2419DD06}"/>
              </a:ext>
            </a:extLst>
          </p:cNvPr>
          <p:cNvSpPr>
            <a:spLocks xmlns:a="http://schemas.openxmlformats.org/drawingml/2006/main" noGrp="1"/>
          </p:cNvSpPr>
          <p:nvPr/>
        </p:nvSpPr>
        <p:spPr>
          <a:xfrm xmlns:a="http://schemas.openxmlformats.org/drawingml/2006/main">
            <a:off x="762000" y="46386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3F"/>
                </a:solidFill>
                <a:latin typeface="Microsoft YaHei"/>
                <a:ea typeface="Microsoft YaHei"/>
                <a:cs typeface="Microsoft YaHei"/>
              </a:defRPr>
            </a:pPr>
            <a:r>
              <a:rPr sz="1800" b="0">
                <a:solidFill>
                  <a:srgbClr val="14283F"/>
                </a:solidFill>
                <a:latin typeface="Microsoft YaHei"/>
                <a:ea typeface="Microsoft YaHei"/>
                <a:cs typeface="Microsoft YaHei"/>
              </a:rPr>
              <a:t>侧重再入可烧蚀设计与地面风险控制</a:t>
            </a:r>
          </a:p>
        </p:txBody>
      </p:sp>
      <p:sp>
        <p:nvSpPr>
          <p:cNvPr id="18" name="text-GB/T 45737-2025">
            <a:extLst xmlns:a="http://schemas.openxmlformats.org/drawingml/2006/main">
              <a:ext uri="{FF2B5EF4-FFF2-40B4-BE49-F238E27FC236}">
                <a16:creationId xmlns:a16="http://schemas.microsoft.com/office/drawing/2014/main" id="{564A6930-DAC2-4C99-A304-761EA8B02167}"/>
              </a:ext>
            </a:extLst>
          </p:cNvPr>
          <p:cNvSpPr>
            <a:spLocks xmlns:a="http://schemas.openxmlformats.org/drawingml/2006/main" noGrp="1"/>
          </p:cNvSpPr>
          <p:nvPr/>
        </p:nvSpPr>
        <p:spPr>
          <a:xfrm xmlns:a="http://schemas.openxmlformats.org/drawingml/2006/main">
            <a:off x="6524625" y="411480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73C79"/>
                </a:solidFill>
                <a:latin typeface="Microsoft YaHei"/>
                <a:ea typeface="Microsoft YaHei"/>
                <a:cs typeface="Microsoft YaHei"/>
              </a:defRPr>
            </a:pPr>
            <a:r>
              <a:rPr sz="2100" b="1">
                <a:solidFill>
                  <a:srgbClr val="073C79"/>
                </a:solidFill>
                <a:latin typeface="Microsoft YaHei"/>
                <a:ea typeface="Microsoft YaHei"/>
                <a:cs typeface="Microsoft YaHei"/>
              </a:rPr>
              <a:t>GB/T 45737-2025</a:t>
            </a:r>
          </a:p>
        </p:txBody>
      </p:sp>
      <p:sp>
        <p:nvSpPr>
          <p:cNvPr id="19" name="text-发射前空间碎片减缓审查要求&#10;中国">
            <a:extLst xmlns:a="http://schemas.openxmlformats.org/drawingml/2006/main">
              <a:ext uri="{FF2B5EF4-FFF2-40B4-BE49-F238E27FC236}">
                <a16:creationId xmlns:a16="http://schemas.microsoft.com/office/drawing/2014/main" id="{1C7AE8A3-B360-41F2-B3DF-E43EA9F8BADC}"/>
              </a:ext>
            </a:extLst>
          </p:cNvPr>
          <p:cNvSpPr>
            <a:spLocks xmlns:a="http://schemas.openxmlformats.org/drawingml/2006/main" noGrp="1"/>
          </p:cNvSpPr>
          <p:nvPr/>
        </p:nvSpPr>
        <p:spPr>
          <a:xfrm xmlns:a="http://schemas.openxmlformats.org/drawingml/2006/main">
            <a:off x="6524625" y="459105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3F"/>
                </a:solidFill>
                <a:latin typeface="Microsoft YaHei"/>
                <a:ea typeface="Microsoft YaHei"/>
                <a:cs typeface="Microsoft YaHei"/>
              </a:defRPr>
            </a:pPr>
            <a:r>
              <a:rPr sz="1800" b="0">
                <a:solidFill>
                  <a:srgbClr val="14283F"/>
                </a:solidFill>
                <a:latin typeface="Microsoft YaHei"/>
                <a:ea typeface="Microsoft YaHei"/>
                <a:cs typeface="Microsoft YaHei"/>
              </a:rPr>
              <a:t>发射前空间碎片减缓审查要求</a:t>
            </a:r>
          </a:p>
          <a:p xmlns:a="http://schemas.openxmlformats.org/drawingml/2006/main">
            <a:pPr algn="l">
              <a:defRPr sz="1800" b="0">
                <a:solidFill>
                  <a:srgbClr val="14283F"/>
                </a:solidFill>
                <a:latin typeface="Microsoft YaHei"/>
                <a:ea typeface="Microsoft YaHei"/>
                <a:cs typeface="Microsoft YaHei"/>
              </a:defRPr>
            </a:pPr>
            <a:r>
              <a:rPr sz="1800" b="0">
                <a:solidFill>
                  <a:srgbClr val="14283F"/>
                </a:solidFill>
                <a:latin typeface="Microsoft YaHei"/>
                <a:ea typeface="Microsoft YaHei"/>
                <a:cs typeface="Microsoft YaHei"/>
              </a:rPr>
              <a:t>中国推荐性国家标准，2025-09-01实施</a:t>
            </a:r>
          </a:p>
        </p:txBody>
      </p:sp>
    </p:spTree>
    <p:extLst>
      <p:ext uri="{BB962C8B-B14F-4D97-AF65-F5344CB8AC3E}">
        <p14:creationId xmlns:p14="http://schemas.microsoft.com/office/powerpoint/2010/main" val="3868327217"/>
      </p:ext>
    </p:extLst>
  </p:cSld>
</p:sld>
</file>

<file path=ppt/slides/slide17.xml><?xml version="1.0" encoding="utf-8"?>
<p:sld xmlns:p="http://schemas.openxmlformats.org/presentationml/2006/main" showMasterSp="0">
  <p:cSld>
    <p:spTree>
      <p:nvGrpSpPr>
        <p:cNvPr id="1" name=""/>
        <p:cNvGrpSpPr/>
        <p:nvPr/>
      </p:nvGrpSpPr>
      <p:grpSpPr>
        <a:xfrm xmlns:a="http://schemas.openxmlformats.org/drawingml/2006/main"/>
      </p:grpSpPr>
      <p:sp>
        <p:nvSpPr>
          <p:cNvPr id="13"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5"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5" name="text-用户利益与信息公开">
            <a:extLst xmlns:a="http://schemas.openxmlformats.org/drawingml/2006/main">
              <a:ext uri="{FF2B5EF4-FFF2-40B4-BE49-F238E27FC236}">
                <a16:creationId xmlns:a16="http://schemas.microsoft.com/office/drawing/2014/main" id="{64A7D7C8-380B-49FC-8C28-3CA34EBEA8C3}"/>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用户利益与信息公开</a:t>
            </a:r>
          </a:p>
        </p:txBody>
      </p:sp>
      <p:sp>
        <p:nvSpPr>
          <p:cNvPr id="2" name="text-当法律要求不足以覆盖后果时，工程">
            <a:extLst xmlns:a="http://schemas.openxmlformats.org/drawingml/2006/main">
              <a:ext uri="{FF2B5EF4-FFF2-40B4-BE49-F238E27FC236}">
                <a16:creationId xmlns:a16="http://schemas.microsoft.com/office/drawing/2014/main" id="{C54C7411-1D22-439A-8CCC-19C12F1445D7}"/>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当法律要求不足以覆盖后果时，工程师仍应遵守避免可预见伤害的职业责任。</a:t>
            </a:r>
          </a:p>
        </p:txBody>
      </p:sp>
      <p:sp>
        <p:nvSpPr>
          <p:cNvPr id="3" name="text-工程伦理核心冲突  /  伦理专">
            <a:extLst xmlns:a="http://schemas.openxmlformats.org/drawingml/2006/main">
              <a:ext uri="{FF2B5EF4-FFF2-40B4-BE49-F238E27FC236}">
                <a16:creationId xmlns:a16="http://schemas.microsoft.com/office/drawing/2014/main" id="{6029C58D-4397-4FB2-9371-940CA0DACEAE}"/>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工程伦理核心冲突  /  伦理专家</a:t>
            </a:r>
          </a:p>
        </p:txBody>
      </p:sp>
      <p:sp>
        <p:nvSpPr>
          <p:cNvPr id="4" name="text-15">
            <a:extLst xmlns:a="http://schemas.openxmlformats.org/drawingml/2006/main">
              <a:ext uri="{FF2B5EF4-FFF2-40B4-BE49-F238E27FC236}">
                <a16:creationId xmlns:a16="http://schemas.microsoft.com/office/drawing/2014/main" id="{E0D527F9-29F3-44D9-9ADC-DC392D5A1230}"/>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15</a:t>
            </a:r>
          </a:p>
        </p:txBody>
      </p:sp>
      <p:sp>
        <p:nvSpPr>
          <p:cNvPr id="5" name="text-事前可知">
            <a:extLst xmlns:a="http://schemas.openxmlformats.org/drawingml/2006/main">
              <a:ext uri="{FF2B5EF4-FFF2-40B4-BE49-F238E27FC236}">
                <a16:creationId xmlns:a16="http://schemas.microsoft.com/office/drawing/2014/main" id="{2448F043-4DA9-4799-AC7A-A4F580849601}"/>
              </a:ext>
            </a:extLst>
          </p:cNvPr>
          <p:cNvSpPr>
            <a:spLocks xmlns:a="http://schemas.openxmlformats.org/drawingml/2006/main" noGrp="1"/>
          </p:cNvSpPr>
          <p:nvPr/>
        </p:nvSpPr>
        <p:spPr>
          <a:xfrm xmlns:a="http://schemas.openxmlformats.org/drawingml/2006/main">
            <a:off x="762000" y="183832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73C79"/>
                </a:solidFill>
                <a:latin typeface="Microsoft YaHei"/>
                <a:ea typeface="Microsoft YaHei"/>
                <a:cs typeface="Microsoft YaHei"/>
              </a:defRPr>
            </a:pPr>
            <a:r>
              <a:rPr sz="2850" b="1">
                <a:solidFill>
                  <a:srgbClr val="073C79"/>
                </a:solidFill>
                <a:latin typeface="Microsoft YaHei"/>
                <a:ea typeface="Microsoft YaHei"/>
                <a:cs typeface="Microsoft YaHei"/>
              </a:rPr>
              <a:t>事前可知</a:t>
            </a:r>
          </a:p>
        </p:txBody>
      </p:sp>
      <p:sp>
        <p:nvSpPr>
          <p:cNvPr id="6" name="text-公开轨道、机动能力、风险阈值口径">
            <a:extLst xmlns:a="http://schemas.openxmlformats.org/drawingml/2006/main">
              <a:ext uri="{FF2B5EF4-FFF2-40B4-BE49-F238E27FC236}">
                <a16:creationId xmlns:a16="http://schemas.microsoft.com/office/drawing/2014/main" id="{F0D1875C-B826-43BB-B12E-9521A1BB497F}"/>
              </a:ext>
            </a:extLst>
          </p:cNvPr>
          <p:cNvSpPr>
            <a:spLocks xmlns:a="http://schemas.openxmlformats.org/drawingml/2006/main" noGrp="1"/>
          </p:cNvSpPr>
          <p:nvPr/>
        </p:nvSpPr>
        <p:spPr>
          <a:xfrm xmlns:a="http://schemas.openxmlformats.org/drawingml/2006/main">
            <a:off x="762000" y="2724150"/>
            <a:ext cx="328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3F"/>
                </a:solidFill>
                <a:latin typeface="Microsoft YaHei"/>
                <a:ea typeface="Microsoft YaHei"/>
                <a:cs typeface="Microsoft YaHei"/>
              </a:defRPr>
            </a:pPr>
            <a:r>
              <a:rPr sz="2175" b="0">
                <a:solidFill>
                  <a:srgbClr val="14283F"/>
                </a:solidFill>
                <a:latin typeface="Microsoft YaHei"/>
                <a:ea typeface="Microsoft YaHei"/>
                <a:cs typeface="Microsoft YaHei"/>
              </a:rPr>
              <a:t>公开轨道、机动能力、风险阈值口径及处置承诺。</a:t>
            </a:r>
          </a:p>
        </p:txBody>
      </p:sp>
      <p:sp>
        <p:nvSpPr>
          <p:cNvPr id="7" name="text-事中可协调">
            <a:extLst xmlns:a="http://schemas.openxmlformats.org/drawingml/2006/main">
              <a:ext uri="{FF2B5EF4-FFF2-40B4-BE49-F238E27FC236}">
                <a16:creationId xmlns:a16="http://schemas.microsoft.com/office/drawing/2014/main" id="{BC7303B8-EEE0-44EB-A3E4-7727A52C5CBD}"/>
              </a:ext>
            </a:extLst>
          </p:cNvPr>
          <p:cNvSpPr>
            <a:spLocks xmlns:a="http://schemas.openxmlformats.org/drawingml/2006/main" noGrp="1"/>
          </p:cNvSpPr>
          <p:nvPr/>
        </p:nvSpPr>
        <p:spPr>
          <a:xfrm xmlns:a="http://schemas.openxmlformats.org/drawingml/2006/main">
            <a:off x="4476750" y="183832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5C5BFA"/>
                </a:solidFill>
                <a:latin typeface="Microsoft YaHei"/>
                <a:ea typeface="Microsoft YaHei"/>
                <a:cs typeface="Microsoft YaHei"/>
              </a:defRPr>
            </a:pPr>
            <a:r>
              <a:rPr sz="2850" b="1">
                <a:solidFill>
                  <a:srgbClr val="5C5BFA"/>
                </a:solidFill>
                <a:latin typeface="Microsoft YaHei"/>
                <a:ea typeface="Microsoft YaHei"/>
                <a:cs typeface="Microsoft YaHei"/>
              </a:rPr>
              <a:t>事中可协调</a:t>
            </a:r>
          </a:p>
        </p:txBody>
      </p:sp>
      <p:sp>
        <p:nvSpPr>
          <p:cNvPr id="8" name="text-提供带时间戳的星历、计划机动和紧">
            <a:extLst xmlns:a="http://schemas.openxmlformats.org/drawingml/2006/main">
              <a:ext uri="{FF2B5EF4-FFF2-40B4-BE49-F238E27FC236}">
                <a16:creationId xmlns:a16="http://schemas.microsoft.com/office/drawing/2014/main" id="{0F74B803-06EB-43B8-86F7-C474452BA400}"/>
              </a:ext>
            </a:extLst>
          </p:cNvPr>
          <p:cNvSpPr>
            <a:spLocks xmlns:a="http://schemas.openxmlformats.org/drawingml/2006/main" noGrp="1"/>
          </p:cNvSpPr>
          <p:nvPr/>
        </p:nvSpPr>
        <p:spPr>
          <a:xfrm xmlns:a="http://schemas.openxmlformats.org/drawingml/2006/main">
            <a:off x="4476750" y="2724150"/>
            <a:ext cx="328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3F"/>
                </a:solidFill>
                <a:latin typeface="Microsoft YaHei"/>
                <a:ea typeface="Microsoft YaHei"/>
                <a:cs typeface="Microsoft YaHei"/>
              </a:defRPr>
            </a:pPr>
            <a:r>
              <a:rPr sz="2175" b="0">
                <a:solidFill>
                  <a:srgbClr val="14283F"/>
                </a:solidFill>
                <a:latin typeface="Microsoft YaHei"/>
                <a:ea typeface="Microsoft YaHei"/>
                <a:cs typeface="Microsoft YaHei"/>
              </a:rPr>
              <a:t>提供带时间戳的星历、计划机动和紧急联络方式。</a:t>
            </a:r>
          </a:p>
        </p:txBody>
      </p:sp>
      <p:sp>
        <p:nvSpPr>
          <p:cNvPr id="9" name="text-事后可追责">
            <a:extLst xmlns:a="http://schemas.openxmlformats.org/drawingml/2006/main">
              <a:ext uri="{FF2B5EF4-FFF2-40B4-BE49-F238E27FC236}">
                <a16:creationId xmlns:a16="http://schemas.microsoft.com/office/drawing/2014/main" id="{03A93154-BA72-42FB-99DA-04DF26D4B0D2}"/>
              </a:ext>
            </a:extLst>
          </p:cNvPr>
          <p:cNvSpPr>
            <a:spLocks xmlns:a="http://schemas.openxmlformats.org/drawingml/2006/main" noGrp="1"/>
          </p:cNvSpPr>
          <p:nvPr/>
        </p:nvSpPr>
        <p:spPr>
          <a:xfrm xmlns:a="http://schemas.openxmlformats.org/drawingml/2006/main">
            <a:off x="8191500" y="183832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ED8B00"/>
                </a:solidFill>
                <a:latin typeface="Microsoft YaHei"/>
                <a:ea typeface="Microsoft YaHei"/>
                <a:cs typeface="Microsoft YaHei"/>
              </a:defRPr>
            </a:pPr>
            <a:r>
              <a:rPr sz="2850" b="1">
                <a:solidFill>
                  <a:srgbClr val="ED8B00"/>
                </a:solidFill>
                <a:latin typeface="Microsoft YaHei"/>
                <a:ea typeface="Microsoft YaHei"/>
                <a:cs typeface="Microsoft YaHei"/>
              </a:rPr>
              <a:t>事后可追责</a:t>
            </a:r>
          </a:p>
        </p:txBody>
      </p:sp>
      <p:sp>
        <p:nvSpPr>
          <p:cNvPr id="10" name="text-报告原因、影响范围、补救进展和独">
            <a:extLst xmlns:a="http://schemas.openxmlformats.org/drawingml/2006/main">
              <a:ext uri="{FF2B5EF4-FFF2-40B4-BE49-F238E27FC236}">
                <a16:creationId xmlns:a16="http://schemas.microsoft.com/office/drawing/2014/main" id="{1FF86741-317C-4D80-A9E4-84DF6B2049D7}"/>
              </a:ext>
            </a:extLst>
          </p:cNvPr>
          <p:cNvSpPr>
            <a:spLocks xmlns:a="http://schemas.openxmlformats.org/drawingml/2006/main" noGrp="1"/>
          </p:cNvSpPr>
          <p:nvPr/>
        </p:nvSpPr>
        <p:spPr>
          <a:xfrm xmlns:a="http://schemas.openxmlformats.org/drawingml/2006/main">
            <a:off x="8191500" y="2724150"/>
            <a:ext cx="328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3F"/>
                </a:solidFill>
                <a:latin typeface="Microsoft YaHei"/>
                <a:ea typeface="Microsoft YaHei"/>
                <a:cs typeface="Microsoft YaHei"/>
              </a:defRPr>
            </a:pPr>
            <a:r>
              <a:rPr sz="2175" b="0">
                <a:solidFill>
                  <a:srgbClr val="14283F"/>
                </a:solidFill>
                <a:latin typeface="Microsoft YaHei"/>
                <a:ea typeface="Microsoft YaHei"/>
                <a:cs typeface="Microsoft YaHei"/>
              </a:rPr>
              <a:t>报告原因、影响范围、补救进展和独立复核结论。</a:t>
            </a:r>
          </a:p>
        </p:txBody>
      </p:sp>
      <p:sp>
        <p:nvSpPr>
          <p:cNvPr id="11" name="text-可核验指标">
            <a:extLst xmlns:a="http://schemas.openxmlformats.org/drawingml/2006/main">
              <a:ext uri="{FF2B5EF4-FFF2-40B4-BE49-F238E27FC236}">
                <a16:creationId xmlns:a16="http://schemas.microsoft.com/office/drawing/2014/main" id="{7205D0FA-BD52-4CB2-A53E-FB0F6293D984}"/>
              </a:ext>
            </a:extLst>
          </p:cNvPr>
          <p:cNvSpPr>
            <a:spLocks xmlns:a="http://schemas.openxmlformats.org/drawingml/2006/main" noGrp="1"/>
          </p:cNvSpPr>
          <p:nvPr/>
        </p:nvSpPr>
        <p:spPr>
          <a:xfrm xmlns:a="http://schemas.openxmlformats.org/drawingml/2006/main">
            <a:off x="762000" y="4514850"/>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可核验指标</a:t>
            </a:r>
          </a:p>
        </p:txBody>
      </p:sp>
      <p:sp>
        <p:nvSpPr>
          <p:cNvPr id="12" name="text-统一统计窗口、完整分母、失效样本">
            <a:extLst xmlns:a="http://schemas.openxmlformats.org/drawingml/2006/main">
              <a:ext uri="{FF2B5EF4-FFF2-40B4-BE49-F238E27FC236}">
                <a16:creationId xmlns:a16="http://schemas.microsoft.com/office/drawing/2014/main" id="{46D42DE9-1B75-4EAE-B483-8A6AF0659460}"/>
              </a:ext>
            </a:extLst>
          </p:cNvPr>
          <p:cNvSpPr>
            <a:spLocks xmlns:a="http://schemas.openxmlformats.org/drawingml/2006/main" noGrp="1"/>
          </p:cNvSpPr>
          <p:nvPr/>
        </p:nvSpPr>
        <p:spPr>
          <a:xfrm xmlns:a="http://schemas.openxmlformats.org/drawingml/2006/main">
            <a:off x="3248025" y="4514850"/>
            <a:ext cx="81819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统一统计窗口、完整分母、失效样本，以及独立复核记录。</a:t>
            </a:r>
          </a:p>
        </p:txBody>
      </p:sp>
    </p:spTree>
    <p:extLst>
      <p:ext uri="{BB962C8B-B14F-4D97-AF65-F5344CB8AC3E}">
        <p14:creationId xmlns:p14="http://schemas.microsoft.com/office/powerpoint/2010/main" val="3868327217"/>
      </p:ext>
    </p:extLst>
  </p:cSld>
</p:sld>
</file>

<file path=ppt/slides/slide18.xml><?xml version="1.0" encoding="utf-8"?>
<p:sld xmlns:p="http://schemas.openxmlformats.org/presentationml/2006/main" showMasterSp="0">
  <p:cSld>
    <p:spTree>
      <p:nvGrpSpPr>
        <p:cNvPr id="1" name=""/>
        <p:cNvGrpSpPr/>
        <p:nvPr/>
      </p:nvGrpSpPr>
      <p:grpSpPr>
        <a:xfrm xmlns:a="http://schemas.openxmlformats.org/drawingml/2006/main"/>
      </p:grpSpPr>
      <p:sp>
        <p:nvSpPr>
          <p:cNvPr id="22"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0"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1"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2"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3"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4"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5"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6"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7"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74" name="text-责任部门划分">
            <a:extLst xmlns:a="http://schemas.openxmlformats.org/drawingml/2006/main">
              <a:ext uri="{FF2B5EF4-FFF2-40B4-BE49-F238E27FC236}">
                <a16:creationId xmlns:a16="http://schemas.microsoft.com/office/drawing/2014/main" id="{61B0F6DD-D4BA-41CE-B893-617F9A2B828E}"/>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责任部门划分</a:t>
            </a:r>
          </a:p>
        </p:txBody>
      </p:sp>
      <p:sp>
        <p:nvSpPr>
          <p:cNvPr id="2" name="text-同一企业可能兼任多个角色；工程责">
            <a:extLst xmlns:a="http://schemas.openxmlformats.org/drawingml/2006/main">
              <a:ext uri="{FF2B5EF4-FFF2-40B4-BE49-F238E27FC236}">
                <a16:creationId xmlns:a16="http://schemas.microsoft.com/office/drawing/2014/main" id="{5541F6CA-D96C-4BCE-9341-7EAA8391ED55}"/>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同一企业可能兼任多个角色；工程责任、合同责任和国家国际责任需要区分。</a:t>
            </a:r>
          </a:p>
        </p:txBody>
      </p:sp>
      <p:sp>
        <p:nvSpPr>
          <p:cNvPr id="3" name="text-企业责任与治理缺陷  /  治理">
            <a:extLst xmlns:a="http://schemas.openxmlformats.org/drawingml/2006/main">
              <a:ext uri="{FF2B5EF4-FFF2-40B4-BE49-F238E27FC236}">
                <a16:creationId xmlns:a16="http://schemas.microsoft.com/office/drawing/2014/main" id="{E27E6040-29F2-47A1-AB8A-C929FCBF5727}"/>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企业责任与治理缺陷  /  治理专家</a:t>
            </a:r>
          </a:p>
        </p:txBody>
      </p:sp>
      <p:sp>
        <p:nvSpPr>
          <p:cNvPr id="4" name="text-16">
            <a:extLst xmlns:a="http://schemas.openxmlformats.org/drawingml/2006/main">
              <a:ext uri="{FF2B5EF4-FFF2-40B4-BE49-F238E27FC236}">
                <a16:creationId xmlns:a16="http://schemas.microsoft.com/office/drawing/2014/main" id="{85512A58-0A4C-46A1-81FD-568525946BE5}"/>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16</a:t>
            </a:r>
          </a:p>
        </p:txBody>
      </p:sp>
      <p:sp>
        <p:nvSpPr>
          <p:cNvPr id="5" name="轨道公共安全">
            <a:extLst xmlns:a="http://schemas.openxmlformats.org/drawingml/2006/main">
              <a:ext uri="{FF2B5EF4-FFF2-40B4-BE49-F238E27FC236}">
                <a16:creationId xmlns:a16="http://schemas.microsoft.com/office/drawing/2014/main" id="{E0897974-8C65-40F4-817D-24BF77F7AFFD}"/>
              </a:ext>
            </a:extLst>
          </p:cNvPr>
          <p:cNvSpPr>
            <a:spLocks xmlns:a="http://schemas.openxmlformats.org/drawingml/2006/main" noGrp="1"/>
          </p:cNvSpPr>
          <p:nvPr/>
        </p:nvSpPr>
        <p:spPr>
          <a:xfrm xmlns:a="http://schemas.openxmlformats.org/drawingml/2006/main">
            <a:off x="4857750" y="3076575"/>
            <a:ext cx="2524125" cy="838200"/>
          </a:xfrm>
          <a:prstGeom xmlns:a="http://schemas.openxmlformats.org/drawingml/2006/main" prst="roundRect">
            <a:avLst>
              <a:gd name="adj" fmla="val 9091"/>
            </a:avLst>
          </a:prstGeom>
          <a:solidFill xmlns:a="http://schemas.openxmlformats.org/drawingml/2006/main">
            <a:srgbClr val="5C5BFA"/>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400" b="1">
                <a:solidFill>
                  <a:srgbClr val="FFFFFF"/>
                </a:solidFill>
                <a:latin typeface="Microsoft YaHei"/>
                <a:ea typeface="Microsoft YaHei"/>
                <a:cs typeface="Microsoft YaHei"/>
              </a:defRPr>
            </a:pPr>
            <a:r>
              <a:rPr sz="2400" b="1">
                <a:solidFill>
                  <a:srgbClr val="FFFFFF"/>
                </a:solidFill>
                <a:latin typeface="Microsoft YaHei"/>
                <a:ea typeface="Microsoft YaHei"/>
                <a:cs typeface="Microsoft YaHei"/>
              </a:rPr>
              <a:t>轨道公共安全</a:t>
            </a:r>
          </a:p>
        </p:txBody>
      </p:sp>
      <p:sp>
        <p:nvSpPr>
          <p:cNvPr id="6" name="设计与运营方">
            <a:extLst xmlns:a="http://schemas.openxmlformats.org/drawingml/2006/main">
              <a:ext uri="{FF2B5EF4-FFF2-40B4-BE49-F238E27FC236}">
                <a16:creationId xmlns:a16="http://schemas.microsoft.com/office/drawing/2014/main" id="{0E1095AC-BEE5-4D1A-BA19-C6BC452DCF30}"/>
              </a:ext>
            </a:extLst>
          </p:cNvPr>
          <p:cNvSpPr>
            <a:spLocks xmlns:a="http://schemas.openxmlformats.org/drawingml/2006/main" noGrp="1"/>
          </p:cNvSpPr>
          <p:nvPr/>
        </p:nvSpPr>
        <p:spPr>
          <a:xfrm xmlns:a="http://schemas.openxmlformats.org/drawingml/2006/main">
            <a:off x="762000" y="1676400"/>
            <a:ext cx="3667125" cy="533400"/>
          </a:xfrm>
          <a:prstGeom xmlns:a="http://schemas.openxmlformats.org/drawingml/2006/main" prst="roundRect">
            <a:avLst>
              <a:gd name="adj" fmla="val 14286"/>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设计与运营方</a:t>
            </a:r>
          </a:p>
        </p:txBody>
      </p:sp>
      <p:sp>
        <p:nvSpPr>
          <p:cNvPr id="7" name="text-SpaceX等星座运营者">
            <a:extLst xmlns:a="http://schemas.openxmlformats.org/drawingml/2006/main">
              <a:ext uri="{FF2B5EF4-FFF2-40B4-BE49-F238E27FC236}">
                <a16:creationId xmlns:a16="http://schemas.microsoft.com/office/drawing/2014/main" id="{618D09B6-67A2-424E-B2A7-F132C573AF2A}"/>
              </a:ext>
            </a:extLst>
          </p:cNvPr>
          <p:cNvSpPr>
            <a:spLocks xmlns:a="http://schemas.openxmlformats.org/drawingml/2006/main" noGrp="1"/>
          </p:cNvSpPr>
          <p:nvPr/>
        </p:nvSpPr>
        <p:spPr>
          <a:xfrm xmlns:a="http://schemas.openxmlformats.org/drawingml/2006/main">
            <a:off x="762000" y="2314575"/>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17186"/>
                </a:solidFill>
                <a:latin typeface="Microsoft YaHei"/>
                <a:ea typeface="Microsoft YaHei"/>
                <a:cs typeface="Microsoft YaHei"/>
              </a:defRPr>
            </a:pPr>
            <a:r>
              <a:rPr sz="1650" b="0">
                <a:solidFill>
                  <a:srgbClr val="617186"/>
                </a:solidFill>
                <a:latin typeface="Microsoft YaHei"/>
                <a:ea typeface="Microsoft YaHei"/>
                <a:cs typeface="Microsoft YaHei"/>
              </a:rPr>
              <a:t>SpaceX等星座运营者</a:t>
            </a:r>
          </a:p>
        </p:txBody>
      </p:sp>
      <p:sp>
        <p:nvSpPr>
          <p:cNvPr id="8" name="text-可靠性、避碰、离轨、透明报告">
            <a:extLst xmlns:a="http://schemas.openxmlformats.org/drawingml/2006/main">
              <a:ext uri="{FF2B5EF4-FFF2-40B4-BE49-F238E27FC236}">
                <a16:creationId xmlns:a16="http://schemas.microsoft.com/office/drawing/2014/main" id="{C418C2B7-6476-4CC0-BF5B-4B7B09DA6E4A}"/>
              </a:ext>
            </a:extLst>
          </p:cNvPr>
          <p:cNvSpPr>
            <a:spLocks xmlns:a="http://schemas.openxmlformats.org/drawingml/2006/main" noGrp="1"/>
          </p:cNvSpPr>
          <p:nvPr/>
        </p:nvSpPr>
        <p:spPr>
          <a:xfrm xmlns:a="http://schemas.openxmlformats.org/drawingml/2006/main">
            <a:off x="762000" y="2724150"/>
            <a:ext cx="366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3F"/>
                </a:solidFill>
                <a:latin typeface="Microsoft YaHei"/>
                <a:ea typeface="Microsoft YaHei"/>
                <a:cs typeface="Microsoft YaHei"/>
              </a:defRPr>
            </a:pPr>
            <a:r>
              <a:rPr sz="1800" b="0">
                <a:solidFill>
                  <a:srgbClr val="14283F"/>
                </a:solidFill>
                <a:latin typeface="Microsoft YaHei"/>
                <a:ea typeface="Microsoft YaHei"/>
                <a:cs typeface="Microsoft YaHei"/>
              </a:rPr>
              <a:t>可靠性、避碰、离轨、透明报告</a:t>
            </a:r>
          </a:p>
        </p:txBody>
      </p:sp>
      <p:cxnSp>
        <p:nvCxnSpPr>
          <p:cNvPr id="82" name=""/>
          <p:cNvCxnSpPr>
            <a:stCxn xmlns:a="http://schemas.openxmlformats.org/drawingml/2006/main" id="6" idx="3"/>
            <a:endCxn xmlns:a="http://schemas.openxmlformats.org/drawingml/2006/main" id="5" idx="1"/>
          </p:cNvCxnSpPr>
          <p:nvPr/>
        </p:nvCxnSpPr>
        <p:spPr>
          <a:xfrm xmlns:a="http://schemas.openxmlformats.org/drawingml/2006/main">
            <a:off x="4429125" y="1943100"/>
            <a:ext cx="428625" cy="1552575"/>
          </a:xfrm>
          <a:prstGeom xmlns:a="http://schemas.openxmlformats.org/drawingml/2006/main" prst="bentConnector3">
            <a:avLst>
              <a:gd name="adj1" fmla="val 50000"/>
            </a:avLst>
          </a:prstGeom>
          <a:ln xmlns:a="http://schemas.openxmlformats.org/drawingml/2006/main" w="19050">
            <a:solidFill>
              <a:srgbClr val="617186"/>
            </a:solidFill>
            <a:tailEnd type="arrow" w="med" len="med"/>
          </a:ln>
        </p:spPr>
      </p:cxnSp>
      <p:sp>
        <p:nvSpPr>
          <p:cNvPr id="10" name="发射服务商">
            <a:extLst xmlns:a="http://schemas.openxmlformats.org/drawingml/2006/main">
              <a:ext uri="{FF2B5EF4-FFF2-40B4-BE49-F238E27FC236}">
                <a16:creationId xmlns:a16="http://schemas.microsoft.com/office/drawing/2014/main" id="{23000BB3-7743-440F-8EC8-0652CCFB0992}"/>
              </a:ext>
            </a:extLst>
          </p:cNvPr>
          <p:cNvSpPr>
            <a:spLocks xmlns:a="http://schemas.openxmlformats.org/drawingml/2006/main" noGrp="1"/>
          </p:cNvSpPr>
          <p:nvPr/>
        </p:nvSpPr>
        <p:spPr>
          <a:xfrm xmlns:a="http://schemas.openxmlformats.org/drawingml/2006/main">
            <a:off x="7715250" y="1676400"/>
            <a:ext cx="3667125" cy="533400"/>
          </a:xfrm>
          <a:prstGeom xmlns:a="http://schemas.openxmlformats.org/drawingml/2006/main" prst="roundRect">
            <a:avLst>
              <a:gd name="adj" fmla="val 14286"/>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发射服务商</a:t>
            </a:r>
          </a:p>
        </p:txBody>
      </p:sp>
      <p:sp>
        <p:nvSpPr>
          <p:cNvPr id="11" name="text-入轨与上面级处置">
            <a:extLst xmlns:a="http://schemas.openxmlformats.org/drawingml/2006/main">
              <a:ext uri="{FF2B5EF4-FFF2-40B4-BE49-F238E27FC236}">
                <a16:creationId xmlns:a16="http://schemas.microsoft.com/office/drawing/2014/main" id="{F7EA0F68-D64B-4E8A-8122-AC5D074F8E28}"/>
              </a:ext>
            </a:extLst>
          </p:cNvPr>
          <p:cNvSpPr>
            <a:spLocks xmlns:a="http://schemas.openxmlformats.org/drawingml/2006/main" noGrp="1"/>
          </p:cNvSpPr>
          <p:nvPr/>
        </p:nvSpPr>
        <p:spPr>
          <a:xfrm xmlns:a="http://schemas.openxmlformats.org/drawingml/2006/main">
            <a:off x="7715250" y="2314575"/>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17186"/>
                </a:solidFill>
                <a:latin typeface="Microsoft YaHei"/>
                <a:ea typeface="Microsoft YaHei"/>
                <a:cs typeface="Microsoft YaHei"/>
              </a:defRPr>
            </a:pPr>
            <a:r>
              <a:rPr sz="1650" b="0">
                <a:solidFill>
                  <a:srgbClr val="617186"/>
                </a:solidFill>
                <a:latin typeface="Microsoft YaHei"/>
                <a:ea typeface="Microsoft YaHei"/>
                <a:cs typeface="Microsoft YaHei"/>
              </a:rPr>
              <a:t>入轨与上面级处置</a:t>
            </a:r>
          </a:p>
        </p:txBody>
      </p:sp>
      <p:sp>
        <p:nvSpPr>
          <p:cNvPr id="12" name="text-部署安全、钝化、遵守许可条件">
            <a:extLst xmlns:a="http://schemas.openxmlformats.org/drawingml/2006/main">
              <a:ext uri="{FF2B5EF4-FFF2-40B4-BE49-F238E27FC236}">
                <a16:creationId xmlns:a16="http://schemas.microsoft.com/office/drawing/2014/main" id="{FE3543F1-867E-40BD-AF59-4B8C48A5644D}"/>
              </a:ext>
            </a:extLst>
          </p:cNvPr>
          <p:cNvSpPr>
            <a:spLocks xmlns:a="http://schemas.openxmlformats.org/drawingml/2006/main" noGrp="1"/>
          </p:cNvSpPr>
          <p:nvPr/>
        </p:nvSpPr>
        <p:spPr>
          <a:xfrm xmlns:a="http://schemas.openxmlformats.org/drawingml/2006/main">
            <a:off x="7715250" y="2724150"/>
            <a:ext cx="366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3F"/>
                </a:solidFill>
                <a:latin typeface="Microsoft YaHei"/>
                <a:ea typeface="Microsoft YaHei"/>
                <a:cs typeface="Microsoft YaHei"/>
              </a:defRPr>
            </a:pPr>
            <a:r>
              <a:rPr sz="1800" b="0">
                <a:solidFill>
                  <a:srgbClr val="14283F"/>
                </a:solidFill>
                <a:latin typeface="Microsoft YaHei"/>
                <a:ea typeface="Microsoft YaHei"/>
                <a:cs typeface="Microsoft YaHei"/>
              </a:rPr>
              <a:t>部署安全、钝化、遵守许可条件</a:t>
            </a:r>
          </a:p>
        </p:txBody>
      </p:sp>
      <p:cxnSp>
        <p:nvCxnSpPr>
          <p:cNvPr id="86" name=""/>
          <p:cNvCxnSpPr>
            <a:stCxn xmlns:a="http://schemas.openxmlformats.org/drawingml/2006/main" id="10" idx="1"/>
            <a:endCxn xmlns:a="http://schemas.openxmlformats.org/drawingml/2006/main" id="5" idx="3"/>
          </p:cNvCxnSpPr>
          <p:nvPr/>
        </p:nvCxnSpPr>
        <p:spPr>
          <a:xfrm xmlns:a="http://schemas.openxmlformats.org/drawingml/2006/main" flipH="1">
            <a:off x="7381875" y="1943100"/>
            <a:ext cx="333375" cy="1552575"/>
          </a:xfrm>
          <a:prstGeom xmlns:a="http://schemas.openxmlformats.org/drawingml/2006/main" prst="bentConnector3">
            <a:avLst>
              <a:gd name="adj1" fmla="val 50000"/>
            </a:avLst>
          </a:prstGeom>
          <a:ln xmlns:a="http://schemas.openxmlformats.org/drawingml/2006/main" w="19050">
            <a:solidFill>
              <a:srgbClr val="617186"/>
            </a:solidFill>
            <a:tailEnd type="arrow" w="med" len="med"/>
          </a:ln>
        </p:spPr>
      </p:cxnSp>
      <p:sp>
        <p:nvSpPr>
          <p:cNvPr id="14" name="客户与依赖机构">
            <a:extLst xmlns:a="http://schemas.openxmlformats.org/drawingml/2006/main">
              <a:ext uri="{FF2B5EF4-FFF2-40B4-BE49-F238E27FC236}">
                <a16:creationId xmlns:a16="http://schemas.microsoft.com/office/drawing/2014/main" id="{2FBEABBB-4E15-42B4-A35C-44017DA0902C}"/>
              </a:ext>
            </a:extLst>
          </p:cNvPr>
          <p:cNvSpPr>
            <a:spLocks xmlns:a="http://schemas.openxmlformats.org/drawingml/2006/main" noGrp="1"/>
          </p:cNvSpPr>
          <p:nvPr/>
        </p:nvSpPr>
        <p:spPr>
          <a:xfrm xmlns:a="http://schemas.openxmlformats.org/drawingml/2006/main">
            <a:off x="762000" y="3990975"/>
            <a:ext cx="3667125" cy="533400"/>
          </a:xfrm>
          <a:prstGeom xmlns:a="http://schemas.openxmlformats.org/drawingml/2006/main" prst="roundRect">
            <a:avLst>
              <a:gd name="adj" fmla="val 14286"/>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客户与依赖机构</a:t>
            </a:r>
          </a:p>
        </p:txBody>
      </p:sp>
      <p:sp>
        <p:nvSpPr>
          <p:cNvPr id="15" name="text-业务连续性管理">
            <a:extLst xmlns:a="http://schemas.openxmlformats.org/drawingml/2006/main">
              <a:ext uri="{FF2B5EF4-FFF2-40B4-BE49-F238E27FC236}">
                <a16:creationId xmlns:a16="http://schemas.microsoft.com/office/drawing/2014/main" id="{3ED5E5FF-9506-4DFA-86B7-E9D236E9CC93}"/>
              </a:ext>
            </a:extLst>
          </p:cNvPr>
          <p:cNvSpPr>
            <a:spLocks xmlns:a="http://schemas.openxmlformats.org/drawingml/2006/main" noGrp="1"/>
          </p:cNvSpPr>
          <p:nvPr/>
        </p:nvSpPr>
        <p:spPr>
          <a:xfrm xmlns:a="http://schemas.openxmlformats.org/drawingml/2006/main">
            <a:off x="762000" y="4629150"/>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17186"/>
                </a:solidFill>
                <a:latin typeface="Microsoft YaHei"/>
                <a:ea typeface="Microsoft YaHei"/>
                <a:cs typeface="Microsoft YaHei"/>
              </a:defRPr>
            </a:pPr>
            <a:r>
              <a:rPr sz="1650" b="0">
                <a:solidFill>
                  <a:srgbClr val="617186"/>
                </a:solidFill>
                <a:latin typeface="Microsoft YaHei"/>
                <a:ea typeface="Microsoft YaHei"/>
                <a:cs typeface="Microsoft YaHei"/>
              </a:rPr>
              <a:t>业务连续性管理</a:t>
            </a:r>
          </a:p>
        </p:txBody>
      </p:sp>
      <p:sp>
        <p:nvSpPr>
          <p:cNvPr id="16" name="text-备用链路、供应商审查、演练">
            <a:extLst xmlns:a="http://schemas.openxmlformats.org/drawingml/2006/main">
              <a:ext uri="{FF2B5EF4-FFF2-40B4-BE49-F238E27FC236}">
                <a16:creationId xmlns:a16="http://schemas.microsoft.com/office/drawing/2014/main" id="{03C0E973-535A-438D-BBE3-A9081025FCE7}"/>
              </a:ext>
            </a:extLst>
          </p:cNvPr>
          <p:cNvSpPr>
            <a:spLocks xmlns:a="http://schemas.openxmlformats.org/drawingml/2006/main" noGrp="1"/>
          </p:cNvSpPr>
          <p:nvPr/>
        </p:nvSpPr>
        <p:spPr>
          <a:xfrm xmlns:a="http://schemas.openxmlformats.org/drawingml/2006/main">
            <a:off x="762000" y="5038725"/>
            <a:ext cx="366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3F"/>
                </a:solidFill>
                <a:latin typeface="Microsoft YaHei"/>
                <a:ea typeface="Microsoft YaHei"/>
                <a:cs typeface="Microsoft YaHei"/>
              </a:defRPr>
            </a:pPr>
            <a:r>
              <a:rPr sz="1800" b="0">
                <a:solidFill>
                  <a:srgbClr val="14283F"/>
                </a:solidFill>
                <a:latin typeface="Microsoft YaHei"/>
                <a:ea typeface="Microsoft YaHei"/>
                <a:cs typeface="Microsoft YaHei"/>
              </a:rPr>
              <a:t>备用链路、供应商审查、演练</a:t>
            </a:r>
          </a:p>
        </p:txBody>
      </p:sp>
      <p:cxnSp>
        <p:nvCxnSpPr>
          <p:cNvPr id="90" name=""/>
          <p:cNvCxnSpPr>
            <a:stCxn xmlns:a="http://schemas.openxmlformats.org/drawingml/2006/main" id="14" idx="3"/>
            <a:endCxn xmlns:a="http://schemas.openxmlformats.org/drawingml/2006/main" id="5" idx="1"/>
          </p:cNvCxnSpPr>
          <p:nvPr/>
        </p:nvCxnSpPr>
        <p:spPr>
          <a:xfrm xmlns:a="http://schemas.openxmlformats.org/drawingml/2006/main" flipV="1">
            <a:off x="4429125" y="3495675"/>
            <a:ext cx="428625" cy="762000"/>
          </a:xfrm>
          <a:prstGeom xmlns:a="http://schemas.openxmlformats.org/drawingml/2006/main" prst="bentConnector3">
            <a:avLst>
              <a:gd name="adj1" fmla="val 50000"/>
            </a:avLst>
          </a:prstGeom>
          <a:ln xmlns:a="http://schemas.openxmlformats.org/drawingml/2006/main" w="19050">
            <a:solidFill>
              <a:srgbClr val="617186"/>
            </a:solidFill>
            <a:tailEnd type="arrow" w="med" len="med"/>
          </a:ln>
        </p:spPr>
      </p:cxnSp>
      <p:sp>
        <p:nvSpPr>
          <p:cNvPr id="18" name="许可与监管机构">
            <a:extLst xmlns:a="http://schemas.openxmlformats.org/drawingml/2006/main">
              <a:ext uri="{FF2B5EF4-FFF2-40B4-BE49-F238E27FC236}">
                <a16:creationId xmlns:a16="http://schemas.microsoft.com/office/drawing/2014/main" id="{045528E2-F1E6-48D1-8752-2038FD12272C}"/>
              </a:ext>
            </a:extLst>
          </p:cNvPr>
          <p:cNvSpPr>
            <a:spLocks xmlns:a="http://schemas.openxmlformats.org/drawingml/2006/main" noGrp="1"/>
          </p:cNvSpPr>
          <p:nvPr/>
        </p:nvSpPr>
        <p:spPr>
          <a:xfrm xmlns:a="http://schemas.openxmlformats.org/drawingml/2006/main">
            <a:off x="7715250" y="3990975"/>
            <a:ext cx="3667125" cy="533400"/>
          </a:xfrm>
          <a:prstGeom xmlns:a="http://schemas.openxmlformats.org/drawingml/2006/main" prst="roundRect">
            <a:avLst>
              <a:gd name="adj" fmla="val 14286"/>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许可与监管机构</a:t>
            </a:r>
          </a:p>
        </p:txBody>
      </p:sp>
      <p:sp>
        <p:nvSpPr>
          <p:cNvPr id="19" name="text-国家持续监督">
            <a:extLst xmlns:a="http://schemas.openxmlformats.org/drawingml/2006/main">
              <a:ext uri="{FF2B5EF4-FFF2-40B4-BE49-F238E27FC236}">
                <a16:creationId xmlns:a16="http://schemas.microsoft.com/office/drawing/2014/main" id="{D094C904-277F-4092-9F37-987287E287CF}"/>
              </a:ext>
            </a:extLst>
          </p:cNvPr>
          <p:cNvSpPr>
            <a:spLocks xmlns:a="http://schemas.openxmlformats.org/drawingml/2006/main" noGrp="1"/>
          </p:cNvSpPr>
          <p:nvPr/>
        </p:nvSpPr>
        <p:spPr>
          <a:xfrm xmlns:a="http://schemas.openxmlformats.org/drawingml/2006/main">
            <a:off x="7715250" y="4629150"/>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17186"/>
                </a:solidFill>
                <a:latin typeface="Microsoft YaHei"/>
                <a:ea typeface="Microsoft YaHei"/>
                <a:cs typeface="Microsoft YaHei"/>
              </a:defRPr>
            </a:pPr>
            <a:r>
              <a:rPr sz="1650" b="0">
                <a:solidFill>
                  <a:srgbClr val="617186"/>
                </a:solidFill>
                <a:latin typeface="Microsoft YaHei"/>
                <a:ea typeface="Microsoft YaHei"/>
                <a:cs typeface="Microsoft YaHei"/>
              </a:rPr>
              <a:t>国家持续监督</a:t>
            </a:r>
          </a:p>
        </p:txBody>
      </p:sp>
      <p:sp>
        <p:nvSpPr>
          <p:cNvPr id="20" name="text-准入条件、检查、执法与跨境协调">
            <a:extLst xmlns:a="http://schemas.openxmlformats.org/drawingml/2006/main">
              <a:ext uri="{FF2B5EF4-FFF2-40B4-BE49-F238E27FC236}">
                <a16:creationId xmlns:a16="http://schemas.microsoft.com/office/drawing/2014/main" id="{5A06C7C2-7D9D-498B-930E-0D8EE187C9B1}"/>
              </a:ext>
            </a:extLst>
          </p:cNvPr>
          <p:cNvSpPr>
            <a:spLocks xmlns:a="http://schemas.openxmlformats.org/drawingml/2006/main" noGrp="1"/>
          </p:cNvSpPr>
          <p:nvPr/>
        </p:nvSpPr>
        <p:spPr>
          <a:xfrm xmlns:a="http://schemas.openxmlformats.org/drawingml/2006/main">
            <a:off x="7715250" y="5038725"/>
            <a:ext cx="366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3F"/>
                </a:solidFill>
                <a:latin typeface="Microsoft YaHei"/>
                <a:ea typeface="Microsoft YaHei"/>
                <a:cs typeface="Microsoft YaHei"/>
              </a:defRPr>
            </a:pPr>
            <a:r>
              <a:rPr sz="1800" b="0">
                <a:solidFill>
                  <a:srgbClr val="14283F"/>
                </a:solidFill>
                <a:latin typeface="Microsoft YaHei"/>
                <a:ea typeface="Microsoft YaHei"/>
                <a:cs typeface="Microsoft YaHei"/>
              </a:rPr>
              <a:t>准入条件、检查、执法与跨境协调</a:t>
            </a:r>
          </a:p>
        </p:txBody>
      </p:sp>
      <p:cxnSp>
        <p:nvCxnSpPr>
          <p:cNvPr id="94" name=""/>
          <p:cNvCxnSpPr>
            <a:stCxn xmlns:a="http://schemas.openxmlformats.org/drawingml/2006/main" id="18" idx="1"/>
            <a:endCxn xmlns:a="http://schemas.openxmlformats.org/drawingml/2006/main" id="5" idx="3"/>
          </p:cNvCxnSpPr>
          <p:nvPr/>
        </p:nvCxnSpPr>
        <p:spPr>
          <a:xfrm xmlns:a="http://schemas.openxmlformats.org/drawingml/2006/main" flipH="1" flipV="1">
            <a:off x="7381875" y="3495675"/>
            <a:ext cx="333375" cy="762000"/>
          </a:xfrm>
          <a:prstGeom xmlns:a="http://schemas.openxmlformats.org/drawingml/2006/main" prst="bentConnector3">
            <a:avLst>
              <a:gd name="adj1" fmla="val 50000"/>
            </a:avLst>
          </a:prstGeom>
          <a:ln xmlns:a="http://schemas.openxmlformats.org/drawingml/2006/main" w="19050">
            <a:solidFill>
              <a:srgbClr val="617186"/>
            </a:solidFill>
            <a:tailEnd type="arrow" w="med" len="med"/>
          </a:ln>
        </p:spPr>
      </p:cxnSp>
    </p:spTree>
    <p:extLst>
      <p:ext uri="{BB962C8B-B14F-4D97-AF65-F5344CB8AC3E}">
        <p14:creationId xmlns:p14="http://schemas.microsoft.com/office/powerpoint/2010/main" val="3868327217"/>
      </p:ext>
    </p:extLst>
  </p:cSld>
</p:sld>
</file>

<file path=ppt/slides/slide19.xml><?xml version="1.0" encoding="utf-8"?>
<p:sld xmlns:p="http://schemas.openxmlformats.org/presentationml/2006/main" showMasterSp="0">
  <p:cSld>
    <p:spTree>
      <p:nvGrpSpPr>
        <p:cNvPr id="1" name=""/>
        <p:cNvGrpSpPr/>
        <p:nvPr/>
      </p:nvGrpSpPr>
      <p:grpSpPr>
        <a:xfrm xmlns:a="http://schemas.openxmlformats.org/drawingml/2006/main"/>
      </p:grpSpPr>
      <p:sp>
        <p:nvSpPr>
          <p:cNvPr id="14"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6" name="text-SpaceX治理：利益冲突如何约">
            <a:extLst xmlns:a="http://schemas.openxmlformats.org/drawingml/2006/main">
              <a:ext uri="{FF2B5EF4-FFF2-40B4-BE49-F238E27FC236}">
                <a16:creationId xmlns:a16="http://schemas.microsoft.com/office/drawing/2014/main" id="{695090F5-E10E-444B-83EE-730CB0FAA360}"/>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SpaceX治理：利益冲突如何约束</a:t>
            </a:r>
          </a:p>
        </p:txBody>
      </p:sp>
      <p:sp>
        <p:nvSpPr>
          <p:cNvPr id="2" name="text-核心追问：轨道的可接受风险与承载">
            <a:extLst xmlns:a="http://schemas.openxmlformats.org/drawingml/2006/main">
              <a:ext uri="{FF2B5EF4-FFF2-40B4-BE49-F238E27FC236}">
                <a16:creationId xmlns:a16="http://schemas.microsoft.com/office/drawing/2014/main" id="{92BA94F9-54F6-4DBC-9954-A66668FDEC70}"/>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核心追问：轨道的可接受风险与承载上限，应由谁参与决定？</a:t>
            </a:r>
          </a:p>
        </p:txBody>
      </p:sp>
      <p:sp>
        <p:nvSpPr>
          <p:cNvPr id="3" name="text-企业责任与治理缺陷  /  治理">
            <a:extLst xmlns:a="http://schemas.openxmlformats.org/drawingml/2006/main">
              <a:ext uri="{FF2B5EF4-FFF2-40B4-BE49-F238E27FC236}">
                <a16:creationId xmlns:a16="http://schemas.microsoft.com/office/drawing/2014/main" id="{5C622E48-BE01-4E6C-8B9F-7B5F24250207}"/>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企业责任与治理缺陷  /  治理专家</a:t>
            </a:r>
          </a:p>
        </p:txBody>
      </p:sp>
      <p:sp>
        <p:nvSpPr>
          <p:cNvPr id="4" name="text-17">
            <a:extLst xmlns:a="http://schemas.openxmlformats.org/drawingml/2006/main">
              <a:ext uri="{FF2B5EF4-FFF2-40B4-BE49-F238E27FC236}">
                <a16:creationId xmlns:a16="http://schemas.microsoft.com/office/drawing/2014/main" id="{344AEB7D-EBB4-420F-B3F2-ADDEEC7BAE63}"/>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17</a:t>
            </a:r>
          </a:p>
        </p:txBody>
      </p:sp>
      <p:sp>
        <p:nvSpPr>
          <p:cNvPr id="5" name="text-运营者">
            <a:extLst xmlns:a="http://schemas.openxmlformats.org/drawingml/2006/main">
              <a:ext uri="{FF2B5EF4-FFF2-40B4-BE49-F238E27FC236}">
                <a16:creationId xmlns:a16="http://schemas.microsoft.com/office/drawing/2014/main" id="{6D148595-92B5-4D1A-9689-6F390C205CAA}"/>
              </a:ext>
            </a:extLst>
          </p:cNvPr>
          <p:cNvSpPr>
            <a:spLocks xmlns:a="http://schemas.openxmlformats.org/drawingml/2006/main" noGrp="1"/>
          </p:cNvSpPr>
          <p:nvPr/>
        </p:nvSpPr>
        <p:spPr>
          <a:xfrm xmlns:a="http://schemas.openxmlformats.org/drawingml/2006/main">
            <a:off x="762000" y="1857375"/>
            <a:ext cx="3619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73C79"/>
                </a:solidFill>
                <a:latin typeface="Microsoft YaHei"/>
                <a:ea typeface="Microsoft YaHei"/>
                <a:cs typeface="Microsoft YaHei"/>
              </a:defRPr>
            </a:pPr>
            <a:r>
              <a:rPr sz="3600" b="1">
                <a:solidFill>
                  <a:srgbClr val="073C79"/>
                </a:solidFill>
                <a:latin typeface="Microsoft YaHei"/>
                <a:ea typeface="Microsoft YaHei"/>
                <a:cs typeface="Microsoft YaHei"/>
              </a:rPr>
              <a:t>运营者</a:t>
            </a:r>
          </a:p>
        </p:txBody>
      </p:sp>
      <p:sp>
        <p:nvSpPr>
          <p:cNvPr id="6" name="text-+">
            <a:extLst xmlns:a="http://schemas.openxmlformats.org/drawingml/2006/main">
              <a:ext uri="{FF2B5EF4-FFF2-40B4-BE49-F238E27FC236}">
                <a16:creationId xmlns:a16="http://schemas.microsoft.com/office/drawing/2014/main" id="{09E968B8-B888-4FDA-8C06-8A7813609253}"/>
              </a:ext>
            </a:extLst>
          </p:cNvPr>
          <p:cNvSpPr>
            <a:spLocks xmlns:a="http://schemas.openxmlformats.org/drawingml/2006/main" noGrp="1"/>
          </p:cNvSpPr>
          <p:nvPr/>
        </p:nvSpPr>
        <p:spPr>
          <a:xfrm xmlns:a="http://schemas.openxmlformats.org/drawingml/2006/main">
            <a:off x="2314575" y="2667000"/>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617186"/>
                </a:solidFill>
                <a:latin typeface="Microsoft YaHei"/>
                <a:ea typeface="Microsoft YaHei"/>
                <a:cs typeface="Microsoft YaHei"/>
              </a:defRPr>
            </a:pPr>
            <a:r>
              <a:rPr sz="4125" b="1">
                <a:solidFill>
                  <a:srgbClr val="617186"/>
                </a:solidFill>
                <a:latin typeface="Microsoft YaHei"/>
                <a:ea typeface="Microsoft YaHei"/>
                <a:cs typeface="Microsoft YaHei"/>
              </a:rPr>
              <a:t>+</a:t>
            </a:r>
          </a:p>
        </p:txBody>
      </p:sp>
      <p:sp>
        <p:nvSpPr>
          <p:cNvPr id="7" name="text-安全平台提供者">
            <a:extLst xmlns:a="http://schemas.openxmlformats.org/drawingml/2006/main">
              <a:ext uri="{FF2B5EF4-FFF2-40B4-BE49-F238E27FC236}">
                <a16:creationId xmlns:a16="http://schemas.microsoft.com/office/drawing/2014/main" id="{89B0B3F9-3ED0-4AD4-A6E0-2A08235867DA}"/>
              </a:ext>
            </a:extLst>
          </p:cNvPr>
          <p:cNvSpPr>
            <a:spLocks xmlns:a="http://schemas.openxmlformats.org/drawingml/2006/main" noGrp="1"/>
          </p:cNvSpPr>
          <p:nvPr/>
        </p:nvSpPr>
        <p:spPr>
          <a:xfrm xmlns:a="http://schemas.openxmlformats.org/drawingml/2006/main">
            <a:off x="762000" y="3552825"/>
            <a:ext cx="3905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5C5BFA"/>
                </a:solidFill>
                <a:latin typeface="Microsoft YaHei"/>
                <a:ea typeface="Microsoft YaHei"/>
                <a:cs typeface="Microsoft YaHei"/>
              </a:defRPr>
            </a:pPr>
            <a:r>
              <a:rPr sz="3150" b="1">
                <a:solidFill>
                  <a:srgbClr val="5C5BFA"/>
                </a:solidFill>
                <a:latin typeface="Microsoft YaHei"/>
                <a:ea typeface="Microsoft YaHei"/>
                <a:cs typeface="Microsoft YaHei"/>
              </a:rPr>
              <a:t>安全平台提供者</a:t>
            </a:r>
          </a:p>
        </p:txBody>
      </p:sp>
      <p:sp>
        <p:nvSpPr>
          <p:cNvPr id="8" name="text-角色叠加">
            <a:extLst xmlns:a="http://schemas.openxmlformats.org/drawingml/2006/main">
              <a:ext uri="{FF2B5EF4-FFF2-40B4-BE49-F238E27FC236}">
                <a16:creationId xmlns:a16="http://schemas.microsoft.com/office/drawing/2014/main" id="{F3353E88-B2FC-450D-8D63-9ABA6047EB44}"/>
              </a:ext>
            </a:extLst>
          </p:cNvPr>
          <p:cNvSpPr>
            <a:spLocks xmlns:a="http://schemas.openxmlformats.org/drawingml/2006/main" noGrp="1"/>
          </p:cNvSpPr>
          <p:nvPr/>
        </p:nvSpPr>
        <p:spPr>
          <a:xfrm xmlns:a="http://schemas.openxmlformats.org/drawingml/2006/main">
            <a:off x="5276850" y="1619250"/>
            <a:ext cx="6115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角色叠加</a:t>
            </a:r>
          </a:p>
        </p:txBody>
      </p:sp>
      <p:sp>
        <p:nvSpPr>
          <p:cNvPr id="9" name="text-大型星座运营者也是安全数据与筛查">
            <a:extLst xmlns:a="http://schemas.openxmlformats.org/drawingml/2006/main">
              <a:ext uri="{FF2B5EF4-FFF2-40B4-BE49-F238E27FC236}">
                <a16:creationId xmlns:a16="http://schemas.microsoft.com/office/drawing/2014/main" id="{39552FEA-2D98-433A-A7D8-25EF5279827C}"/>
              </a:ext>
            </a:extLst>
          </p:cNvPr>
          <p:cNvSpPr>
            <a:spLocks xmlns:a="http://schemas.openxmlformats.org/drawingml/2006/main" noGrp="1"/>
          </p:cNvSpPr>
          <p:nvPr/>
        </p:nvSpPr>
        <p:spPr>
          <a:xfrm xmlns:a="http://schemas.openxmlformats.org/drawingml/2006/main">
            <a:off x="5276850" y="2076450"/>
            <a:ext cx="6115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大型星座运营者也是安全数据与筛查服务提供者。</a:t>
            </a:r>
          </a:p>
        </p:txBody>
      </p:sp>
      <p:sp>
        <p:nvSpPr>
          <p:cNvPr id="10" name="text-争议焦点">
            <a:extLst xmlns:a="http://schemas.openxmlformats.org/drawingml/2006/main">
              <a:ext uri="{FF2B5EF4-FFF2-40B4-BE49-F238E27FC236}">
                <a16:creationId xmlns:a16="http://schemas.microsoft.com/office/drawing/2014/main" id="{355B363E-D6C2-4E87-B032-A6D534C356F7}"/>
              </a:ext>
            </a:extLst>
          </p:cNvPr>
          <p:cNvSpPr>
            <a:spLocks xmlns:a="http://schemas.openxmlformats.org/drawingml/2006/main" noGrp="1"/>
          </p:cNvSpPr>
          <p:nvPr/>
        </p:nvSpPr>
        <p:spPr>
          <a:xfrm xmlns:a="http://schemas.openxmlformats.org/drawingml/2006/main">
            <a:off x="5276850" y="2876550"/>
            <a:ext cx="6115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争议焦点</a:t>
            </a:r>
          </a:p>
        </p:txBody>
      </p:sp>
      <p:sp>
        <p:nvSpPr>
          <p:cNvPr id="11" name="text-平台规则可能影响竞争者的数据成本">
            <a:extLst xmlns:a="http://schemas.openxmlformats.org/drawingml/2006/main">
              <a:ext uri="{FF2B5EF4-FFF2-40B4-BE49-F238E27FC236}">
                <a16:creationId xmlns:a16="http://schemas.microsoft.com/office/drawing/2014/main" id="{2FF696A2-9ECD-4883-864B-8EDFBEE5ACC2}"/>
              </a:ext>
            </a:extLst>
          </p:cNvPr>
          <p:cNvSpPr>
            <a:spLocks xmlns:a="http://schemas.openxmlformats.org/drawingml/2006/main" noGrp="1"/>
          </p:cNvSpPr>
          <p:nvPr/>
        </p:nvSpPr>
        <p:spPr>
          <a:xfrm xmlns:a="http://schemas.openxmlformats.org/drawingml/2006/main">
            <a:off x="5276850" y="3333750"/>
            <a:ext cx="6115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平台规则可能影响竞争者的数据成本、协调时限与退出选择。</a:t>
            </a:r>
          </a:p>
        </p:txBody>
      </p:sp>
      <p:sp>
        <p:nvSpPr>
          <p:cNvPr id="12" name="text-约束路径">
            <a:extLst xmlns:a="http://schemas.openxmlformats.org/drawingml/2006/main">
              <a:ext uri="{FF2B5EF4-FFF2-40B4-BE49-F238E27FC236}">
                <a16:creationId xmlns:a16="http://schemas.microsoft.com/office/drawing/2014/main" id="{647CFDBE-A59A-45E5-9D42-87A3348ED9FA}"/>
              </a:ext>
            </a:extLst>
          </p:cNvPr>
          <p:cNvSpPr>
            <a:spLocks xmlns:a="http://schemas.openxmlformats.org/drawingml/2006/main" noGrp="1"/>
          </p:cNvSpPr>
          <p:nvPr/>
        </p:nvSpPr>
        <p:spPr>
          <a:xfrm xmlns:a="http://schemas.openxmlformats.org/drawingml/2006/main">
            <a:off x="5276850" y="4133850"/>
            <a:ext cx="6115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约束路径</a:t>
            </a:r>
          </a:p>
        </p:txBody>
      </p:sp>
      <p:sp>
        <p:nvSpPr>
          <p:cNvPr id="13" name="text-对等访问、目的限制、第三方审计、">
            <a:extLst xmlns:a="http://schemas.openxmlformats.org/drawingml/2006/main">
              <a:ext uri="{FF2B5EF4-FFF2-40B4-BE49-F238E27FC236}">
                <a16:creationId xmlns:a16="http://schemas.microsoft.com/office/drawing/2014/main" id="{FE30C1F6-E565-428F-B2B4-94FC8897D17A}"/>
              </a:ext>
            </a:extLst>
          </p:cNvPr>
          <p:cNvSpPr>
            <a:spLocks xmlns:a="http://schemas.openxmlformats.org/drawingml/2006/main" noGrp="1"/>
          </p:cNvSpPr>
          <p:nvPr/>
        </p:nvSpPr>
        <p:spPr>
          <a:xfrm xmlns:a="http://schemas.openxmlformats.org/drawingml/2006/main">
            <a:off x="5276850" y="4591050"/>
            <a:ext cx="6115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对等访问、目的限制、第三方审计、接口可迁移及公共备份。</a:t>
            </a:r>
          </a:p>
        </p:txBody>
      </p:sp>
    </p:spTree>
    <p:extLst>
      <p:ext uri="{BB962C8B-B14F-4D97-AF65-F5344CB8AC3E}">
        <p14:creationId xmlns:p14="http://schemas.microsoft.com/office/powerpoint/2010/main" val="3868327217"/>
      </p:ext>
    </p:extLst>
  </p:cSld>
</p:sld>
</file>

<file path=ppt/slides/slide20.xml><?xml version="1.0" encoding="utf-8"?>
<p:sld xmlns:p="http://schemas.openxmlformats.org/presentationml/2006/main" showMasterSp="0">
  <p:cSld>
    <p:spTree>
      <p:nvGrpSpPr>
        <p:cNvPr id="1" name=""/>
        <p:cNvGrpSpPr/>
        <p:nvPr/>
      </p:nvGrpSpPr>
      <p:grpSpPr>
        <a:xfrm xmlns:a="http://schemas.openxmlformats.org/drawingml/2006/main"/>
      </p:grpSpPr>
      <p:sp>
        <p:nvSpPr>
          <p:cNvPr id="6"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8"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9"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0"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1"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2"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3"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4"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5"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58" name="text-平台治理责任：微软类比">
            <a:extLst xmlns:a="http://schemas.openxmlformats.org/drawingml/2006/main">
              <a:ext uri="{FF2B5EF4-FFF2-40B4-BE49-F238E27FC236}">
                <a16:creationId xmlns:a16="http://schemas.microsoft.com/office/drawing/2014/main" id="{A76B1DFB-7809-4227-9A9C-5808745F3C0D}"/>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平台治理责任：微软类比</a:t>
            </a:r>
          </a:p>
        </p:txBody>
      </p:sp>
      <p:sp>
        <p:nvSpPr>
          <p:cNvPr id="2" name="text-类比启示：高控制权限需要故障隔离">
            <a:extLst xmlns:a="http://schemas.openxmlformats.org/drawingml/2006/main">
              <a:ext uri="{FF2B5EF4-FFF2-40B4-BE49-F238E27FC236}">
                <a16:creationId xmlns:a16="http://schemas.microsoft.com/office/drawing/2014/main" id="{746C3CD2-6D42-43AF-AF07-27137991AFF4}"/>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类比启示：高控制权限需要故障隔离、渐进发布和恢复能力。</a:t>
            </a:r>
          </a:p>
        </p:txBody>
      </p:sp>
      <p:sp>
        <p:nvSpPr>
          <p:cNvPr id="3" name="text-企业责任与治理缺陷  /  治理">
            <a:extLst xmlns:a="http://schemas.openxmlformats.org/drawingml/2006/main">
              <a:ext uri="{FF2B5EF4-FFF2-40B4-BE49-F238E27FC236}">
                <a16:creationId xmlns:a16="http://schemas.microsoft.com/office/drawing/2014/main" id="{E62F91A5-3676-4C3D-A4AB-0B1021EA9745}"/>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企业责任与治理缺陷  /  治理专家</a:t>
            </a:r>
          </a:p>
        </p:txBody>
      </p:sp>
      <p:sp>
        <p:nvSpPr>
          <p:cNvPr id="4" name="text-18">
            <a:extLst xmlns:a="http://schemas.openxmlformats.org/drawingml/2006/main">
              <a:ext uri="{FF2B5EF4-FFF2-40B4-BE49-F238E27FC236}">
                <a16:creationId xmlns:a16="http://schemas.microsoft.com/office/drawing/2014/main" id="{7E804164-A1FF-4C79-ABEB-EDDE97931D55}"/>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18</a:t>
            </a:r>
          </a:p>
        </p:txBody>
      </p:sp>
      <p:graphicFrame>
        <p:nvGraphicFramePr>
          <p:cNvPr id="62" name=""/>
          <p:cNvGraphicFramePr/>
          <p:nvPr/>
        </p:nvGraphicFramePr>
        <p:xfrm>
          <a:off xmlns:a="http://schemas.openxmlformats.org/drawingml/2006/main" x="762000" y="1762125"/>
          <a:ext xmlns:a="http://schemas.openxmlformats.org/drawingml/2006/main" cx="10668000" cy="3343275"/>
        </p:xfrm>
        <a:graphic xmlns:a="http://schemas.openxmlformats.org/drawingml/2006/main">
          <a:graphicData uri="http://schemas.openxmlformats.org/drawingml/2006/table">
            <a:tbl>
              <a:tblPr/>
              <a:tblGrid>
                <a:gridCol w="2000250"/>
                <a:gridCol w="4286250"/>
                <a:gridCol w="4381500"/>
              </a:tblGrid>
              <a:tr h="668655">
                <a:tc>
                  <a:txBody>
                    <a:bodyPr lIns="142875" tIns="133350" rIns="142875" bIns="95250"/>
                    <a:lstStyle/>
                    <a:p>
                      <a:r>
                        <a:rPr sz="1800" b="1">
                          <a:solidFill>
                            <a:srgbClr val="FFFFFF"/>
                          </a:solidFill>
                          <a:latin typeface="Microsoft YaHei"/>
                          <a:ea typeface="Microsoft YaHei"/>
                          <a:cs typeface="Microsoft YaHei"/>
                        </a:rPr>
                        <a:t>比较维度</a:t>
                      </a:r>
                    </a:p>
                  </a:txBody>
                  <a:tcPr marL="91440" marR="91440" marT="45720" marB="45720" anchor="ctr">
                    <a:solidFill>
                      <a:srgbClr val="073C79"/>
                    </a:solidFill>
                  </a:tcPr>
                </a:tc>
                <a:tc>
                  <a:txBody>
                    <a:bodyPr lIns="142875" tIns="133350" rIns="142875" bIns="95250"/>
                    <a:lstStyle/>
                    <a:p>
                      <a:r>
                        <a:rPr sz="1800" b="1">
                          <a:solidFill>
                            <a:srgbClr val="FFFFFF"/>
                          </a:solidFill>
                          <a:latin typeface="Microsoft YaHei"/>
                          <a:ea typeface="Microsoft YaHei"/>
                          <a:cs typeface="Microsoft YaHei"/>
                        </a:rPr>
                        <a:t>CrowdStrike / Windows</a:t>
                      </a:r>
                    </a:p>
                  </a:txBody>
                  <a:tcPr marL="91440" marR="91440" marT="45720" marB="45720" anchor="ctr">
                    <a:solidFill>
                      <a:srgbClr val="073C79"/>
                    </a:solidFill>
                  </a:tcPr>
                </a:tc>
                <a:tc>
                  <a:txBody>
                    <a:bodyPr lIns="142875" tIns="133350" rIns="142875" bIns="95250"/>
                    <a:lstStyle/>
                    <a:p>
                      <a:r>
                        <a:rPr sz="1800" b="1">
                          <a:solidFill>
                            <a:srgbClr val="FFFFFF"/>
                          </a:solidFill>
                          <a:latin typeface="Microsoft YaHei"/>
                          <a:ea typeface="Microsoft YaHei"/>
                          <a:cs typeface="Microsoft YaHei"/>
                        </a:rPr>
                        <a:t>轨道安全治理启示</a:t>
                      </a:r>
                    </a:p>
                  </a:txBody>
                  <a:tcPr marL="91440" marR="91440" marT="45720" marB="45720" anchor="ctr">
                    <a:solidFill>
                      <a:srgbClr val="073C79"/>
                    </a:solidFill>
                  </a:tcPr>
                </a:tc>
              </a:tr>
              <a:tr h="668655">
                <a:tc>
                  <a:txBody>
                    <a:bodyPr lIns="142875" tIns="133350" rIns="142875" bIns="95250"/>
                    <a:lstStyle/>
                    <a:p>
                      <a:r>
                        <a:rPr sz="1725" b="0">
                          <a:solidFill>
                            <a:srgbClr val="14283F"/>
                          </a:solidFill>
                          <a:latin typeface="Microsoft YaHei"/>
                          <a:ea typeface="Microsoft YaHei"/>
                          <a:cs typeface="Microsoft YaHei"/>
                        </a:rPr>
                        <a:t>高控制权限</a:t>
                      </a:r>
                    </a:p>
                  </a:txBody>
                  <a:tcPr marL="91440" marR="91440" marT="45720" marB="45720" anchor="ctr">
                    <a:solidFill>
                      <a:srgbClr val="F1F4F8"/>
                    </a:solidFill>
                  </a:tcPr>
                </a:tc>
                <a:tc>
                  <a:txBody>
                    <a:bodyPr lIns="142875" tIns="133350" rIns="142875" bIns="95250"/>
                    <a:lstStyle/>
                    <a:p>
                      <a:r>
                        <a:rPr sz="1725" b="0">
                          <a:solidFill>
                            <a:srgbClr val="14283F"/>
                          </a:solidFill>
                          <a:latin typeface="Microsoft YaHei"/>
                          <a:ea typeface="Microsoft YaHei"/>
                          <a:cs typeface="Microsoft YaHei"/>
                        </a:rPr>
                        <a:t>第三方组件运行在系统关键层</a:t>
                      </a:r>
                    </a:p>
                  </a:txBody>
                  <a:tcPr marL="91440" marR="91440" marT="45720" marB="45720" anchor="ctr">
                    <a:solidFill>
                      <a:srgbClr val="F1F4F8"/>
                    </a:solidFill>
                  </a:tcPr>
                </a:tc>
                <a:tc>
                  <a:txBody>
                    <a:bodyPr lIns="142875" tIns="133350" rIns="142875" bIns="95250"/>
                    <a:lstStyle/>
                    <a:p>
                      <a:r>
                        <a:rPr sz="1725" b="0">
                          <a:solidFill>
                            <a:srgbClr val="14283F"/>
                          </a:solidFill>
                          <a:latin typeface="Microsoft YaHei"/>
                          <a:ea typeface="Microsoft YaHei"/>
                          <a:cs typeface="Microsoft YaHei"/>
                        </a:rPr>
                        <a:t>自主机动可改变实际轨迹</a:t>
                      </a:r>
                    </a:p>
                  </a:txBody>
                  <a:tcPr marL="91440" marR="91440" marT="45720" marB="45720" anchor="ctr">
                    <a:solidFill>
                      <a:srgbClr val="F1F4F8"/>
                    </a:solidFill>
                  </a:tcPr>
                </a:tc>
              </a:tr>
              <a:tr h="668655">
                <a:tc>
                  <a:txBody>
                    <a:bodyPr lIns="142875" tIns="133350" rIns="142875" bIns="95250"/>
                    <a:lstStyle/>
                    <a:p>
                      <a:r>
                        <a:rPr sz="1725" b="0">
                          <a:solidFill>
                            <a:srgbClr val="14283F"/>
                          </a:solidFill>
                          <a:latin typeface="Microsoft YaHei"/>
                          <a:ea typeface="Microsoft YaHei"/>
                          <a:cs typeface="Microsoft YaHei"/>
                        </a:rPr>
                        <a:t>失效扩散</a:t>
                      </a:r>
                    </a:p>
                  </a:txBody>
                  <a:tcPr marL="91440" marR="91440" marT="45720" marB="45720" anchor="ctr">
                    <a:solidFill>
                      <a:srgbClr val="FFFFFF"/>
                    </a:solidFill>
                  </a:tcPr>
                </a:tc>
                <a:tc>
                  <a:txBody>
                    <a:bodyPr lIns="142875" tIns="133350" rIns="142875" bIns="95250"/>
                    <a:lstStyle/>
                    <a:p>
                      <a:r>
                        <a:rPr sz="1725" b="0">
                          <a:solidFill>
                            <a:srgbClr val="14283F"/>
                          </a:solidFill>
                          <a:latin typeface="Microsoft YaHei"/>
                          <a:ea typeface="Microsoft YaHei"/>
                          <a:cs typeface="Microsoft YaHei"/>
                        </a:rPr>
                        <a:t>同一内容更新影响大量设备</a:t>
                      </a:r>
                    </a:p>
                  </a:txBody>
                  <a:tcPr marL="91440" marR="91440" marT="45720" marB="45720" anchor="ctr">
                    <a:solidFill>
                      <a:srgbClr val="FFFFFF"/>
                    </a:solidFill>
                  </a:tcPr>
                </a:tc>
                <a:tc>
                  <a:txBody>
                    <a:bodyPr lIns="142875" tIns="133350" rIns="142875" bIns="95250"/>
                    <a:lstStyle/>
                    <a:p>
                      <a:r>
                        <a:rPr sz="1725" b="0">
                          <a:solidFill>
                            <a:srgbClr val="14283F"/>
                          </a:solidFill>
                          <a:latin typeface="Microsoft YaHei"/>
                          <a:ea typeface="Microsoft YaHei"/>
                          <a:cs typeface="Microsoft YaHei"/>
                        </a:rPr>
                        <a:t>共同算法与数据问题需隔离</a:t>
                      </a:r>
                    </a:p>
                  </a:txBody>
                  <a:tcPr marL="91440" marR="91440" marT="45720" marB="45720" anchor="ctr">
                    <a:solidFill>
                      <a:srgbClr val="FFFFFF"/>
                    </a:solidFill>
                  </a:tcPr>
                </a:tc>
              </a:tr>
              <a:tr h="668655">
                <a:tc>
                  <a:txBody>
                    <a:bodyPr lIns="142875" tIns="133350" rIns="142875" bIns="95250"/>
                    <a:lstStyle/>
                    <a:p>
                      <a:r>
                        <a:rPr sz="1725" b="0">
                          <a:solidFill>
                            <a:srgbClr val="14283F"/>
                          </a:solidFill>
                          <a:latin typeface="Microsoft YaHei"/>
                          <a:ea typeface="Microsoft YaHei"/>
                          <a:cs typeface="Microsoft YaHei"/>
                        </a:rPr>
                        <a:t>改进措施</a:t>
                      </a:r>
                    </a:p>
                  </a:txBody>
                  <a:tcPr marL="91440" marR="91440" marT="45720" marB="45720" anchor="ctr">
                    <a:solidFill>
                      <a:srgbClr val="F1F4F8"/>
                    </a:solidFill>
                  </a:tcPr>
                </a:tc>
                <a:tc>
                  <a:txBody>
                    <a:bodyPr lIns="142875" tIns="133350" rIns="142875" bIns="95250"/>
                    <a:lstStyle/>
                    <a:p>
                      <a:r>
                        <a:rPr sz="1725" b="0">
                          <a:solidFill>
                            <a:srgbClr val="14283F"/>
                          </a:solidFill>
                          <a:latin typeface="Microsoft YaHei"/>
                          <a:ea typeface="Microsoft YaHei"/>
                          <a:cs typeface="Microsoft YaHei"/>
                        </a:rPr>
                        <a:t>输入校验、灰度发布、启动恢复</a:t>
                      </a:r>
                    </a:p>
                  </a:txBody>
                  <a:tcPr marL="91440" marR="91440" marT="45720" marB="45720" anchor="ctr">
                    <a:solidFill>
                      <a:srgbClr val="F1F4F8"/>
                    </a:solidFill>
                  </a:tcPr>
                </a:tc>
                <a:tc>
                  <a:txBody>
                    <a:bodyPr lIns="142875" tIns="133350" rIns="142875" bIns="95250"/>
                    <a:lstStyle/>
                    <a:p>
                      <a:r>
                        <a:rPr sz="1725" b="0">
                          <a:solidFill>
                            <a:srgbClr val="14283F"/>
                          </a:solidFill>
                          <a:latin typeface="Microsoft YaHei"/>
                          <a:ea typeface="Microsoft YaHei"/>
                          <a:cs typeface="Microsoft YaHei"/>
                        </a:rPr>
                        <a:t>仿真回放、分批变更、安全模式</a:t>
                      </a:r>
                    </a:p>
                  </a:txBody>
                  <a:tcPr marL="91440" marR="91440" marT="45720" marB="45720" anchor="ctr">
                    <a:solidFill>
                      <a:srgbClr val="F1F4F8"/>
                    </a:solidFill>
                  </a:tcPr>
                </a:tc>
              </a:tr>
              <a:tr h="668655">
                <a:tc>
                  <a:txBody>
                    <a:bodyPr lIns="142875" tIns="133350" rIns="142875" bIns="95250"/>
                    <a:lstStyle/>
                    <a:p>
                      <a:r>
                        <a:rPr sz="1725" b="0">
                          <a:solidFill>
                            <a:srgbClr val="14283F"/>
                          </a:solidFill>
                          <a:latin typeface="Microsoft YaHei"/>
                          <a:ea typeface="Microsoft YaHei"/>
                          <a:cs typeface="Microsoft YaHei"/>
                        </a:rPr>
                        <a:t>责任边界</a:t>
                      </a:r>
                    </a:p>
                  </a:txBody>
                  <a:tcPr marL="91440" marR="91440" marT="45720" marB="45720" anchor="ctr">
                    <a:solidFill>
                      <a:srgbClr val="FFFFFF"/>
                    </a:solidFill>
                  </a:tcPr>
                </a:tc>
                <a:tc>
                  <a:txBody>
                    <a:bodyPr lIns="142875" tIns="133350" rIns="142875" bIns="95250"/>
                    <a:lstStyle/>
                    <a:p>
                      <a:r>
                        <a:rPr sz="1725" b="0">
                          <a:solidFill>
                            <a:srgbClr val="14283F"/>
                          </a:solidFill>
                          <a:latin typeface="Microsoft YaHei"/>
                          <a:ea typeface="Microsoft YaHei"/>
                          <a:cs typeface="Microsoft YaHei"/>
                        </a:rPr>
                        <a:t>厂商质量责任与平台韧性责任</a:t>
                      </a:r>
                    </a:p>
                  </a:txBody>
                  <a:tcPr marL="91440" marR="91440" marT="45720" marB="45720" anchor="ctr">
                    <a:solidFill>
                      <a:srgbClr val="FFFFFF"/>
                    </a:solidFill>
                  </a:tcPr>
                </a:tc>
                <a:tc>
                  <a:txBody>
                    <a:bodyPr lIns="142875" tIns="133350" rIns="142875" bIns="95250"/>
                    <a:lstStyle/>
                    <a:p>
                      <a:r>
                        <a:rPr sz="1725" b="0">
                          <a:solidFill>
                            <a:srgbClr val="14283F"/>
                          </a:solidFill>
                          <a:latin typeface="Microsoft YaHei"/>
                          <a:ea typeface="Microsoft YaHei"/>
                          <a:cs typeface="Microsoft YaHei"/>
                        </a:rPr>
                        <a:t>运营、发射、客户与监管协同</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868327217"/>
      </p:ext>
    </p:extLst>
  </p:cSld>
</p:sld>
</file>

<file path=ppt/slides/slide21.xml><?xml version="1.0" encoding="utf-8"?>
<p:sld xmlns:p="http://schemas.openxmlformats.org/presentationml/2006/main" showMasterSp="0">
  <p:cSld>
    <p:spTree>
      <p:nvGrpSpPr>
        <p:cNvPr id="1" name=""/>
        <p:cNvGrpSpPr/>
        <p:nvPr/>
      </p:nvGrpSpPr>
      <p:grpSpPr>
        <a:xfrm xmlns:a="http://schemas.openxmlformats.org/drawingml/2006/main"/>
      </p:grpSpPr>
      <p:sp>
        <p:nvSpPr>
          <p:cNvPr id="12"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4"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5"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4" name="text-受影响主体：天文学家与科研机构">
            <a:extLst xmlns:a="http://schemas.openxmlformats.org/drawingml/2006/main">
              <a:ext uri="{FF2B5EF4-FFF2-40B4-BE49-F238E27FC236}">
                <a16:creationId xmlns:a16="http://schemas.microsoft.com/office/drawing/2014/main" id="{2D59B375-A37A-4698-BDF3-0790D7321BF0}"/>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受影响主体：天文学家与科研机构</a:t>
            </a:r>
          </a:p>
        </p:txBody>
      </p:sp>
      <p:sp>
        <p:nvSpPr>
          <p:cNvPr id="2" name="text-图为2019年5月25日发射初期">
            <a:extLst xmlns:a="http://schemas.openxmlformats.org/drawingml/2006/main">
              <a:ext uri="{FF2B5EF4-FFF2-40B4-BE49-F238E27FC236}">
                <a16:creationId xmlns:a16="http://schemas.microsoft.com/office/drawing/2014/main" id="{139AE53A-153D-45BC-AD10-FA08BD394E09}"/>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图为2019年5月25日发射初期卫星列车，不代表成熟星座每次曝光的典型密度。</a:t>
            </a:r>
          </a:p>
        </p:txBody>
      </p:sp>
      <p:sp>
        <p:nvSpPr>
          <p:cNvPr id="3" name="text-受影响方诉求与负外部性  /  ">
            <a:extLst xmlns:a="http://schemas.openxmlformats.org/drawingml/2006/main">
              <a:ext uri="{FF2B5EF4-FFF2-40B4-BE49-F238E27FC236}">
                <a16:creationId xmlns:a16="http://schemas.microsoft.com/office/drawing/2014/main" id="{A7F75013-0DB0-439D-AD01-FDB7E9B76825}"/>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受影响方诉求与负外部性  /  客户代表</a:t>
            </a:r>
          </a:p>
        </p:txBody>
      </p:sp>
      <p:sp>
        <p:nvSpPr>
          <p:cNvPr id="4" name="text-19">
            <a:extLst xmlns:a="http://schemas.openxmlformats.org/drawingml/2006/main">
              <a:ext uri="{FF2B5EF4-FFF2-40B4-BE49-F238E27FC236}">
                <a16:creationId xmlns:a16="http://schemas.microsoft.com/office/drawing/2014/main" id="{87A5BBCE-934E-43B7-85BE-41B219E9C34C}"/>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19</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b9936670491144f7"/>
          <a:stretch xmlns:a="http://schemas.openxmlformats.org/drawingml/2006/main"/>
        </p:blipFill>
        <p:spPr>
          <a:xfrm xmlns:a="http://schemas.openxmlformats.org/drawingml/2006/main">
            <a:off x="1095939" y="1571625"/>
            <a:ext cx="4808997" cy="3648075"/>
          </a:xfrm>
          <a:prstGeom xmlns:a="http://schemas.openxmlformats.org/drawingml/2006/main" prst="rect">
            <a:avLst/>
          </a:prstGeom>
        </p:spPr>
      </p:pic>
      <p:sp>
        <p:nvSpPr>
          <p:cNvPr id="6" name="text-损害">
            <a:extLst xmlns:a="http://schemas.openxmlformats.org/drawingml/2006/main">
              <a:ext uri="{FF2B5EF4-FFF2-40B4-BE49-F238E27FC236}">
                <a16:creationId xmlns:a16="http://schemas.microsoft.com/office/drawing/2014/main" id="{246B7FD6-44F2-4DA2-B29D-477921D306DD}"/>
              </a:ext>
            </a:extLst>
          </p:cNvPr>
          <p:cNvSpPr>
            <a:spLocks xmlns:a="http://schemas.openxmlformats.org/drawingml/2006/main" noGrp="1"/>
          </p:cNvSpPr>
          <p:nvPr/>
        </p:nvSpPr>
        <p:spPr>
          <a:xfrm xmlns:a="http://schemas.openxmlformats.org/drawingml/2006/main">
            <a:off x="6819900" y="1609725"/>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损害</a:t>
            </a:r>
          </a:p>
        </p:txBody>
      </p:sp>
      <p:sp>
        <p:nvSpPr>
          <p:cNvPr id="7" name="text-卫星拖线污染图像，亮卫星还可能引">
            <a:extLst xmlns:a="http://schemas.openxmlformats.org/drawingml/2006/main">
              <a:ext uri="{FF2B5EF4-FFF2-40B4-BE49-F238E27FC236}">
                <a16:creationId xmlns:a16="http://schemas.microsoft.com/office/drawing/2014/main" id="{F66910F1-4FCB-40E8-902C-428E733383F8}"/>
              </a:ext>
            </a:extLst>
          </p:cNvPr>
          <p:cNvSpPr>
            <a:spLocks xmlns:a="http://schemas.openxmlformats.org/drawingml/2006/main" noGrp="1"/>
          </p:cNvSpPr>
          <p:nvPr/>
        </p:nvSpPr>
        <p:spPr>
          <a:xfrm xmlns:a="http://schemas.openxmlformats.org/drawingml/2006/main">
            <a:off x="6819900" y="2066925"/>
            <a:ext cx="4610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卫星拖线污染图像，亮卫星还可能引发饱和与伪影。</a:t>
            </a:r>
          </a:p>
        </p:txBody>
      </p:sp>
      <p:sp>
        <p:nvSpPr>
          <p:cNvPr id="8" name="text-成本">
            <a:extLst xmlns:a="http://schemas.openxmlformats.org/drawingml/2006/main">
              <a:ext uri="{FF2B5EF4-FFF2-40B4-BE49-F238E27FC236}">
                <a16:creationId xmlns:a16="http://schemas.microsoft.com/office/drawing/2014/main" id="{4C51991D-B426-44C9-A405-B4986B159764}"/>
              </a:ext>
            </a:extLst>
          </p:cNvPr>
          <p:cNvSpPr>
            <a:spLocks xmlns:a="http://schemas.openxmlformats.org/drawingml/2006/main" noGrp="1"/>
          </p:cNvSpPr>
          <p:nvPr/>
        </p:nvSpPr>
        <p:spPr>
          <a:xfrm xmlns:a="http://schemas.openxmlformats.org/drawingml/2006/main">
            <a:off x="6819900" y="2847975"/>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成本</a:t>
            </a:r>
          </a:p>
        </p:txBody>
      </p:sp>
      <p:sp>
        <p:nvSpPr>
          <p:cNvPr id="9" name="text-增加观测排程、数据清洗与重复曝光">
            <a:extLst xmlns:a="http://schemas.openxmlformats.org/drawingml/2006/main">
              <a:ext uri="{FF2B5EF4-FFF2-40B4-BE49-F238E27FC236}">
                <a16:creationId xmlns:a16="http://schemas.microsoft.com/office/drawing/2014/main" id="{BCC47C9A-EA0E-44BD-A097-C0D6468285E5}"/>
              </a:ext>
            </a:extLst>
          </p:cNvPr>
          <p:cNvSpPr>
            <a:spLocks xmlns:a="http://schemas.openxmlformats.org/drawingml/2006/main" noGrp="1"/>
          </p:cNvSpPr>
          <p:nvPr/>
        </p:nvSpPr>
        <p:spPr>
          <a:xfrm xmlns:a="http://schemas.openxmlformats.org/drawingml/2006/main">
            <a:off x="6819900" y="3305175"/>
            <a:ext cx="4610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增加观测排程、数据清洗与重复曝光，部分瞬变事件无法补拍。</a:t>
            </a:r>
          </a:p>
        </p:txBody>
      </p:sp>
      <p:sp>
        <p:nvSpPr>
          <p:cNvPr id="10" name="text-诉求">
            <a:extLst xmlns:a="http://schemas.openxmlformats.org/drawingml/2006/main">
              <a:ext uri="{FF2B5EF4-FFF2-40B4-BE49-F238E27FC236}">
                <a16:creationId xmlns:a16="http://schemas.microsoft.com/office/drawing/2014/main" id="{55319793-C366-4E14-B37B-68FABC569B4E}"/>
              </a:ext>
            </a:extLst>
          </p:cNvPr>
          <p:cNvSpPr>
            <a:spLocks xmlns:a="http://schemas.openxmlformats.org/drawingml/2006/main" noGrp="1"/>
          </p:cNvSpPr>
          <p:nvPr/>
        </p:nvSpPr>
        <p:spPr>
          <a:xfrm xmlns:a="http://schemas.openxmlformats.org/drawingml/2006/main">
            <a:off x="6819900" y="4086225"/>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诉求</a:t>
            </a:r>
          </a:p>
        </p:txBody>
      </p:sp>
      <p:sp>
        <p:nvSpPr>
          <p:cNvPr id="11" name="text-将亮度控制、轨道协调与累积规模评">
            <a:extLst xmlns:a="http://schemas.openxmlformats.org/drawingml/2006/main">
              <a:ext uri="{FF2B5EF4-FFF2-40B4-BE49-F238E27FC236}">
                <a16:creationId xmlns:a16="http://schemas.microsoft.com/office/drawing/2014/main" id="{86D93D58-86FC-4144-A194-33193E0E0060}"/>
              </a:ext>
            </a:extLst>
          </p:cNvPr>
          <p:cNvSpPr>
            <a:spLocks xmlns:a="http://schemas.openxmlformats.org/drawingml/2006/main" noGrp="1"/>
          </p:cNvSpPr>
          <p:nvPr/>
        </p:nvSpPr>
        <p:spPr>
          <a:xfrm xmlns:a="http://schemas.openxmlformats.org/drawingml/2006/main">
            <a:off x="6819900" y="4543425"/>
            <a:ext cx="4610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将亮度控制、轨道协调与累积规模评估纳入许可和独立监测。</a:t>
            </a:r>
          </a:p>
        </p:txBody>
      </p:sp>
    </p:spTree>
    <p:extLst>
      <p:ext uri="{BB962C8B-B14F-4D97-AF65-F5344CB8AC3E}">
        <p14:creationId xmlns:p14="http://schemas.microsoft.com/office/powerpoint/2010/main" val="3868327217"/>
      </p:ext>
    </p:extLst>
  </p:cSld>
</p:sld>
</file>

<file path=ppt/slides/slide22.xml><?xml version="1.0" encoding="utf-8"?>
<p:sld xmlns:p="http://schemas.openxmlformats.org/presentationml/2006/main" showMasterSp="0">
  <p:cSld>
    <p:spTree>
      <p:nvGrpSpPr>
        <p:cNvPr id="1" name=""/>
        <p:cNvGrpSpPr/>
        <p:nvPr/>
      </p:nvGrpSpPr>
      <p:grpSpPr>
        <a:xfrm xmlns:a="http://schemas.openxmlformats.org/drawingml/2006/main"/>
      </p:grpSpPr>
      <p:sp>
        <p:nvSpPr>
          <p:cNvPr id="14"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6" name="text-受影响主体：其他航天器运营商">
            <a:extLst xmlns:a="http://schemas.openxmlformats.org/drawingml/2006/main">
              <a:ext uri="{FF2B5EF4-FFF2-40B4-BE49-F238E27FC236}">
                <a16:creationId xmlns:a16="http://schemas.microsoft.com/office/drawing/2014/main" id="{737E44DD-7DB3-4369-95B2-D43E014D740E}"/>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受影响主体：其他航天器运营商</a:t>
            </a:r>
          </a:p>
        </p:txBody>
      </p:sp>
      <p:sp>
        <p:nvSpPr>
          <p:cNvPr id="2" name="text-数据应可互操作、可追溯，紧急联系">
            <a:extLst xmlns:a="http://schemas.openxmlformats.org/drawingml/2006/main">
              <a:ext uri="{FF2B5EF4-FFF2-40B4-BE49-F238E27FC236}">
                <a16:creationId xmlns:a16="http://schemas.microsoft.com/office/drawing/2014/main" id="{7C762ECE-8234-4EED-BF06-BB397CCCFCA9}"/>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数据应可互操作、可追溯，紧急联系人与异常升级机制应保持可用。</a:t>
            </a:r>
          </a:p>
        </p:txBody>
      </p:sp>
      <p:sp>
        <p:nvSpPr>
          <p:cNvPr id="3" name="text-受影响方诉求与负外部性  /  ">
            <a:extLst xmlns:a="http://schemas.openxmlformats.org/drawingml/2006/main">
              <a:ext uri="{FF2B5EF4-FFF2-40B4-BE49-F238E27FC236}">
                <a16:creationId xmlns:a16="http://schemas.microsoft.com/office/drawing/2014/main" id="{327DDFE3-EB0C-41CA-A654-44BFCCE76871}"/>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受影响方诉求与负外部性  /  客户代表</a:t>
            </a:r>
          </a:p>
        </p:txBody>
      </p:sp>
      <p:sp>
        <p:nvSpPr>
          <p:cNvPr id="4" name="text-20">
            <a:extLst xmlns:a="http://schemas.openxmlformats.org/drawingml/2006/main">
              <a:ext uri="{FF2B5EF4-FFF2-40B4-BE49-F238E27FC236}">
                <a16:creationId xmlns:a16="http://schemas.microsoft.com/office/drawing/2014/main" id="{47BCE88C-AA96-46F1-9166-19DBDB8F8B8E}"/>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20</a:t>
            </a:r>
          </a:p>
        </p:txBody>
      </p:sp>
      <p:sp>
        <p:nvSpPr>
          <p:cNvPr id="5" name="text-2019">
            <a:extLst xmlns:a="http://schemas.openxmlformats.org/drawingml/2006/main">
              <a:ext uri="{FF2B5EF4-FFF2-40B4-BE49-F238E27FC236}">
                <a16:creationId xmlns:a16="http://schemas.microsoft.com/office/drawing/2014/main" id="{AE1468E7-2F48-46CA-8F72-507A9A98507D}"/>
              </a:ext>
            </a:extLst>
          </p:cNvPr>
          <p:cNvSpPr>
            <a:spLocks xmlns:a="http://schemas.openxmlformats.org/drawingml/2006/main" noGrp="1"/>
          </p:cNvSpPr>
          <p:nvPr/>
        </p:nvSpPr>
        <p:spPr>
          <a:xfrm xmlns:a="http://schemas.openxmlformats.org/drawingml/2006/main">
            <a:off x="762000" y="1762125"/>
            <a:ext cx="37909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425" b="1">
                <a:solidFill>
                  <a:srgbClr val="5C5BFA"/>
                </a:solidFill>
                <a:latin typeface="Microsoft YaHei"/>
                <a:ea typeface="Microsoft YaHei"/>
                <a:cs typeface="Microsoft YaHei"/>
              </a:defRPr>
            </a:pPr>
            <a:r>
              <a:rPr sz="7425" b="1">
                <a:solidFill>
                  <a:srgbClr val="5C5BFA"/>
                </a:solidFill>
                <a:latin typeface="Microsoft YaHei"/>
                <a:ea typeface="Microsoft YaHei"/>
                <a:cs typeface="Microsoft YaHei"/>
              </a:rPr>
              <a:t>2019</a:t>
            </a:r>
          </a:p>
        </p:txBody>
      </p:sp>
      <p:sp>
        <p:nvSpPr>
          <p:cNvPr id="6" name="text-Aeolus / Starlin">
            <a:extLst xmlns:a="http://schemas.openxmlformats.org/drawingml/2006/main">
              <a:ext uri="{FF2B5EF4-FFF2-40B4-BE49-F238E27FC236}">
                <a16:creationId xmlns:a16="http://schemas.microsoft.com/office/drawing/2014/main" id="{1A814D0B-2083-4BBE-8D78-6126E1059788}"/>
              </a:ext>
            </a:extLst>
          </p:cNvPr>
          <p:cNvSpPr>
            <a:spLocks xmlns:a="http://schemas.openxmlformats.org/drawingml/2006/main" noGrp="1"/>
          </p:cNvSpPr>
          <p:nvPr/>
        </p:nvSpPr>
        <p:spPr>
          <a:xfrm xmlns:a="http://schemas.openxmlformats.org/drawingml/2006/main">
            <a:off x="762000" y="3209925"/>
            <a:ext cx="3905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Aeolus / Starlink-44</a:t>
            </a:r>
          </a:p>
        </p:txBody>
      </p:sp>
      <p:sp>
        <p:nvSpPr>
          <p:cNvPr id="7" name="text-一次实际避碰&#10;暴露跨运营者协调需">
            <a:extLst xmlns:a="http://schemas.openxmlformats.org/drawingml/2006/main">
              <a:ext uri="{FF2B5EF4-FFF2-40B4-BE49-F238E27FC236}">
                <a16:creationId xmlns:a16="http://schemas.microsoft.com/office/drawing/2014/main" id="{2C289FB4-7866-46D0-97D7-0D09A8C4B8AB}"/>
              </a:ext>
            </a:extLst>
          </p:cNvPr>
          <p:cNvSpPr>
            <a:spLocks xmlns:a="http://schemas.openxmlformats.org/drawingml/2006/main" noGrp="1"/>
          </p:cNvSpPr>
          <p:nvPr/>
        </p:nvSpPr>
        <p:spPr>
          <a:xfrm xmlns:a="http://schemas.openxmlformats.org/drawingml/2006/main">
            <a:off x="762000" y="4191000"/>
            <a:ext cx="3905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3F"/>
                </a:solidFill>
                <a:latin typeface="Microsoft YaHei"/>
                <a:ea typeface="Microsoft YaHei"/>
                <a:cs typeface="Microsoft YaHei"/>
              </a:defRPr>
            </a:pPr>
            <a:r>
              <a:rPr sz="2175" b="0">
                <a:solidFill>
                  <a:srgbClr val="14283F"/>
                </a:solidFill>
                <a:latin typeface="Microsoft YaHei"/>
                <a:ea typeface="Microsoft YaHei"/>
                <a:cs typeface="Microsoft YaHei"/>
              </a:rPr>
              <a:t>一次实际避碰</a:t>
            </a:r>
          </a:p>
          <a:p xmlns:a="http://schemas.openxmlformats.org/drawingml/2006/main">
            <a:pPr algn="l">
              <a:defRPr sz="2175" b="0">
                <a:solidFill>
                  <a:srgbClr val="14283F"/>
                </a:solidFill>
                <a:latin typeface="Microsoft YaHei"/>
                <a:ea typeface="Microsoft YaHei"/>
                <a:cs typeface="Microsoft YaHei"/>
              </a:defRPr>
            </a:pPr>
            <a:r>
              <a:rPr sz="2175" b="0">
                <a:solidFill>
                  <a:srgbClr val="14283F"/>
                </a:solidFill>
                <a:latin typeface="Microsoft YaHei"/>
                <a:ea typeface="Microsoft YaHei"/>
                <a:cs typeface="Microsoft YaHei"/>
              </a:rPr>
              <a:t>暴露跨运营者协调需求</a:t>
            </a:r>
          </a:p>
        </p:txBody>
      </p:sp>
      <p:sp>
        <p:nvSpPr>
          <p:cNvPr id="8" name="text-真实事件">
            <a:extLst xmlns:a="http://schemas.openxmlformats.org/drawingml/2006/main">
              <a:ext uri="{FF2B5EF4-FFF2-40B4-BE49-F238E27FC236}">
                <a16:creationId xmlns:a16="http://schemas.microsoft.com/office/drawing/2014/main" id="{AAA64136-F6E4-4DD4-AB1D-DC183BDAD079}"/>
              </a:ext>
            </a:extLst>
          </p:cNvPr>
          <p:cNvSpPr>
            <a:spLocks xmlns:a="http://schemas.openxmlformats.org/drawingml/2006/main" noGrp="1"/>
          </p:cNvSpPr>
          <p:nvPr/>
        </p:nvSpPr>
        <p:spPr>
          <a:xfrm xmlns:a="http://schemas.openxmlformats.org/drawingml/2006/main">
            <a:off x="5143500" y="1666875"/>
            <a:ext cx="628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真实事件</a:t>
            </a:r>
          </a:p>
        </p:txBody>
      </p:sp>
      <p:sp>
        <p:nvSpPr>
          <p:cNvPr id="9" name="text-Aeolus执行推进机动，规避与">
            <a:extLst xmlns:a="http://schemas.openxmlformats.org/drawingml/2006/main">
              <a:ext uri="{FF2B5EF4-FFF2-40B4-BE49-F238E27FC236}">
                <a16:creationId xmlns:a16="http://schemas.microsoft.com/office/drawing/2014/main" id="{EFD4B0A1-26AC-4ABA-85CA-86C0D7B9E9C3}"/>
              </a:ext>
            </a:extLst>
          </p:cNvPr>
          <p:cNvSpPr>
            <a:spLocks xmlns:a="http://schemas.openxmlformats.org/drawingml/2006/main" noGrp="1"/>
          </p:cNvSpPr>
          <p:nvPr/>
        </p:nvSpPr>
        <p:spPr>
          <a:xfrm xmlns:a="http://schemas.openxmlformats.org/drawingml/2006/main">
            <a:off x="5143500" y="2124075"/>
            <a:ext cx="6286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Aeolus执行推进机动，规避与Starlink-44的交会风险。</a:t>
            </a:r>
          </a:p>
        </p:txBody>
      </p:sp>
      <p:sp>
        <p:nvSpPr>
          <p:cNvPr id="10" name="text-不对等处境">
            <a:extLst xmlns:a="http://schemas.openxmlformats.org/drawingml/2006/main">
              <a:ext uri="{FF2B5EF4-FFF2-40B4-BE49-F238E27FC236}">
                <a16:creationId xmlns:a16="http://schemas.microsoft.com/office/drawing/2014/main" id="{86686B0A-925D-460C-9430-FF268AED8767}"/>
              </a:ext>
            </a:extLst>
          </p:cNvPr>
          <p:cNvSpPr>
            <a:spLocks xmlns:a="http://schemas.openxmlformats.org/drawingml/2006/main" noGrp="1"/>
          </p:cNvSpPr>
          <p:nvPr/>
        </p:nvSpPr>
        <p:spPr>
          <a:xfrm xmlns:a="http://schemas.openxmlformats.org/drawingml/2006/main">
            <a:off x="5143500" y="2886075"/>
            <a:ext cx="628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不对等处境</a:t>
            </a:r>
          </a:p>
        </p:txBody>
      </p:sp>
      <p:sp>
        <p:nvSpPr>
          <p:cNvPr id="11" name="text-有限推进剂、低机动能力和更新滞后">
            <a:extLst xmlns:a="http://schemas.openxmlformats.org/drawingml/2006/main">
              <a:ext uri="{FF2B5EF4-FFF2-40B4-BE49-F238E27FC236}">
                <a16:creationId xmlns:a16="http://schemas.microsoft.com/office/drawing/2014/main" id="{FD279A19-7E1F-41DE-94C1-CBDCEE982C46}"/>
              </a:ext>
            </a:extLst>
          </p:cNvPr>
          <p:cNvSpPr>
            <a:spLocks xmlns:a="http://schemas.openxmlformats.org/drawingml/2006/main" noGrp="1"/>
          </p:cNvSpPr>
          <p:nvPr/>
        </p:nvSpPr>
        <p:spPr>
          <a:xfrm xmlns:a="http://schemas.openxmlformats.org/drawingml/2006/main">
            <a:off x="5143500" y="3343275"/>
            <a:ext cx="6286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有限推进剂、低机动能力和更新滞后，会放大协调成本。</a:t>
            </a:r>
          </a:p>
        </p:txBody>
      </p:sp>
      <p:sp>
        <p:nvSpPr>
          <p:cNvPr id="12" name="text-具体诉求">
            <a:extLst xmlns:a="http://schemas.openxmlformats.org/drawingml/2006/main">
              <a:ext uri="{FF2B5EF4-FFF2-40B4-BE49-F238E27FC236}">
                <a16:creationId xmlns:a16="http://schemas.microsoft.com/office/drawing/2014/main" id="{D75E3F84-13CC-493E-9AEA-3F6188404A52}"/>
              </a:ext>
            </a:extLst>
          </p:cNvPr>
          <p:cNvSpPr>
            <a:spLocks xmlns:a="http://schemas.openxmlformats.org/drawingml/2006/main" noGrp="1"/>
          </p:cNvSpPr>
          <p:nvPr/>
        </p:nvSpPr>
        <p:spPr>
          <a:xfrm xmlns:a="http://schemas.openxmlformats.org/drawingml/2006/main">
            <a:off x="5143500" y="4105275"/>
            <a:ext cx="628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C79"/>
                </a:solidFill>
                <a:latin typeface="Microsoft YaHei"/>
                <a:ea typeface="Microsoft YaHei"/>
                <a:cs typeface="Microsoft YaHei"/>
              </a:defRPr>
            </a:pPr>
            <a:r>
              <a:rPr sz="2175" b="1">
                <a:solidFill>
                  <a:srgbClr val="073C79"/>
                </a:solidFill>
                <a:latin typeface="Microsoft YaHei"/>
                <a:ea typeface="Microsoft YaHei"/>
                <a:cs typeface="Microsoft YaHei"/>
              </a:rPr>
              <a:t>具体诉求</a:t>
            </a:r>
          </a:p>
        </p:txBody>
      </p:sp>
      <p:sp>
        <p:nvSpPr>
          <p:cNvPr id="13" name="text-统一星历格式与时间戳，公开机动责">
            <a:extLst xmlns:a="http://schemas.openxmlformats.org/drawingml/2006/main">
              <a:ext uri="{FF2B5EF4-FFF2-40B4-BE49-F238E27FC236}">
                <a16:creationId xmlns:a16="http://schemas.microsoft.com/office/drawing/2014/main" id="{077078E4-9206-478E-A749-D44212BE40EA}"/>
              </a:ext>
            </a:extLst>
          </p:cNvPr>
          <p:cNvSpPr>
            <a:spLocks xmlns:a="http://schemas.openxmlformats.org/drawingml/2006/main" noGrp="1"/>
          </p:cNvSpPr>
          <p:nvPr/>
        </p:nvSpPr>
        <p:spPr>
          <a:xfrm xmlns:a="http://schemas.openxmlformats.org/drawingml/2006/main">
            <a:off x="5143500" y="4562475"/>
            <a:ext cx="6286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3F"/>
                </a:solidFill>
                <a:latin typeface="Microsoft YaHei"/>
                <a:ea typeface="Microsoft YaHei"/>
                <a:cs typeface="Microsoft YaHei"/>
              </a:defRPr>
            </a:pPr>
            <a:r>
              <a:rPr sz="1875" b="0">
                <a:solidFill>
                  <a:srgbClr val="14283F"/>
                </a:solidFill>
                <a:latin typeface="Microsoft YaHei"/>
                <a:ea typeface="Microsoft YaHei"/>
                <a:cs typeface="Microsoft YaHei"/>
              </a:rPr>
              <a:t>统一星历格式与时间戳，公开机动责任规则，提供独立争议处理。</a:t>
            </a:r>
          </a:p>
        </p:txBody>
      </p:sp>
    </p:spTree>
    <p:extLst>
      <p:ext uri="{BB962C8B-B14F-4D97-AF65-F5344CB8AC3E}">
        <p14:creationId xmlns:p14="http://schemas.microsoft.com/office/powerpoint/2010/main" val="3868327217"/>
      </p:ext>
    </p:extLst>
  </p:cSld>
</p:sld>
</file>

<file path=ppt/slides/slide23.xml><?xml version="1.0" encoding="utf-8"?>
<p:sld xmlns:p="http://schemas.openxmlformats.org/presentationml/2006/main" showMasterSp="0">
  <p:cSld>
    <p:spTree>
      <p:nvGrpSpPr>
        <p:cNvPr id="1" name=""/>
        <p:cNvGrpSpPr/>
        <p:nvPr/>
      </p:nvGrpSpPr>
      <p:grpSpPr>
        <a:xfrm xmlns:a="http://schemas.openxmlformats.org/drawingml/2006/main"/>
      </p:grpSpPr>
      <p:sp>
        <p:nvSpPr>
          <p:cNvPr id="14"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6" name="text-受影响主体：公众与未来世代">
            <a:extLst xmlns:a="http://schemas.openxmlformats.org/drawingml/2006/main">
              <a:ext uri="{FF2B5EF4-FFF2-40B4-BE49-F238E27FC236}">
                <a16:creationId xmlns:a16="http://schemas.microsoft.com/office/drawing/2014/main" id="{9DD1EA3F-2C59-4AFB-B555-06A174C9A639}"/>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受影响主体：公众与未来世代</a:t>
            </a:r>
          </a:p>
        </p:txBody>
      </p:sp>
      <p:sp>
        <p:nvSpPr>
          <p:cNvPr id="2" name="text-诉求：累积环境评估、公众参与、长">
            <a:extLst xmlns:a="http://schemas.openxmlformats.org/drawingml/2006/main">
              <a:ext uri="{FF2B5EF4-FFF2-40B4-BE49-F238E27FC236}">
                <a16:creationId xmlns:a16="http://schemas.microsoft.com/office/drawing/2014/main" id="{C8EDB78E-94EF-49D9-8A55-7D165098B284}"/>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诉求：累积环境评估、公众参与、长期责任资金，以及未来使用权的保障。</a:t>
            </a:r>
          </a:p>
        </p:txBody>
      </p:sp>
      <p:sp>
        <p:nvSpPr>
          <p:cNvPr id="3" name="text-受影响方诉求与负外部性  /  ">
            <a:extLst xmlns:a="http://schemas.openxmlformats.org/drawingml/2006/main">
              <a:ext uri="{FF2B5EF4-FFF2-40B4-BE49-F238E27FC236}">
                <a16:creationId xmlns:a16="http://schemas.microsoft.com/office/drawing/2014/main" id="{8D86EF1F-B9E5-4F40-A5F2-38BEF70AC885}"/>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受影响方诉求与负外部性  /  客户代表</a:t>
            </a:r>
          </a:p>
        </p:txBody>
      </p:sp>
      <p:sp>
        <p:nvSpPr>
          <p:cNvPr id="4" name="text-21">
            <a:extLst xmlns:a="http://schemas.openxmlformats.org/drawingml/2006/main">
              <a:ext uri="{FF2B5EF4-FFF2-40B4-BE49-F238E27FC236}">
                <a16:creationId xmlns:a16="http://schemas.microsoft.com/office/drawing/2014/main" id="{474AA867-783B-4072-AD6A-BA36F368301F}"/>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21</a:t>
            </a:r>
          </a:p>
        </p:txBody>
      </p:sp>
      <p:sp>
        <p:nvSpPr>
          <p:cNvPr id="5" name="text-01">
            <a:extLst xmlns:a="http://schemas.openxmlformats.org/drawingml/2006/main">
              <a:ext uri="{FF2B5EF4-FFF2-40B4-BE49-F238E27FC236}">
                <a16:creationId xmlns:a16="http://schemas.microsoft.com/office/drawing/2014/main" id="{8952C11E-B480-4C35-B958-EF4BFB587846}"/>
              </a:ext>
            </a:extLst>
          </p:cNvPr>
          <p:cNvSpPr>
            <a:spLocks xmlns:a="http://schemas.openxmlformats.org/drawingml/2006/main" noGrp="1"/>
          </p:cNvSpPr>
          <p:nvPr/>
        </p:nvSpPr>
        <p:spPr>
          <a:xfrm xmlns:a="http://schemas.openxmlformats.org/drawingml/2006/main">
            <a:off x="762000" y="1685925"/>
            <a:ext cx="314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073C79"/>
                </a:solidFill>
                <a:latin typeface="Microsoft YaHei"/>
                <a:ea typeface="Microsoft YaHei"/>
                <a:cs typeface="Microsoft YaHei"/>
              </a:defRPr>
            </a:pPr>
            <a:r>
              <a:rPr sz="4350" b="1">
                <a:solidFill>
                  <a:srgbClr val="073C79"/>
                </a:solidFill>
                <a:latin typeface="Microsoft YaHei"/>
                <a:ea typeface="Microsoft YaHei"/>
                <a:cs typeface="Microsoft YaHei"/>
              </a:rPr>
              <a:t>01</a:t>
            </a:r>
          </a:p>
        </p:txBody>
      </p:sp>
      <p:sp>
        <p:nvSpPr>
          <p:cNvPr id="6" name="text-程序公平">
            <a:extLst xmlns:a="http://schemas.openxmlformats.org/drawingml/2006/main">
              <a:ext uri="{FF2B5EF4-FFF2-40B4-BE49-F238E27FC236}">
                <a16:creationId xmlns:a16="http://schemas.microsoft.com/office/drawing/2014/main" id="{124F1DE6-7256-4FA6-A2CC-BA50B574306C}"/>
              </a:ext>
            </a:extLst>
          </p:cNvPr>
          <p:cNvSpPr>
            <a:spLocks xmlns:a="http://schemas.openxmlformats.org/drawingml/2006/main" noGrp="1"/>
          </p:cNvSpPr>
          <p:nvPr/>
        </p:nvSpPr>
        <p:spPr>
          <a:xfrm xmlns:a="http://schemas.openxmlformats.org/drawingml/2006/main">
            <a:off x="762000" y="268605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73C79"/>
                </a:solidFill>
                <a:latin typeface="Microsoft YaHei"/>
                <a:ea typeface="Microsoft YaHei"/>
                <a:cs typeface="Microsoft YaHei"/>
              </a:defRPr>
            </a:pPr>
            <a:r>
              <a:rPr sz="2550" b="1">
                <a:solidFill>
                  <a:srgbClr val="073C79"/>
                </a:solidFill>
                <a:latin typeface="Microsoft YaHei"/>
                <a:ea typeface="Microsoft YaHei"/>
                <a:cs typeface="Microsoft YaHei"/>
              </a:rPr>
              <a:t>程序公平</a:t>
            </a:r>
          </a:p>
        </p:txBody>
      </p:sp>
      <p:sp>
        <p:nvSpPr>
          <p:cNvPr id="7" name="text-公众没有逐笔批准采购，但其天空环">
            <a:extLst xmlns:a="http://schemas.openxmlformats.org/drawingml/2006/main">
              <a:ext uri="{FF2B5EF4-FFF2-40B4-BE49-F238E27FC236}">
                <a16:creationId xmlns:a16="http://schemas.microsoft.com/office/drawing/2014/main" id="{3C98F76F-400A-4401-9A6B-99EDE71AFFE5}"/>
              </a:ext>
            </a:extLst>
          </p:cNvPr>
          <p:cNvSpPr>
            <a:spLocks xmlns:a="http://schemas.openxmlformats.org/drawingml/2006/main" noGrp="1"/>
          </p:cNvSpPr>
          <p:nvPr/>
        </p:nvSpPr>
        <p:spPr>
          <a:xfrm xmlns:a="http://schemas.openxmlformats.org/drawingml/2006/main">
            <a:off x="762000" y="3533775"/>
            <a:ext cx="32956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公众没有逐笔批准采购，但其天空环境与公共服务可能受影响。</a:t>
            </a:r>
          </a:p>
        </p:txBody>
      </p:sp>
      <p:sp>
        <p:nvSpPr>
          <p:cNvPr id="8" name="text-02">
            <a:extLst xmlns:a="http://schemas.openxmlformats.org/drawingml/2006/main">
              <a:ext uri="{FF2B5EF4-FFF2-40B4-BE49-F238E27FC236}">
                <a16:creationId xmlns:a16="http://schemas.microsoft.com/office/drawing/2014/main" id="{96316E8E-F21E-4D0F-A2CD-4BDE6D7C2988}"/>
              </a:ext>
            </a:extLst>
          </p:cNvPr>
          <p:cNvSpPr>
            <a:spLocks xmlns:a="http://schemas.openxmlformats.org/drawingml/2006/main" noGrp="1"/>
          </p:cNvSpPr>
          <p:nvPr/>
        </p:nvSpPr>
        <p:spPr>
          <a:xfrm xmlns:a="http://schemas.openxmlformats.org/drawingml/2006/main">
            <a:off x="4476750" y="1685925"/>
            <a:ext cx="314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5C5BFA"/>
                </a:solidFill>
                <a:latin typeface="Microsoft YaHei"/>
                <a:ea typeface="Microsoft YaHei"/>
                <a:cs typeface="Microsoft YaHei"/>
              </a:defRPr>
            </a:pPr>
            <a:r>
              <a:rPr sz="4350" b="1">
                <a:solidFill>
                  <a:srgbClr val="5C5BFA"/>
                </a:solidFill>
                <a:latin typeface="Microsoft YaHei"/>
                <a:ea typeface="Microsoft YaHei"/>
                <a:cs typeface="Microsoft YaHei"/>
              </a:rPr>
              <a:t>02</a:t>
            </a:r>
          </a:p>
        </p:txBody>
      </p:sp>
      <p:sp>
        <p:nvSpPr>
          <p:cNvPr id="9" name="text-分配公平">
            <a:extLst xmlns:a="http://schemas.openxmlformats.org/drawingml/2006/main">
              <a:ext uri="{FF2B5EF4-FFF2-40B4-BE49-F238E27FC236}">
                <a16:creationId xmlns:a16="http://schemas.microsoft.com/office/drawing/2014/main" id="{8DC79717-0581-4085-AB46-5F4FF7703013}"/>
              </a:ext>
            </a:extLst>
          </p:cNvPr>
          <p:cNvSpPr>
            <a:spLocks xmlns:a="http://schemas.openxmlformats.org/drawingml/2006/main" noGrp="1"/>
          </p:cNvSpPr>
          <p:nvPr/>
        </p:nvSpPr>
        <p:spPr>
          <a:xfrm xmlns:a="http://schemas.openxmlformats.org/drawingml/2006/main">
            <a:off x="4476750" y="268605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73C79"/>
                </a:solidFill>
                <a:latin typeface="Microsoft YaHei"/>
                <a:ea typeface="Microsoft YaHei"/>
                <a:cs typeface="Microsoft YaHei"/>
              </a:defRPr>
            </a:pPr>
            <a:r>
              <a:rPr sz="2550" b="1">
                <a:solidFill>
                  <a:srgbClr val="073C79"/>
                </a:solidFill>
                <a:latin typeface="Microsoft YaHei"/>
                <a:ea typeface="Microsoft YaHei"/>
                <a:cs typeface="Microsoft YaHei"/>
              </a:rPr>
              <a:t>分配公平</a:t>
            </a:r>
          </a:p>
        </p:txBody>
      </p:sp>
      <p:sp>
        <p:nvSpPr>
          <p:cNvPr id="10" name="text-连接服务的收益与科研、文化及轨道">
            <a:extLst xmlns:a="http://schemas.openxmlformats.org/drawingml/2006/main">
              <a:ext uri="{FF2B5EF4-FFF2-40B4-BE49-F238E27FC236}">
                <a16:creationId xmlns:a16="http://schemas.microsoft.com/office/drawing/2014/main" id="{B698A70A-0440-4B5A-8095-DA81B0F3389C}"/>
              </a:ext>
            </a:extLst>
          </p:cNvPr>
          <p:cNvSpPr>
            <a:spLocks xmlns:a="http://schemas.openxmlformats.org/drawingml/2006/main" noGrp="1"/>
          </p:cNvSpPr>
          <p:nvPr/>
        </p:nvSpPr>
        <p:spPr>
          <a:xfrm xmlns:a="http://schemas.openxmlformats.org/drawingml/2006/main">
            <a:off x="4476750" y="3533775"/>
            <a:ext cx="32956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连接服务的收益与科研、文化及轨道环境损害并不落在同一群体。</a:t>
            </a:r>
          </a:p>
        </p:txBody>
      </p:sp>
      <p:sp>
        <p:nvSpPr>
          <p:cNvPr id="11" name="text-03">
            <a:extLst xmlns:a="http://schemas.openxmlformats.org/drawingml/2006/main">
              <a:ext uri="{FF2B5EF4-FFF2-40B4-BE49-F238E27FC236}">
                <a16:creationId xmlns:a16="http://schemas.microsoft.com/office/drawing/2014/main" id="{C77E779F-A60E-44F9-AB7E-C8F886E2F76C}"/>
              </a:ext>
            </a:extLst>
          </p:cNvPr>
          <p:cNvSpPr>
            <a:spLocks xmlns:a="http://schemas.openxmlformats.org/drawingml/2006/main" noGrp="1"/>
          </p:cNvSpPr>
          <p:nvPr/>
        </p:nvSpPr>
        <p:spPr>
          <a:xfrm xmlns:a="http://schemas.openxmlformats.org/drawingml/2006/main">
            <a:off x="8191500" y="1685925"/>
            <a:ext cx="314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ED8B00"/>
                </a:solidFill>
                <a:latin typeface="Microsoft YaHei"/>
                <a:ea typeface="Microsoft YaHei"/>
                <a:cs typeface="Microsoft YaHei"/>
              </a:defRPr>
            </a:pPr>
            <a:r>
              <a:rPr sz="4350" b="1">
                <a:solidFill>
                  <a:srgbClr val="ED8B00"/>
                </a:solidFill>
                <a:latin typeface="Microsoft YaHei"/>
                <a:ea typeface="Microsoft YaHei"/>
                <a:cs typeface="Microsoft YaHei"/>
              </a:rPr>
              <a:t>03</a:t>
            </a:r>
          </a:p>
        </p:txBody>
      </p:sp>
      <p:sp>
        <p:nvSpPr>
          <p:cNvPr id="12" name="text-代际公平">
            <a:extLst xmlns:a="http://schemas.openxmlformats.org/drawingml/2006/main">
              <a:ext uri="{FF2B5EF4-FFF2-40B4-BE49-F238E27FC236}">
                <a16:creationId xmlns:a16="http://schemas.microsoft.com/office/drawing/2014/main" id="{BEB2C9E5-0CF7-4991-9CBA-8A31D002A54B}"/>
              </a:ext>
            </a:extLst>
          </p:cNvPr>
          <p:cNvSpPr>
            <a:spLocks xmlns:a="http://schemas.openxmlformats.org/drawingml/2006/main" noGrp="1"/>
          </p:cNvSpPr>
          <p:nvPr/>
        </p:nvSpPr>
        <p:spPr>
          <a:xfrm xmlns:a="http://schemas.openxmlformats.org/drawingml/2006/main">
            <a:off x="8191500" y="268605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73C79"/>
                </a:solidFill>
                <a:latin typeface="Microsoft YaHei"/>
                <a:ea typeface="Microsoft YaHei"/>
                <a:cs typeface="Microsoft YaHei"/>
              </a:defRPr>
            </a:pPr>
            <a:r>
              <a:rPr sz="2550" b="1">
                <a:solidFill>
                  <a:srgbClr val="073C79"/>
                </a:solidFill>
                <a:latin typeface="Microsoft YaHei"/>
                <a:ea typeface="Microsoft YaHei"/>
                <a:cs typeface="Microsoft YaHei"/>
              </a:rPr>
              <a:t>代际公平</a:t>
            </a:r>
          </a:p>
        </p:txBody>
      </p:sp>
      <p:sp>
        <p:nvSpPr>
          <p:cNvPr id="13" name="text-未来使用者无法参与今天的决策，却">
            <a:extLst xmlns:a="http://schemas.openxmlformats.org/drawingml/2006/main">
              <a:ext uri="{FF2B5EF4-FFF2-40B4-BE49-F238E27FC236}">
                <a16:creationId xmlns:a16="http://schemas.microsoft.com/office/drawing/2014/main" id="{CA1FF087-C845-44B4-A6D9-067B8C1DA7A7}"/>
              </a:ext>
            </a:extLst>
          </p:cNvPr>
          <p:cNvSpPr>
            <a:spLocks xmlns:a="http://schemas.openxmlformats.org/drawingml/2006/main" noGrp="1"/>
          </p:cNvSpPr>
          <p:nvPr/>
        </p:nvSpPr>
        <p:spPr>
          <a:xfrm xmlns:a="http://schemas.openxmlformats.org/drawingml/2006/main">
            <a:off x="8191500" y="3533775"/>
            <a:ext cx="32956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未来使用者无法参与今天的决策，却要面对残余物体与处置成本。</a:t>
            </a:r>
          </a:p>
        </p:txBody>
      </p:sp>
    </p:spTree>
    <p:extLst>
      <p:ext uri="{BB962C8B-B14F-4D97-AF65-F5344CB8AC3E}">
        <p14:creationId xmlns:p14="http://schemas.microsoft.com/office/powerpoint/2010/main" val="3868327217"/>
      </p:ext>
    </p:extLst>
  </p:cSld>
</p:sld>
</file>

<file path=ppt/slides/slide24.xml><?xml version="1.0" encoding="utf-8"?>
<p:sld xmlns:p="http://schemas.openxmlformats.org/presentationml/2006/main" showMasterSp="0">
  <p:cSld>
    <p:spTree>
      <p:nvGrpSpPr>
        <p:cNvPr id="1" name=""/>
        <p:cNvGrpSpPr/>
        <p:nvPr/>
      </p:nvGrpSpPr>
      <p:grpSpPr>
        <a:xfrm xmlns:a="http://schemas.openxmlformats.org/drawingml/2006/main"/>
      </p:grpSpPr>
      <p:sp>
        <p:nvSpPr>
          <p:cNvPr id="7"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9"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0"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1"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2"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3"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4"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5"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59" name="text-现有国际法困境">
            <a:extLst xmlns:a="http://schemas.openxmlformats.org/drawingml/2006/main">
              <a:ext uri="{FF2B5EF4-FFF2-40B4-BE49-F238E27FC236}">
                <a16:creationId xmlns:a16="http://schemas.microsoft.com/office/drawing/2014/main" id="{04E16077-1D53-44BB-89DC-46273D5FD32F}"/>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现有国际法困境</a:t>
            </a:r>
          </a:p>
        </p:txBody>
      </p:sp>
      <p:sp>
        <p:nvSpPr>
          <p:cNvPr id="2" name="text-缺口在于可执行的细则、举证与环境">
            <a:extLst xmlns:a="http://schemas.openxmlformats.org/drawingml/2006/main">
              <a:ext uri="{FF2B5EF4-FFF2-40B4-BE49-F238E27FC236}">
                <a16:creationId xmlns:a16="http://schemas.microsoft.com/office/drawing/2014/main" id="{002B8D15-940D-4D59-9886-CA6F09708141}"/>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缺口在于可执行的细则、举证与环境修复机制；外空并非“无法可依”。</a:t>
            </a:r>
          </a:p>
        </p:txBody>
      </p:sp>
      <p:sp>
        <p:nvSpPr>
          <p:cNvPr id="3" name="text-监管缺口与制度重构  /  监管">
            <a:extLst xmlns:a="http://schemas.openxmlformats.org/drawingml/2006/main">
              <a:ext uri="{FF2B5EF4-FFF2-40B4-BE49-F238E27FC236}">
                <a16:creationId xmlns:a16="http://schemas.microsoft.com/office/drawing/2014/main" id="{8DC5640B-8202-4CD6-8BDB-6F7F5DF2990D}"/>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监管缺口与制度重构  /  监管专家</a:t>
            </a:r>
          </a:p>
        </p:txBody>
      </p:sp>
      <p:sp>
        <p:nvSpPr>
          <p:cNvPr id="4" name="text-22">
            <a:extLst xmlns:a="http://schemas.openxmlformats.org/drawingml/2006/main">
              <a:ext uri="{FF2B5EF4-FFF2-40B4-BE49-F238E27FC236}">
                <a16:creationId xmlns:a16="http://schemas.microsoft.com/office/drawing/2014/main" id="{36F9CA77-895E-4EBF-B294-F5F9B4E76B65}"/>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22</a:t>
            </a:r>
          </a:p>
        </p:txBody>
      </p:sp>
      <p:graphicFrame>
        <p:nvGraphicFramePr>
          <p:cNvPr id="63" name=""/>
          <p:cNvGraphicFramePr/>
          <p:nvPr/>
        </p:nvGraphicFramePr>
        <p:xfrm>
          <a:off xmlns:a="http://schemas.openxmlformats.org/drawingml/2006/main" x="762000" y="1695450"/>
          <a:ext xmlns:a="http://schemas.openxmlformats.org/drawingml/2006/main" cx="10668000" cy="3200400"/>
        </p:xfrm>
        <a:graphic xmlns:a="http://schemas.openxmlformats.org/drawingml/2006/main">
          <a:graphicData uri="http://schemas.openxmlformats.org/drawingml/2006/table">
            <a:tbl>
              <a:tblPr/>
              <a:tblGrid>
                <a:gridCol w="2190750"/>
                <a:gridCol w="4210050"/>
                <a:gridCol w="4267200"/>
              </a:tblGrid>
              <a:tr h="800100">
                <a:tc>
                  <a:txBody>
                    <a:bodyPr lIns="142875" tIns="133350" rIns="142875" bIns="95250"/>
                    <a:lstStyle/>
                    <a:p>
                      <a:r>
                        <a:rPr sz="1800" b="1">
                          <a:solidFill>
                            <a:srgbClr val="FFFFFF"/>
                          </a:solidFill>
                          <a:latin typeface="Microsoft YaHei"/>
                          <a:ea typeface="Microsoft YaHei"/>
                          <a:cs typeface="Microsoft YaHei"/>
                        </a:rPr>
                        <a:t>制度</a:t>
                      </a:r>
                    </a:p>
                  </a:txBody>
                  <a:tcPr marL="91440" marR="91440" marT="45720" marB="45720" anchor="ctr">
                    <a:solidFill>
                      <a:srgbClr val="073C79"/>
                    </a:solidFill>
                  </a:tcPr>
                </a:tc>
                <a:tc>
                  <a:txBody>
                    <a:bodyPr lIns="142875" tIns="133350" rIns="142875" bIns="95250"/>
                    <a:lstStyle/>
                    <a:p>
                      <a:r>
                        <a:rPr sz="1800" b="1">
                          <a:solidFill>
                            <a:srgbClr val="FFFFFF"/>
                          </a:solidFill>
                          <a:latin typeface="Microsoft YaHei"/>
                          <a:ea typeface="Microsoft YaHei"/>
                          <a:cs typeface="Microsoft YaHei"/>
                        </a:rPr>
                        <a:t>已有义务</a:t>
                      </a:r>
                    </a:p>
                  </a:txBody>
                  <a:tcPr marL="91440" marR="91440" marT="45720" marB="45720" anchor="ctr">
                    <a:solidFill>
                      <a:srgbClr val="073C79"/>
                    </a:solidFill>
                  </a:tcPr>
                </a:tc>
                <a:tc>
                  <a:txBody>
                    <a:bodyPr lIns="142875" tIns="133350" rIns="142875" bIns="95250"/>
                    <a:lstStyle/>
                    <a:p>
                      <a:r>
                        <a:rPr sz="1800" b="1">
                          <a:solidFill>
                            <a:srgbClr val="FFFFFF"/>
                          </a:solidFill>
                          <a:latin typeface="Microsoft YaHei"/>
                          <a:ea typeface="Microsoft YaHei"/>
                          <a:cs typeface="Microsoft YaHei"/>
                        </a:rPr>
                        <a:t>仍需解决的问题</a:t>
                      </a:r>
                    </a:p>
                  </a:txBody>
                  <a:tcPr marL="91440" marR="91440" marT="45720" marB="45720" anchor="ctr">
                    <a:solidFill>
                      <a:srgbClr val="073C79"/>
                    </a:solidFill>
                  </a:tcPr>
                </a:tc>
              </a:tr>
              <a:tr h="800100">
                <a:tc>
                  <a:txBody>
                    <a:bodyPr lIns="142875" tIns="133350" rIns="142875" bIns="95250"/>
                    <a:lstStyle/>
                    <a:p>
                      <a:r>
                        <a:rPr sz="1725" b="0">
                          <a:solidFill>
                            <a:srgbClr val="14283F"/>
                          </a:solidFill>
                          <a:latin typeface="Microsoft YaHei"/>
                          <a:ea typeface="Microsoft YaHei"/>
                          <a:cs typeface="Microsoft YaHei"/>
                        </a:rPr>
                        <a:t>《外空条约》</a:t>
                      </a:r>
                    </a:p>
                  </a:txBody>
                  <a:tcPr marL="91440" marR="91440" marT="45720" marB="45720" anchor="ctr">
                    <a:solidFill>
                      <a:srgbClr val="F1F4F8"/>
                    </a:solidFill>
                  </a:tcPr>
                </a:tc>
                <a:tc>
                  <a:txBody>
                    <a:bodyPr lIns="142875" tIns="133350" rIns="142875" bIns="95250"/>
                    <a:lstStyle/>
                    <a:p>
                      <a:r>
                        <a:rPr sz="1725" b="0">
                          <a:solidFill>
                            <a:srgbClr val="14283F"/>
                          </a:solidFill>
                          <a:latin typeface="Microsoft YaHei"/>
                          <a:ea typeface="Microsoft YaHei"/>
                          <a:cs typeface="Microsoft YaHei"/>
                        </a:rPr>
                        <a:t>国家授权、持续监督、适当顾及</a:t>
                      </a:r>
                    </a:p>
                    <a:p>
                      <a:r>
                        <a:rPr sz="1725" b="0">
                          <a:solidFill>
                            <a:srgbClr val="14283F"/>
                          </a:solidFill>
                          <a:latin typeface="Microsoft YaHei"/>
                          <a:ea typeface="Microsoft YaHei"/>
                          <a:cs typeface="Microsoft YaHei"/>
                        </a:rPr>
                        <a:t>第VI、IX条</a:t>
                      </a:r>
                    </a:p>
                  </a:txBody>
                  <a:tcPr marL="91440" marR="91440" marT="45720" marB="45720" anchor="ctr">
                    <a:solidFill>
                      <a:srgbClr val="F1F4F8"/>
                    </a:solidFill>
                  </a:tcPr>
                </a:tc>
                <a:tc>
                  <a:txBody>
                    <a:bodyPr lIns="142875" tIns="133350" rIns="142875" bIns="95250"/>
                    <a:lstStyle/>
                    <a:p>
                      <a:r>
                        <a:rPr sz="1725" b="0">
                          <a:solidFill>
                            <a:srgbClr val="14283F"/>
                          </a:solidFill>
                          <a:latin typeface="Microsoft YaHei"/>
                          <a:ea typeface="Microsoft YaHei"/>
                          <a:cs typeface="Microsoft YaHei"/>
                        </a:rPr>
                        <a:t>缺少统一的星座规模与风险上限</a:t>
                      </a:r>
                    </a:p>
                  </a:txBody>
                  <a:tcPr marL="91440" marR="91440" marT="45720" marB="45720" anchor="ctr">
                    <a:solidFill>
                      <a:srgbClr val="F1F4F8"/>
                    </a:solidFill>
                  </a:tcPr>
                </a:tc>
              </a:tr>
              <a:tr h="800100">
                <a:tc>
                  <a:txBody>
                    <a:bodyPr lIns="142875" tIns="133350" rIns="142875" bIns="95250"/>
                    <a:lstStyle/>
                    <a:p>
                      <a:r>
                        <a:rPr sz="1725" b="0">
                          <a:solidFill>
                            <a:srgbClr val="14283F"/>
                          </a:solidFill>
                          <a:latin typeface="Microsoft YaHei"/>
                          <a:ea typeface="Microsoft YaHei"/>
                          <a:cs typeface="Microsoft YaHei"/>
                        </a:rPr>
                        <a:t>《责任公约》</a:t>
                      </a:r>
                    </a:p>
                  </a:txBody>
                  <a:tcPr marL="91440" marR="91440" marT="45720" marB="45720" anchor="ctr">
                    <a:solidFill>
                      <a:srgbClr val="FFFFFF"/>
                    </a:solidFill>
                  </a:tcPr>
                </a:tc>
                <a:tc>
                  <a:txBody>
                    <a:bodyPr lIns="142875" tIns="133350" rIns="142875" bIns="95250"/>
                    <a:lstStyle/>
                    <a:p>
                      <a:r>
                        <a:rPr sz="1725" b="0">
                          <a:solidFill>
                            <a:srgbClr val="14283F"/>
                          </a:solidFill>
                          <a:latin typeface="Microsoft YaHei"/>
                          <a:ea typeface="Microsoft YaHei"/>
                          <a:cs typeface="Microsoft YaHei"/>
                        </a:rPr>
                        <a:t>地表损害绝对责任</a:t>
                      </a:r>
                    </a:p>
                    <a:p>
                      <a:r>
                        <a:rPr sz="1725" b="0">
                          <a:solidFill>
                            <a:srgbClr val="14283F"/>
                          </a:solidFill>
                          <a:latin typeface="Microsoft YaHei"/>
                          <a:ea typeface="Microsoft YaHei"/>
                          <a:cs typeface="Microsoft YaHei"/>
                        </a:rPr>
                        <a:t>外空物体损害过错责任</a:t>
                      </a:r>
                    </a:p>
                  </a:txBody>
                  <a:tcPr marL="91440" marR="91440" marT="45720" marB="45720" anchor="ctr">
                    <a:solidFill>
                      <a:srgbClr val="FFFFFF"/>
                    </a:solidFill>
                  </a:tcPr>
                </a:tc>
                <a:tc>
                  <a:txBody>
                    <a:bodyPr lIns="142875" tIns="133350" rIns="142875" bIns="95250"/>
                    <a:lstStyle/>
                    <a:p>
                      <a:r>
                        <a:rPr sz="1725" b="0">
                          <a:solidFill>
                            <a:srgbClr val="14283F"/>
                          </a:solidFill>
                          <a:latin typeface="Microsoft YaHei"/>
                          <a:ea typeface="Microsoft YaHei"/>
                          <a:cs typeface="Microsoft YaHei"/>
                        </a:rPr>
                        <a:t>碎片归属、过错和因果关系难证明</a:t>
                      </a:r>
                    </a:p>
                  </a:txBody>
                  <a:tcPr marL="91440" marR="91440" marT="45720" marB="45720" anchor="ctr">
                    <a:solidFill>
                      <a:srgbClr val="FFFFFF"/>
                    </a:solidFill>
                  </a:tcPr>
                </a:tc>
              </a:tr>
              <a:tr h="800100">
                <a:tc>
                  <a:txBody>
                    <a:bodyPr lIns="142875" tIns="133350" rIns="142875" bIns="95250"/>
                    <a:lstStyle/>
                    <a:p>
                      <a:r>
                        <a:rPr sz="1725" b="0">
                          <a:solidFill>
                            <a:srgbClr val="14283F"/>
                          </a:solidFill>
                          <a:latin typeface="Microsoft YaHei"/>
                          <a:ea typeface="Microsoft YaHei"/>
                          <a:cs typeface="Microsoft YaHei"/>
                        </a:rPr>
                        <a:t>碎片减缓规范</a:t>
                      </a:r>
                    </a:p>
                  </a:txBody>
                  <a:tcPr marL="91440" marR="91440" marT="45720" marB="45720" anchor="ctr">
                    <a:solidFill>
                      <a:srgbClr val="F1F4F8"/>
                    </a:solidFill>
                  </a:tcPr>
                </a:tc>
                <a:tc>
                  <a:txBody>
                    <a:bodyPr lIns="142875" tIns="133350" rIns="142875" bIns="95250"/>
                    <a:lstStyle/>
                    <a:p>
                      <a:r>
                        <a:rPr sz="1725" b="0">
                          <a:solidFill>
                            <a:srgbClr val="14283F"/>
                          </a:solidFill>
                          <a:latin typeface="Microsoft YaHei"/>
                          <a:ea typeface="Microsoft YaHei"/>
                          <a:cs typeface="Microsoft YaHei"/>
                        </a:rPr>
                        <a:t>国家许可及技术规范逐步强化</a:t>
                      </a:r>
                    </a:p>
                  </a:txBody>
                  <a:tcPr marL="91440" marR="91440" marT="45720" marB="45720" anchor="ctr">
                    <a:solidFill>
                      <a:srgbClr val="F1F4F8"/>
                    </a:solidFill>
                  </a:tcPr>
                </a:tc>
                <a:tc>
                  <a:txBody>
                    <a:bodyPr lIns="142875" tIns="133350" rIns="142875" bIns="95250"/>
                    <a:lstStyle/>
                    <a:p>
                      <a:r>
                        <a:rPr sz="1725" b="0">
                          <a:solidFill>
                            <a:srgbClr val="14283F"/>
                          </a:solidFill>
                          <a:latin typeface="Microsoft YaHei"/>
                          <a:ea typeface="Microsoft YaHei"/>
                          <a:cs typeface="Microsoft YaHei"/>
                        </a:rPr>
                        <a:t>清理费用、纯环境损害和跨境执行</a:t>
                      </a:r>
                    </a:p>
                  </a:txBody>
                  <a:tcPr marL="91440" marR="91440" marT="45720" marB="45720" anchor="ctr">
                    <a:solidFill>
                      <a:srgbClr val="F1F4F8"/>
                    </a:solidFill>
                  </a:tcPr>
                </a:tc>
              </a:tr>
            </a:tbl>
          </a:graphicData>
        </a:graphic>
      </p:graphicFrame>
      <p:sp>
        <p:nvSpPr>
          <p:cNvPr id="6" name="text-动能反卫星试验也需审查既有国际义">
            <a:extLst xmlns:a="http://schemas.openxmlformats.org/drawingml/2006/main">
              <a:ext uri="{FF2B5EF4-FFF2-40B4-BE49-F238E27FC236}">
                <a16:creationId xmlns:a16="http://schemas.microsoft.com/office/drawing/2014/main" id="{6D69BF23-5A1D-48EE-83A3-53035FAC3EED}"/>
              </a:ext>
            </a:extLst>
          </p:cNvPr>
          <p:cNvSpPr>
            <a:spLocks xmlns:a="http://schemas.openxmlformats.org/drawingml/2006/main" noGrp="1"/>
          </p:cNvSpPr>
          <p:nvPr/>
        </p:nvSpPr>
        <p:spPr>
          <a:xfrm xmlns:a="http://schemas.openxmlformats.org/drawingml/2006/main">
            <a:off x="762000" y="5076825"/>
            <a:ext cx="10648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17186"/>
                </a:solidFill>
                <a:latin typeface="Microsoft YaHei"/>
                <a:ea typeface="Microsoft YaHei"/>
                <a:cs typeface="Microsoft YaHei"/>
              </a:defRPr>
            </a:pPr>
            <a:r>
              <a:rPr sz="1725" b="0">
                <a:solidFill>
                  <a:srgbClr val="617186"/>
                </a:solidFill>
                <a:latin typeface="Microsoft YaHei"/>
                <a:ea typeface="Microsoft YaHei"/>
                <a:cs typeface="Microsoft YaHei"/>
              </a:rPr>
              <a:t>动能反卫星试验也需审查既有国际义务，不能简单认定为完全不受约束。</a:t>
            </a:r>
          </a:p>
        </p:txBody>
      </p:sp>
    </p:spTree>
    <p:extLst>
      <p:ext uri="{BB962C8B-B14F-4D97-AF65-F5344CB8AC3E}">
        <p14:creationId xmlns:p14="http://schemas.microsoft.com/office/powerpoint/2010/main" val="3868327217"/>
      </p:ext>
    </p:extLst>
  </p:cSld>
</p:sld>
</file>

<file path=ppt/slides/slide25.xml><?xml version="1.0" encoding="utf-8"?>
<p:sld xmlns:p="http://schemas.openxmlformats.org/presentationml/2006/main" showMasterSp="0">
  <p:cSld>
    <p:spTree>
      <p:nvGrpSpPr>
        <p:cNvPr id="1" name=""/>
        <p:cNvGrpSpPr/>
        <p:nvPr/>
      </p:nvGrpSpPr>
      <p:grpSpPr>
        <a:xfrm xmlns:a="http://schemas.openxmlformats.org/drawingml/2006/main"/>
      </p:grpSpPr>
      <p:sp>
        <p:nvSpPr>
          <p:cNvPr id="14"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6" name="text-监管响应与制度缺口">
            <a:extLst xmlns:a="http://schemas.openxmlformats.org/drawingml/2006/main">
              <a:ext uri="{FF2B5EF4-FFF2-40B4-BE49-F238E27FC236}">
                <a16:creationId xmlns:a16="http://schemas.microsoft.com/office/drawing/2014/main" id="{5B75E067-45BF-4350-B894-F59B9B1EA31F}"/>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监管响应与制度缺口</a:t>
            </a:r>
          </a:p>
        </p:txBody>
      </p:sp>
      <p:sp>
        <p:nvSpPr>
          <p:cNvPr id="2" name="text-已有国内治理工具，仍缺跨国统一风">
            <a:extLst xmlns:a="http://schemas.openxmlformats.org/drawingml/2006/main">
              <a:ext uri="{FF2B5EF4-FFF2-40B4-BE49-F238E27FC236}">
                <a16:creationId xmlns:a16="http://schemas.microsoft.com/office/drawing/2014/main" id="{DBAB4DBC-D111-4115-BE12-875B4FFD7DA0}"/>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已有国内治理工具，仍缺跨国统一风险预算、可比报告与有效纠纷协调。</a:t>
            </a:r>
          </a:p>
        </p:txBody>
      </p:sp>
      <p:sp>
        <p:nvSpPr>
          <p:cNvPr id="3" name="text-监管缺口与制度重构  /  监管">
            <a:extLst xmlns:a="http://schemas.openxmlformats.org/drawingml/2006/main">
              <a:ext uri="{FF2B5EF4-FFF2-40B4-BE49-F238E27FC236}">
                <a16:creationId xmlns:a16="http://schemas.microsoft.com/office/drawing/2014/main" id="{BF0C722F-601B-492A-899C-B81FE473BD87}"/>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监管缺口与制度重构  /  监管专家</a:t>
            </a:r>
          </a:p>
        </p:txBody>
      </p:sp>
      <p:sp>
        <p:nvSpPr>
          <p:cNvPr id="4" name="text-23">
            <a:extLst xmlns:a="http://schemas.openxmlformats.org/drawingml/2006/main">
              <a:ext uri="{FF2B5EF4-FFF2-40B4-BE49-F238E27FC236}">
                <a16:creationId xmlns:a16="http://schemas.microsoft.com/office/drawing/2014/main" id="{B0927882-F82A-405B-9E82-CC1783317CD4}"/>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23</a:t>
            </a:r>
          </a:p>
        </p:txBody>
      </p:sp>
      <p:sp>
        <p:nvSpPr>
          <p:cNvPr id="5" name="text-2022">
            <a:extLst xmlns:a="http://schemas.openxmlformats.org/drawingml/2006/main">
              <a:ext uri="{FF2B5EF4-FFF2-40B4-BE49-F238E27FC236}">
                <a16:creationId xmlns:a16="http://schemas.microsoft.com/office/drawing/2014/main" id="{9730A84F-3E07-4D86-9959-24179D168F90}"/>
              </a:ext>
            </a:extLst>
          </p:cNvPr>
          <p:cNvSpPr>
            <a:spLocks xmlns:a="http://schemas.openxmlformats.org/drawingml/2006/main" noGrp="1"/>
          </p:cNvSpPr>
          <p:nvPr/>
        </p:nvSpPr>
        <p:spPr>
          <a:xfrm xmlns:a="http://schemas.openxmlformats.org/drawingml/2006/main">
            <a:off x="762000" y="1628775"/>
            <a:ext cx="3381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025" b="1">
                <a:solidFill>
                  <a:srgbClr val="073C79"/>
                </a:solidFill>
                <a:latin typeface="Microsoft YaHei"/>
                <a:ea typeface="Microsoft YaHei"/>
                <a:cs typeface="Microsoft YaHei"/>
              </a:defRPr>
            </a:pPr>
            <a:r>
              <a:rPr sz="5025" b="1">
                <a:solidFill>
                  <a:srgbClr val="073C79"/>
                </a:solidFill>
                <a:latin typeface="Microsoft YaHei"/>
                <a:ea typeface="Microsoft YaHei"/>
                <a:cs typeface="Microsoft YaHei"/>
              </a:rPr>
              <a:t>2022</a:t>
            </a:r>
          </a:p>
        </p:txBody>
      </p:sp>
      <p:sp>
        <p:nvSpPr>
          <p:cNvPr id="6" name="text-FCC五年离轨规则">
            <a:extLst xmlns:a="http://schemas.openxmlformats.org/drawingml/2006/main">
              <a:ext uri="{FF2B5EF4-FFF2-40B4-BE49-F238E27FC236}">
                <a16:creationId xmlns:a16="http://schemas.microsoft.com/office/drawing/2014/main" id="{A6DC88E8-4F9B-44DC-AC77-77923C57EA60}"/>
              </a:ext>
            </a:extLst>
          </p:cNvPr>
          <p:cNvSpPr>
            <a:spLocks xmlns:a="http://schemas.openxmlformats.org/drawingml/2006/main" noGrp="1"/>
          </p:cNvSpPr>
          <p:nvPr/>
        </p:nvSpPr>
        <p:spPr>
          <a:xfrm xmlns:a="http://schemas.openxmlformats.org/drawingml/2006/main">
            <a:off x="762000" y="2781300"/>
            <a:ext cx="32861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73C79"/>
                </a:solidFill>
                <a:latin typeface="Microsoft YaHei"/>
                <a:ea typeface="Microsoft YaHei"/>
                <a:cs typeface="Microsoft YaHei"/>
              </a:defRPr>
            </a:pPr>
            <a:r>
              <a:rPr sz="2325" b="1">
                <a:solidFill>
                  <a:srgbClr val="073C79"/>
                </a:solidFill>
                <a:latin typeface="Microsoft YaHei"/>
                <a:ea typeface="Microsoft YaHei"/>
                <a:cs typeface="Microsoft YaHei"/>
              </a:rPr>
              <a:t>FCC五年离轨规则</a:t>
            </a:r>
          </a:p>
        </p:txBody>
      </p:sp>
      <p:sp>
        <p:nvSpPr>
          <p:cNvPr id="7" name="text-一定范围的低轨任务在任务结束后五">
            <a:extLst xmlns:a="http://schemas.openxmlformats.org/drawingml/2006/main">
              <a:ext uri="{FF2B5EF4-FFF2-40B4-BE49-F238E27FC236}">
                <a16:creationId xmlns:a16="http://schemas.microsoft.com/office/drawing/2014/main" id="{A17A8132-A514-49B5-AC17-F784CC2401DC}"/>
              </a:ext>
            </a:extLst>
          </p:cNvPr>
          <p:cNvSpPr>
            <a:spLocks xmlns:a="http://schemas.openxmlformats.org/drawingml/2006/main" noGrp="1"/>
          </p:cNvSpPr>
          <p:nvPr/>
        </p:nvSpPr>
        <p:spPr>
          <a:xfrm xmlns:a="http://schemas.openxmlformats.org/drawingml/2006/main">
            <a:off x="762000" y="3810000"/>
            <a:ext cx="32861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3F"/>
                </a:solidFill>
                <a:latin typeface="Microsoft YaHei"/>
                <a:ea typeface="Microsoft YaHei"/>
                <a:cs typeface="Microsoft YaHei"/>
              </a:defRPr>
            </a:pPr>
            <a:r>
              <a:rPr sz="2025" b="0">
                <a:solidFill>
                  <a:srgbClr val="14283F"/>
                </a:solidFill>
                <a:latin typeface="Microsoft YaHei"/>
                <a:ea typeface="Microsoft YaHei"/>
                <a:cs typeface="Microsoft YaHei"/>
              </a:rPr>
              <a:t>一定范围的低轨任务在任务结束后五年内完成处置。</a:t>
            </a:r>
          </a:p>
        </p:txBody>
      </p:sp>
      <p:sp>
        <p:nvSpPr>
          <p:cNvPr id="8" name="text-2023">
            <a:extLst xmlns:a="http://schemas.openxmlformats.org/drawingml/2006/main">
              <a:ext uri="{FF2B5EF4-FFF2-40B4-BE49-F238E27FC236}">
                <a16:creationId xmlns:a16="http://schemas.microsoft.com/office/drawing/2014/main" id="{4B3FF1CE-98C3-4027-ADA2-8614BC6CE642}"/>
              </a:ext>
            </a:extLst>
          </p:cNvPr>
          <p:cNvSpPr>
            <a:spLocks xmlns:a="http://schemas.openxmlformats.org/drawingml/2006/main" noGrp="1"/>
          </p:cNvSpPr>
          <p:nvPr/>
        </p:nvSpPr>
        <p:spPr>
          <a:xfrm xmlns:a="http://schemas.openxmlformats.org/drawingml/2006/main">
            <a:off x="4476750" y="1628775"/>
            <a:ext cx="3381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025" b="1">
                <a:solidFill>
                  <a:srgbClr val="5C5BFA"/>
                </a:solidFill>
                <a:latin typeface="Microsoft YaHei"/>
                <a:ea typeface="Microsoft YaHei"/>
                <a:cs typeface="Microsoft YaHei"/>
              </a:defRPr>
            </a:pPr>
            <a:r>
              <a:rPr sz="5025" b="1">
                <a:solidFill>
                  <a:srgbClr val="5C5BFA"/>
                </a:solidFill>
                <a:latin typeface="Microsoft YaHei"/>
                <a:ea typeface="Microsoft YaHei"/>
                <a:cs typeface="Microsoft YaHei"/>
              </a:rPr>
              <a:t>2023</a:t>
            </a:r>
          </a:p>
        </p:txBody>
      </p:sp>
      <p:sp>
        <p:nvSpPr>
          <p:cNvPr id="9" name="text-DISH执法先例">
            <a:extLst xmlns:a="http://schemas.openxmlformats.org/drawingml/2006/main">
              <a:ext uri="{FF2B5EF4-FFF2-40B4-BE49-F238E27FC236}">
                <a16:creationId xmlns:a16="http://schemas.microsoft.com/office/drawing/2014/main" id="{2481CB4D-AA4E-4A71-85E9-5CA986AB22F9}"/>
              </a:ext>
            </a:extLst>
          </p:cNvPr>
          <p:cNvSpPr>
            <a:spLocks xmlns:a="http://schemas.openxmlformats.org/drawingml/2006/main" noGrp="1"/>
          </p:cNvSpPr>
          <p:nvPr/>
        </p:nvSpPr>
        <p:spPr>
          <a:xfrm xmlns:a="http://schemas.openxmlformats.org/drawingml/2006/main">
            <a:off x="4476750" y="2781300"/>
            <a:ext cx="32861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73C79"/>
                </a:solidFill>
                <a:latin typeface="Microsoft YaHei"/>
                <a:ea typeface="Microsoft YaHei"/>
                <a:cs typeface="Microsoft YaHei"/>
              </a:defRPr>
            </a:pPr>
            <a:r>
              <a:rPr sz="2325" b="1">
                <a:solidFill>
                  <a:srgbClr val="073C79"/>
                </a:solidFill>
                <a:latin typeface="Microsoft YaHei"/>
                <a:ea typeface="Microsoft YaHei"/>
                <a:cs typeface="Microsoft YaHei"/>
              </a:rPr>
              <a:t>DISH执法先例</a:t>
            </a:r>
          </a:p>
        </p:txBody>
      </p:sp>
      <p:sp>
        <p:nvSpPr>
          <p:cNvPr id="10" name="text-未达到许可的处置轨道要求，达成1">
            <a:extLst xmlns:a="http://schemas.openxmlformats.org/drawingml/2006/main">
              <a:ext uri="{FF2B5EF4-FFF2-40B4-BE49-F238E27FC236}">
                <a16:creationId xmlns:a16="http://schemas.microsoft.com/office/drawing/2014/main" id="{3151DD49-6DAF-404C-901A-2D114AB85889}"/>
              </a:ext>
            </a:extLst>
          </p:cNvPr>
          <p:cNvSpPr>
            <a:spLocks xmlns:a="http://schemas.openxmlformats.org/drawingml/2006/main" noGrp="1"/>
          </p:cNvSpPr>
          <p:nvPr/>
        </p:nvSpPr>
        <p:spPr>
          <a:xfrm xmlns:a="http://schemas.openxmlformats.org/drawingml/2006/main">
            <a:off x="4476750" y="3810000"/>
            <a:ext cx="32861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3F"/>
                </a:solidFill>
                <a:latin typeface="Microsoft YaHei"/>
                <a:ea typeface="Microsoft YaHei"/>
                <a:cs typeface="Microsoft YaHei"/>
              </a:defRPr>
            </a:pPr>
            <a:r>
              <a:rPr sz="2025" b="0">
                <a:solidFill>
                  <a:srgbClr val="14283F"/>
                </a:solidFill>
                <a:latin typeface="Microsoft YaHei"/>
                <a:ea typeface="Microsoft YaHei"/>
                <a:cs typeface="Microsoft YaHei"/>
              </a:rPr>
              <a:t>未达到许可的处置轨道要求，达成15万美元罚款和解。</a:t>
            </a:r>
          </a:p>
        </p:txBody>
      </p:sp>
      <p:sp>
        <p:nvSpPr>
          <p:cNvPr id="11" name="text-2024">
            <a:extLst xmlns:a="http://schemas.openxmlformats.org/drawingml/2006/main">
              <a:ext uri="{FF2B5EF4-FFF2-40B4-BE49-F238E27FC236}">
                <a16:creationId xmlns:a16="http://schemas.microsoft.com/office/drawing/2014/main" id="{4512D425-2FEF-46A7-AB2E-A0231E1C8A6B}"/>
              </a:ext>
            </a:extLst>
          </p:cNvPr>
          <p:cNvSpPr>
            <a:spLocks xmlns:a="http://schemas.openxmlformats.org/drawingml/2006/main" noGrp="1"/>
          </p:cNvSpPr>
          <p:nvPr/>
        </p:nvSpPr>
        <p:spPr>
          <a:xfrm xmlns:a="http://schemas.openxmlformats.org/drawingml/2006/main">
            <a:off x="8191500" y="1628775"/>
            <a:ext cx="3381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025" b="1">
                <a:solidFill>
                  <a:srgbClr val="ED8B00"/>
                </a:solidFill>
                <a:latin typeface="Microsoft YaHei"/>
                <a:ea typeface="Microsoft YaHei"/>
                <a:cs typeface="Microsoft YaHei"/>
              </a:defRPr>
            </a:pPr>
            <a:r>
              <a:rPr sz="5025" b="1">
                <a:solidFill>
                  <a:srgbClr val="ED8B00"/>
                </a:solidFill>
                <a:latin typeface="Microsoft YaHei"/>
                <a:ea typeface="Microsoft YaHei"/>
                <a:cs typeface="Microsoft YaHei"/>
              </a:rPr>
              <a:t>2024</a:t>
            </a:r>
          </a:p>
        </p:txBody>
      </p:sp>
      <p:sp>
        <p:nvSpPr>
          <p:cNvPr id="12" name="text-TraCSS初始服务">
            <a:extLst xmlns:a="http://schemas.openxmlformats.org/drawingml/2006/main">
              <a:ext uri="{FF2B5EF4-FFF2-40B4-BE49-F238E27FC236}">
                <a16:creationId xmlns:a16="http://schemas.microsoft.com/office/drawing/2014/main" id="{186072E2-9872-4A4E-8AAA-DEE68975C8A2}"/>
              </a:ext>
            </a:extLst>
          </p:cNvPr>
          <p:cNvSpPr>
            <a:spLocks xmlns:a="http://schemas.openxmlformats.org/drawingml/2006/main" noGrp="1"/>
          </p:cNvSpPr>
          <p:nvPr/>
        </p:nvSpPr>
        <p:spPr>
          <a:xfrm xmlns:a="http://schemas.openxmlformats.org/drawingml/2006/main">
            <a:off x="8191500" y="2781300"/>
            <a:ext cx="32861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73C79"/>
                </a:solidFill>
                <a:latin typeface="Microsoft YaHei"/>
                <a:ea typeface="Microsoft YaHei"/>
                <a:cs typeface="Microsoft YaHei"/>
              </a:defRPr>
            </a:pPr>
            <a:r>
              <a:rPr sz="2325" b="1">
                <a:solidFill>
                  <a:srgbClr val="073C79"/>
                </a:solidFill>
                <a:latin typeface="Microsoft YaHei"/>
                <a:ea typeface="Microsoft YaHei"/>
                <a:cs typeface="Microsoft YaHei"/>
              </a:rPr>
              <a:t>TraCSS初始服务</a:t>
            </a:r>
          </a:p>
        </p:txBody>
      </p:sp>
      <p:sp>
        <p:nvSpPr>
          <p:cNvPr id="13" name="text-美国商务部开始向测试运营者提供民">
            <a:extLst xmlns:a="http://schemas.openxmlformats.org/drawingml/2006/main">
              <a:ext uri="{FF2B5EF4-FFF2-40B4-BE49-F238E27FC236}">
                <a16:creationId xmlns:a16="http://schemas.microsoft.com/office/drawing/2014/main" id="{DE67CC0A-78D4-4005-B039-825D4268EC7F}"/>
              </a:ext>
            </a:extLst>
          </p:cNvPr>
          <p:cNvSpPr>
            <a:spLocks xmlns:a="http://schemas.openxmlformats.org/drawingml/2006/main" noGrp="1"/>
          </p:cNvSpPr>
          <p:nvPr/>
        </p:nvSpPr>
        <p:spPr>
          <a:xfrm xmlns:a="http://schemas.openxmlformats.org/drawingml/2006/main">
            <a:off x="8191500" y="3810000"/>
            <a:ext cx="32861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3F"/>
                </a:solidFill>
                <a:latin typeface="Microsoft YaHei"/>
                <a:ea typeface="Microsoft YaHei"/>
                <a:cs typeface="Microsoft YaHei"/>
              </a:defRPr>
            </a:pPr>
            <a:r>
              <a:rPr sz="2025" b="0">
                <a:solidFill>
                  <a:srgbClr val="14283F"/>
                </a:solidFill>
                <a:latin typeface="Microsoft YaHei"/>
                <a:ea typeface="Microsoft YaHei"/>
                <a:cs typeface="Microsoft YaHei"/>
              </a:rPr>
              <a:t>美国商务部开始向测试运营者提供民用空间安全服务。</a:t>
            </a:r>
          </a:p>
        </p:txBody>
      </p:sp>
    </p:spTree>
    <p:extLst>
      <p:ext uri="{BB962C8B-B14F-4D97-AF65-F5344CB8AC3E}">
        <p14:creationId xmlns:p14="http://schemas.microsoft.com/office/powerpoint/2010/main" val="3868327217"/>
      </p:ext>
    </p:extLst>
  </p:cSld>
</p:sld>
</file>

<file path=ppt/slides/slide26.xml><?xml version="1.0" encoding="utf-8"?>
<p:sld xmlns:p="http://schemas.openxmlformats.org/presentationml/2006/main" showMasterSp="0">
  <p:cSld>
    <p:spTree>
      <p:nvGrpSpPr>
        <p:cNvPr id="1" name=""/>
        <p:cNvGrpSpPr/>
        <p:nvPr/>
      </p:nvGrpSpPr>
      <p:grpSpPr>
        <a:xfrm xmlns:a="http://schemas.openxmlformats.org/drawingml/2006/main"/>
      </p:grpSpPr>
      <p:sp>
        <p:nvSpPr>
          <p:cNvPr id="17"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0"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1"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42"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9" name="text-制度重构建议">
            <a:extLst xmlns:a="http://schemas.openxmlformats.org/drawingml/2006/main">
              <a:ext uri="{FF2B5EF4-FFF2-40B4-BE49-F238E27FC236}">
                <a16:creationId xmlns:a16="http://schemas.microsoft.com/office/drawing/2014/main" id="{9F40144F-B09E-4D51-AFC6-A385BBD90BCB}"/>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制度重构建议</a:t>
            </a:r>
          </a:p>
        </p:txBody>
      </p:sp>
      <p:sp>
        <p:nvSpPr>
          <p:cNvPr id="2" name="text-“谁发射、谁清理”应落实为可执行">
            <a:extLst xmlns:a="http://schemas.openxmlformats.org/drawingml/2006/main">
              <a:ext uri="{FF2B5EF4-FFF2-40B4-BE49-F238E27FC236}">
                <a16:creationId xmlns:a16="http://schemas.microsoft.com/office/drawing/2014/main" id="{33F32AE9-DDF9-422C-B020-9594FE62D767}"/>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“谁发射、谁清理”应落实为可执行的处置责任，并明确所有权、同意与费用。</a:t>
            </a:r>
          </a:p>
        </p:txBody>
      </p:sp>
      <p:sp>
        <p:nvSpPr>
          <p:cNvPr id="3" name="text-监管缺口与制度重构  /  监管">
            <a:extLst xmlns:a="http://schemas.openxmlformats.org/drawingml/2006/main">
              <a:ext uri="{FF2B5EF4-FFF2-40B4-BE49-F238E27FC236}">
                <a16:creationId xmlns:a16="http://schemas.microsoft.com/office/drawing/2014/main" id="{BD091669-8BE5-4AA9-BD68-A088739B3E89}"/>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监管缺口与制度重构  /  监管专家</a:t>
            </a:r>
          </a:p>
        </p:txBody>
      </p:sp>
      <p:sp>
        <p:nvSpPr>
          <p:cNvPr id="4" name="text-24">
            <a:extLst xmlns:a="http://schemas.openxmlformats.org/drawingml/2006/main">
              <a:ext uri="{FF2B5EF4-FFF2-40B4-BE49-F238E27FC236}">
                <a16:creationId xmlns:a16="http://schemas.microsoft.com/office/drawing/2014/main" id="{01339EFB-39E5-4418-8B1F-280A5DE2355E}"/>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24</a:t>
            </a:r>
          </a:p>
        </p:txBody>
      </p:sp>
      <p:sp>
        <p:nvSpPr>
          <p:cNvPr id="5" name="text-01">
            <a:extLst xmlns:a="http://schemas.openxmlformats.org/drawingml/2006/main">
              <a:ext uri="{FF2B5EF4-FFF2-40B4-BE49-F238E27FC236}">
                <a16:creationId xmlns:a16="http://schemas.microsoft.com/office/drawing/2014/main" id="{FFD9C370-E639-44B5-9EB3-FBE3D9D59FA2}"/>
              </a:ext>
            </a:extLst>
          </p:cNvPr>
          <p:cNvSpPr>
            <a:spLocks xmlns:a="http://schemas.openxmlformats.org/drawingml/2006/main" noGrp="1"/>
          </p:cNvSpPr>
          <p:nvPr/>
        </p:nvSpPr>
        <p:spPr>
          <a:xfrm xmlns:a="http://schemas.openxmlformats.org/drawingml/2006/main">
            <a:off x="762000" y="1695450"/>
            <a:ext cx="647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5C5BFA"/>
                </a:solidFill>
                <a:latin typeface="Microsoft YaHei"/>
                <a:ea typeface="Microsoft YaHei"/>
                <a:cs typeface="Microsoft YaHei"/>
              </a:defRPr>
            </a:pPr>
            <a:r>
              <a:rPr sz="3225" b="1">
                <a:solidFill>
                  <a:srgbClr val="5C5BFA"/>
                </a:solidFill>
                <a:latin typeface="Microsoft YaHei"/>
                <a:ea typeface="Microsoft YaHei"/>
                <a:cs typeface="Microsoft YaHei"/>
              </a:rPr>
              <a:t>01</a:t>
            </a:r>
          </a:p>
        </p:txBody>
      </p:sp>
      <p:sp>
        <p:nvSpPr>
          <p:cNvPr id="6" name="text-风险定价">
            <a:extLst xmlns:a="http://schemas.openxmlformats.org/drawingml/2006/main">
              <a:ext uri="{FF2B5EF4-FFF2-40B4-BE49-F238E27FC236}">
                <a16:creationId xmlns:a16="http://schemas.microsoft.com/office/drawing/2014/main" id="{01C01C3F-027D-4291-95BE-344516E809DB}"/>
              </a:ext>
            </a:extLst>
          </p:cNvPr>
          <p:cNvSpPr>
            <a:spLocks xmlns:a="http://schemas.openxmlformats.org/drawingml/2006/main" noGrp="1"/>
          </p:cNvSpPr>
          <p:nvPr/>
        </p:nvSpPr>
        <p:spPr>
          <a:xfrm xmlns:a="http://schemas.openxmlformats.org/drawingml/2006/main">
            <a:off x="1581150" y="1695450"/>
            <a:ext cx="4143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73C79"/>
                </a:solidFill>
                <a:latin typeface="Microsoft YaHei"/>
                <a:ea typeface="Microsoft YaHei"/>
                <a:cs typeface="Microsoft YaHei"/>
              </a:defRPr>
            </a:pPr>
            <a:r>
              <a:rPr sz="2400" b="1">
                <a:solidFill>
                  <a:srgbClr val="073C79"/>
                </a:solidFill>
                <a:latin typeface="Microsoft YaHei"/>
                <a:ea typeface="Microsoft YaHei"/>
                <a:cs typeface="Microsoft YaHei"/>
              </a:rPr>
              <a:t>风险定价</a:t>
            </a:r>
          </a:p>
        </p:txBody>
      </p:sp>
      <p:sp>
        <p:nvSpPr>
          <p:cNvPr id="7" name="text-按轨道、在轨时间和碰撞后果计费，">
            <a:extLst xmlns:a="http://schemas.openxmlformats.org/drawingml/2006/main">
              <a:ext uri="{FF2B5EF4-FFF2-40B4-BE49-F238E27FC236}">
                <a16:creationId xmlns:a16="http://schemas.microsoft.com/office/drawing/2014/main" id="{E6BEE62C-7900-4CEA-972F-A78D5C17A357}"/>
              </a:ext>
            </a:extLst>
          </p:cNvPr>
          <p:cNvSpPr>
            <a:spLocks xmlns:a="http://schemas.openxmlformats.org/drawingml/2006/main" noGrp="1"/>
          </p:cNvSpPr>
          <p:nvPr/>
        </p:nvSpPr>
        <p:spPr>
          <a:xfrm xmlns:a="http://schemas.openxmlformats.org/drawingml/2006/main">
            <a:off x="1581150" y="2371725"/>
            <a:ext cx="41433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3F"/>
                </a:solidFill>
                <a:latin typeface="Microsoft YaHei"/>
                <a:ea typeface="Microsoft YaHei"/>
                <a:cs typeface="Microsoft YaHei"/>
              </a:defRPr>
            </a:pPr>
            <a:r>
              <a:rPr sz="2025" b="0">
                <a:solidFill>
                  <a:srgbClr val="14283F"/>
                </a:solidFill>
                <a:latin typeface="Microsoft YaHei"/>
                <a:ea typeface="Microsoft YaHei"/>
                <a:cs typeface="Microsoft YaHei"/>
              </a:rPr>
              <a:t>按轨道、在轨时间和碰撞后果计费，配合差异化风险上限。</a:t>
            </a:r>
          </a:p>
        </p:txBody>
      </p:sp>
      <p:sp>
        <p:nvSpPr>
          <p:cNvPr id="8" name="text-02">
            <a:extLst xmlns:a="http://schemas.openxmlformats.org/drawingml/2006/main">
              <a:ext uri="{FF2B5EF4-FFF2-40B4-BE49-F238E27FC236}">
                <a16:creationId xmlns:a16="http://schemas.microsoft.com/office/drawing/2014/main" id="{D5C31742-CEF3-4ADA-8F53-E56389ACE360}"/>
              </a:ext>
            </a:extLst>
          </p:cNvPr>
          <p:cNvSpPr>
            <a:spLocks xmlns:a="http://schemas.openxmlformats.org/drawingml/2006/main" noGrp="1"/>
          </p:cNvSpPr>
          <p:nvPr/>
        </p:nvSpPr>
        <p:spPr>
          <a:xfrm xmlns:a="http://schemas.openxmlformats.org/drawingml/2006/main">
            <a:off x="6524625" y="1695450"/>
            <a:ext cx="647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5C5BFA"/>
                </a:solidFill>
                <a:latin typeface="Microsoft YaHei"/>
                <a:ea typeface="Microsoft YaHei"/>
                <a:cs typeface="Microsoft YaHei"/>
              </a:defRPr>
            </a:pPr>
            <a:r>
              <a:rPr sz="3225" b="1">
                <a:solidFill>
                  <a:srgbClr val="5C5BFA"/>
                </a:solidFill>
                <a:latin typeface="Microsoft YaHei"/>
                <a:ea typeface="Microsoft YaHei"/>
                <a:cs typeface="Microsoft YaHei"/>
              </a:rPr>
              <a:t>02</a:t>
            </a:r>
          </a:p>
        </p:txBody>
      </p:sp>
      <p:sp>
        <p:nvSpPr>
          <p:cNvPr id="9" name="text-处置保证">
            <a:extLst xmlns:a="http://schemas.openxmlformats.org/drawingml/2006/main">
              <a:ext uri="{FF2B5EF4-FFF2-40B4-BE49-F238E27FC236}">
                <a16:creationId xmlns:a16="http://schemas.microsoft.com/office/drawing/2014/main" id="{4BE17ED9-4FE4-4A8C-BF53-46D809B8D9E3}"/>
              </a:ext>
            </a:extLst>
          </p:cNvPr>
          <p:cNvSpPr>
            <a:spLocks xmlns:a="http://schemas.openxmlformats.org/drawingml/2006/main" noGrp="1"/>
          </p:cNvSpPr>
          <p:nvPr/>
        </p:nvSpPr>
        <p:spPr>
          <a:xfrm xmlns:a="http://schemas.openxmlformats.org/drawingml/2006/main">
            <a:off x="7343775" y="1695450"/>
            <a:ext cx="4143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73C79"/>
                </a:solidFill>
                <a:latin typeface="Microsoft YaHei"/>
                <a:ea typeface="Microsoft YaHei"/>
                <a:cs typeface="Microsoft YaHei"/>
              </a:defRPr>
            </a:pPr>
            <a:r>
              <a:rPr sz="2400" b="1">
                <a:solidFill>
                  <a:srgbClr val="073C79"/>
                </a:solidFill>
                <a:latin typeface="Microsoft YaHei"/>
                <a:ea typeface="Microsoft YaHei"/>
                <a:cs typeface="Microsoft YaHei"/>
              </a:rPr>
              <a:t>处置保证</a:t>
            </a:r>
          </a:p>
        </p:txBody>
      </p:sp>
      <p:sp>
        <p:nvSpPr>
          <p:cNvPr id="10" name="text-许可前缴纳处置保证金，验证完成后">
            <a:extLst xmlns:a="http://schemas.openxmlformats.org/drawingml/2006/main">
              <a:ext uri="{FF2B5EF4-FFF2-40B4-BE49-F238E27FC236}">
                <a16:creationId xmlns:a16="http://schemas.microsoft.com/office/drawing/2014/main" id="{34EACDB5-F70C-4EDF-8DBF-2925A7D8DC28}"/>
              </a:ext>
            </a:extLst>
          </p:cNvPr>
          <p:cNvSpPr>
            <a:spLocks xmlns:a="http://schemas.openxmlformats.org/drawingml/2006/main" noGrp="1"/>
          </p:cNvSpPr>
          <p:nvPr/>
        </p:nvSpPr>
        <p:spPr>
          <a:xfrm xmlns:a="http://schemas.openxmlformats.org/drawingml/2006/main">
            <a:off x="7343775" y="2371725"/>
            <a:ext cx="41433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3F"/>
                </a:solidFill>
                <a:latin typeface="Microsoft YaHei"/>
                <a:ea typeface="Microsoft YaHei"/>
                <a:cs typeface="Microsoft YaHei"/>
              </a:defRPr>
            </a:pPr>
            <a:r>
              <a:rPr sz="2025" b="0">
                <a:solidFill>
                  <a:srgbClr val="14283F"/>
                </a:solidFill>
                <a:latin typeface="Microsoft YaHei"/>
                <a:ea typeface="Microsoft YaHei"/>
                <a:cs typeface="Microsoft YaHei"/>
              </a:rPr>
              <a:t>许可前缴纳处置保证金，验证完成后返还，失效时启用补救资金。</a:t>
            </a:r>
          </a:p>
        </p:txBody>
      </p:sp>
      <p:sp>
        <p:nvSpPr>
          <p:cNvPr id="11" name="text-03">
            <a:extLst xmlns:a="http://schemas.openxmlformats.org/drawingml/2006/main">
              <a:ext uri="{FF2B5EF4-FFF2-40B4-BE49-F238E27FC236}">
                <a16:creationId xmlns:a16="http://schemas.microsoft.com/office/drawing/2014/main" id="{4CD1B82B-47B9-4212-8F7F-8F8D95A82ADF}"/>
              </a:ext>
            </a:extLst>
          </p:cNvPr>
          <p:cNvSpPr>
            <a:spLocks xmlns:a="http://schemas.openxmlformats.org/drawingml/2006/main" noGrp="1"/>
          </p:cNvSpPr>
          <p:nvPr/>
        </p:nvSpPr>
        <p:spPr>
          <a:xfrm xmlns:a="http://schemas.openxmlformats.org/drawingml/2006/main">
            <a:off x="762000" y="3552825"/>
            <a:ext cx="647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5C5BFA"/>
                </a:solidFill>
                <a:latin typeface="Microsoft YaHei"/>
                <a:ea typeface="Microsoft YaHei"/>
                <a:cs typeface="Microsoft YaHei"/>
              </a:defRPr>
            </a:pPr>
            <a:r>
              <a:rPr sz="3225" b="1">
                <a:solidFill>
                  <a:srgbClr val="5C5BFA"/>
                </a:solidFill>
                <a:latin typeface="Microsoft YaHei"/>
                <a:ea typeface="Microsoft YaHei"/>
                <a:cs typeface="Microsoft YaHei"/>
              </a:rPr>
              <a:t>03</a:t>
            </a:r>
          </a:p>
        </p:txBody>
      </p:sp>
      <p:sp>
        <p:nvSpPr>
          <p:cNvPr id="12" name="text-独立协调">
            <a:extLst xmlns:a="http://schemas.openxmlformats.org/drawingml/2006/main">
              <a:ext uri="{FF2B5EF4-FFF2-40B4-BE49-F238E27FC236}">
                <a16:creationId xmlns:a16="http://schemas.microsoft.com/office/drawing/2014/main" id="{F0EC83B5-D0E9-4E56-A0EC-C85F0E774A37}"/>
              </a:ext>
            </a:extLst>
          </p:cNvPr>
          <p:cNvSpPr>
            <a:spLocks xmlns:a="http://schemas.openxmlformats.org/drawingml/2006/main" noGrp="1"/>
          </p:cNvSpPr>
          <p:nvPr/>
        </p:nvSpPr>
        <p:spPr>
          <a:xfrm xmlns:a="http://schemas.openxmlformats.org/drawingml/2006/main">
            <a:off x="1581150" y="3552825"/>
            <a:ext cx="4143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73C79"/>
                </a:solidFill>
                <a:latin typeface="Microsoft YaHei"/>
                <a:ea typeface="Microsoft YaHei"/>
                <a:cs typeface="Microsoft YaHei"/>
              </a:defRPr>
            </a:pPr>
            <a:r>
              <a:rPr sz="2400" b="1">
                <a:solidFill>
                  <a:srgbClr val="073C79"/>
                </a:solidFill>
                <a:latin typeface="Microsoft YaHei"/>
                <a:ea typeface="Microsoft YaHei"/>
                <a:cs typeface="Microsoft YaHei"/>
              </a:rPr>
              <a:t>独立协调</a:t>
            </a:r>
          </a:p>
        </p:txBody>
      </p:sp>
      <p:sp>
        <p:nvSpPr>
          <p:cNvPr id="13" name="text-公共SSA与商业数据交叉校验，建">
            <a:extLst xmlns:a="http://schemas.openxmlformats.org/drawingml/2006/main">
              <a:ext uri="{FF2B5EF4-FFF2-40B4-BE49-F238E27FC236}">
                <a16:creationId xmlns:a16="http://schemas.microsoft.com/office/drawing/2014/main" id="{0135AF3C-F1EB-4FE8-8410-24F8625153B4}"/>
              </a:ext>
            </a:extLst>
          </p:cNvPr>
          <p:cNvSpPr>
            <a:spLocks xmlns:a="http://schemas.openxmlformats.org/drawingml/2006/main" noGrp="1"/>
          </p:cNvSpPr>
          <p:nvPr/>
        </p:nvSpPr>
        <p:spPr>
          <a:xfrm xmlns:a="http://schemas.openxmlformats.org/drawingml/2006/main">
            <a:off x="1581150" y="4229100"/>
            <a:ext cx="41433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3F"/>
                </a:solidFill>
                <a:latin typeface="Microsoft YaHei"/>
                <a:ea typeface="Microsoft YaHei"/>
                <a:cs typeface="Microsoft YaHei"/>
              </a:defRPr>
            </a:pPr>
            <a:r>
              <a:rPr sz="2025" b="0">
                <a:solidFill>
                  <a:srgbClr val="14283F"/>
                </a:solidFill>
                <a:latin typeface="Microsoft YaHei"/>
                <a:ea typeface="Microsoft YaHei"/>
                <a:cs typeface="Microsoft YaHei"/>
              </a:rPr>
              <a:t>公共SSA与商业数据交叉校验，建立开放协议和争议处理机制。</a:t>
            </a:r>
          </a:p>
        </p:txBody>
      </p:sp>
      <p:sp>
        <p:nvSpPr>
          <p:cNvPr id="14" name="text-04">
            <a:extLst xmlns:a="http://schemas.openxmlformats.org/drawingml/2006/main">
              <a:ext uri="{FF2B5EF4-FFF2-40B4-BE49-F238E27FC236}">
                <a16:creationId xmlns:a16="http://schemas.microsoft.com/office/drawing/2014/main" id="{8FA5C05F-E5D2-4A89-9219-97F1FC4D386A}"/>
              </a:ext>
            </a:extLst>
          </p:cNvPr>
          <p:cNvSpPr>
            <a:spLocks xmlns:a="http://schemas.openxmlformats.org/drawingml/2006/main" noGrp="1"/>
          </p:cNvSpPr>
          <p:nvPr/>
        </p:nvSpPr>
        <p:spPr>
          <a:xfrm xmlns:a="http://schemas.openxmlformats.org/drawingml/2006/main">
            <a:off x="6524625" y="3552825"/>
            <a:ext cx="647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5C5BFA"/>
                </a:solidFill>
                <a:latin typeface="Microsoft YaHei"/>
                <a:ea typeface="Microsoft YaHei"/>
                <a:cs typeface="Microsoft YaHei"/>
              </a:defRPr>
            </a:pPr>
            <a:r>
              <a:rPr sz="3225" b="1">
                <a:solidFill>
                  <a:srgbClr val="5C5BFA"/>
                </a:solidFill>
                <a:latin typeface="Microsoft YaHei"/>
                <a:ea typeface="Microsoft YaHei"/>
                <a:cs typeface="Microsoft YaHei"/>
              </a:rPr>
              <a:t>04</a:t>
            </a:r>
          </a:p>
        </p:txBody>
      </p:sp>
      <p:sp>
        <p:nvSpPr>
          <p:cNvPr id="15" name="text-责任可验">
            <a:extLst xmlns:a="http://schemas.openxmlformats.org/drawingml/2006/main">
              <a:ext uri="{FF2B5EF4-FFF2-40B4-BE49-F238E27FC236}">
                <a16:creationId xmlns:a16="http://schemas.microsoft.com/office/drawing/2014/main" id="{C7E8B864-99A9-4D2A-BC42-7FC424C97965}"/>
              </a:ext>
            </a:extLst>
          </p:cNvPr>
          <p:cNvSpPr>
            <a:spLocks xmlns:a="http://schemas.openxmlformats.org/drawingml/2006/main" noGrp="1"/>
          </p:cNvSpPr>
          <p:nvPr/>
        </p:nvSpPr>
        <p:spPr>
          <a:xfrm xmlns:a="http://schemas.openxmlformats.org/drawingml/2006/main">
            <a:off x="7343775" y="3552825"/>
            <a:ext cx="4143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73C79"/>
                </a:solidFill>
                <a:latin typeface="Microsoft YaHei"/>
                <a:ea typeface="Microsoft YaHei"/>
                <a:cs typeface="Microsoft YaHei"/>
              </a:defRPr>
            </a:pPr>
            <a:r>
              <a:rPr sz="2400" b="1">
                <a:solidFill>
                  <a:srgbClr val="073C79"/>
                </a:solidFill>
                <a:latin typeface="Microsoft YaHei"/>
                <a:ea typeface="Microsoft YaHei"/>
                <a:cs typeface="Microsoft YaHei"/>
              </a:rPr>
              <a:t>责任可验</a:t>
            </a:r>
          </a:p>
        </p:txBody>
      </p:sp>
      <p:sp>
        <p:nvSpPr>
          <p:cNvPr id="16" name="text-统一披露口径、外部审计和异常人工">
            <a:extLst xmlns:a="http://schemas.openxmlformats.org/drawingml/2006/main">
              <a:ext uri="{FF2B5EF4-FFF2-40B4-BE49-F238E27FC236}">
                <a16:creationId xmlns:a16="http://schemas.microsoft.com/office/drawing/2014/main" id="{12489925-ABE5-47E1-85F9-0FCC668E76D4}"/>
              </a:ext>
            </a:extLst>
          </p:cNvPr>
          <p:cNvSpPr>
            <a:spLocks xmlns:a="http://schemas.openxmlformats.org/drawingml/2006/main" noGrp="1"/>
          </p:cNvSpPr>
          <p:nvPr/>
        </p:nvSpPr>
        <p:spPr>
          <a:xfrm xmlns:a="http://schemas.openxmlformats.org/drawingml/2006/main">
            <a:off x="7343775" y="4229100"/>
            <a:ext cx="41433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3F"/>
                </a:solidFill>
                <a:latin typeface="Microsoft YaHei"/>
                <a:ea typeface="Microsoft YaHei"/>
                <a:cs typeface="Microsoft YaHei"/>
              </a:defRPr>
            </a:pPr>
            <a:r>
              <a:rPr sz="2025" b="0">
                <a:solidFill>
                  <a:srgbClr val="14283F"/>
                </a:solidFill>
                <a:latin typeface="Microsoft YaHei"/>
                <a:ea typeface="Microsoft YaHei"/>
                <a:cs typeface="Microsoft YaHei"/>
              </a:rPr>
              <a:t>统一披露口径、外部审计和异常人工复核，处罚违约与虚假报告。</a:t>
            </a:r>
          </a:p>
        </p:txBody>
      </p:sp>
    </p:spTree>
    <p:extLst>
      <p:ext uri="{BB962C8B-B14F-4D97-AF65-F5344CB8AC3E}">
        <p14:creationId xmlns:p14="http://schemas.microsoft.com/office/powerpoint/2010/main" val="3868327217"/>
      </p:ext>
    </p:extLst>
  </p:cSld>
</p:sld>
</file>

<file path=ppt/slides/slide27.xml><?xml version="1.0" encoding="utf-8"?>
<p:sld xmlns:p="http://schemas.openxmlformats.org/presentationml/2006/main" showMasterSp="0">
  <p:cSld>
    <p:spTree>
      <p:nvGrpSpPr>
        <p:cNvPr id="1" name=""/>
        <p:cNvGrpSpPr/>
        <p:nvPr/>
      </p:nvGrpSpPr>
      <p:grpSpPr>
        <a:xfrm xmlns:a="http://schemas.openxmlformats.org/drawingml/2006/main"/>
      </p:grpSpPr>
      <p:sp>
        <p:nvSpPr>
          <p:cNvPr id="13"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5"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5" name="text-轨道扩张带来的工程伦理警示">
            <a:extLst xmlns:a="http://schemas.openxmlformats.org/drawingml/2006/main">
              <a:ext uri="{FF2B5EF4-FFF2-40B4-BE49-F238E27FC236}">
                <a16:creationId xmlns:a16="http://schemas.microsoft.com/office/drawing/2014/main" id="{ECD8F130-306E-4B36-87C2-93D45289D829}"/>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轨道扩张带来的工程伦理警示</a:t>
            </a:r>
          </a:p>
        </p:txBody>
      </p:sp>
      <p:sp>
        <p:nvSpPr>
          <p:cNvPr id="2" name="text-危机并非由“卫星多”单独决定，而">
            <a:extLst xmlns:a="http://schemas.openxmlformats.org/drawingml/2006/main">
              <a:ext uri="{FF2B5EF4-FFF2-40B4-BE49-F238E27FC236}">
                <a16:creationId xmlns:a16="http://schemas.microsoft.com/office/drawing/2014/main" id="{9E02E1F2-63D8-4428-9652-F0EC52668838}"/>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危机并非由“卫星多”单独决定，而是规模扩张与治理能力不匹配的结果。</a:t>
            </a:r>
          </a:p>
        </p:txBody>
      </p:sp>
      <p:sp>
        <p:nvSpPr>
          <p:cNvPr id="3" name="text-总结与工程伦理闭环  /  总结">
            <a:extLst xmlns:a="http://schemas.openxmlformats.org/drawingml/2006/main">
              <a:ext uri="{FF2B5EF4-FFF2-40B4-BE49-F238E27FC236}">
                <a16:creationId xmlns:a16="http://schemas.microsoft.com/office/drawing/2014/main" id="{ED65CAA1-C0BB-4D7F-944B-86A2A7115C53}"/>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总结与工程伦理闭环  /  总结发言人</a:t>
            </a:r>
          </a:p>
        </p:txBody>
      </p:sp>
      <p:sp>
        <p:nvSpPr>
          <p:cNvPr id="4" name="text-25">
            <a:extLst xmlns:a="http://schemas.openxmlformats.org/drawingml/2006/main">
              <a:ext uri="{FF2B5EF4-FFF2-40B4-BE49-F238E27FC236}">
                <a16:creationId xmlns:a16="http://schemas.microsoft.com/office/drawing/2014/main" id="{3EE8DBB2-972E-42C5-A2AC-2B1AE5D2D93E}"/>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25</a:t>
            </a:r>
          </a:p>
        </p:txBody>
      </p:sp>
      <p:sp>
        <p:nvSpPr>
          <p:cNvPr id="5" name="text-技术层">
            <a:extLst xmlns:a="http://schemas.openxmlformats.org/drawingml/2006/main">
              <a:ext uri="{FF2B5EF4-FFF2-40B4-BE49-F238E27FC236}">
                <a16:creationId xmlns:a16="http://schemas.microsoft.com/office/drawing/2014/main" id="{60C8986F-0A89-42AA-B64B-6B14FDB67EDA}"/>
              </a:ext>
            </a:extLst>
          </p:cNvPr>
          <p:cNvSpPr>
            <a:spLocks xmlns:a="http://schemas.openxmlformats.org/drawingml/2006/main" noGrp="1"/>
          </p:cNvSpPr>
          <p:nvPr/>
        </p:nvSpPr>
        <p:spPr>
          <a:xfrm xmlns:a="http://schemas.openxmlformats.org/drawingml/2006/main">
            <a:off x="762000" y="1609725"/>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73C79"/>
                </a:solidFill>
                <a:latin typeface="Microsoft YaHei"/>
                <a:ea typeface="Microsoft YaHei"/>
                <a:cs typeface="Microsoft YaHei"/>
              </a:defRPr>
            </a:pPr>
            <a:r>
              <a:rPr sz="2400" b="1">
                <a:solidFill>
                  <a:srgbClr val="073C79"/>
                </a:solidFill>
                <a:latin typeface="Microsoft YaHei"/>
                <a:ea typeface="Microsoft YaHei"/>
                <a:cs typeface="Microsoft YaHei"/>
              </a:rPr>
              <a:t>技术层</a:t>
            </a:r>
          </a:p>
        </p:txBody>
      </p:sp>
      <p:sp>
        <p:nvSpPr>
          <p:cNvPr id="6" name="text-处置失效、预测不确定性与共同软件">
            <a:extLst xmlns:a="http://schemas.openxmlformats.org/drawingml/2006/main">
              <a:ext uri="{FF2B5EF4-FFF2-40B4-BE49-F238E27FC236}">
                <a16:creationId xmlns:a16="http://schemas.microsoft.com/office/drawing/2014/main" id="{CF2F9F42-2428-43C5-A88B-40B6AD629CDA}"/>
              </a:ext>
            </a:extLst>
          </p:cNvPr>
          <p:cNvSpPr>
            <a:spLocks xmlns:a="http://schemas.openxmlformats.org/drawingml/2006/main" noGrp="1"/>
          </p:cNvSpPr>
          <p:nvPr/>
        </p:nvSpPr>
        <p:spPr>
          <a:xfrm xmlns:a="http://schemas.openxmlformats.org/drawingml/2006/main">
            <a:off x="3143250" y="1609725"/>
            <a:ext cx="8286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处置失效、预测不确定性与共同软件故障，可能成为系统风险入口。</a:t>
            </a:r>
          </a:p>
        </p:txBody>
      </p:sp>
      <p:sp>
        <p:nvSpPr>
          <p:cNvPr id="7" name="text-影响层">
            <a:extLst xmlns:a="http://schemas.openxmlformats.org/drawingml/2006/main">
              <a:ext uri="{FF2B5EF4-FFF2-40B4-BE49-F238E27FC236}">
                <a16:creationId xmlns:a16="http://schemas.microsoft.com/office/drawing/2014/main" id="{88E06DD1-1C9A-4124-B0B0-B8DC79871937}"/>
              </a:ext>
            </a:extLst>
          </p:cNvPr>
          <p:cNvSpPr>
            <a:spLocks xmlns:a="http://schemas.openxmlformats.org/drawingml/2006/main" noGrp="1"/>
          </p:cNvSpPr>
          <p:nvPr/>
        </p:nvSpPr>
        <p:spPr>
          <a:xfrm xmlns:a="http://schemas.openxmlformats.org/drawingml/2006/main">
            <a:off x="762000" y="25527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5C5BFA"/>
                </a:solidFill>
                <a:latin typeface="Microsoft YaHei"/>
                <a:ea typeface="Microsoft YaHei"/>
                <a:cs typeface="Microsoft YaHei"/>
              </a:defRPr>
            </a:pPr>
            <a:r>
              <a:rPr sz="2400" b="1">
                <a:solidFill>
                  <a:srgbClr val="5C5BFA"/>
                </a:solidFill>
                <a:latin typeface="Microsoft YaHei"/>
                <a:ea typeface="Microsoft YaHei"/>
                <a:cs typeface="Microsoft YaHei"/>
              </a:rPr>
              <a:t>影响层</a:t>
            </a:r>
          </a:p>
        </p:txBody>
      </p:sp>
      <p:sp>
        <p:nvSpPr>
          <p:cNvPr id="8" name="text-局部风险可经碎片演化、观测损失和">
            <a:extLst xmlns:a="http://schemas.openxmlformats.org/drawingml/2006/main">
              <a:ext uri="{FF2B5EF4-FFF2-40B4-BE49-F238E27FC236}">
                <a16:creationId xmlns:a16="http://schemas.microsoft.com/office/drawing/2014/main" id="{468B227A-DEF7-4591-81E7-3432C35CCE8F}"/>
              </a:ext>
            </a:extLst>
          </p:cNvPr>
          <p:cNvSpPr>
            <a:spLocks xmlns:a="http://schemas.openxmlformats.org/drawingml/2006/main" noGrp="1"/>
          </p:cNvSpPr>
          <p:nvPr/>
        </p:nvSpPr>
        <p:spPr>
          <a:xfrm xmlns:a="http://schemas.openxmlformats.org/drawingml/2006/main">
            <a:off x="3143250" y="2552700"/>
            <a:ext cx="8286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局部风险可经碎片演化、观测损失和服务依赖向公共领域传导。</a:t>
            </a:r>
          </a:p>
        </p:txBody>
      </p:sp>
      <p:sp>
        <p:nvSpPr>
          <p:cNvPr id="9" name="text-责任层">
            <a:extLst xmlns:a="http://schemas.openxmlformats.org/drawingml/2006/main">
              <a:ext uri="{FF2B5EF4-FFF2-40B4-BE49-F238E27FC236}">
                <a16:creationId xmlns:a16="http://schemas.microsoft.com/office/drawing/2014/main" id="{28320FBA-61F2-4885-AD3D-35F170D98526}"/>
              </a:ext>
            </a:extLst>
          </p:cNvPr>
          <p:cNvSpPr>
            <a:spLocks xmlns:a="http://schemas.openxmlformats.org/drawingml/2006/main" noGrp="1"/>
          </p:cNvSpPr>
          <p:nvPr/>
        </p:nvSpPr>
        <p:spPr>
          <a:xfrm xmlns:a="http://schemas.openxmlformats.org/drawingml/2006/main">
            <a:off x="762000" y="3495675"/>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ED8B00"/>
                </a:solidFill>
                <a:latin typeface="Microsoft YaHei"/>
                <a:ea typeface="Microsoft YaHei"/>
                <a:cs typeface="Microsoft YaHei"/>
              </a:defRPr>
            </a:pPr>
            <a:r>
              <a:rPr sz="2400" b="1">
                <a:solidFill>
                  <a:srgbClr val="ED8B00"/>
                </a:solidFill>
                <a:latin typeface="Microsoft YaHei"/>
                <a:ea typeface="Microsoft YaHei"/>
                <a:cs typeface="Microsoft YaHei"/>
              </a:rPr>
              <a:t>责任层</a:t>
            </a:r>
          </a:p>
        </p:txBody>
      </p:sp>
      <p:sp>
        <p:nvSpPr>
          <p:cNvPr id="10" name="text-能控制设计、运行和许可的主体，应">
            <a:extLst xmlns:a="http://schemas.openxmlformats.org/drawingml/2006/main">
              <a:ext uri="{FF2B5EF4-FFF2-40B4-BE49-F238E27FC236}">
                <a16:creationId xmlns:a16="http://schemas.microsoft.com/office/drawing/2014/main" id="{5601CA4F-BA4B-4FF5-89A9-DD2D94457176}"/>
              </a:ext>
            </a:extLst>
          </p:cNvPr>
          <p:cNvSpPr>
            <a:spLocks xmlns:a="http://schemas.openxmlformats.org/drawingml/2006/main" noGrp="1"/>
          </p:cNvSpPr>
          <p:nvPr/>
        </p:nvSpPr>
        <p:spPr>
          <a:xfrm xmlns:a="http://schemas.openxmlformats.org/drawingml/2006/main">
            <a:off x="3143250" y="3495675"/>
            <a:ext cx="8286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能控制设计、运行和许可的主体，应承担与其能力相匹配的义务。</a:t>
            </a:r>
          </a:p>
        </p:txBody>
      </p:sp>
      <p:sp>
        <p:nvSpPr>
          <p:cNvPr id="11" name="text-制度层">
            <a:extLst xmlns:a="http://schemas.openxmlformats.org/drawingml/2006/main">
              <a:ext uri="{FF2B5EF4-FFF2-40B4-BE49-F238E27FC236}">
                <a16:creationId xmlns:a16="http://schemas.microsoft.com/office/drawing/2014/main" id="{0DCA5289-CD3A-4400-BDE9-168477BA73B6}"/>
              </a:ext>
            </a:extLst>
          </p:cNvPr>
          <p:cNvSpPr>
            <a:spLocks xmlns:a="http://schemas.openxmlformats.org/drawingml/2006/main" noGrp="1"/>
          </p:cNvSpPr>
          <p:nvPr/>
        </p:nvSpPr>
        <p:spPr>
          <a:xfrm xmlns:a="http://schemas.openxmlformats.org/drawingml/2006/main">
            <a:off x="762000" y="443865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73C79"/>
                </a:solidFill>
                <a:latin typeface="Microsoft YaHei"/>
                <a:ea typeface="Microsoft YaHei"/>
                <a:cs typeface="Microsoft YaHei"/>
              </a:defRPr>
            </a:pPr>
            <a:r>
              <a:rPr sz="2400" b="1">
                <a:solidFill>
                  <a:srgbClr val="073C79"/>
                </a:solidFill>
                <a:latin typeface="Microsoft YaHei"/>
                <a:ea typeface="Microsoft YaHei"/>
                <a:cs typeface="Microsoft YaHei"/>
              </a:rPr>
              <a:t>制度层</a:t>
            </a:r>
          </a:p>
        </p:txBody>
      </p:sp>
      <p:sp>
        <p:nvSpPr>
          <p:cNvPr id="12" name="text-把长期后果、独立审查和履约证据写">
            <a:extLst xmlns:a="http://schemas.openxmlformats.org/drawingml/2006/main">
              <a:ext uri="{FF2B5EF4-FFF2-40B4-BE49-F238E27FC236}">
                <a16:creationId xmlns:a16="http://schemas.microsoft.com/office/drawing/2014/main" id="{0D86EA8D-169F-4D5F-B62D-B0015A587B52}"/>
              </a:ext>
            </a:extLst>
          </p:cNvPr>
          <p:cNvSpPr>
            <a:spLocks xmlns:a="http://schemas.openxmlformats.org/drawingml/2006/main" noGrp="1"/>
          </p:cNvSpPr>
          <p:nvPr/>
        </p:nvSpPr>
        <p:spPr>
          <a:xfrm xmlns:a="http://schemas.openxmlformats.org/drawingml/2006/main">
            <a:off x="3143250" y="4438650"/>
            <a:ext cx="8286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把长期后果、独立审查和履约证据写入准入与持续监督。</a:t>
            </a:r>
          </a:p>
        </p:txBody>
      </p:sp>
    </p:spTree>
    <p:extLst>
      <p:ext uri="{BB962C8B-B14F-4D97-AF65-F5344CB8AC3E}">
        <p14:creationId xmlns:p14="http://schemas.microsoft.com/office/powerpoint/2010/main" val="3868327217"/>
      </p:ext>
    </p:extLst>
  </p:cSld>
</p:sld>
</file>

<file path=ppt/slides/slide28.xml><?xml version="1.0" encoding="utf-8"?>
<p:sld xmlns:p="http://schemas.openxmlformats.org/presentationml/2006/main" showMasterSp="0">
  <p:cSld>
    <p:spTree>
      <p:nvGrpSpPr>
        <p:cNvPr id="1" name=""/>
        <p:cNvGrpSpPr/>
        <p:nvPr/>
      </p:nvGrpSpPr>
      <p:grpSpPr>
        <a:xfrm xmlns:a="http://schemas.openxmlformats.org/drawingml/2006/main"/>
      </p:grpSpPr>
      <p:sp>
        <p:nvSpPr>
          <p:cNvPr id="14"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8"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9"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6" name="text-工程伦理闭环">
            <a:extLst xmlns:a="http://schemas.openxmlformats.org/drawingml/2006/main">
              <a:ext uri="{FF2B5EF4-FFF2-40B4-BE49-F238E27FC236}">
                <a16:creationId xmlns:a16="http://schemas.microsoft.com/office/drawing/2014/main" id="{36836BBB-2ABD-4020-8BAE-744241727C8E}"/>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工程伦理闭环</a:t>
            </a:r>
          </a:p>
        </p:txBody>
      </p:sp>
      <p:sp>
        <p:nvSpPr>
          <p:cNvPr id="2" name="text-安全还意味着：防止自己的技术失误">
            <a:extLst xmlns:a="http://schemas.openxmlformats.org/drawingml/2006/main">
              <a:ext uri="{FF2B5EF4-FFF2-40B4-BE49-F238E27FC236}">
                <a16:creationId xmlns:a16="http://schemas.microsoft.com/office/drawing/2014/main" id="{4D1CF115-3703-49DF-8705-994D6534A026}"/>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安全还意味着：防止自己的技术失误演变成公共灾难。</a:t>
            </a:r>
          </a:p>
        </p:txBody>
      </p:sp>
      <p:sp>
        <p:nvSpPr>
          <p:cNvPr id="3" name="text-总结与工程伦理闭环  /  总结">
            <a:extLst xmlns:a="http://schemas.openxmlformats.org/drawingml/2006/main">
              <a:ext uri="{FF2B5EF4-FFF2-40B4-BE49-F238E27FC236}">
                <a16:creationId xmlns:a16="http://schemas.microsoft.com/office/drawing/2014/main" id="{53EDF7FF-AF8D-4E62-A924-4D94BE612EE4}"/>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总结与工程伦理闭环  /  总结发言人</a:t>
            </a:r>
          </a:p>
        </p:txBody>
      </p:sp>
      <p:sp>
        <p:nvSpPr>
          <p:cNvPr id="4" name="text-26">
            <a:extLst xmlns:a="http://schemas.openxmlformats.org/drawingml/2006/main">
              <a:ext uri="{FF2B5EF4-FFF2-40B4-BE49-F238E27FC236}">
                <a16:creationId xmlns:a16="http://schemas.microsoft.com/office/drawing/2014/main" id="{A0540C14-8BCD-422F-9DB5-B5427781EFB6}"/>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26</a:t>
            </a:r>
          </a:p>
        </p:txBody>
      </p:sp>
      <p:sp>
        <p:nvSpPr>
          <p:cNvPr id="5" name="技术缺陷&#10;识别失败模式&#10;留下可验证日志">
            <a:extLst xmlns:a="http://schemas.openxmlformats.org/drawingml/2006/main">
              <a:ext uri="{FF2B5EF4-FFF2-40B4-BE49-F238E27FC236}">
                <a16:creationId xmlns:a16="http://schemas.microsoft.com/office/drawing/2014/main" id="{CA140636-1D80-4B6C-93E6-01556E330A7D}"/>
              </a:ext>
            </a:extLst>
          </p:cNvPr>
          <p:cNvSpPr>
            <a:spLocks xmlns:a="http://schemas.openxmlformats.org/drawingml/2006/main" noGrp="1"/>
          </p:cNvSpPr>
          <p:nvPr/>
        </p:nvSpPr>
        <p:spPr>
          <a:xfrm xmlns:a="http://schemas.openxmlformats.org/drawingml/2006/main">
            <a:off x="857250" y="1619250"/>
            <a:ext cx="3714750" cy="1362075"/>
          </a:xfrm>
          <a:prstGeom xmlns:a="http://schemas.openxmlformats.org/drawingml/2006/main" prst="roundRect">
            <a:avLst>
              <a:gd name="adj" fmla="val 5594"/>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技术缺陷</a:t>
            </a:r>
          </a:p>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识别失败模式</a:t>
            </a:r>
          </a:p>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留下可验证日志</a:t>
            </a:r>
          </a:p>
        </p:txBody>
      </p:sp>
      <p:sp>
        <p:nvSpPr>
          <p:cNvPr id="6" name="全球扩散&#10;评估跨主体影响&#10;跟踪长期环境变化">
            <a:extLst xmlns:a="http://schemas.openxmlformats.org/drawingml/2006/main">
              <a:ext uri="{FF2B5EF4-FFF2-40B4-BE49-F238E27FC236}">
                <a16:creationId xmlns:a16="http://schemas.microsoft.com/office/drawing/2014/main" id="{2E92B878-EEE6-426D-8719-80922FE76EA2}"/>
              </a:ext>
            </a:extLst>
          </p:cNvPr>
          <p:cNvSpPr>
            <a:spLocks xmlns:a="http://schemas.openxmlformats.org/drawingml/2006/main" noGrp="1"/>
          </p:cNvSpPr>
          <p:nvPr/>
        </p:nvSpPr>
        <p:spPr>
          <a:xfrm xmlns:a="http://schemas.openxmlformats.org/drawingml/2006/main">
            <a:off x="7524750" y="1619250"/>
            <a:ext cx="3714750" cy="1362075"/>
          </a:xfrm>
          <a:prstGeom xmlns:a="http://schemas.openxmlformats.org/drawingml/2006/main" prst="roundRect">
            <a:avLst>
              <a:gd name="adj" fmla="val 5594"/>
            </a:avLst>
          </a:prstGeom>
          <a:solidFill xmlns:a="http://schemas.openxmlformats.org/drawingml/2006/main">
            <a:srgbClr val="5C5BFA"/>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全球扩散</a:t>
            </a:r>
          </a:p>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评估跨主体影响</a:t>
            </a:r>
          </a:p>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跟踪长期环境变化</a:t>
            </a:r>
          </a:p>
        </p:txBody>
      </p:sp>
      <p:sp>
        <p:nvSpPr>
          <p:cNvPr id="7" name="伦理责任&#10;公开受损与受益&#10;分配补救义务">
            <a:extLst xmlns:a="http://schemas.openxmlformats.org/drawingml/2006/main">
              <a:ext uri="{FF2B5EF4-FFF2-40B4-BE49-F238E27FC236}">
                <a16:creationId xmlns:a16="http://schemas.microsoft.com/office/drawing/2014/main" id="{B81C5F0E-A1F7-4F2F-9CBB-D3E106523D60}"/>
              </a:ext>
            </a:extLst>
          </p:cNvPr>
          <p:cNvSpPr>
            <a:spLocks xmlns:a="http://schemas.openxmlformats.org/drawingml/2006/main" noGrp="1"/>
          </p:cNvSpPr>
          <p:nvPr/>
        </p:nvSpPr>
        <p:spPr>
          <a:xfrm xmlns:a="http://schemas.openxmlformats.org/drawingml/2006/main">
            <a:off x="7524750" y="3876675"/>
            <a:ext cx="3714750" cy="1362075"/>
          </a:xfrm>
          <a:prstGeom xmlns:a="http://schemas.openxmlformats.org/drawingml/2006/main" prst="roundRect">
            <a:avLst>
              <a:gd name="adj" fmla="val 5594"/>
            </a:avLst>
          </a:prstGeom>
          <a:solidFill xmlns:a="http://schemas.openxmlformats.org/drawingml/2006/main">
            <a:srgbClr val="073C79"/>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伦理责任</a:t>
            </a:r>
          </a:p>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公开受损与受益</a:t>
            </a:r>
          </a:p>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分配补救义务</a:t>
            </a:r>
          </a:p>
        </p:txBody>
      </p:sp>
      <p:sp>
        <p:nvSpPr>
          <p:cNvPr id="8" name="制度改进&#10;更新许可与标准&#10;独立审计履约">
            <a:extLst xmlns:a="http://schemas.openxmlformats.org/drawingml/2006/main">
              <a:ext uri="{FF2B5EF4-FFF2-40B4-BE49-F238E27FC236}">
                <a16:creationId xmlns:a16="http://schemas.microsoft.com/office/drawing/2014/main" id="{666C9F99-C699-457A-AF17-48564AE68525}"/>
              </a:ext>
            </a:extLst>
          </p:cNvPr>
          <p:cNvSpPr>
            <a:spLocks xmlns:a="http://schemas.openxmlformats.org/drawingml/2006/main" noGrp="1"/>
          </p:cNvSpPr>
          <p:nvPr/>
        </p:nvSpPr>
        <p:spPr>
          <a:xfrm xmlns:a="http://schemas.openxmlformats.org/drawingml/2006/main">
            <a:off x="857250" y="3876675"/>
            <a:ext cx="3714750" cy="1362075"/>
          </a:xfrm>
          <a:prstGeom xmlns:a="http://schemas.openxmlformats.org/drawingml/2006/main" prst="roundRect">
            <a:avLst>
              <a:gd name="adj" fmla="val 5594"/>
            </a:avLst>
          </a:prstGeom>
          <a:solidFill xmlns:a="http://schemas.openxmlformats.org/drawingml/2006/main">
            <a:srgbClr val="ED8B00"/>
          </a:solidFill>
          <a:ln xmlns:a="http://schemas.openxmlformats.org/drawingml/2006/main" w="0">
            <a:no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制度改进</a:t>
            </a:r>
          </a:p>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更新许可与标准</a:t>
            </a:r>
          </a:p>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独立审计履约</a:t>
            </a:r>
          </a:p>
        </p:txBody>
      </p:sp>
      <p:cxnSp>
        <p:nvCxnSpPr>
          <p:cNvPr id="74" name=""/>
          <p:cNvCxnSpPr>
            <a:stCxn xmlns:a="http://schemas.openxmlformats.org/drawingml/2006/main" id="5" idx="3"/>
            <a:endCxn xmlns:a="http://schemas.openxmlformats.org/drawingml/2006/main" id="6" idx="1"/>
          </p:cNvCxnSpPr>
          <p:nvPr/>
        </p:nvCxnSpPr>
        <p:spPr>
          <a:xfrm xmlns:a="http://schemas.openxmlformats.org/drawingml/2006/main">
            <a:off x="4572000" y="2300288"/>
            <a:ext cx="2952750" cy="0"/>
          </a:xfrm>
          <a:prstGeom xmlns:a="http://schemas.openxmlformats.org/drawingml/2006/main" prst="straightConnector1">
            <a:avLst/>
          </a:prstGeom>
          <a:ln xmlns:a="http://schemas.openxmlformats.org/drawingml/2006/main" w="19050">
            <a:solidFill>
              <a:srgbClr val="617186"/>
            </a:solidFill>
            <a:tailEnd type="arrow" w="med" len="med"/>
          </a:ln>
        </p:spPr>
      </p:cxnSp>
      <p:cxnSp>
        <p:nvCxnSpPr>
          <p:cNvPr id="75" name=""/>
          <p:cNvCxnSpPr>
            <a:stCxn xmlns:a="http://schemas.openxmlformats.org/drawingml/2006/main" id="6" idx="2"/>
            <a:endCxn xmlns:a="http://schemas.openxmlformats.org/drawingml/2006/main" id="7" idx="0"/>
          </p:cNvCxnSpPr>
          <p:nvPr/>
        </p:nvCxnSpPr>
        <p:spPr>
          <a:xfrm xmlns:a="http://schemas.openxmlformats.org/drawingml/2006/main">
            <a:off x="9382125" y="2981325"/>
            <a:ext cx="0" cy="895350"/>
          </a:xfrm>
          <a:prstGeom xmlns:a="http://schemas.openxmlformats.org/drawingml/2006/main" prst="straightConnector1">
            <a:avLst/>
          </a:prstGeom>
          <a:ln xmlns:a="http://schemas.openxmlformats.org/drawingml/2006/main" w="19050">
            <a:solidFill>
              <a:srgbClr val="617186"/>
            </a:solidFill>
            <a:tailEnd type="arrow" w="med" len="med"/>
          </a:ln>
        </p:spPr>
      </p:cxnSp>
      <p:cxnSp>
        <p:nvCxnSpPr>
          <p:cNvPr id="76" name=""/>
          <p:cNvCxnSpPr>
            <a:stCxn xmlns:a="http://schemas.openxmlformats.org/drawingml/2006/main" id="7" idx="1"/>
            <a:endCxn xmlns:a="http://schemas.openxmlformats.org/drawingml/2006/main" id="8" idx="3"/>
          </p:cNvCxnSpPr>
          <p:nvPr/>
        </p:nvCxnSpPr>
        <p:spPr>
          <a:xfrm xmlns:a="http://schemas.openxmlformats.org/drawingml/2006/main" flipH="1">
            <a:off x="4572000" y="4557713"/>
            <a:ext cx="2952750" cy="0"/>
          </a:xfrm>
          <a:prstGeom xmlns:a="http://schemas.openxmlformats.org/drawingml/2006/main" prst="straightConnector1">
            <a:avLst/>
          </a:prstGeom>
          <a:ln xmlns:a="http://schemas.openxmlformats.org/drawingml/2006/main" w="19050">
            <a:solidFill>
              <a:srgbClr val="617186"/>
            </a:solidFill>
            <a:tailEnd type="arrow" w="med" len="med"/>
          </a:ln>
        </p:spPr>
      </p:cxnSp>
      <p:cxnSp>
        <p:nvCxnSpPr>
          <p:cNvPr id="77" name=""/>
          <p:cNvCxnSpPr>
            <a:stCxn xmlns:a="http://schemas.openxmlformats.org/drawingml/2006/main" id="8" idx="0"/>
            <a:endCxn xmlns:a="http://schemas.openxmlformats.org/drawingml/2006/main" id="5" idx="2"/>
          </p:cNvCxnSpPr>
          <p:nvPr/>
        </p:nvCxnSpPr>
        <p:spPr>
          <a:xfrm xmlns:a="http://schemas.openxmlformats.org/drawingml/2006/main" flipV="1">
            <a:off x="2714625" y="2981325"/>
            <a:ext cx="0" cy="895350"/>
          </a:xfrm>
          <a:prstGeom xmlns:a="http://schemas.openxmlformats.org/drawingml/2006/main" prst="straightConnector1">
            <a:avLst/>
          </a:prstGeom>
          <a:ln xmlns:a="http://schemas.openxmlformats.org/drawingml/2006/main" w="19050">
            <a:solidFill>
              <a:srgbClr val="617186"/>
            </a:solidFill>
            <a:tailEnd type="arrow" w="med" len="med"/>
          </a:ln>
        </p:spPr>
      </p:cxnSp>
      <p:sp>
        <p:nvSpPr>
          <p:cNvPr id="13" name="text-以证据检验&#10;改进效果">
            <a:extLst xmlns:a="http://schemas.openxmlformats.org/drawingml/2006/main">
              <a:ext uri="{FF2B5EF4-FFF2-40B4-BE49-F238E27FC236}">
                <a16:creationId xmlns:a16="http://schemas.microsoft.com/office/drawing/2014/main" id="{1AE236F3-4079-46D4-8AEE-46686DACB364}"/>
              </a:ext>
            </a:extLst>
          </p:cNvPr>
          <p:cNvSpPr>
            <a:spLocks xmlns:a="http://schemas.openxmlformats.org/drawingml/2006/main" noGrp="1"/>
          </p:cNvSpPr>
          <p:nvPr/>
        </p:nvSpPr>
        <p:spPr>
          <a:xfrm xmlns:a="http://schemas.openxmlformats.org/drawingml/2006/main">
            <a:off x="4857750" y="3086100"/>
            <a:ext cx="257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325" b="1">
                <a:solidFill>
                  <a:srgbClr val="073C79"/>
                </a:solidFill>
                <a:latin typeface="Microsoft YaHei"/>
                <a:ea typeface="Microsoft YaHei"/>
                <a:cs typeface="Microsoft YaHei"/>
              </a:defRPr>
            </a:pPr>
            <a:r>
              <a:rPr sz="2325" b="1">
                <a:solidFill>
                  <a:srgbClr val="073C79"/>
                </a:solidFill>
                <a:latin typeface="Microsoft YaHei"/>
                <a:ea typeface="Microsoft YaHei"/>
                <a:cs typeface="Microsoft YaHei"/>
              </a:rPr>
              <a:t>以证据检验</a:t>
            </a:r>
          </a:p>
          <a:p xmlns:a="http://schemas.openxmlformats.org/drawingml/2006/main">
            <a:pPr algn="ctr">
              <a:defRPr sz="2325" b="1">
                <a:solidFill>
                  <a:srgbClr val="073C79"/>
                </a:solidFill>
                <a:latin typeface="Microsoft YaHei"/>
                <a:ea typeface="Microsoft YaHei"/>
                <a:cs typeface="Microsoft YaHei"/>
              </a:defRPr>
            </a:pPr>
            <a:r>
              <a:rPr sz="2325" b="1">
                <a:solidFill>
                  <a:srgbClr val="073C79"/>
                </a:solidFill>
                <a:latin typeface="Microsoft YaHei"/>
                <a:ea typeface="Microsoft YaHei"/>
                <a:cs typeface="Microsoft YaHei"/>
              </a:rPr>
              <a:t>改进效果</a:t>
            </a:r>
          </a:p>
        </p:txBody>
      </p:sp>
    </p:spTree>
    <p:extLst>
      <p:ext uri="{BB962C8B-B14F-4D97-AF65-F5344CB8AC3E}">
        <p14:creationId xmlns:p14="http://schemas.microsoft.com/office/powerpoint/2010/main" val="3868327217"/>
      </p:ext>
    </p:extLst>
  </p:cSld>
</p:sld>
</file>

<file path=ppt/slides/slide29.xml><?xml version="1.0" encoding="utf-8"?>
<p:sld xmlns:p="http://schemas.openxmlformats.org/presentationml/2006/main" showMasterSp="0">
  <p:cSld>
    <p:spTree>
      <p:nvGrpSpPr>
        <p:cNvPr id="1" name=""/>
        <p:cNvGrpSpPr/>
        <p:nvPr/>
      </p:nvGrpSpPr>
      <p:grpSpPr>
        <a:xfrm xmlns:a="http://schemas.openxmlformats.org/drawingml/2006/main"/>
      </p:grpSpPr>
      <p:sp>
        <p:nvSpPr>
          <p:cNvPr id="12" name="直接连接符 6">
            <a:extLst xmlns:a="http://schemas.openxmlformats.org/drawingml/2006/main">
              <a:ext uri="{FF2B5EF4-FFF2-40B4-BE49-F238E27FC236}">
                <a16:creationId xmlns:a16="http://schemas.microsoft.com/office/drawing/2014/main" id="{1B31D030-BB73-439E-B25A-BA41902A545F}"/>
              </a:ext>
            </a:extLst>
          </p:cNvPr>
          <p:cNvSpPr>
            <a:spLocks xmlns:a="http://schemas.openxmlformats.org/drawingml/2006/main" noGrp="1"/>
          </p:cNvSpPr>
          <p:nvPr/>
        </p:nvSpPr>
        <p:spPr>
          <a:xfrm xmlns:a="http://schemas.openxmlformats.org/drawingml/2006/main">
            <a:off x="669924" y="1028700"/>
            <a:ext cx="10850563" cy="0"/>
          </a:xfrm>
          <a:prstGeom xmlns:a="http://schemas.openxmlformats.org/drawingml/2006/main" prst="line">
            <a:avLst/>
          </a:prstGeom>
          <a:ln xmlns:a="http://schemas.openxmlformats.org/drawingml/2006/main" w="3175">
            <a:solidFill>
              <a:schemeClr val="tx1">
                <a:lumMod val="50000"/>
                <a:lumOff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îšḻïďe">
            <a:extLst xmlns:a="http://schemas.openxmlformats.org/drawingml/2006/main">
              <a:ext uri="{FF2B5EF4-FFF2-40B4-BE49-F238E27FC236}">
                <a16:creationId xmlns:a16="http://schemas.microsoft.com/office/drawing/2014/main" id="{2020216F-13DC-4696-95C2-A668999922E5}"/>
              </a:ext>
            </a:extLst>
          </p:cNvPr>
          <p:cNvSpPr>
            <a:spLocks xmlns:a="http://schemas.openxmlformats.org/drawingml/2006/main" noGrp="1"/>
          </p:cNvSpPr>
          <p:nvPr/>
        </p:nvSpPr>
        <p:spPr>
          <a:xfrm xmlns:a="http://schemas.openxmlformats.org/drawingml/2006/main" rot="0" flipH="0" flipV="0">
            <a:off x="9724572" y="535076"/>
            <a:ext cx="402202" cy="404220"/>
          </a:xfrm>
          <a:prstGeom xmlns:a="http://schemas.openxmlformats.org/drawingml/2006/main" prst="ellipse">
            <a:avLst/>
          </a:prstGeom>
          <a:solidFill xmlns:a="http://schemas.openxmlformats.org/drawingml/2006/main">
            <a:srgbClr val="00347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4" name="îṥľide">
            <a:extLst xmlns:a="http://schemas.openxmlformats.org/drawingml/2006/main">
              <a:ext uri="{FF2B5EF4-FFF2-40B4-BE49-F238E27FC236}">
                <a16:creationId xmlns:a16="http://schemas.microsoft.com/office/drawing/2014/main" id="{4856863A-A215-4EF9-BC82-326846F49742}"/>
              </a:ext>
            </a:extLst>
          </p:cNvPr>
          <p:cNvSpPr>
            <a:spLocks xmlns:a="http://schemas.openxmlformats.org/drawingml/2006/main" noGrp="1"/>
          </p:cNvSpPr>
          <p:nvPr/>
        </p:nvSpPr>
        <p:spPr>
          <a:xfrm xmlns:a="http://schemas.openxmlformats.org/drawingml/2006/main" rot="0" flipH="0" flipV="0">
            <a:off x="9790821" y="601661"/>
            <a:ext cx="269704" cy="271049"/>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5" name="îş1íḑé">
            <a:extLst xmlns:a="http://schemas.openxmlformats.org/drawingml/2006/main">
              <a:ext uri="{FF2B5EF4-FFF2-40B4-BE49-F238E27FC236}">
                <a16:creationId xmlns:a16="http://schemas.microsoft.com/office/drawing/2014/main" id="{BEEDAA68-58EA-41CB-975B-A1A655F598C2}"/>
              </a:ext>
            </a:extLst>
          </p:cNvPr>
          <p:cNvSpPr>
            <a:spLocks xmlns:a="http://schemas.openxmlformats.org/drawingml/2006/main" noGrp="1"/>
          </p:cNvSpPr>
          <p:nvPr/>
        </p:nvSpPr>
        <p:spPr>
          <a:xfrm xmlns:a="http://schemas.openxmlformats.org/drawingml/2006/main" rot="0" flipH="0" flipV="0">
            <a:off x="9731634" y="723398"/>
            <a:ext cx="48762" cy="32956"/>
          </a:xfrm>
          <a:custGeom xmlns:a="http://schemas.openxmlformats.org/drawingml/2006/main">
            <a:gdLst>
              <a:gd name="T0" fmla="*/ 25 w 70"/>
              <a:gd name="T1" fmla="*/ 41 h 47"/>
              <a:gd name="T2" fmla="*/ 30 w 70"/>
              <a:gd name="T3" fmla="*/ 43 h 47"/>
              <a:gd name="T4" fmla="*/ 35 w 70"/>
              <a:gd name="T5" fmla="*/ 45 h 47"/>
              <a:gd name="T6" fmla="*/ 53 w 70"/>
              <a:gd name="T7" fmla="*/ 34 h 47"/>
              <a:gd name="T8" fmla="*/ 61 w 70"/>
              <a:gd name="T9" fmla="*/ 34 h 47"/>
              <a:gd name="T10" fmla="*/ 68 w 70"/>
              <a:gd name="T11" fmla="*/ 26 h 47"/>
              <a:gd name="T12" fmla="*/ 70 w 70"/>
              <a:gd name="T13" fmla="*/ 10 h 47"/>
              <a:gd name="T14" fmla="*/ 67 w 70"/>
              <a:gd name="T15" fmla="*/ 6 h 47"/>
              <a:gd name="T16" fmla="*/ 61 w 70"/>
              <a:gd name="T17" fmla="*/ 5 h 47"/>
              <a:gd name="T18" fmla="*/ 60 w 70"/>
              <a:gd name="T19" fmla="*/ 17 h 47"/>
              <a:gd name="T20" fmla="*/ 55 w 70"/>
              <a:gd name="T21" fmla="*/ 27 h 47"/>
              <a:gd name="T22" fmla="*/ 52 w 70"/>
              <a:gd name="T23" fmla="*/ 13 h 47"/>
              <a:gd name="T24" fmla="*/ 41 w 70"/>
              <a:gd name="T25" fmla="*/ 11 h 47"/>
              <a:gd name="T26" fmla="*/ 32 w 70"/>
              <a:gd name="T27" fmla="*/ 0 h 47"/>
              <a:gd name="T28" fmla="*/ 17 w 70"/>
              <a:gd name="T29" fmla="*/ 11 h 47"/>
              <a:gd name="T30" fmla="*/ 0 w 70"/>
              <a:gd name="T31" fmla="*/ 19 h 47"/>
              <a:gd name="T32" fmla="*/ 15 w 70"/>
              <a:gd name="T33" fmla="*/ 20 h 47"/>
              <a:gd name="T34" fmla="*/ 28 w 70"/>
              <a:gd name="T35" fmla="*/ 34 h 47"/>
              <a:gd name="T36" fmla="*/ 43 w 70"/>
              <a:gd name="T37" fmla="*/ 36 h 47"/>
              <a:gd name="T38" fmla="*/ 25 w 70"/>
              <a:gd name="T39" fmla="*/ 41 h 47"/>
              <a:gd name="T40" fmla="*/ 23 w 70"/>
              <a:gd name="T41" fmla="*/ 16 h 47"/>
              <a:gd name="T42" fmla="*/ 24 w 70"/>
              <a:gd name="T43" fmla="*/ 11 h 47"/>
              <a:gd name="T44" fmla="*/ 30 w 70"/>
              <a:gd name="T45" fmla="*/ 8 h 47"/>
              <a:gd name="T46" fmla="*/ 36 w 70"/>
              <a:gd name="T47" fmla="*/ 14 h 47"/>
              <a:gd name="T48" fmla="*/ 36 w 70"/>
              <a:gd name="T49" fmla="*/ 19 h 47"/>
              <a:gd name="T50" fmla="*/ 29 w 70"/>
              <a:gd name="T51" fmla="*/ 19 h 47"/>
              <a:gd name="T52" fmla="*/ 23 w 70"/>
              <a:gd name="T53" fmla="*/ 16 h 47"/>
              <a:gd name="T54" fmla="*/ 39 w 70"/>
              <a:gd name="T55" fmla="*/ 24 h 47"/>
              <a:gd name="T56" fmla="*/ 39 w 70"/>
              <a:gd name="T57" fmla="*/ 20 h 47"/>
              <a:gd name="T58" fmla="*/ 41 w 70"/>
              <a:gd name="T59" fmla="*/ 21 h 47"/>
              <a:gd name="T60" fmla="*/ 41 w 70"/>
              <a:gd name="T61" fmla="*/ 23 h 47"/>
              <a:gd name="T62" fmla="*/ 39 w 70"/>
              <a:gd name="T63" fmla="*/ 24 h 47"/>
              <a:gd name="T64" fmla="*/ 44 w 70"/>
              <a:gd name="T65" fmla="*/ 24 h 47"/>
              <a:gd name="T66" fmla="*/ 44 w 70"/>
              <a:gd name="T67" fmla="*/ 20 h 47"/>
              <a:gd name="T68" fmla="*/ 46 w 70"/>
              <a:gd name="T69" fmla="*/ 18 h 47"/>
              <a:gd name="T70" fmla="*/ 46 w 70"/>
              <a:gd name="T71" fmla="*/ 22 h 47"/>
              <a:gd name="T72" fmla="*/ 44 w 70"/>
              <a:gd name="T73" fmla="*/ 24 h 47"/>
            </a:gdLst>
            <a:rect l="0" t="0" r="r" b="b"/>
            <a:pathLst>
              <a:path w="70" h="47">
                <a:moveTo>
                  <a:pt x="25" y="41"/>
                </a:moveTo>
                <a:cubicBezTo>
                  <a:pt x="25" y="42"/>
                  <a:pt x="27" y="42"/>
                  <a:pt x="30" y="43"/>
                </a:cubicBezTo>
                <a:cubicBezTo>
                  <a:pt x="31" y="44"/>
                  <a:pt x="33" y="45"/>
                  <a:pt x="35" y="45"/>
                </a:cubicBezTo>
                <a:cubicBezTo>
                  <a:pt x="46" y="47"/>
                  <a:pt x="49" y="43"/>
                  <a:pt x="53" y="34"/>
                </a:cubicBezTo>
                <a:cubicBezTo>
                  <a:pt x="56" y="34"/>
                  <a:pt x="58" y="34"/>
                  <a:pt x="61" y="34"/>
                </a:cubicBezTo>
                <a:cubicBezTo>
                  <a:pt x="64" y="32"/>
                  <a:pt x="66" y="29"/>
                  <a:pt x="68" y="26"/>
                </a:cubicBezTo>
                <a:cubicBezTo>
                  <a:pt x="68" y="20"/>
                  <a:pt x="68" y="15"/>
                  <a:pt x="70" y="10"/>
                </a:cubicBezTo>
                <a:cubicBezTo>
                  <a:pt x="69" y="9"/>
                  <a:pt x="68" y="7"/>
                  <a:pt x="67" y="6"/>
                </a:cubicBezTo>
                <a:cubicBezTo>
                  <a:pt x="66" y="6"/>
                  <a:pt x="63" y="6"/>
                  <a:pt x="61" y="5"/>
                </a:cubicBezTo>
                <a:cubicBezTo>
                  <a:pt x="60" y="11"/>
                  <a:pt x="60" y="14"/>
                  <a:pt x="60" y="17"/>
                </a:cubicBezTo>
                <a:cubicBezTo>
                  <a:pt x="62" y="24"/>
                  <a:pt x="60" y="28"/>
                  <a:pt x="55" y="27"/>
                </a:cubicBezTo>
                <a:cubicBezTo>
                  <a:pt x="56" y="23"/>
                  <a:pt x="56" y="20"/>
                  <a:pt x="52" y="13"/>
                </a:cubicBezTo>
                <a:cubicBezTo>
                  <a:pt x="48" y="14"/>
                  <a:pt x="44" y="13"/>
                  <a:pt x="41" y="11"/>
                </a:cubicBezTo>
                <a:cubicBezTo>
                  <a:pt x="38" y="7"/>
                  <a:pt x="35" y="4"/>
                  <a:pt x="32" y="0"/>
                </a:cubicBezTo>
                <a:cubicBezTo>
                  <a:pt x="26" y="3"/>
                  <a:pt x="22" y="7"/>
                  <a:pt x="17" y="11"/>
                </a:cubicBezTo>
                <a:cubicBezTo>
                  <a:pt x="9" y="9"/>
                  <a:pt x="3" y="13"/>
                  <a:pt x="0" y="19"/>
                </a:cubicBezTo>
                <a:cubicBezTo>
                  <a:pt x="7" y="18"/>
                  <a:pt x="12" y="17"/>
                  <a:pt x="15" y="20"/>
                </a:cubicBezTo>
                <a:cubicBezTo>
                  <a:pt x="19" y="26"/>
                  <a:pt x="23" y="31"/>
                  <a:pt x="28" y="34"/>
                </a:cubicBezTo>
                <a:cubicBezTo>
                  <a:pt x="33" y="32"/>
                  <a:pt x="38" y="30"/>
                  <a:pt x="43" y="36"/>
                </a:cubicBezTo>
                <a:cubicBezTo>
                  <a:pt x="37" y="40"/>
                  <a:pt x="27" y="39"/>
                  <a:pt x="25" y="41"/>
                </a:cubicBezTo>
                <a:close/>
                <a:moveTo>
                  <a:pt x="23" y="16"/>
                </a:moveTo>
                <a:cubicBezTo>
                  <a:pt x="24" y="14"/>
                  <a:pt x="23" y="13"/>
                  <a:pt x="24" y="11"/>
                </a:cubicBezTo>
                <a:cubicBezTo>
                  <a:pt x="26" y="7"/>
                  <a:pt x="29" y="6"/>
                  <a:pt x="30" y="8"/>
                </a:cubicBezTo>
                <a:cubicBezTo>
                  <a:pt x="32" y="10"/>
                  <a:pt x="34" y="12"/>
                  <a:pt x="36" y="14"/>
                </a:cubicBezTo>
                <a:cubicBezTo>
                  <a:pt x="37" y="16"/>
                  <a:pt x="37" y="17"/>
                  <a:pt x="36" y="19"/>
                </a:cubicBezTo>
                <a:cubicBezTo>
                  <a:pt x="34" y="19"/>
                  <a:pt x="31" y="19"/>
                  <a:pt x="29" y="19"/>
                </a:cubicBezTo>
                <a:cubicBezTo>
                  <a:pt x="26" y="19"/>
                  <a:pt x="24" y="18"/>
                  <a:pt x="23" y="16"/>
                </a:cubicBezTo>
                <a:close/>
                <a:moveTo>
                  <a:pt x="39" y="24"/>
                </a:moveTo>
                <a:cubicBezTo>
                  <a:pt x="39" y="23"/>
                  <a:pt x="40" y="21"/>
                  <a:pt x="39" y="20"/>
                </a:cubicBezTo>
                <a:cubicBezTo>
                  <a:pt x="40" y="20"/>
                  <a:pt x="40" y="21"/>
                  <a:pt x="41" y="21"/>
                </a:cubicBezTo>
                <a:cubicBezTo>
                  <a:pt x="41" y="22"/>
                  <a:pt x="41" y="22"/>
                  <a:pt x="41" y="23"/>
                </a:cubicBezTo>
                <a:cubicBezTo>
                  <a:pt x="41" y="24"/>
                  <a:pt x="40" y="24"/>
                  <a:pt x="39" y="24"/>
                </a:cubicBezTo>
                <a:close/>
                <a:moveTo>
                  <a:pt x="44" y="24"/>
                </a:moveTo>
                <a:cubicBezTo>
                  <a:pt x="44" y="22"/>
                  <a:pt x="44" y="21"/>
                  <a:pt x="44" y="20"/>
                </a:cubicBezTo>
                <a:cubicBezTo>
                  <a:pt x="45" y="19"/>
                  <a:pt x="46" y="19"/>
                  <a:pt x="46" y="18"/>
                </a:cubicBezTo>
                <a:cubicBezTo>
                  <a:pt x="46" y="19"/>
                  <a:pt x="46" y="21"/>
                  <a:pt x="46" y="22"/>
                </a:cubicBezTo>
                <a:cubicBezTo>
                  <a:pt x="45" y="23"/>
                  <a:pt x="45" y="23"/>
                  <a:pt x="44" y="2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6" name="íSḷîḑe">
            <a:extLst xmlns:a="http://schemas.openxmlformats.org/drawingml/2006/main">
              <a:ext uri="{FF2B5EF4-FFF2-40B4-BE49-F238E27FC236}">
                <a16:creationId xmlns:a16="http://schemas.microsoft.com/office/drawing/2014/main" id="{968377F3-6980-45C2-933B-C61B6141A0A4}"/>
              </a:ext>
            </a:extLst>
          </p:cNvPr>
          <p:cNvSpPr>
            <a:spLocks xmlns:a="http://schemas.openxmlformats.org/drawingml/2006/main" noGrp="1"/>
          </p:cNvSpPr>
          <p:nvPr/>
        </p:nvSpPr>
        <p:spPr>
          <a:xfrm xmlns:a="http://schemas.openxmlformats.org/drawingml/2006/main" rot="0" flipH="0" flipV="0">
            <a:off x="9766608" y="633273"/>
            <a:ext cx="34974" cy="31275"/>
          </a:xfrm>
          <a:custGeom xmlns:a="http://schemas.openxmlformats.org/drawingml/2006/main">
            <a:gdLst>
              <a:gd name="T0" fmla="*/ 0 w 50"/>
              <a:gd name="T1" fmla="*/ 15 h 45"/>
              <a:gd name="T2" fmla="*/ 1 w 50"/>
              <a:gd name="T3" fmla="*/ 10 h 45"/>
              <a:gd name="T4" fmla="*/ 2 w 50"/>
              <a:gd name="T5" fmla="*/ 4 h 45"/>
              <a:gd name="T6" fmla="*/ 8 w 50"/>
              <a:gd name="T7" fmla="*/ 0 h 45"/>
              <a:gd name="T8" fmla="*/ 12 w 50"/>
              <a:gd name="T9" fmla="*/ 1 h 45"/>
              <a:gd name="T10" fmla="*/ 24 w 50"/>
              <a:gd name="T11" fmla="*/ 18 h 45"/>
              <a:gd name="T12" fmla="*/ 33 w 50"/>
              <a:gd name="T13" fmla="*/ 8 h 45"/>
              <a:gd name="T14" fmla="*/ 40 w 50"/>
              <a:gd name="T15" fmla="*/ 2 h 45"/>
              <a:gd name="T16" fmla="*/ 44 w 50"/>
              <a:gd name="T17" fmla="*/ 5 h 45"/>
              <a:gd name="T18" fmla="*/ 39 w 50"/>
              <a:gd name="T19" fmla="*/ 12 h 45"/>
              <a:gd name="T20" fmla="*/ 50 w 50"/>
              <a:gd name="T21" fmla="*/ 28 h 45"/>
              <a:gd name="T22" fmla="*/ 43 w 50"/>
              <a:gd name="T23" fmla="*/ 38 h 45"/>
              <a:gd name="T24" fmla="*/ 38 w 50"/>
              <a:gd name="T25" fmla="*/ 45 h 45"/>
              <a:gd name="T26" fmla="*/ 26 w 50"/>
              <a:gd name="T27" fmla="*/ 40 h 45"/>
              <a:gd name="T28" fmla="*/ 19 w 50"/>
              <a:gd name="T29" fmla="*/ 39 h 45"/>
              <a:gd name="T30" fmla="*/ 25 w 50"/>
              <a:gd name="T31" fmla="*/ 26 h 45"/>
              <a:gd name="T32" fmla="*/ 21 w 50"/>
              <a:gd name="T33" fmla="*/ 25 h 45"/>
              <a:gd name="T34" fmla="*/ 13 w 50"/>
              <a:gd name="T35" fmla="*/ 13 h 45"/>
              <a:gd name="T36" fmla="*/ 8 w 50"/>
              <a:gd name="T37" fmla="*/ 12 h 45"/>
              <a:gd name="T38" fmla="*/ 0 w 50"/>
              <a:gd name="T39" fmla="*/ 15 h 45"/>
              <a:gd name="T40" fmla="*/ 27 w 50"/>
              <a:gd name="T41" fmla="*/ 36 h 45"/>
              <a:gd name="T42" fmla="*/ 41 w 50"/>
              <a:gd name="T43" fmla="*/ 28 h 45"/>
              <a:gd name="T44" fmla="*/ 35 w 50"/>
              <a:gd name="T45" fmla="*/ 22 h 45"/>
              <a:gd name="T46" fmla="*/ 27 w 50"/>
              <a:gd name="T47" fmla="*/ 36 h 45"/>
            </a:gdLst>
            <a:rect l="0" t="0" r="r" b="b"/>
            <a:pathLst>
              <a:path w="50" h="45">
                <a:moveTo>
                  <a:pt x="0" y="15"/>
                </a:moveTo>
                <a:cubicBezTo>
                  <a:pt x="0" y="13"/>
                  <a:pt x="1" y="12"/>
                  <a:pt x="1" y="10"/>
                </a:cubicBezTo>
                <a:cubicBezTo>
                  <a:pt x="1" y="8"/>
                  <a:pt x="1" y="6"/>
                  <a:pt x="2" y="4"/>
                </a:cubicBezTo>
                <a:cubicBezTo>
                  <a:pt x="3" y="1"/>
                  <a:pt x="5" y="0"/>
                  <a:pt x="8" y="0"/>
                </a:cubicBezTo>
                <a:cubicBezTo>
                  <a:pt x="9" y="0"/>
                  <a:pt x="11" y="0"/>
                  <a:pt x="12" y="1"/>
                </a:cubicBezTo>
                <a:cubicBezTo>
                  <a:pt x="17" y="6"/>
                  <a:pt x="21" y="11"/>
                  <a:pt x="24" y="18"/>
                </a:cubicBezTo>
                <a:cubicBezTo>
                  <a:pt x="28" y="16"/>
                  <a:pt x="30" y="11"/>
                  <a:pt x="33" y="8"/>
                </a:cubicBezTo>
                <a:cubicBezTo>
                  <a:pt x="34" y="7"/>
                  <a:pt x="37" y="3"/>
                  <a:pt x="40" y="2"/>
                </a:cubicBezTo>
                <a:cubicBezTo>
                  <a:pt x="42" y="1"/>
                  <a:pt x="43" y="2"/>
                  <a:pt x="44" y="5"/>
                </a:cubicBezTo>
                <a:cubicBezTo>
                  <a:pt x="44" y="6"/>
                  <a:pt x="40" y="11"/>
                  <a:pt x="39" y="12"/>
                </a:cubicBezTo>
                <a:cubicBezTo>
                  <a:pt x="43" y="17"/>
                  <a:pt x="47" y="19"/>
                  <a:pt x="50" y="28"/>
                </a:cubicBezTo>
                <a:cubicBezTo>
                  <a:pt x="48" y="31"/>
                  <a:pt x="46" y="35"/>
                  <a:pt x="43" y="38"/>
                </a:cubicBezTo>
                <a:cubicBezTo>
                  <a:pt x="41" y="40"/>
                  <a:pt x="40" y="43"/>
                  <a:pt x="38" y="45"/>
                </a:cubicBezTo>
                <a:cubicBezTo>
                  <a:pt x="34" y="41"/>
                  <a:pt x="30" y="40"/>
                  <a:pt x="26" y="40"/>
                </a:cubicBezTo>
                <a:cubicBezTo>
                  <a:pt x="24" y="41"/>
                  <a:pt x="21" y="41"/>
                  <a:pt x="19" y="39"/>
                </a:cubicBezTo>
                <a:cubicBezTo>
                  <a:pt x="18" y="35"/>
                  <a:pt x="22" y="30"/>
                  <a:pt x="25" y="26"/>
                </a:cubicBezTo>
                <a:cubicBezTo>
                  <a:pt x="24" y="26"/>
                  <a:pt x="23" y="25"/>
                  <a:pt x="21" y="25"/>
                </a:cubicBezTo>
                <a:cubicBezTo>
                  <a:pt x="18" y="22"/>
                  <a:pt x="16" y="18"/>
                  <a:pt x="13" y="13"/>
                </a:cubicBezTo>
                <a:cubicBezTo>
                  <a:pt x="12" y="15"/>
                  <a:pt x="8" y="14"/>
                  <a:pt x="8" y="12"/>
                </a:cubicBezTo>
                <a:cubicBezTo>
                  <a:pt x="7" y="10"/>
                  <a:pt x="4" y="14"/>
                  <a:pt x="0" y="15"/>
                </a:cubicBezTo>
                <a:close/>
                <a:moveTo>
                  <a:pt x="27" y="36"/>
                </a:moveTo>
                <a:cubicBezTo>
                  <a:pt x="32" y="38"/>
                  <a:pt x="37" y="35"/>
                  <a:pt x="41" y="28"/>
                </a:cubicBezTo>
                <a:cubicBezTo>
                  <a:pt x="41" y="25"/>
                  <a:pt x="38" y="23"/>
                  <a:pt x="35" y="22"/>
                </a:cubicBezTo>
                <a:cubicBezTo>
                  <a:pt x="31" y="26"/>
                  <a:pt x="30" y="30"/>
                  <a:pt x="27" y="36"/>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7" name="íṡḻîḋe">
            <a:extLst xmlns:a="http://schemas.openxmlformats.org/drawingml/2006/main">
              <a:ext uri="{FF2B5EF4-FFF2-40B4-BE49-F238E27FC236}">
                <a16:creationId xmlns:a16="http://schemas.microsoft.com/office/drawing/2014/main" id="{730D1AB7-7181-4FD8-A924-9AFB731B834F}"/>
              </a:ext>
            </a:extLst>
          </p:cNvPr>
          <p:cNvSpPr>
            <a:spLocks xmlns:a="http://schemas.openxmlformats.org/drawingml/2006/main" noGrp="1"/>
          </p:cNvSpPr>
          <p:nvPr/>
        </p:nvSpPr>
        <p:spPr>
          <a:xfrm xmlns:a="http://schemas.openxmlformats.org/drawingml/2006/main" rot="0" flipH="0" flipV="0">
            <a:off x="10046065" y="637981"/>
            <a:ext cx="43717" cy="42708"/>
          </a:xfrm>
          <a:custGeom xmlns:a="http://schemas.openxmlformats.org/drawingml/2006/main">
            <a:gdLst>
              <a:gd name="T0" fmla="*/ 55 w 63"/>
              <a:gd name="T1" fmla="*/ 4 h 61"/>
              <a:gd name="T2" fmla="*/ 40 w 63"/>
              <a:gd name="T3" fmla="*/ 10 h 61"/>
              <a:gd name="T4" fmla="*/ 28 w 63"/>
              <a:gd name="T5" fmla="*/ 12 h 61"/>
              <a:gd name="T6" fmla="*/ 26 w 63"/>
              <a:gd name="T7" fmla="*/ 4 h 61"/>
              <a:gd name="T8" fmla="*/ 16 w 63"/>
              <a:gd name="T9" fmla="*/ 1 h 61"/>
              <a:gd name="T10" fmla="*/ 18 w 63"/>
              <a:gd name="T11" fmla="*/ 7 h 61"/>
              <a:gd name="T12" fmla="*/ 21 w 63"/>
              <a:gd name="T13" fmla="*/ 17 h 61"/>
              <a:gd name="T14" fmla="*/ 7 w 63"/>
              <a:gd name="T15" fmla="*/ 15 h 61"/>
              <a:gd name="T16" fmla="*/ 18 w 63"/>
              <a:gd name="T17" fmla="*/ 31 h 61"/>
              <a:gd name="T18" fmla="*/ 37 w 63"/>
              <a:gd name="T19" fmla="*/ 28 h 61"/>
              <a:gd name="T20" fmla="*/ 54 w 63"/>
              <a:gd name="T21" fmla="*/ 45 h 61"/>
              <a:gd name="T22" fmla="*/ 54 w 63"/>
              <a:gd name="T23" fmla="*/ 35 h 61"/>
              <a:gd name="T24" fmla="*/ 48 w 63"/>
              <a:gd name="T25" fmla="*/ 31 h 61"/>
              <a:gd name="T26" fmla="*/ 42 w 63"/>
              <a:gd name="T27" fmla="*/ 26 h 61"/>
              <a:gd name="T28" fmla="*/ 57 w 63"/>
              <a:gd name="T29" fmla="*/ 19 h 61"/>
              <a:gd name="T30" fmla="*/ 63 w 63"/>
              <a:gd name="T31" fmla="*/ 9 h 61"/>
              <a:gd name="T32" fmla="*/ 55 w 63"/>
              <a:gd name="T33" fmla="*/ 4 h 61"/>
              <a:gd name="T34" fmla="*/ 22 w 63"/>
              <a:gd name="T35" fmla="*/ 34 h 61"/>
              <a:gd name="T36" fmla="*/ 27 w 63"/>
              <a:gd name="T37" fmla="*/ 56 h 61"/>
              <a:gd name="T38" fmla="*/ 20 w 63"/>
              <a:gd name="T39" fmla="*/ 56 h 61"/>
              <a:gd name="T40" fmla="*/ 18 w 63"/>
              <a:gd name="T41" fmla="*/ 47 h 61"/>
              <a:gd name="T42" fmla="*/ 22 w 63"/>
              <a:gd name="T43" fmla="*/ 34 h 61"/>
            </a:gdLst>
            <a:rect l="0" t="0" r="r" b="b"/>
            <a:pathLst>
              <a:path w="63" h="61">
                <a:moveTo>
                  <a:pt x="55" y="4"/>
                </a:moveTo>
                <a:cubicBezTo>
                  <a:pt x="50" y="7"/>
                  <a:pt x="45" y="8"/>
                  <a:pt x="40" y="10"/>
                </a:cubicBezTo>
                <a:cubicBezTo>
                  <a:pt x="36" y="12"/>
                  <a:pt x="32" y="13"/>
                  <a:pt x="28" y="12"/>
                </a:cubicBezTo>
                <a:cubicBezTo>
                  <a:pt x="27" y="10"/>
                  <a:pt x="26" y="7"/>
                  <a:pt x="26" y="4"/>
                </a:cubicBezTo>
                <a:cubicBezTo>
                  <a:pt x="26" y="1"/>
                  <a:pt x="20" y="0"/>
                  <a:pt x="16" y="1"/>
                </a:cubicBezTo>
                <a:cubicBezTo>
                  <a:pt x="16" y="2"/>
                  <a:pt x="19" y="3"/>
                  <a:pt x="18" y="7"/>
                </a:cubicBezTo>
                <a:cubicBezTo>
                  <a:pt x="17" y="11"/>
                  <a:pt x="19" y="15"/>
                  <a:pt x="21" y="17"/>
                </a:cubicBezTo>
                <a:cubicBezTo>
                  <a:pt x="16" y="18"/>
                  <a:pt x="12" y="17"/>
                  <a:pt x="7" y="15"/>
                </a:cubicBezTo>
                <a:cubicBezTo>
                  <a:pt x="0" y="14"/>
                  <a:pt x="0" y="18"/>
                  <a:pt x="18" y="31"/>
                </a:cubicBezTo>
                <a:cubicBezTo>
                  <a:pt x="25" y="32"/>
                  <a:pt x="31" y="30"/>
                  <a:pt x="37" y="28"/>
                </a:cubicBezTo>
                <a:cubicBezTo>
                  <a:pt x="43" y="35"/>
                  <a:pt x="51" y="44"/>
                  <a:pt x="54" y="45"/>
                </a:cubicBezTo>
                <a:cubicBezTo>
                  <a:pt x="56" y="43"/>
                  <a:pt x="54" y="38"/>
                  <a:pt x="54" y="35"/>
                </a:cubicBezTo>
                <a:cubicBezTo>
                  <a:pt x="52" y="33"/>
                  <a:pt x="50" y="32"/>
                  <a:pt x="48" y="31"/>
                </a:cubicBezTo>
                <a:cubicBezTo>
                  <a:pt x="45" y="29"/>
                  <a:pt x="42" y="28"/>
                  <a:pt x="42" y="26"/>
                </a:cubicBezTo>
                <a:cubicBezTo>
                  <a:pt x="48" y="23"/>
                  <a:pt x="53" y="23"/>
                  <a:pt x="57" y="19"/>
                </a:cubicBezTo>
                <a:cubicBezTo>
                  <a:pt x="60" y="16"/>
                  <a:pt x="61" y="13"/>
                  <a:pt x="63" y="9"/>
                </a:cubicBezTo>
                <a:cubicBezTo>
                  <a:pt x="61" y="6"/>
                  <a:pt x="58" y="8"/>
                  <a:pt x="55" y="4"/>
                </a:cubicBezTo>
                <a:close/>
                <a:moveTo>
                  <a:pt x="22" y="34"/>
                </a:moveTo>
                <a:cubicBezTo>
                  <a:pt x="27" y="41"/>
                  <a:pt x="31" y="49"/>
                  <a:pt x="27" y="56"/>
                </a:cubicBezTo>
                <a:cubicBezTo>
                  <a:pt x="24" y="61"/>
                  <a:pt x="22" y="58"/>
                  <a:pt x="20" y="56"/>
                </a:cubicBezTo>
                <a:cubicBezTo>
                  <a:pt x="18" y="53"/>
                  <a:pt x="16" y="49"/>
                  <a:pt x="18" y="47"/>
                </a:cubicBezTo>
                <a:cubicBezTo>
                  <a:pt x="20" y="43"/>
                  <a:pt x="19" y="38"/>
                  <a:pt x="22" y="3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8" name="îṩļïdê">
            <a:extLst xmlns:a="http://schemas.openxmlformats.org/drawingml/2006/main">
              <a:ext uri="{FF2B5EF4-FFF2-40B4-BE49-F238E27FC236}">
                <a16:creationId xmlns:a16="http://schemas.microsoft.com/office/drawing/2014/main" id="{DD750A71-B266-4493-BB94-2A3DB893621A}"/>
              </a:ext>
            </a:extLst>
          </p:cNvPr>
          <p:cNvSpPr>
            <a:spLocks xmlns:a="http://schemas.openxmlformats.org/drawingml/2006/main" noGrp="1"/>
          </p:cNvSpPr>
          <p:nvPr/>
        </p:nvSpPr>
        <p:spPr>
          <a:xfrm xmlns:a="http://schemas.openxmlformats.org/drawingml/2006/main" rot="0" flipH="0" flipV="0">
            <a:off x="10069605" y="722053"/>
            <a:ext cx="55824" cy="34974"/>
          </a:xfrm>
          <a:custGeom xmlns:a="http://schemas.openxmlformats.org/drawingml/2006/main">
            <a:gdLst>
              <a:gd name="T0" fmla="*/ 66 w 80"/>
              <a:gd name="T1" fmla="*/ 3 h 50"/>
              <a:gd name="T2" fmla="*/ 54 w 80"/>
              <a:gd name="T3" fmla="*/ 8 h 50"/>
              <a:gd name="T4" fmla="*/ 56 w 80"/>
              <a:gd name="T5" fmla="*/ 13 h 50"/>
              <a:gd name="T6" fmla="*/ 60 w 80"/>
              <a:gd name="T7" fmla="*/ 13 h 50"/>
              <a:gd name="T8" fmla="*/ 64 w 80"/>
              <a:gd name="T9" fmla="*/ 12 h 50"/>
              <a:gd name="T10" fmla="*/ 66 w 80"/>
              <a:gd name="T11" fmla="*/ 3 h 50"/>
              <a:gd name="T12" fmla="*/ 65 w 80"/>
              <a:gd name="T13" fmla="*/ 25 h 50"/>
              <a:gd name="T14" fmla="*/ 68 w 80"/>
              <a:gd name="T15" fmla="*/ 18 h 50"/>
              <a:gd name="T16" fmla="*/ 60 w 80"/>
              <a:gd name="T17" fmla="*/ 20 h 50"/>
              <a:gd name="T18" fmla="*/ 65 w 80"/>
              <a:gd name="T19" fmla="*/ 25 h 50"/>
              <a:gd name="T20" fmla="*/ 76 w 80"/>
              <a:gd name="T21" fmla="*/ 36 h 50"/>
              <a:gd name="T22" fmla="*/ 59 w 80"/>
              <a:gd name="T23" fmla="*/ 30 h 50"/>
              <a:gd name="T24" fmla="*/ 65 w 80"/>
              <a:gd name="T25" fmla="*/ 42 h 50"/>
              <a:gd name="T26" fmla="*/ 72 w 80"/>
              <a:gd name="T27" fmla="*/ 46 h 50"/>
              <a:gd name="T28" fmla="*/ 76 w 80"/>
              <a:gd name="T29" fmla="*/ 36 h 50"/>
              <a:gd name="T30" fmla="*/ 31 w 80"/>
              <a:gd name="T31" fmla="*/ 0 h 50"/>
              <a:gd name="T32" fmla="*/ 43 w 80"/>
              <a:gd name="T33" fmla="*/ 0 h 50"/>
              <a:gd name="T34" fmla="*/ 54 w 80"/>
              <a:gd name="T35" fmla="*/ 34 h 50"/>
              <a:gd name="T36" fmla="*/ 48 w 80"/>
              <a:gd name="T37" fmla="*/ 38 h 50"/>
              <a:gd name="T38" fmla="*/ 42 w 80"/>
              <a:gd name="T39" fmla="*/ 33 h 50"/>
              <a:gd name="T40" fmla="*/ 25 w 80"/>
              <a:gd name="T41" fmla="*/ 31 h 50"/>
              <a:gd name="T42" fmla="*/ 25 w 80"/>
              <a:gd name="T43" fmla="*/ 38 h 50"/>
              <a:gd name="T44" fmla="*/ 27 w 80"/>
              <a:gd name="T45" fmla="*/ 45 h 50"/>
              <a:gd name="T46" fmla="*/ 21 w 80"/>
              <a:gd name="T47" fmla="*/ 46 h 50"/>
              <a:gd name="T48" fmla="*/ 18 w 80"/>
              <a:gd name="T49" fmla="*/ 35 h 50"/>
              <a:gd name="T50" fmla="*/ 16 w 80"/>
              <a:gd name="T51" fmla="*/ 36 h 50"/>
              <a:gd name="T52" fmla="*/ 4 w 80"/>
              <a:gd name="T53" fmla="*/ 30 h 50"/>
              <a:gd name="T54" fmla="*/ 10 w 80"/>
              <a:gd name="T55" fmla="*/ 14 h 50"/>
              <a:gd name="T56" fmla="*/ 21 w 80"/>
              <a:gd name="T57" fmla="*/ 9 h 50"/>
              <a:gd name="T58" fmla="*/ 23 w 80"/>
              <a:gd name="T59" fmla="*/ 25 h 50"/>
              <a:gd name="T60" fmla="*/ 37 w 80"/>
              <a:gd name="T61" fmla="*/ 29 h 50"/>
              <a:gd name="T62" fmla="*/ 31 w 80"/>
              <a:gd name="T63" fmla="*/ 21 h 50"/>
              <a:gd name="T64" fmla="*/ 26 w 80"/>
              <a:gd name="T65" fmla="*/ 16 h 50"/>
              <a:gd name="T66" fmla="*/ 44 w 80"/>
              <a:gd name="T67" fmla="*/ 29 h 50"/>
              <a:gd name="T68" fmla="*/ 37 w 80"/>
              <a:gd name="T69" fmla="*/ 11 h 50"/>
              <a:gd name="T70" fmla="*/ 35 w 80"/>
              <a:gd name="T71" fmla="*/ 8 h 50"/>
              <a:gd name="T72" fmla="*/ 31 w 80"/>
              <a:gd name="T73" fmla="*/ 0 h 50"/>
              <a:gd name="T74" fmla="*/ 14 w 80"/>
              <a:gd name="T75" fmla="*/ 17 h 50"/>
              <a:gd name="T76" fmla="*/ 9 w 80"/>
              <a:gd name="T77" fmla="*/ 20 h 50"/>
              <a:gd name="T78" fmla="*/ 10 w 80"/>
              <a:gd name="T79" fmla="*/ 27 h 50"/>
              <a:gd name="T80" fmla="*/ 15 w 80"/>
              <a:gd name="T81" fmla="*/ 28 h 50"/>
              <a:gd name="T82" fmla="*/ 14 w 80"/>
              <a:gd name="T83" fmla="*/ 17 h 50"/>
            </a:gdLst>
            <a:rect l="0" t="0" r="r" b="b"/>
            <a:pathLst>
              <a:path w="80" h="50">
                <a:moveTo>
                  <a:pt x="66" y="3"/>
                </a:moveTo>
                <a:cubicBezTo>
                  <a:pt x="61" y="1"/>
                  <a:pt x="58" y="4"/>
                  <a:pt x="54" y="8"/>
                </a:cubicBezTo>
                <a:cubicBezTo>
                  <a:pt x="54" y="11"/>
                  <a:pt x="54" y="13"/>
                  <a:pt x="56" y="13"/>
                </a:cubicBezTo>
                <a:cubicBezTo>
                  <a:pt x="57" y="14"/>
                  <a:pt x="59" y="13"/>
                  <a:pt x="60" y="13"/>
                </a:cubicBezTo>
                <a:cubicBezTo>
                  <a:pt x="62" y="13"/>
                  <a:pt x="63" y="13"/>
                  <a:pt x="64" y="12"/>
                </a:cubicBezTo>
                <a:cubicBezTo>
                  <a:pt x="68" y="10"/>
                  <a:pt x="70" y="2"/>
                  <a:pt x="66" y="3"/>
                </a:cubicBezTo>
                <a:close/>
                <a:moveTo>
                  <a:pt x="65" y="25"/>
                </a:moveTo>
                <a:cubicBezTo>
                  <a:pt x="67" y="23"/>
                  <a:pt x="70" y="22"/>
                  <a:pt x="68" y="18"/>
                </a:cubicBezTo>
                <a:cubicBezTo>
                  <a:pt x="64" y="16"/>
                  <a:pt x="61" y="19"/>
                  <a:pt x="60" y="20"/>
                </a:cubicBezTo>
                <a:cubicBezTo>
                  <a:pt x="58" y="22"/>
                  <a:pt x="60" y="22"/>
                  <a:pt x="65" y="25"/>
                </a:cubicBezTo>
                <a:close/>
                <a:moveTo>
                  <a:pt x="76" y="36"/>
                </a:moveTo>
                <a:cubicBezTo>
                  <a:pt x="69" y="34"/>
                  <a:pt x="65" y="32"/>
                  <a:pt x="59" y="30"/>
                </a:cubicBezTo>
                <a:cubicBezTo>
                  <a:pt x="64" y="34"/>
                  <a:pt x="64" y="38"/>
                  <a:pt x="65" y="42"/>
                </a:cubicBezTo>
                <a:cubicBezTo>
                  <a:pt x="69" y="47"/>
                  <a:pt x="71" y="48"/>
                  <a:pt x="72" y="46"/>
                </a:cubicBezTo>
                <a:cubicBezTo>
                  <a:pt x="76" y="43"/>
                  <a:pt x="80" y="40"/>
                  <a:pt x="76" y="36"/>
                </a:cubicBezTo>
                <a:close/>
                <a:moveTo>
                  <a:pt x="31" y="0"/>
                </a:moveTo>
                <a:cubicBezTo>
                  <a:pt x="35" y="0"/>
                  <a:pt x="39" y="1"/>
                  <a:pt x="43" y="0"/>
                </a:cubicBezTo>
                <a:cubicBezTo>
                  <a:pt x="51" y="9"/>
                  <a:pt x="53" y="18"/>
                  <a:pt x="54" y="34"/>
                </a:cubicBezTo>
                <a:cubicBezTo>
                  <a:pt x="53" y="36"/>
                  <a:pt x="50" y="38"/>
                  <a:pt x="48" y="38"/>
                </a:cubicBezTo>
                <a:cubicBezTo>
                  <a:pt x="45" y="37"/>
                  <a:pt x="45" y="35"/>
                  <a:pt x="42" y="33"/>
                </a:cubicBezTo>
                <a:cubicBezTo>
                  <a:pt x="37" y="35"/>
                  <a:pt x="31" y="33"/>
                  <a:pt x="25" y="31"/>
                </a:cubicBezTo>
                <a:cubicBezTo>
                  <a:pt x="23" y="32"/>
                  <a:pt x="23" y="35"/>
                  <a:pt x="25" y="38"/>
                </a:cubicBezTo>
                <a:cubicBezTo>
                  <a:pt x="26" y="40"/>
                  <a:pt x="28" y="43"/>
                  <a:pt x="27" y="45"/>
                </a:cubicBezTo>
                <a:cubicBezTo>
                  <a:pt x="24" y="50"/>
                  <a:pt x="21" y="47"/>
                  <a:pt x="21" y="46"/>
                </a:cubicBezTo>
                <a:cubicBezTo>
                  <a:pt x="19" y="41"/>
                  <a:pt x="18" y="36"/>
                  <a:pt x="18" y="35"/>
                </a:cubicBezTo>
                <a:cubicBezTo>
                  <a:pt x="17" y="35"/>
                  <a:pt x="17" y="36"/>
                  <a:pt x="16" y="36"/>
                </a:cubicBezTo>
                <a:cubicBezTo>
                  <a:pt x="9" y="36"/>
                  <a:pt x="5" y="33"/>
                  <a:pt x="4" y="30"/>
                </a:cubicBezTo>
                <a:cubicBezTo>
                  <a:pt x="0" y="22"/>
                  <a:pt x="0" y="15"/>
                  <a:pt x="10" y="14"/>
                </a:cubicBezTo>
                <a:cubicBezTo>
                  <a:pt x="14" y="7"/>
                  <a:pt x="18" y="5"/>
                  <a:pt x="21" y="9"/>
                </a:cubicBezTo>
                <a:cubicBezTo>
                  <a:pt x="18" y="12"/>
                  <a:pt x="20" y="18"/>
                  <a:pt x="23" y="25"/>
                </a:cubicBezTo>
                <a:cubicBezTo>
                  <a:pt x="27" y="26"/>
                  <a:pt x="32" y="28"/>
                  <a:pt x="37" y="29"/>
                </a:cubicBezTo>
                <a:cubicBezTo>
                  <a:pt x="36" y="27"/>
                  <a:pt x="36" y="22"/>
                  <a:pt x="31" y="21"/>
                </a:cubicBezTo>
                <a:cubicBezTo>
                  <a:pt x="26" y="21"/>
                  <a:pt x="26" y="17"/>
                  <a:pt x="26" y="16"/>
                </a:cubicBezTo>
                <a:cubicBezTo>
                  <a:pt x="35" y="10"/>
                  <a:pt x="38" y="26"/>
                  <a:pt x="44" y="29"/>
                </a:cubicBezTo>
                <a:cubicBezTo>
                  <a:pt x="47" y="25"/>
                  <a:pt x="43" y="19"/>
                  <a:pt x="37" y="11"/>
                </a:cubicBezTo>
                <a:cubicBezTo>
                  <a:pt x="37" y="10"/>
                  <a:pt x="36" y="8"/>
                  <a:pt x="35" y="8"/>
                </a:cubicBezTo>
                <a:cubicBezTo>
                  <a:pt x="30" y="8"/>
                  <a:pt x="25" y="1"/>
                  <a:pt x="31" y="0"/>
                </a:cubicBezTo>
                <a:close/>
                <a:moveTo>
                  <a:pt x="14" y="17"/>
                </a:moveTo>
                <a:cubicBezTo>
                  <a:pt x="12" y="16"/>
                  <a:pt x="11" y="17"/>
                  <a:pt x="9" y="20"/>
                </a:cubicBezTo>
                <a:cubicBezTo>
                  <a:pt x="8" y="21"/>
                  <a:pt x="9" y="24"/>
                  <a:pt x="10" y="27"/>
                </a:cubicBezTo>
                <a:cubicBezTo>
                  <a:pt x="13" y="28"/>
                  <a:pt x="13" y="28"/>
                  <a:pt x="15" y="28"/>
                </a:cubicBezTo>
                <a:cubicBezTo>
                  <a:pt x="15" y="25"/>
                  <a:pt x="14" y="21"/>
                  <a:pt x="14" y="17"/>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19" name="íśļiḋé">
            <a:extLst xmlns:a="http://schemas.openxmlformats.org/drawingml/2006/main">
              <a:ext uri="{FF2B5EF4-FFF2-40B4-BE49-F238E27FC236}">
                <a16:creationId xmlns:a16="http://schemas.microsoft.com/office/drawing/2014/main" id="{13D21F53-5CEF-443C-A4DA-2FEB9C95A471}"/>
              </a:ext>
            </a:extLst>
          </p:cNvPr>
          <p:cNvSpPr>
            <a:spLocks xmlns:a="http://schemas.openxmlformats.org/drawingml/2006/main" noGrp="1"/>
          </p:cNvSpPr>
          <p:nvPr/>
        </p:nvSpPr>
        <p:spPr>
          <a:xfrm xmlns:a="http://schemas.openxmlformats.org/drawingml/2006/main" rot="0" flipH="0" flipV="0">
            <a:off x="9839919" y="549873"/>
            <a:ext cx="42708" cy="55151"/>
          </a:xfrm>
          <a:custGeom xmlns:a="http://schemas.openxmlformats.org/drawingml/2006/main">
            <a:gdLst>
              <a:gd name="T0" fmla="*/ 12 w 61"/>
              <a:gd name="T1" fmla="*/ 13 h 79"/>
              <a:gd name="T2" fmla="*/ 10 w 61"/>
              <a:gd name="T3" fmla="*/ 37 h 79"/>
              <a:gd name="T4" fmla="*/ 0 w 61"/>
              <a:gd name="T5" fmla="*/ 50 h 79"/>
              <a:gd name="T6" fmla="*/ 2 w 61"/>
              <a:gd name="T7" fmla="*/ 56 h 79"/>
              <a:gd name="T8" fmla="*/ 9 w 61"/>
              <a:gd name="T9" fmla="*/ 49 h 79"/>
              <a:gd name="T10" fmla="*/ 7 w 61"/>
              <a:gd name="T11" fmla="*/ 68 h 79"/>
              <a:gd name="T12" fmla="*/ 12 w 61"/>
              <a:gd name="T13" fmla="*/ 72 h 79"/>
              <a:gd name="T14" fmla="*/ 21 w 61"/>
              <a:gd name="T15" fmla="*/ 61 h 79"/>
              <a:gd name="T16" fmla="*/ 24 w 61"/>
              <a:gd name="T17" fmla="*/ 69 h 79"/>
              <a:gd name="T18" fmla="*/ 20 w 61"/>
              <a:gd name="T19" fmla="*/ 71 h 79"/>
              <a:gd name="T20" fmla="*/ 29 w 61"/>
              <a:gd name="T21" fmla="*/ 75 h 79"/>
              <a:gd name="T22" fmla="*/ 23 w 61"/>
              <a:gd name="T23" fmla="*/ 56 h 79"/>
              <a:gd name="T24" fmla="*/ 28 w 61"/>
              <a:gd name="T25" fmla="*/ 35 h 79"/>
              <a:gd name="T26" fmla="*/ 27 w 61"/>
              <a:gd name="T27" fmla="*/ 32 h 79"/>
              <a:gd name="T28" fmla="*/ 25 w 61"/>
              <a:gd name="T29" fmla="*/ 35 h 79"/>
              <a:gd name="T30" fmla="*/ 18 w 61"/>
              <a:gd name="T31" fmla="*/ 47 h 79"/>
              <a:gd name="T32" fmla="*/ 17 w 61"/>
              <a:gd name="T33" fmla="*/ 39 h 79"/>
              <a:gd name="T34" fmla="*/ 14 w 61"/>
              <a:gd name="T35" fmla="*/ 34 h 79"/>
              <a:gd name="T36" fmla="*/ 15 w 61"/>
              <a:gd name="T37" fmla="*/ 20 h 79"/>
              <a:gd name="T38" fmla="*/ 12 w 61"/>
              <a:gd name="T39" fmla="*/ 13 h 79"/>
              <a:gd name="T40" fmla="*/ 34 w 61"/>
              <a:gd name="T41" fmla="*/ 4 h 79"/>
              <a:gd name="T42" fmla="*/ 50 w 61"/>
              <a:gd name="T43" fmla="*/ 25 h 79"/>
              <a:gd name="T44" fmla="*/ 56 w 61"/>
              <a:gd name="T45" fmla="*/ 35 h 79"/>
              <a:gd name="T46" fmla="*/ 60 w 61"/>
              <a:gd name="T47" fmla="*/ 79 h 79"/>
              <a:gd name="T48" fmla="*/ 46 w 61"/>
              <a:gd name="T49" fmla="*/ 49 h 79"/>
              <a:gd name="T50" fmla="*/ 37 w 61"/>
              <a:gd name="T51" fmla="*/ 52 h 79"/>
              <a:gd name="T52" fmla="*/ 33 w 61"/>
              <a:gd name="T53" fmla="*/ 50 h 79"/>
              <a:gd name="T54" fmla="*/ 36 w 61"/>
              <a:gd name="T55" fmla="*/ 38 h 79"/>
              <a:gd name="T56" fmla="*/ 32 w 61"/>
              <a:gd name="T57" fmla="*/ 39 h 79"/>
              <a:gd name="T58" fmla="*/ 29 w 61"/>
              <a:gd name="T59" fmla="*/ 29 h 79"/>
              <a:gd name="T60" fmla="*/ 28 w 61"/>
              <a:gd name="T61" fmla="*/ 23 h 79"/>
              <a:gd name="T62" fmla="*/ 38 w 61"/>
              <a:gd name="T63" fmla="*/ 20 h 79"/>
              <a:gd name="T64" fmla="*/ 34 w 61"/>
              <a:gd name="T65" fmla="*/ 4 h 79"/>
              <a:gd name="T66" fmla="*/ 15 w 61"/>
              <a:gd name="T67" fmla="*/ 53 h 79"/>
              <a:gd name="T68" fmla="*/ 17 w 61"/>
              <a:gd name="T69" fmla="*/ 54 h 79"/>
              <a:gd name="T70" fmla="*/ 16 w 61"/>
              <a:gd name="T71" fmla="*/ 56 h 79"/>
              <a:gd name="T72" fmla="*/ 13 w 61"/>
              <a:gd name="T73" fmla="*/ 56 h 79"/>
              <a:gd name="T74" fmla="*/ 15 w 61"/>
              <a:gd name="T75" fmla="*/ 53 h 79"/>
              <a:gd name="T76" fmla="*/ 34 w 61"/>
              <a:gd name="T77" fmla="*/ 32 h 79"/>
              <a:gd name="T78" fmla="*/ 41 w 61"/>
              <a:gd name="T79" fmla="*/ 31 h 79"/>
              <a:gd name="T80" fmla="*/ 37 w 61"/>
              <a:gd name="T81" fmla="*/ 28 h 79"/>
              <a:gd name="T82" fmla="*/ 34 w 61"/>
              <a:gd name="T83" fmla="*/ 32 h 79"/>
              <a:gd name="T84" fmla="*/ 39 w 61"/>
              <a:gd name="T85" fmla="*/ 44 h 79"/>
              <a:gd name="T86" fmla="*/ 44 w 61"/>
              <a:gd name="T87" fmla="*/ 40 h 79"/>
              <a:gd name="T88" fmla="*/ 41 w 61"/>
              <a:gd name="T89" fmla="*/ 38 h 79"/>
              <a:gd name="T90" fmla="*/ 39 w 61"/>
              <a:gd name="T91" fmla="*/ 44 h 79"/>
            </a:gdLst>
            <a:rect l="0" t="0" r="r" b="b"/>
            <a:pathLst>
              <a:path w="61" h="79">
                <a:moveTo>
                  <a:pt x="12" y="13"/>
                </a:moveTo>
                <a:cubicBezTo>
                  <a:pt x="8" y="18"/>
                  <a:pt x="8" y="27"/>
                  <a:pt x="10" y="37"/>
                </a:cubicBezTo>
                <a:cubicBezTo>
                  <a:pt x="9" y="38"/>
                  <a:pt x="1" y="44"/>
                  <a:pt x="0" y="50"/>
                </a:cubicBezTo>
                <a:cubicBezTo>
                  <a:pt x="0" y="54"/>
                  <a:pt x="0" y="57"/>
                  <a:pt x="2" y="56"/>
                </a:cubicBezTo>
                <a:cubicBezTo>
                  <a:pt x="4" y="54"/>
                  <a:pt x="6" y="52"/>
                  <a:pt x="9" y="49"/>
                </a:cubicBezTo>
                <a:cubicBezTo>
                  <a:pt x="10" y="55"/>
                  <a:pt x="9" y="61"/>
                  <a:pt x="7" y="68"/>
                </a:cubicBezTo>
                <a:cubicBezTo>
                  <a:pt x="8" y="73"/>
                  <a:pt x="10" y="73"/>
                  <a:pt x="12" y="72"/>
                </a:cubicBezTo>
                <a:cubicBezTo>
                  <a:pt x="15" y="68"/>
                  <a:pt x="18" y="65"/>
                  <a:pt x="21" y="61"/>
                </a:cubicBezTo>
                <a:cubicBezTo>
                  <a:pt x="22" y="64"/>
                  <a:pt x="23" y="67"/>
                  <a:pt x="24" y="69"/>
                </a:cubicBezTo>
                <a:cubicBezTo>
                  <a:pt x="23" y="72"/>
                  <a:pt x="21" y="71"/>
                  <a:pt x="20" y="71"/>
                </a:cubicBezTo>
                <a:cubicBezTo>
                  <a:pt x="20" y="75"/>
                  <a:pt x="26" y="77"/>
                  <a:pt x="29" y="75"/>
                </a:cubicBezTo>
                <a:cubicBezTo>
                  <a:pt x="29" y="69"/>
                  <a:pt x="26" y="63"/>
                  <a:pt x="23" y="56"/>
                </a:cubicBezTo>
                <a:cubicBezTo>
                  <a:pt x="24" y="50"/>
                  <a:pt x="27" y="41"/>
                  <a:pt x="28" y="35"/>
                </a:cubicBezTo>
                <a:cubicBezTo>
                  <a:pt x="28" y="33"/>
                  <a:pt x="26" y="34"/>
                  <a:pt x="27" y="32"/>
                </a:cubicBezTo>
                <a:cubicBezTo>
                  <a:pt x="26" y="33"/>
                  <a:pt x="24" y="34"/>
                  <a:pt x="25" y="35"/>
                </a:cubicBezTo>
                <a:cubicBezTo>
                  <a:pt x="25" y="39"/>
                  <a:pt x="20" y="50"/>
                  <a:pt x="18" y="47"/>
                </a:cubicBezTo>
                <a:cubicBezTo>
                  <a:pt x="18" y="44"/>
                  <a:pt x="17" y="41"/>
                  <a:pt x="17" y="39"/>
                </a:cubicBezTo>
                <a:cubicBezTo>
                  <a:pt x="16" y="37"/>
                  <a:pt x="15" y="36"/>
                  <a:pt x="14" y="34"/>
                </a:cubicBezTo>
                <a:cubicBezTo>
                  <a:pt x="13" y="29"/>
                  <a:pt x="14" y="25"/>
                  <a:pt x="15" y="20"/>
                </a:cubicBezTo>
                <a:cubicBezTo>
                  <a:pt x="17" y="14"/>
                  <a:pt x="18" y="8"/>
                  <a:pt x="12" y="13"/>
                </a:cubicBezTo>
                <a:close/>
                <a:moveTo>
                  <a:pt x="34" y="4"/>
                </a:moveTo>
                <a:cubicBezTo>
                  <a:pt x="39" y="0"/>
                  <a:pt x="45" y="11"/>
                  <a:pt x="50" y="25"/>
                </a:cubicBezTo>
                <a:cubicBezTo>
                  <a:pt x="57" y="24"/>
                  <a:pt x="61" y="31"/>
                  <a:pt x="56" y="35"/>
                </a:cubicBezTo>
                <a:cubicBezTo>
                  <a:pt x="57" y="51"/>
                  <a:pt x="59" y="63"/>
                  <a:pt x="60" y="79"/>
                </a:cubicBezTo>
                <a:cubicBezTo>
                  <a:pt x="55" y="69"/>
                  <a:pt x="46" y="62"/>
                  <a:pt x="46" y="49"/>
                </a:cubicBezTo>
                <a:cubicBezTo>
                  <a:pt x="43" y="49"/>
                  <a:pt x="40" y="51"/>
                  <a:pt x="37" y="52"/>
                </a:cubicBezTo>
                <a:cubicBezTo>
                  <a:pt x="35" y="54"/>
                  <a:pt x="33" y="53"/>
                  <a:pt x="33" y="50"/>
                </a:cubicBezTo>
                <a:cubicBezTo>
                  <a:pt x="31" y="46"/>
                  <a:pt x="33" y="44"/>
                  <a:pt x="36" y="38"/>
                </a:cubicBezTo>
                <a:cubicBezTo>
                  <a:pt x="35" y="38"/>
                  <a:pt x="33" y="39"/>
                  <a:pt x="32" y="39"/>
                </a:cubicBezTo>
                <a:cubicBezTo>
                  <a:pt x="29" y="37"/>
                  <a:pt x="30" y="32"/>
                  <a:pt x="29" y="29"/>
                </a:cubicBezTo>
                <a:cubicBezTo>
                  <a:pt x="29" y="27"/>
                  <a:pt x="28" y="26"/>
                  <a:pt x="28" y="23"/>
                </a:cubicBezTo>
                <a:cubicBezTo>
                  <a:pt x="31" y="21"/>
                  <a:pt x="34" y="21"/>
                  <a:pt x="38" y="20"/>
                </a:cubicBezTo>
                <a:cubicBezTo>
                  <a:pt x="37" y="15"/>
                  <a:pt x="36" y="9"/>
                  <a:pt x="34" y="4"/>
                </a:cubicBezTo>
                <a:close/>
                <a:moveTo>
                  <a:pt x="15" y="53"/>
                </a:moveTo>
                <a:cubicBezTo>
                  <a:pt x="16" y="53"/>
                  <a:pt x="17" y="53"/>
                  <a:pt x="17" y="54"/>
                </a:cubicBezTo>
                <a:cubicBezTo>
                  <a:pt x="18" y="55"/>
                  <a:pt x="17" y="56"/>
                  <a:pt x="16" y="56"/>
                </a:cubicBezTo>
                <a:cubicBezTo>
                  <a:pt x="15" y="57"/>
                  <a:pt x="14" y="57"/>
                  <a:pt x="13" y="56"/>
                </a:cubicBezTo>
                <a:cubicBezTo>
                  <a:pt x="13" y="55"/>
                  <a:pt x="14" y="54"/>
                  <a:pt x="15" y="53"/>
                </a:cubicBezTo>
                <a:close/>
                <a:moveTo>
                  <a:pt x="34" y="32"/>
                </a:moveTo>
                <a:cubicBezTo>
                  <a:pt x="36" y="33"/>
                  <a:pt x="39" y="33"/>
                  <a:pt x="41" y="31"/>
                </a:cubicBezTo>
                <a:cubicBezTo>
                  <a:pt x="41" y="29"/>
                  <a:pt x="40" y="28"/>
                  <a:pt x="37" y="28"/>
                </a:cubicBezTo>
                <a:cubicBezTo>
                  <a:pt x="34" y="29"/>
                  <a:pt x="33" y="30"/>
                  <a:pt x="34" y="32"/>
                </a:cubicBezTo>
                <a:close/>
                <a:moveTo>
                  <a:pt x="39" y="44"/>
                </a:moveTo>
                <a:cubicBezTo>
                  <a:pt x="41" y="45"/>
                  <a:pt x="41" y="42"/>
                  <a:pt x="44" y="40"/>
                </a:cubicBezTo>
                <a:cubicBezTo>
                  <a:pt x="43" y="37"/>
                  <a:pt x="41" y="38"/>
                  <a:pt x="41" y="38"/>
                </a:cubicBezTo>
                <a:cubicBezTo>
                  <a:pt x="38" y="39"/>
                  <a:pt x="37" y="41"/>
                  <a:pt x="39" y="44"/>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0" name="íṩḷíḑe">
            <a:extLst xmlns:a="http://schemas.openxmlformats.org/drawingml/2006/main">
              <a:ext uri="{FF2B5EF4-FFF2-40B4-BE49-F238E27FC236}">
                <a16:creationId xmlns:a16="http://schemas.microsoft.com/office/drawing/2014/main" id="{0F1CEC88-039E-48F8-832E-2238284FB1AA}"/>
              </a:ext>
            </a:extLst>
          </p:cNvPr>
          <p:cNvSpPr>
            <a:spLocks xmlns:a="http://schemas.openxmlformats.org/drawingml/2006/main" noGrp="1"/>
          </p:cNvSpPr>
          <p:nvPr/>
        </p:nvSpPr>
        <p:spPr>
          <a:xfrm xmlns:a="http://schemas.openxmlformats.org/drawingml/2006/main" rot="0" flipH="0" flipV="0">
            <a:off x="9962665" y="561643"/>
            <a:ext cx="50443" cy="47080"/>
          </a:xfrm>
          <a:custGeom xmlns:a="http://schemas.openxmlformats.org/drawingml/2006/main">
            <a:gdLst>
              <a:gd name="T0" fmla="*/ 31 w 72"/>
              <a:gd name="T1" fmla="*/ 1 h 67"/>
              <a:gd name="T2" fmla="*/ 23 w 72"/>
              <a:gd name="T3" fmla="*/ 12 h 67"/>
              <a:gd name="T4" fmla="*/ 14 w 72"/>
              <a:gd name="T5" fmla="*/ 11 h 67"/>
              <a:gd name="T6" fmla="*/ 19 w 72"/>
              <a:gd name="T7" fmla="*/ 20 h 67"/>
              <a:gd name="T8" fmla="*/ 13 w 72"/>
              <a:gd name="T9" fmla="*/ 33 h 67"/>
              <a:gd name="T10" fmla="*/ 10 w 72"/>
              <a:gd name="T11" fmla="*/ 34 h 67"/>
              <a:gd name="T12" fmla="*/ 0 w 72"/>
              <a:gd name="T13" fmla="*/ 35 h 67"/>
              <a:gd name="T14" fmla="*/ 4 w 72"/>
              <a:gd name="T15" fmla="*/ 46 h 67"/>
              <a:gd name="T16" fmla="*/ 10 w 72"/>
              <a:gd name="T17" fmla="*/ 42 h 67"/>
              <a:gd name="T18" fmla="*/ 12 w 72"/>
              <a:gd name="T19" fmla="*/ 48 h 67"/>
              <a:gd name="T20" fmla="*/ 18 w 72"/>
              <a:gd name="T21" fmla="*/ 45 h 67"/>
              <a:gd name="T22" fmla="*/ 19 w 72"/>
              <a:gd name="T23" fmla="*/ 35 h 67"/>
              <a:gd name="T24" fmla="*/ 36 w 72"/>
              <a:gd name="T25" fmla="*/ 21 h 67"/>
              <a:gd name="T26" fmla="*/ 42 w 72"/>
              <a:gd name="T27" fmla="*/ 28 h 67"/>
              <a:gd name="T28" fmla="*/ 36 w 72"/>
              <a:gd name="T29" fmla="*/ 31 h 67"/>
              <a:gd name="T30" fmla="*/ 31 w 72"/>
              <a:gd name="T31" fmla="*/ 30 h 67"/>
              <a:gd name="T32" fmla="*/ 29 w 72"/>
              <a:gd name="T33" fmla="*/ 37 h 67"/>
              <a:gd name="T34" fmla="*/ 39 w 72"/>
              <a:gd name="T35" fmla="*/ 48 h 67"/>
              <a:gd name="T36" fmla="*/ 28 w 72"/>
              <a:gd name="T37" fmla="*/ 46 h 67"/>
              <a:gd name="T38" fmla="*/ 26 w 72"/>
              <a:gd name="T39" fmla="*/ 36 h 67"/>
              <a:gd name="T40" fmla="*/ 20 w 72"/>
              <a:gd name="T41" fmla="*/ 49 h 67"/>
              <a:gd name="T42" fmla="*/ 44 w 72"/>
              <a:gd name="T43" fmla="*/ 54 h 67"/>
              <a:gd name="T44" fmla="*/ 48 w 72"/>
              <a:gd name="T45" fmla="*/ 63 h 67"/>
              <a:gd name="T46" fmla="*/ 72 w 72"/>
              <a:gd name="T47" fmla="*/ 67 h 67"/>
              <a:gd name="T48" fmla="*/ 71 w 72"/>
              <a:gd name="T49" fmla="*/ 65 h 67"/>
              <a:gd name="T50" fmla="*/ 59 w 72"/>
              <a:gd name="T51" fmla="*/ 57 h 67"/>
              <a:gd name="T52" fmla="*/ 51 w 72"/>
              <a:gd name="T53" fmla="*/ 49 h 67"/>
              <a:gd name="T54" fmla="*/ 59 w 72"/>
              <a:gd name="T55" fmla="*/ 29 h 67"/>
              <a:gd name="T56" fmla="*/ 50 w 72"/>
              <a:gd name="T57" fmla="*/ 29 h 67"/>
              <a:gd name="T58" fmla="*/ 58 w 72"/>
              <a:gd name="T59" fmla="*/ 25 h 67"/>
              <a:gd name="T60" fmla="*/ 66 w 72"/>
              <a:gd name="T61" fmla="*/ 22 h 67"/>
              <a:gd name="T62" fmla="*/ 68 w 72"/>
              <a:gd name="T63" fmla="*/ 13 h 67"/>
              <a:gd name="T64" fmla="*/ 55 w 72"/>
              <a:gd name="T65" fmla="*/ 17 h 67"/>
              <a:gd name="T66" fmla="*/ 56 w 72"/>
              <a:gd name="T67" fmla="*/ 0 h 67"/>
              <a:gd name="T68" fmla="*/ 48 w 72"/>
              <a:gd name="T69" fmla="*/ 16 h 67"/>
              <a:gd name="T70" fmla="*/ 35 w 72"/>
              <a:gd name="T71" fmla="*/ 19 h 67"/>
              <a:gd name="T72" fmla="*/ 24 w 72"/>
              <a:gd name="T73" fmla="*/ 25 h 67"/>
              <a:gd name="T74" fmla="*/ 29 w 72"/>
              <a:gd name="T75" fmla="*/ 16 h 67"/>
              <a:gd name="T76" fmla="*/ 31 w 72"/>
              <a:gd name="T77" fmla="*/ 1 h 67"/>
              <a:gd name="T78" fmla="*/ 43 w 72"/>
              <a:gd name="T79" fmla="*/ 38 h 67"/>
              <a:gd name="T80" fmla="*/ 51 w 72"/>
              <a:gd name="T81" fmla="*/ 35 h 67"/>
              <a:gd name="T82" fmla="*/ 46 w 72"/>
              <a:gd name="T83" fmla="*/ 44 h 67"/>
              <a:gd name="T84" fmla="*/ 43 w 72"/>
              <a:gd name="T85" fmla="*/ 38 h 67"/>
            </a:gdLst>
            <a:rect l="0" t="0" r="r" b="b"/>
            <a:pathLst>
              <a:path w="72" h="67">
                <a:moveTo>
                  <a:pt x="31" y="1"/>
                </a:moveTo>
                <a:cubicBezTo>
                  <a:pt x="28" y="4"/>
                  <a:pt x="26" y="8"/>
                  <a:pt x="23" y="12"/>
                </a:cubicBezTo>
                <a:cubicBezTo>
                  <a:pt x="22" y="16"/>
                  <a:pt x="18" y="14"/>
                  <a:pt x="14" y="11"/>
                </a:cubicBezTo>
                <a:cubicBezTo>
                  <a:pt x="14" y="15"/>
                  <a:pt x="15" y="17"/>
                  <a:pt x="19" y="20"/>
                </a:cubicBezTo>
                <a:cubicBezTo>
                  <a:pt x="17" y="25"/>
                  <a:pt x="15" y="30"/>
                  <a:pt x="13" y="33"/>
                </a:cubicBezTo>
                <a:cubicBezTo>
                  <a:pt x="12" y="34"/>
                  <a:pt x="11" y="34"/>
                  <a:pt x="10" y="34"/>
                </a:cubicBezTo>
                <a:cubicBezTo>
                  <a:pt x="6" y="36"/>
                  <a:pt x="4" y="36"/>
                  <a:pt x="0" y="35"/>
                </a:cubicBezTo>
                <a:cubicBezTo>
                  <a:pt x="1" y="43"/>
                  <a:pt x="0" y="44"/>
                  <a:pt x="4" y="46"/>
                </a:cubicBezTo>
                <a:cubicBezTo>
                  <a:pt x="6" y="44"/>
                  <a:pt x="9" y="44"/>
                  <a:pt x="10" y="42"/>
                </a:cubicBezTo>
                <a:cubicBezTo>
                  <a:pt x="10" y="44"/>
                  <a:pt x="12" y="46"/>
                  <a:pt x="12" y="48"/>
                </a:cubicBezTo>
                <a:cubicBezTo>
                  <a:pt x="14" y="48"/>
                  <a:pt x="16" y="48"/>
                  <a:pt x="18" y="45"/>
                </a:cubicBezTo>
                <a:cubicBezTo>
                  <a:pt x="18" y="42"/>
                  <a:pt x="19" y="38"/>
                  <a:pt x="19" y="35"/>
                </a:cubicBezTo>
                <a:cubicBezTo>
                  <a:pt x="25" y="33"/>
                  <a:pt x="30" y="28"/>
                  <a:pt x="36" y="21"/>
                </a:cubicBezTo>
                <a:cubicBezTo>
                  <a:pt x="37" y="23"/>
                  <a:pt x="39" y="26"/>
                  <a:pt x="42" y="28"/>
                </a:cubicBezTo>
                <a:cubicBezTo>
                  <a:pt x="40" y="29"/>
                  <a:pt x="38" y="30"/>
                  <a:pt x="36" y="31"/>
                </a:cubicBezTo>
                <a:cubicBezTo>
                  <a:pt x="34" y="31"/>
                  <a:pt x="33" y="30"/>
                  <a:pt x="31" y="30"/>
                </a:cubicBezTo>
                <a:cubicBezTo>
                  <a:pt x="31" y="33"/>
                  <a:pt x="29" y="34"/>
                  <a:pt x="29" y="37"/>
                </a:cubicBezTo>
                <a:cubicBezTo>
                  <a:pt x="32" y="41"/>
                  <a:pt x="36" y="44"/>
                  <a:pt x="39" y="48"/>
                </a:cubicBezTo>
                <a:cubicBezTo>
                  <a:pt x="35" y="48"/>
                  <a:pt x="30" y="48"/>
                  <a:pt x="28" y="46"/>
                </a:cubicBezTo>
                <a:cubicBezTo>
                  <a:pt x="26" y="44"/>
                  <a:pt x="26" y="40"/>
                  <a:pt x="26" y="36"/>
                </a:cubicBezTo>
                <a:cubicBezTo>
                  <a:pt x="24" y="38"/>
                  <a:pt x="21" y="45"/>
                  <a:pt x="20" y="49"/>
                </a:cubicBezTo>
                <a:cubicBezTo>
                  <a:pt x="27" y="53"/>
                  <a:pt x="35" y="55"/>
                  <a:pt x="44" y="54"/>
                </a:cubicBezTo>
                <a:cubicBezTo>
                  <a:pt x="47" y="56"/>
                  <a:pt x="45" y="61"/>
                  <a:pt x="48" y="63"/>
                </a:cubicBezTo>
                <a:cubicBezTo>
                  <a:pt x="53" y="66"/>
                  <a:pt x="67" y="64"/>
                  <a:pt x="72" y="67"/>
                </a:cubicBezTo>
                <a:cubicBezTo>
                  <a:pt x="72" y="66"/>
                  <a:pt x="72" y="66"/>
                  <a:pt x="71" y="65"/>
                </a:cubicBezTo>
                <a:cubicBezTo>
                  <a:pt x="67" y="63"/>
                  <a:pt x="62" y="61"/>
                  <a:pt x="59" y="57"/>
                </a:cubicBezTo>
                <a:cubicBezTo>
                  <a:pt x="55" y="54"/>
                  <a:pt x="53" y="51"/>
                  <a:pt x="51" y="49"/>
                </a:cubicBezTo>
                <a:cubicBezTo>
                  <a:pt x="57" y="43"/>
                  <a:pt x="63" y="33"/>
                  <a:pt x="59" y="29"/>
                </a:cubicBezTo>
                <a:cubicBezTo>
                  <a:pt x="58" y="28"/>
                  <a:pt x="54" y="30"/>
                  <a:pt x="50" y="29"/>
                </a:cubicBezTo>
                <a:cubicBezTo>
                  <a:pt x="51" y="27"/>
                  <a:pt x="53" y="24"/>
                  <a:pt x="58" y="25"/>
                </a:cubicBezTo>
                <a:cubicBezTo>
                  <a:pt x="61" y="26"/>
                  <a:pt x="63" y="23"/>
                  <a:pt x="66" y="22"/>
                </a:cubicBezTo>
                <a:cubicBezTo>
                  <a:pt x="67" y="19"/>
                  <a:pt x="69" y="16"/>
                  <a:pt x="68" y="13"/>
                </a:cubicBezTo>
                <a:cubicBezTo>
                  <a:pt x="63" y="16"/>
                  <a:pt x="59" y="17"/>
                  <a:pt x="55" y="17"/>
                </a:cubicBezTo>
                <a:cubicBezTo>
                  <a:pt x="59" y="11"/>
                  <a:pt x="59" y="5"/>
                  <a:pt x="56" y="0"/>
                </a:cubicBezTo>
                <a:cubicBezTo>
                  <a:pt x="51" y="6"/>
                  <a:pt x="48" y="12"/>
                  <a:pt x="48" y="16"/>
                </a:cubicBezTo>
                <a:cubicBezTo>
                  <a:pt x="42" y="21"/>
                  <a:pt x="39" y="17"/>
                  <a:pt x="35" y="19"/>
                </a:cubicBezTo>
                <a:cubicBezTo>
                  <a:pt x="32" y="20"/>
                  <a:pt x="29" y="23"/>
                  <a:pt x="24" y="25"/>
                </a:cubicBezTo>
                <a:cubicBezTo>
                  <a:pt x="22" y="22"/>
                  <a:pt x="23" y="20"/>
                  <a:pt x="29" y="16"/>
                </a:cubicBezTo>
                <a:cubicBezTo>
                  <a:pt x="35" y="13"/>
                  <a:pt x="37" y="2"/>
                  <a:pt x="31" y="1"/>
                </a:cubicBezTo>
                <a:close/>
                <a:moveTo>
                  <a:pt x="43" y="38"/>
                </a:moveTo>
                <a:cubicBezTo>
                  <a:pt x="45" y="37"/>
                  <a:pt x="48" y="36"/>
                  <a:pt x="51" y="35"/>
                </a:cubicBezTo>
                <a:cubicBezTo>
                  <a:pt x="52" y="39"/>
                  <a:pt x="48" y="40"/>
                  <a:pt x="46" y="44"/>
                </a:cubicBezTo>
                <a:cubicBezTo>
                  <a:pt x="42" y="42"/>
                  <a:pt x="41" y="40"/>
                  <a:pt x="43" y="38"/>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1" name="íṧļiḓé">
            <a:extLst xmlns:a="http://schemas.openxmlformats.org/drawingml/2006/main">
              <a:ext uri="{FF2B5EF4-FFF2-40B4-BE49-F238E27FC236}">
                <a16:creationId xmlns:a16="http://schemas.microsoft.com/office/drawing/2014/main" id="{E90146A6-7804-407C-AEC6-0B81EEFCAF6E}"/>
              </a:ext>
            </a:extLst>
          </p:cNvPr>
          <p:cNvSpPr>
            <a:spLocks xmlns:a="http://schemas.openxmlformats.org/drawingml/2006/main" noGrp="1"/>
          </p:cNvSpPr>
          <p:nvPr/>
        </p:nvSpPr>
        <p:spPr>
          <a:xfrm xmlns:a="http://schemas.openxmlformats.org/drawingml/2006/main" rot="0" flipH="0" flipV="0">
            <a:off x="9877584" y="888853"/>
            <a:ext cx="106267" cy="34301"/>
          </a:xfrm>
          <a:custGeom xmlns:a="http://schemas.openxmlformats.org/drawingml/2006/main">
            <a:gdLst>
              <a:gd name="T0" fmla="*/ 26 w 152"/>
              <a:gd name="T1" fmla="*/ 1 h 49"/>
              <a:gd name="T2" fmla="*/ 16 w 152"/>
              <a:gd name="T3" fmla="*/ 41 h 49"/>
              <a:gd name="T4" fmla="*/ 17 w 152"/>
              <a:gd name="T5" fmla="*/ 46 h 49"/>
              <a:gd name="T6" fmla="*/ 23 w 152"/>
              <a:gd name="T7" fmla="*/ 47 h 49"/>
              <a:gd name="T8" fmla="*/ 10 w 152"/>
              <a:gd name="T9" fmla="*/ 48 h 49"/>
              <a:gd name="T10" fmla="*/ 1 w 152"/>
              <a:gd name="T11" fmla="*/ 47 h 49"/>
              <a:gd name="T12" fmla="*/ 10 w 152"/>
              <a:gd name="T13" fmla="*/ 42 h 49"/>
              <a:gd name="T14" fmla="*/ 16 w 152"/>
              <a:gd name="T15" fmla="*/ 22 h 49"/>
              <a:gd name="T16" fmla="*/ 17 w 152"/>
              <a:gd name="T17" fmla="*/ 10 h 49"/>
              <a:gd name="T18" fmla="*/ 8 w 152"/>
              <a:gd name="T19" fmla="*/ 11 h 49"/>
              <a:gd name="T20" fmla="*/ 25 w 152"/>
              <a:gd name="T21" fmla="*/ 1 h 49"/>
              <a:gd name="T22" fmla="*/ 37 w 152"/>
              <a:gd name="T23" fmla="*/ 47 h 49"/>
              <a:gd name="T24" fmla="*/ 52 w 152"/>
              <a:gd name="T25" fmla="*/ 32 h 49"/>
              <a:gd name="T26" fmla="*/ 42 w 152"/>
              <a:gd name="T27" fmla="*/ 19 h 49"/>
              <a:gd name="T28" fmla="*/ 57 w 152"/>
              <a:gd name="T29" fmla="*/ 1 h 49"/>
              <a:gd name="T30" fmla="*/ 70 w 152"/>
              <a:gd name="T31" fmla="*/ 17 h 49"/>
              <a:gd name="T32" fmla="*/ 37 w 152"/>
              <a:gd name="T33" fmla="*/ 49 h 49"/>
              <a:gd name="T34" fmla="*/ 63 w 152"/>
              <a:gd name="T35" fmla="*/ 15 h 49"/>
              <a:gd name="T36" fmla="*/ 56 w 152"/>
              <a:gd name="T37" fmla="*/ 3 h 49"/>
              <a:gd name="T38" fmla="*/ 49 w 152"/>
              <a:gd name="T39" fmla="*/ 18 h 49"/>
              <a:gd name="T40" fmla="*/ 55 w 152"/>
              <a:gd name="T41" fmla="*/ 28 h 49"/>
              <a:gd name="T42" fmla="*/ 110 w 152"/>
              <a:gd name="T43" fmla="*/ 0 h 49"/>
              <a:gd name="T44" fmla="*/ 110 w 152"/>
              <a:gd name="T45" fmla="*/ 6 h 49"/>
              <a:gd name="T46" fmla="*/ 94 w 152"/>
              <a:gd name="T47" fmla="*/ 8 h 49"/>
              <a:gd name="T48" fmla="*/ 93 w 152"/>
              <a:gd name="T49" fmla="*/ 14 h 49"/>
              <a:gd name="T50" fmla="*/ 102 w 152"/>
              <a:gd name="T51" fmla="*/ 19 h 49"/>
              <a:gd name="T52" fmla="*/ 98 w 152"/>
              <a:gd name="T53" fmla="*/ 42 h 49"/>
              <a:gd name="T54" fmla="*/ 77 w 152"/>
              <a:gd name="T55" fmla="*/ 48 h 49"/>
              <a:gd name="T56" fmla="*/ 76 w 152"/>
              <a:gd name="T57" fmla="*/ 44 h 49"/>
              <a:gd name="T58" fmla="*/ 80 w 152"/>
              <a:gd name="T59" fmla="*/ 44 h 49"/>
              <a:gd name="T60" fmla="*/ 95 w 152"/>
              <a:gd name="T61" fmla="*/ 41 h 49"/>
              <a:gd name="T62" fmla="*/ 97 w 152"/>
              <a:gd name="T63" fmla="*/ 25 h 49"/>
              <a:gd name="T64" fmla="*/ 89 w 152"/>
              <a:gd name="T65" fmla="*/ 19 h 49"/>
              <a:gd name="T66" fmla="*/ 90 w 152"/>
              <a:gd name="T67" fmla="*/ 12 h 49"/>
              <a:gd name="T68" fmla="*/ 96 w 152"/>
              <a:gd name="T69" fmla="*/ 2 h 49"/>
              <a:gd name="T70" fmla="*/ 108 w 152"/>
              <a:gd name="T71" fmla="*/ 2 h 49"/>
              <a:gd name="T72" fmla="*/ 152 w 152"/>
              <a:gd name="T73" fmla="*/ 1 h 49"/>
              <a:gd name="T74" fmla="*/ 127 w 152"/>
              <a:gd name="T75" fmla="*/ 22 h 49"/>
              <a:gd name="T76" fmla="*/ 144 w 152"/>
              <a:gd name="T77" fmla="*/ 22 h 49"/>
              <a:gd name="T78" fmla="*/ 142 w 152"/>
              <a:gd name="T79" fmla="*/ 44 h 49"/>
              <a:gd name="T80" fmla="*/ 122 w 152"/>
              <a:gd name="T81" fmla="*/ 45 h 49"/>
              <a:gd name="T82" fmla="*/ 123 w 152"/>
              <a:gd name="T83" fmla="*/ 18 h 49"/>
              <a:gd name="T84" fmla="*/ 152 w 152"/>
              <a:gd name="T85" fmla="*/ 1 h 49"/>
              <a:gd name="T86" fmla="*/ 126 w 152"/>
              <a:gd name="T87" fmla="*/ 36 h 49"/>
              <a:gd name="T88" fmla="*/ 132 w 152"/>
              <a:gd name="T89" fmla="*/ 47 h 49"/>
              <a:gd name="T90" fmla="*/ 139 w 152"/>
              <a:gd name="T91" fmla="*/ 33 h 49"/>
              <a:gd name="T92" fmla="*/ 134 w 152"/>
              <a:gd name="T93" fmla="*/ 22 h 49"/>
            </a:gdLst>
            <a:rect l="0" t="0" r="r" b="b"/>
            <a:pathLst>
              <a:path w="152" h="49">
                <a:moveTo>
                  <a:pt x="25" y="1"/>
                </a:moveTo>
                <a:cubicBezTo>
                  <a:pt x="26" y="1"/>
                  <a:pt x="26" y="1"/>
                  <a:pt x="26" y="1"/>
                </a:cubicBezTo>
                <a:cubicBezTo>
                  <a:pt x="21" y="22"/>
                  <a:pt x="21" y="22"/>
                  <a:pt x="21" y="22"/>
                </a:cubicBezTo>
                <a:cubicBezTo>
                  <a:pt x="16" y="41"/>
                  <a:pt x="16" y="41"/>
                  <a:pt x="16" y="41"/>
                </a:cubicBezTo>
                <a:cubicBezTo>
                  <a:pt x="16" y="43"/>
                  <a:pt x="16" y="44"/>
                  <a:pt x="16" y="45"/>
                </a:cubicBezTo>
                <a:cubicBezTo>
                  <a:pt x="16" y="45"/>
                  <a:pt x="16" y="46"/>
                  <a:pt x="17" y="46"/>
                </a:cubicBezTo>
                <a:cubicBezTo>
                  <a:pt x="17" y="46"/>
                  <a:pt x="18" y="46"/>
                  <a:pt x="19" y="46"/>
                </a:cubicBezTo>
                <a:cubicBezTo>
                  <a:pt x="21" y="46"/>
                  <a:pt x="22" y="47"/>
                  <a:pt x="23" y="47"/>
                </a:cubicBezTo>
                <a:cubicBezTo>
                  <a:pt x="22" y="49"/>
                  <a:pt x="22" y="49"/>
                  <a:pt x="22" y="49"/>
                </a:cubicBezTo>
                <a:cubicBezTo>
                  <a:pt x="18" y="48"/>
                  <a:pt x="14" y="48"/>
                  <a:pt x="10" y="48"/>
                </a:cubicBezTo>
                <a:cubicBezTo>
                  <a:pt x="7" y="48"/>
                  <a:pt x="4" y="48"/>
                  <a:pt x="0" y="49"/>
                </a:cubicBezTo>
                <a:cubicBezTo>
                  <a:pt x="1" y="47"/>
                  <a:pt x="1" y="47"/>
                  <a:pt x="1" y="47"/>
                </a:cubicBezTo>
                <a:cubicBezTo>
                  <a:pt x="4" y="46"/>
                  <a:pt x="6" y="46"/>
                  <a:pt x="7" y="45"/>
                </a:cubicBezTo>
                <a:cubicBezTo>
                  <a:pt x="8" y="45"/>
                  <a:pt x="9" y="44"/>
                  <a:pt x="10" y="42"/>
                </a:cubicBezTo>
                <a:cubicBezTo>
                  <a:pt x="11" y="41"/>
                  <a:pt x="11" y="39"/>
                  <a:pt x="11" y="38"/>
                </a:cubicBezTo>
                <a:cubicBezTo>
                  <a:pt x="16" y="22"/>
                  <a:pt x="16" y="22"/>
                  <a:pt x="16" y="22"/>
                </a:cubicBezTo>
                <a:cubicBezTo>
                  <a:pt x="17" y="15"/>
                  <a:pt x="18" y="12"/>
                  <a:pt x="18" y="11"/>
                </a:cubicBezTo>
                <a:cubicBezTo>
                  <a:pt x="18" y="10"/>
                  <a:pt x="17" y="10"/>
                  <a:pt x="17" y="10"/>
                </a:cubicBezTo>
                <a:cubicBezTo>
                  <a:pt x="16" y="10"/>
                  <a:pt x="13" y="11"/>
                  <a:pt x="9" y="13"/>
                </a:cubicBezTo>
                <a:cubicBezTo>
                  <a:pt x="8" y="11"/>
                  <a:pt x="8" y="11"/>
                  <a:pt x="8" y="11"/>
                </a:cubicBezTo>
                <a:cubicBezTo>
                  <a:pt x="13" y="9"/>
                  <a:pt x="17" y="7"/>
                  <a:pt x="19" y="6"/>
                </a:cubicBezTo>
                <a:cubicBezTo>
                  <a:pt x="21" y="4"/>
                  <a:pt x="23" y="3"/>
                  <a:pt x="25" y="1"/>
                </a:cubicBezTo>
                <a:close/>
                <a:moveTo>
                  <a:pt x="37" y="49"/>
                </a:moveTo>
                <a:cubicBezTo>
                  <a:pt x="37" y="47"/>
                  <a:pt x="37" y="47"/>
                  <a:pt x="37" y="47"/>
                </a:cubicBezTo>
                <a:cubicBezTo>
                  <a:pt x="49" y="46"/>
                  <a:pt x="57" y="40"/>
                  <a:pt x="61" y="28"/>
                </a:cubicBezTo>
                <a:cubicBezTo>
                  <a:pt x="58" y="30"/>
                  <a:pt x="55" y="32"/>
                  <a:pt x="52" y="32"/>
                </a:cubicBezTo>
                <a:cubicBezTo>
                  <a:pt x="49" y="32"/>
                  <a:pt x="46" y="31"/>
                  <a:pt x="45" y="28"/>
                </a:cubicBezTo>
                <a:cubicBezTo>
                  <a:pt x="43" y="26"/>
                  <a:pt x="42" y="23"/>
                  <a:pt x="42" y="19"/>
                </a:cubicBezTo>
                <a:cubicBezTo>
                  <a:pt x="42" y="14"/>
                  <a:pt x="43" y="10"/>
                  <a:pt x="46" y="6"/>
                </a:cubicBezTo>
                <a:cubicBezTo>
                  <a:pt x="49" y="3"/>
                  <a:pt x="53" y="1"/>
                  <a:pt x="57" y="1"/>
                </a:cubicBezTo>
                <a:cubicBezTo>
                  <a:pt x="61" y="1"/>
                  <a:pt x="64" y="3"/>
                  <a:pt x="66" y="5"/>
                </a:cubicBezTo>
                <a:cubicBezTo>
                  <a:pt x="68" y="8"/>
                  <a:pt x="70" y="12"/>
                  <a:pt x="70" y="17"/>
                </a:cubicBezTo>
                <a:cubicBezTo>
                  <a:pt x="70" y="25"/>
                  <a:pt x="67" y="33"/>
                  <a:pt x="61" y="39"/>
                </a:cubicBezTo>
                <a:cubicBezTo>
                  <a:pt x="55" y="46"/>
                  <a:pt x="47" y="49"/>
                  <a:pt x="37" y="49"/>
                </a:cubicBezTo>
                <a:close/>
                <a:moveTo>
                  <a:pt x="62" y="25"/>
                </a:moveTo>
                <a:cubicBezTo>
                  <a:pt x="62" y="21"/>
                  <a:pt x="63" y="17"/>
                  <a:pt x="63" y="15"/>
                </a:cubicBezTo>
                <a:cubicBezTo>
                  <a:pt x="63" y="11"/>
                  <a:pt x="62" y="8"/>
                  <a:pt x="61" y="6"/>
                </a:cubicBezTo>
                <a:cubicBezTo>
                  <a:pt x="60" y="4"/>
                  <a:pt x="58" y="3"/>
                  <a:pt x="56" y="3"/>
                </a:cubicBezTo>
                <a:cubicBezTo>
                  <a:pt x="54" y="3"/>
                  <a:pt x="52" y="5"/>
                  <a:pt x="51" y="7"/>
                </a:cubicBezTo>
                <a:cubicBezTo>
                  <a:pt x="49" y="10"/>
                  <a:pt x="49" y="13"/>
                  <a:pt x="49" y="18"/>
                </a:cubicBezTo>
                <a:cubicBezTo>
                  <a:pt x="49" y="21"/>
                  <a:pt x="49" y="24"/>
                  <a:pt x="50" y="26"/>
                </a:cubicBezTo>
                <a:cubicBezTo>
                  <a:pt x="52" y="28"/>
                  <a:pt x="53" y="28"/>
                  <a:pt x="55" y="28"/>
                </a:cubicBezTo>
                <a:cubicBezTo>
                  <a:pt x="57" y="28"/>
                  <a:pt x="59" y="27"/>
                  <a:pt x="62" y="25"/>
                </a:cubicBezTo>
                <a:close/>
                <a:moveTo>
                  <a:pt x="110" y="0"/>
                </a:moveTo>
                <a:cubicBezTo>
                  <a:pt x="113" y="0"/>
                  <a:pt x="113" y="0"/>
                  <a:pt x="113" y="0"/>
                </a:cubicBezTo>
                <a:cubicBezTo>
                  <a:pt x="110" y="6"/>
                  <a:pt x="110" y="6"/>
                  <a:pt x="110" y="6"/>
                </a:cubicBezTo>
                <a:cubicBezTo>
                  <a:pt x="109" y="7"/>
                  <a:pt x="108" y="7"/>
                  <a:pt x="105" y="7"/>
                </a:cubicBezTo>
                <a:cubicBezTo>
                  <a:pt x="99" y="7"/>
                  <a:pt x="95" y="7"/>
                  <a:pt x="94" y="8"/>
                </a:cubicBezTo>
                <a:cubicBezTo>
                  <a:pt x="93" y="10"/>
                  <a:pt x="92" y="11"/>
                  <a:pt x="92" y="12"/>
                </a:cubicBezTo>
                <a:cubicBezTo>
                  <a:pt x="92" y="13"/>
                  <a:pt x="92" y="13"/>
                  <a:pt x="93" y="14"/>
                </a:cubicBezTo>
                <a:cubicBezTo>
                  <a:pt x="93" y="14"/>
                  <a:pt x="94" y="14"/>
                  <a:pt x="95" y="15"/>
                </a:cubicBezTo>
                <a:cubicBezTo>
                  <a:pt x="98" y="16"/>
                  <a:pt x="100" y="17"/>
                  <a:pt x="102" y="19"/>
                </a:cubicBezTo>
                <a:cubicBezTo>
                  <a:pt x="103" y="22"/>
                  <a:pt x="104" y="24"/>
                  <a:pt x="104" y="28"/>
                </a:cubicBezTo>
                <a:cubicBezTo>
                  <a:pt x="104" y="33"/>
                  <a:pt x="102" y="38"/>
                  <a:pt x="98" y="42"/>
                </a:cubicBezTo>
                <a:cubicBezTo>
                  <a:pt x="93" y="47"/>
                  <a:pt x="88" y="49"/>
                  <a:pt x="83" y="49"/>
                </a:cubicBezTo>
                <a:cubicBezTo>
                  <a:pt x="80" y="49"/>
                  <a:pt x="79" y="49"/>
                  <a:pt x="77" y="48"/>
                </a:cubicBezTo>
                <a:cubicBezTo>
                  <a:pt x="76" y="47"/>
                  <a:pt x="76" y="46"/>
                  <a:pt x="76" y="45"/>
                </a:cubicBezTo>
                <a:cubicBezTo>
                  <a:pt x="76" y="45"/>
                  <a:pt x="76" y="44"/>
                  <a:pt x="76" y="44"/>
                </a:cubicBezTo>
                <a:cubicBezTo>
                  <a:pt x="77" y="43"/>
                  <a:pt x="77" y="43"/>
                  <a:pt x="78" y="43"/>
                </a:cubicBezTo>
                <a:cubicBezTo>
                  <a:pt x="79" y="43"/>
                  <a:pt x="79" y="43"/>
                  <a:pt x="80" y="44"/>
                </a:cubicBezTo>
                <a:cubicBezTo>
                  <a:pt x="82" y="45"/>
                  <a:pt x="84" y="46"/>
                  <a:pt x="85" y="46"/>
                </a:cubicBezTo>
                <a:cubicBezTo>
                  <a:pt x="89" y="46"/>
                  <a:pt x="92" y="44"/>
                  <a:pt x="95" y="41"/>
                </a:cubicBezTo>
                <a:cubicBezTo>
                  <a:pt x="98" y="38"/>
                  <a:pt x="99" y="35"/>
                  <a:pt x="99" y="31"/>
                </a:cubicBezTo>
                <a:cubicBezTo>
                  <a:pt x="99" y="29"/>
                  <a:pt x="99" y="26"/>
                  <a:pt x="97" y="25"/>
                </a:cubicBezTo>
                <a:cubicBezTo>
                  <a:pt x="96" y="23"/>
                  <a:pt x="94" y="21"/>
                  <a:pt x="91" y="20"/>
                </a:cubicBezTo>
                <a:cubicBezTo>
                  <a:pt x="90" y="19"/>
                  <a:pt x="89" y="19"/>
                  <a:pt x="89" y="19"/>
                </a:cubicBezTo>
                <a:cubicBezTo>
                  <a:pt x="89" y="18"/>
                  <a:pt x="88" y="18"/>
                  <a:pt x="88" y="17"/>
                </a:cubicBezTo>
                <a:cubicBezTo>
                  <a:pt x="88" y="16"/>
                  <a:pt x="89" y="14"/>
                  <a:pt x="90" y="12"/>
                </a:cubicBezTo>
                <a:cubicBezTo>
                  <a:pt x="92" y="3"/>
                  <a:pt x="92" y="3"/>
                  <a:pt x="92" y="3"/>
                </a:cubicBezTo>
                <a:cubicBezTo>
                  <a:pt x="94" y="3"/>
                  <a:pt x="95" y="2"/>
                  <a:pt x="96" y="2"/>
                </a:cubicBezTo>
                <a:cubicBezTo>
                  <a:pt x="105" y="2"/>
                  <a:pt x="105" y="2"/>
                  <a:pt x="105" y="2"/>
                </a:cubicBezTo>
                <a:cubicBezTo>
                  <a:pt x="106" y="2"/>
                  <a:pt x="108" y="2"/>
                  <a:pt x="108" y="2"/>
                </a:cubicBezTo>
                <a:cubicBezTo>
                  <a:pt x="109" y="2"/>
                  <a:pt x="110" y="1"/>
                  <a:pt x="110" y="0"/>
                </a:cubicBezTo>
                <a:close/>
                <a:moveTo>
                  <a:pt x="152" y="1"/>
                </a:moveTo>
                <a:cubicBezTo>
                  <a:pt x="151" y="3"/>
                  <a:pt x="151" y="3"/>
                  <a:pt x="151" y="3"/>
                </a:cubicBezTo>
                <a:cubicBezTo>
                  <a:pt x="139" y="4"/>
                  <a:pt x="131" y="10"/>
                  <a:pt x="127" y="22"/>
                </a:cubicBezTo>
                <a:cubicBezTo>
                  <a:pt x="130" y="20"/>
                  <a:pt x="133" y="19"/>
                  <a:pt x="136" y="19"/>
                </a:cubicBezTo>
                <a:cubicBezTo>
                  <a:pt x="140" y="19"/>
                  <a:pt x="142" y="20"/>
                  <a:pt x="144" y="22"/>
                </a:cubicBezTo>
                <a:cubicBezTo>
                  <a:pt x="145" y="24"/>
                  <a:pt x="146" y="27"/>
                  <a:pt x="146" y="31"/>
                </a:cubicBezTo>
                <a:cubicBezTo>
                  <a:pt x="146" y="36"/>
                  <a:pt x="145" y="40"/>
                  <a:pt x="142" y="44"/>
                </a:cubicBezTo>
                <a:cubicBezTo>
                  <a:pt x="139" y="47"/>
                  <a:pt x="135" y="49"/>
                  <a:pt x="131" y="49"/>
                </a:cubicBezTo>
                <a:cubicBezTo>
                  <a:pt x="127" y="49"/>
                  <a:pt x="124" y="48"/>
                  <a:pt x="122" y="45"/>
                </a:cubicBezTo>
                <a:cubicBezTo>
                  <a:pt x="120" y="42"/>
                  <a:pt x="119" y="38"/>
                  <a:pt x="119" y="33"/>
                </a:cubicBezTo>
                <a:cubicBezTo>
                  <a:pt x="119" y="28"/>
                  <a:pt x="120" y="23"/>
                  <a:pt x="123" y="18"/>
                </a:cubicBezTo>
                <a:cubicBezTo>
                  <a:pt x="126" y="13"/>
                  <a:pt x="129" y="9"/>
                  <a:pt x="134" y="6"/>
                </a:cubicBezTo>
                <a:cubicBezTo>
                  <a:pt x="139" y="3"/>
                  <a:pt x="145" y="1"/>
                  <a:pt x="152" y="1"/>
                </a:cubicBezTo>
                <a:close/>
                <a:moveTo>
                  <a:pt x="127" y="25"/>
                </a:moveTo>
                <a:cubicBezTo>
                  <a:pt x="126" y="29"/>
                  <a:pt x="126" y="33"/>
                  <a:pt x="126" y="36"/>
                </a:cubicBezTo>
                <a:cubicBezTo>
                  <a:pt x="126" y="39"/>
                  <a:pt x="126" y="42"/>
                  <a:pt x="127" y="44"/>
                </a:cubicBezTo>
                <a:cubicBezTo>
                  <a:pt x="129" y="46"/>
                  <a:pt x="130" y="47"/>
                  <a:pt x="132" y="47"/>
                </a:cubicBezTo>
                <a:cubicBezTo>
                  <a:pt x="134" y="47"/>
                  <a:pt x="136" y="46"/>
                  <a:pt x="138" y="43"/>
                </a:cubicBezTo>
                <a:cubicBezTo>
                  <a:pt x="139" y="40"/>
                  <a:pt x="139" y="37"/>
                  <a:pt x="139" y="33"/>
                </a:cubicBezTo>
                <a:cubicBezTo>
                  <a:pt x="139" y="29"/>
                  <a:pt x="139" y="27"/>
                  <a:pt x="138" y="25"/>
                </a:cubicBezTo>
                <a:cubicBezTo>
                  <a:pt x="137" y="23"/>
                  <a:pt x="136" y="22"/>
                  <a:pt x="134" y="22"/>
                </a:cubicBezTo>
                <a:cubicBezTo>
                  <a:pt x="132" y="22"/>
                  <a:pt x="129" y="23"/>
                  <a:pt x="127" y="25"/>
                </a:cubicBezTo>
                <a:close/>
              </a:path>
            </a:pathLst>
          </a:custGeom>
          <a:solidFill xmlns:a="http://schemas.openxmlformats.org/drawingml/2006/main">
            <a:srgbClr val="FFFFFF"/>
          </a:solidFill>
          <a:ln xmlns:a="http://schemas.openxmlformats.org/drawingml/2006/main" w="31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2" name="îSlïḍè">
            <a:extLst xmlns:a="http://schemas.openxmlformats.org/drawingml/2006/main">
              <a:ext uri="{FF2B5EF4-FFF2-40B4-BE49-F238E27FC236}">
                <a16:creationId xmlns:a16="http://schemas.microsoft.com/office/drawing/2014/main" id="{44AC6217-551F-413C-AE59-9500B1B20369}"/>
              </a:ext>
            </a:extLst>
          </p:cNvPr>
          <p:cNvSpPr>
            <a:spLocks xmlns:a="http://schemas.openxmlformats.org/drawingml/2006/main" noGrp="1"/>
          </p:cNvSpPr>
          <p:nvPr/>
        </p:nvSpPr>
        <p:spPr>
          <a:xfrm xmlns:a="http://schemas.openxmlformats.org/drawingml/2006/main" rot="0" flipH="0" flipV="0">
            <a:off x="9823777" y="612759"/>
            <a:ext cx="224305" cy="225650"/>
          </a:xfrm>
          <a:custGeom xmlns:a="http://schemas.openxmlformats.org/drawingml/2006/main">
            <a:gdLst>
              <a:gd name="T0" fmla="*/ 56 w 321"/>
              <a:gd name="T1" fmla="*/ 128 h 322"/>
              <a:gd name="T2" fmla="*/ 55 w 321"/>
              <a:gd name="T3" fmla="*/ 127 h 322"/>
              <a:gd name="T4" fmla="*/ 38 w 321"/>
              <a:gd name="T5" fmla="*/ 69 h 322"/>
              <a:gd name="T6" fmla="*/ 193 w 321"/>
              <a:gd name="T7" fmla="*/ 113 h 322"/>
              <a:gd name="T8" fmla="*/ 206 w 321"/>
              <a:gd name="T9" fmla="*/ 112 h 322"/>
              <a:gd name="T10" fmla="*/ 114 w 321"/>
              <a:gd name="T11" fmla="*/ 46 h 322"/>
              <a:gd name="T12" fmla="*/ 49 w 321"/>
              <a:gd name="T13" fmla="*/ 137 h 322"/>
              <a:gd name="T14" fmla="*/ 92 w 321"/>
              <a:gd name="T15" fmla="*/ 197 h 322"/>
              <a:gd name="T16" fmla="*/ 186 w 321"/>
              <a:gd name="T17" fmla="*/ 267 h 322"/>
              <a:gd name="T18" fmla="*/ 262 w 321"/>
              <a:gd name="T19" fmla="*/ 185 h 322"/>
              <a:gd name="T20" fmla="*/ 248 w 321"/>
              <a:gd name="T21" fmla="*/ 185 h 322"/>
              <a:gd name="T22" fmla="*/ 107 w 321"/>
              <a:gd name="T23" fmla="*/ 188 h 322"/>
              <a:gd name="T24" fmla="*/ 64 w 321"/>
              <a:gd name="T25" fmla="*/ 121 h 322"/>
              <a:gd name="T26" fmla="*/ 56 w 321"/>
              <a:gd name="T27" fmla="*/ 128 h 322"/>
            </a:gdLst>
            <a:rect l="0" t="0" r="r" b="b"/>
            <a:pathLst>
              <a:path w="321" h="322">
                <a:moveTo>
                  <a:pt x="56" y="128"/>
                </a:moveTo>
                <a:cubicBezTo>
                  <a:pt x="56" y="128"/>
                  <a:pt x="55" y="127"/>
                  <a:pt x="55" y="127"/>
                </a:cubicBezTo>
                <a:cubicBezTo>
                  <a:pt x="46" y="111"/>
                  <a:pt x="38" y="92"/>
                  <a:pt x="38" y="69"/>
                </a:cubicBezTo>
                <a:cubicBezTo>
                  <a:pt x="46" y="0"/>
                  <a:pt x="171" y="94"/>
                  <a:pt x="193" y="113"/>
                </a:cubicBezTo>
                <a:cubicBezTo>
                  <a:pt x="198" y="112"/>
                  <a:pt x="202" y="112"/>
                  <a:pt x="206" y="112"/>
                </a:cubicBezTo>
                <a:cubicBezTo>
                  <a:pt x="184" y="85"/>
                  <a:pt x="148" y="58"/>
                  <a:pt x="114" y="46"/>
                </a:cubicBezTo>
                <a:cubicBezTo>
                  <a:pt x="54" y="25"/>
                  <a:pt x="0" y="44"/>
                  <a:pt x="49" y="137"/>
                </a:cubicBezTo>
                <a:cubicBezTo>
                  <a:pt x="45" y="178"/>
                  <a:pt x="63" y="194"/>
                  <a:pt x="92" y="197"/>
                </a:cubicBezTo>
                <a:cubicBezTo>
                  <a:pt x="112" y="216"/>
                  <a:pt x="147" y="251"/>
                  <a:pt x="186" y="267"/>
                </a:cubicBezTo>
                <a:cubicBezTo>
                  <a:pt x="244" y="290"/>
                  <a:pt x="302" y="279"/>
                  <a:pt x="262" y="185"/>
                </a:cubicBezTo>
                <a:cubicBezTo>
                  <a:pt x="257" y="185"/>
                  <a:pt x="253" y="185"/>
                  <a:pt x="248" y="185"/>
                </a:cubicBezTo>
                <a:cubicBezTo>
                  <a:pt x="321" y="322"/>
                  <a:pt x="144" y="248"/>
                  <a:pt x="107" y="188"/>
                </a:cubicBezTo>
                <a:cubicBezTo>
                  <a:pt x="148" y="162"/>
                  <a:pt x="113" y="93"/>
                  <a:pt x="64" y="121"/>
                </a:cubicBezTo>
                <a:cubicBezTo>
                  <a:pt x="61" y="123"/>
                  <a:pt x="58" y="125"/>
                  <a:pt x="56" y="128"/>
                </a:cubicBezTo>
                <a:close/>
              </a:path>
            </a:pathLst>
          </a:custGeom>
          <a:solidFill xmlns:a="http://schemas.openxmlformats.org/drawingml/2006/main">
            <a:srgbClr val="F08300"/>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3" name="íšlíḍé">
            <a:extLst xmlns:a="http://schemas.openxmlformats.org/drawingml/2006/main">
              <a:ext uri="{FF2B5EF4-FFF2-40B4-BE49-F238E27FC236}">
                <a16:creationId xmlns:a16="http://schemas.microsoft.com/office/drawing/2014/main" id="{BD1004DF-F7C8-489C-9860-E02ABC1E9422}"/>
              </a:ext>
            </a:extLst>
          </p:cNvPr>
          <p:cNvSpPr>
            <a:spLocks xmlns:a="http://schemas.openxmlformats.org/drawingml/2006/main" noGrp="1"/>
          </p:cNvSpPr>
          <p:nvPr/>
        </p:nvSpPr>
        <p:spPr>
          <a:xfrm xmlns:a="http://schemas.openxmlformats.org/drawingml/2006/main" rot="0" flipH="0" flipV="0">
            <a:off x="9867831" y="703221"/>
            <a:ext cx="33628" cy="36319"/>
          </a:xfrm>
          <a:custGeom xmlns:a="http://schemas.openxmlformats.org/drawingml/2006/main">
            <a:gdLst>
              <a:gd name="T0" fmla="*/ 48 w 48"/>
              <a:gd name="T1" fmla="*/ 30 h 52"/>
              <a:gd name="T2" fmla="*/ 47 w 48"/>
              <a:gd name="T3" fmla="*/ 20 h 52"/>
              <a:gd name="T4" fmla="*/ 45 w 48"/>
              <a:gd name="T5" fmla="*/ 11 h 52"/>
              <a:gd name="T6" fmla="*/ 24 w 48"/>
              <a:gd name="T7" fmla="*/ 0 h 52"/>
              <a:gd name="T8" fmla="*/ 0 w 48"/>
              <a:gd name="T9" fmla="*/ 26 h 52"/>
              <a:gd name="T10" fmla="*/ 24 w 48"/>
              <a:gd name="T11" fmla="*/ 51 h 52"/>
              <a:gd name="T12" fmla="*/ 46 w 48"/>
              <a:gd name="T13" fmla="*/ 36 h 52"/>
              <a:gd name="T14" fmla="*/ 33 w 48"/>
              <a:gd name="T15" fmla="*/ 36 h 52"/>
              <a:gd name="T16" fmla="*/ 24 w 48"/>
              <a:gd name="T17" fmla="*/ 42 h 52"/>
              <a:gd name="T18" fmla="*/ 15 w 48"/>
              <a:gd name="T19" fmla="*/ 30 h 52"/>
              <a:gd name="T20" fmla="*/ 48 w 48"/>
              <a:gd name="T21" fmla="*/ 30 h 52"/>
              <a:gd name="T22" fmla="*/ 15 w 48"/>
              <a:gd name="T23" fmla="*/ 20 h 52"/>
              <a:gd name="T24" fmla="*/ 24 w 48"/>
              <a:gd name="T25" fmla="*/ 9 h 52"/>
              <a:gd name="T26" fmla="*/ 32 w 48"/>
              <a:gd name="T27" fmla="*/ 20 h 52"/>
              <a:gd name="T28" fmla="*/ 15 w 48"/>
              <a:gd name="T29" fmla="*/ 20 h 52"/>
            </a:gdLst>
            <a:rect l="0" t="0" r="r" b="b"/>
            <a:pathLst>
              <a:path w="48" h="52">
                <a:moveTo>
                  <a:pt x="48" y="30"/>
                </a:moveTo>
                <a:cubicBezTo>
                  <a:pt x="48" y="26"/>
                  <a:pt x="48" y="23"/>
                  <a:pt x="47" y="20"/>
                </a:cubicBezTo>
                <a:cubicBezTo>
                  <a:pt x="47" y="17"/>
                  <a:pt x="46" y="14"/>
                  <a:pt x="45" y="11"/>
                </a:cubicBezTo>
                <a:cubicBezTo>
                  <a:pt x="41" y="4"/>
                  <a:pt x="34" y="0"/>
                  <a:pt x="24" y="0"/>
                </a:cubicBezTo>
                <a:cubicBezTo>
                  <a:pt x="9" y="1"/>
                  <a:pt x="1" y="9"/>
                  <a:pt x="0" y="26"/>
                </a:cubicBezTo>
                <a:cubicBezTo>
                  <a:pt x="0" y="43"/>
                  <a:pt x="8" y="52"/>
                  <a:pt x="24" y="51"/>
                </a:cubicBezTo>
                <a:cubicBezTo>
                  <a:pt x="37" y="51"/>
                  <a:pt x="45" y="46"/>
                  <a:pt x="46" y="36"/>
                </a:cubicBezTo>
                <a:cubicBezTo>
                  <a:pt x="33" y="36"/>
                  <a:pt x="33" y="36"/>
                  <a:pt x="33" y="36"/>
                </a:cubicBezTo>
                <a:cubicBezTo>
                  <a:pt x="31" y="40"/>
                  <a:pt x="28" y="42"/>
                  <a:pt x="24" y="42"/>
                </a:cubicBezTo>
                <a:cubicBezTo>
                  <a:pt x="18" y="42"/>
                  <a:pt x="15" y="38"/>
                  <a:pt x="15" y="30"/>
                </a:cubicBezTo>
                <a:cubicBezTo>
                  <a:pt x="48" y="30"/>
                  <a:pt x="48" y="30"/>
                  <a:pt x="48" y="30"/>
                </a:cubicBezTo>
                <a:close/>
                <a:moveTo>
                  <a:pt x="15" y="20"/>
                </a:moveTo>
                <a:cubicBezTo>
                  <a:pt x="15" y="13"/>
                  <a:pt x="18" y="9"/>
                  <a:pt x="24" y="9"/>
                </a:cubicBezTo>
                <a:cubicBezTo>
                  <a:pt x="29" y="9"/>
                  <a:pt x="32" y="13"/>
                  <a:pt x="32" y="20"/>
                </a:cubicBezTo>
                <a:lnTo>
                  <a:pt x="15" y="20"/>
                </a:lnTo>
                <a:close/>
              </a:path>
            </a:pathLst>
          </a:custGeom>
          <a:solidFill xmlns:a="http://schemas.openxmlformats.org/drawingml/2006/main">
            <a:srgbClr val="FFFFFF"/>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4" name="îšḻidè">
            <a:extLst xmlns:a="http://schemas.openxmlformats.org/drawingml/2006/main">
              <a:ext uri="{FF2B5EF4-FFF2-40B4-BE49-F238E27FC236}">
                <a16:creationId xmlns:a16="http://schemas.microsoft.com/office/drawing/2014/main" id="{5C0ABEEF-C80B-4328-B97F-45A97818619D}"/>
              </a:ext>
            </a:extLst>
          </p:cNvPr>
          <p:cNvSpPr>
            <a:spLocks xmlns:a="http://schemas.openxmlformats.org/drawingml/2006/main" noGrp="1"/>
          </p:cNvSpPr>
          <p:nvPr/>
        </p:nvSpPr>
        <p:spPr>
          <a:xfrm xmlns:a="http://schemas.openxmlformats.org/drawingml/2006/main" rot="0" flipH="0" flipV="0">
            <a:off x="9831512" y="740213"/>
            <a:ext cx="145277" cy="70957"/>
          </a:xfrm>
          <a:custGeom xmlns:a="http://schemas.openxmlformats.org/drawingml/2006/main">
            <a:gdLst>
              <a:gd name="T0" fmla="*/ 187 w 208"/>
              <a:gd name="T1" fmla="*/ 1 h 101"/>
              <a:gd name="T2" fmla="*/ 208 w 208"/>
              <a:gd name="T3" fmla="*/ 4 h 101"/>
              <a:gd name="T4" fmla="*/ 72 w 208"/>
              <a:gd name="T5" fmla="*/ 93 h 101"/>
              <a:gd name="T6" fmla="*/ 33 w 208"/>
              <a:gd name="T7" fmla="*/ 0 h 101"/>
              <a:gd name="T8" fmla="*/ 43 w 208"/>
              <a:gd name="T9" fmla="*/ 9 h 101"/>
              <a:gd name="T10" fmla="*/ 45 w 208"/>
              <a:gd name="T11" fmla="*/ 83 h 101"/>
              <a:gd name="T12" fmla="*/ 187 w 208"/>
              <a:gd name="T13" fmla="*/ 1 h 101"/>
            </a:gdLst>
            <a:rect l="0" t="0" r="r" b="b"/>
            <a:pathLst>
              <a:path w="208" h="101">
                <a:moveTo>
                  <a:pt x="187" y="1"/>
                </a:moveTo>
                <a:cubicBezTo>
                  <a:pt x="196" y="1"/>
                  <a:pt x="198" y="4"/>
                  <a:pt x="208" y="4"/>
                </a:cubicBezTo>
                <a:cubicBezTo>
                  <a:pt x="183" y="32"/>
                  <a:pt x="123" y="91"/>
                  <a:pt x="72" y="93"/>
                </a:cubicBezTo>
                <a:cubicBezTo>
                  <a:pt x="37" y="95"/>
                  <a:pt x="0" y="73"/>
                  <a:pt x="33" y="0"/>
                </a:cubicBezTo>
                <a:cubicBezTo>
                  <a:pt x="38" y="4"/>
                  <a:pt x="38" y="5"/>
                  <a:pt x="43" y="9"/>
                </a:cubicBezTo>
                <a:cubicBezTo>
                  <a:pt x="19" y="49"/>
                  <a:pt x="28" y="73"/>
                  <a:pt x="45" y="83"/>
                </a:cubicBezTo>
                <a:cubicBezTo>
                  <a:pt x="77" y="101"/>
                  <a:pt x="155" y="46"/>
                  <a:pt x="187" y="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5" name="ïsḷide">
            <a:extLst xmlns:a="http://schemas.openxmlformats.org/drawingml/2006/main">
              <a:ext uri="{FF2B5EF4-FFF2-40B4-BE49-F238E27FC236}">
                <a16:creationId xmlns:a16="http://schemas.microsoft.com/office/drawing/2014/main" id="{A42388AA-45FE-435C-9892-C565170E96C5}"/>
              </a:ext>
            </a:extLst>
          </p:cNvPr>
          <p:cNvSpPr>
            <a:spLocks xmlns:a="http://schemas.openxmlformats.org/drawingml/2006/main" noGrp="1"/>
          </p:cNvSpPr>
          <p:nvPr/>
        </p:nvSpPr>
        <p:spPr>
          <a:xfrm xmlns:a="http://schemas.openxmlformats.org/drawingml/2006/main" rot="0" flipH="0" flipV="0">
            <a:off x="9891708" y="635290"/>
            <a:ext cx="133843" cy="57505"/>
          </a:xfrm>
          <a:custGeom xmlns:a="http://schemas.openxmlformats.org/drawingml/2006/main">
            <a:gdLst>
              <a:gd name="T0" fmla="*/ 18 w 192"/>
              <a:gd name="T1" fmla="*/ 81 h 82"/>
              <a:gd name="T2" fmla="*/ 0 w 192"/>
              <a:gd name="T3" fmla="*/ 79 h 82"/>
              <a:gd name="T4" fmla="*/ 74 w 192"/>
              <a:gd name="T5" fmla="*/ 19 h 82"/>
              <a:gd name="T6" fmla="*/ 117 w 192"/>
              <a:gd name="T7" fmla="*/ 3 h 82"/>
              <a:gd name="T8" fmla="*/ 163 w 192"/>
              <a:gd name="T9" fmla="*/ 82 h 82"/>
              <a:gd name="T10" fmla="*/ 153 w 192"/>
              <a:gd name="T11" fmla="*/ 77 h 82"/>
              <a:gd name="T12" fmla="*/ 140 w 192"/>
              <a:gd name="T13" fmla="*/ 10 h 82"/>
              <a:gd name="T14" fmla="*/ 18 w 192"/>
              <a:gd name="T15" fmla="*/ 81 h 82"/>
            </a:gdLst>
            <a:rect l="0" t="0" r="r" b="b"/>
            <a:pathLst>
              <a:path w="192" h="82">
                <a:moveTo>
                  <a:pt x="18" y="81"/>
                </a:moveTo>
                <a:cubicBezTo>
                  <a:pt x="10" y="81"/>
                  <a:pt x="8" y="78"/>
                  <a:pt x="0" y="79"/>
                </a:cubicBezTo>
                <a:cubicBezTo>
                  <a:pt x="14" y="63"/>
                  <a:pt x="42" y="37"/>
                  <a:pt x="74" y="19"/>
                </a:cubicBezTo>
                <a:cubicBezTo>
                  <a:pt x="88" y="12"/>
                  <a:pt x="102" y="4"/>
                  <a:pt x="117" y="3"/>
                </a:cubicBezTo>
                <a:cubicBezTo>
                  <a:pt x="148" y="0"/>
                  <a:pt x="192" y="20"/>
                  <a:pt x="163" y="82"/>
                </a:cubicBezTo>
                <a:cubicBezTo>
                  <a:pt x="160" y="78"/>
                  <a:pt x="157" y="80"/>
                  <a:pt x="153" y="77"/>
                </a:cubicBezTo>
                <a:cubicBezTo>
                  <a:pt x="176" y="35"/>
                  <a:pt x="158" y="10"/>
                  <a:pt x="140" y="10"/>
                </a:cubicBezTo>
                <a:cubicBezTo>
                  <a:pt x="103" y="10"/>
                  <a:pt x="44" y="41"/>
                  <a:pt x="18" y="81"/>
                </a:cubicBez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6" name="işḷïḍé">
            <a:extLst xmlns:a="http://schemas.openxmlformats.org/drawingml/2006/main">
              <a:ext uri="{FF2B5EF4-FFF2-40B4-BE49-F238E27FC236}">
                <a16:creationId xmlns:a16="http://schemas.microsoft.com/office/drawing/2014/main" id="{2A14E0B6-EDF6-4127-B492-06B91A754820}"/>
              </a:ext>
            </a:extLst>
          </p:cNvPr>
          <p:cNvSpPr>
            <a:spLocks xmlns:a="http://schemas.openxmlformats.org/drawingml/2006/main" noGrp="1"/>
          </p:cNvSpPr>
          <p:nvPr/>
        </p:nvSpPr>
        <p:spPr>
          <a:xfrm xmlns:a="http://schemas.openxmlformats.org/drawingml/2006/main" rot="0" flipH="0" flipV="0">
            <a:off x="9816715" y="705911"/>
            <a:ext cx="29593" cy="34301"/>
          </a:xfrm>
          <a:custGeom xmlns:a="http://schemas.openxmlformats.org/drawingml/2006/main">
            <a:gdLst>
              <a:gd name="T0" fmla="*/ 32 w 42"/>
              <a:gd name="T1" fmla="*/ 0 h 49"/>
              <a:gd name="T2" fmla="*/ 32 w 42"/>
              <a:gd name="T3" fmla="*/ 27 h 49"/>
              <a:gd name="T4" fmla="*/ 30 w 42"/>
              <a:gd name="T5" fmla="*/ 38 h 49"/>
              <a:gd name="T6" fmla="*/ 21 w 42"/>
              <a:gd name="T7" fmla="*/ 42 h 49"/>
              <a:gd name="T8" fmla="*/ 13 w 42"/>
              <a:gd name="T9" fmla="*/ 38 h 49"/>
              <a:gd name="T10" fmla="*/ 11 w 42"/>
              <a:gd name="T11" fmla="*/ 27 h 49"/>
              <a:gd name="T12" fmla="*/ 11 w 42"/>
              <a:gd name="T13" fmla="*/ 0 h 49"/>
              <a:gd name="T14" fmla="*/ 0 w 42"/>
              <a:gd name="T15" fmla="*/ 0 h 49"/>
              <a:gd name="T16" fmla="*/ 0 w 42"/>
              <a:gd name="T17" fmla="*/ 31 h 49"/>
              <a:gd name="T18" fmla="*/ 21 w 42"/>
              <a:gd name="T19" fmla="*/ 49 h 49"/>
              <a:gd name="T20" fmla="*/ 42 w 42"/>
              <a:gd name="T21" fmla="*/ 31 h 49"/>
              <a:gd name="T22" fmla="*/ 42 w 42"/>
              <a:gd name="T23" fmla="*/ 0 h 49"/>
              <a:gd name="T24" fmla="*/ 32 w 42"/>
              <a:gd name="T25" fmla="*/ 0 h 49"/>
            </a:gdLst>
            <a:rect l="0" t="0" r="r" b="b"/>
            <a:pathLst>
              <a:path w="42" h="49">
                <a:moveTo>
                  <a:pt x="32" y="0"/>
                </a:moveTo>
                <a:cubicBezTo>
                  <a:pt x="32" y="27"/>
                  <a:pt x="32" y="27"/>
                  <a:pt x="32" y="27"/>
                </a:cubicBezTo>
                <a:cubicBezTo>
                  <a:pt x="32" y="32"/>
                  <a:pt x="31" y="36"/>
                  <a:pt x="30" y="38"/>
                </a:cubicBezTo>
                <a:cubicBezTo>
                  <a:pt x="28" y="41"/>
                  <a:pt x="25" y="42"/>
                  <a:pt x="21" y="42"/>
                </a:cubicBezTo>
                <a:cubicBezTo>
                  <a:pt x="17" y="42"/>
                  <a:pt x="14" y="41"/>
                  <a:pt x="13" y="38"/>
                </a:cubicBezTo>
                <a:cubicBezTo>
                  <a:pt x="11" y="36"/>
                  <a:pt x="10" y="32"/>
                  <a:pt x="11" y="27"/>
                </a:cubicBezTo>
                <a:cubicBezTo>
                  <a:pt x="11" y="0"/>
                  <a:pt x="11" y="0"/>
                  <a:pt x="11" y="0"/>
                </a:cubicBezTo>
                <a:cubicBezTo>
                  <a:pt x="0" y="0"/>
                  <a:pt x="0" y="0"/>
                  <a:pt x="0" y="0"/>
                </a:cubicBezTo>
                <a:cubicBezTo>
                  <a:pt x="0" y="31"/>
                  <a:pt x="0" y="31"/>
                  <a:pt x="0" y="31"/>
                </a:cubicBezTo>
                <a:cubicBezTo>
                  <a:pt x="0" y="43"/>
                  <a:pt x="8" y="49"/>
                  <a:pt x="21" y="49"/>
                </a:cubicBezTo>
                <a:cubicBezTo>
                  <a:pt x="35" y="49"/>
                  <a:pt x="42" y="43"/>
                  <a:pt x="42" y="31"/>
                </a:cubicBezTo>
                <a:cubicBezTo>
                  <a:pt x="42" y="0"/>
                  <a:pt x="42" y="0"/>
                  <a:pt x="42" y="0"/>
                </a:cubicBezTo>
                <a:lnTo>
                  <a:pt x="32" y="0"/>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7" name="îṡḷïde">
            <a:extLst xmlns:a="http://schemas.openxmlformats.org/drawingml/2006/main">
              <a:ext uri="{FF2B5EF4-FFF2-40B4-BE49-F238E27FC236}">
                <a16:creationId xmlns:a16="http://schemas.microsoft.com/office/drawing/2014/main" id="{EF802D0D-499C-47A6-A1B0-3961FF9051EF}"/>
              </a:ext>
            </a:extLst>
          </p:cNvPr>
          <p:cNvSpPr>
            <a:spLocks xmlns:a="http://schemas.openxmlformats.org/drawingml/2006/main" noGrp="1"/>
          </p:cNvSpPr>
          <p:nvPr/>
        </p:nvSpPr>
        <p:spPr>
          <a:xfrm xmlns:a="http://schemas.openxmlformats.org/drawingml/2006/main" rot="0" flipH="0" flipV="0">
            <a:off x="9924328" y="703221"/>
            <a:ext cx="29929" cy="38673"/>
          </a:xfrm>
          <a:custGeom xmlns:a="http://schemas.openxmlformats.org/drawingml/2006/main">
            <a:gdLst>
              <a:gd name="T0" fmla="*/ 42 w 43"/>
              <a:gd name="T1" fmla="*/ 16 h 55"/>
              <a:gd name="T2" fmla="*/ 23 w 43"/>
              <a:gd name="T3" fmla="*/ 0 h 55"/>
              <a:gd name="T4" fmla="*/ 1 w 43"/>
              <a:gd name="T5" fmla="*/ 17 h 55"/>
              <a:gd name="T6" fmla="*/ 19 w 43"/>
              <a:gd name="T7" fmla="*/ 32 h 55"/>
              <a:gd name="T8" fmla="*/ 21 w 43"/>
              <a:gd name="T9" fmla="*/ 33 h 55"/>
              <a:gd name="T10" fmla="*/ 31 w 43"/>
              <a:gd name="T11" fmla="*/ 40 h 55"/>
              <a:gd name="T12" fmla="*/ 20 w 43"/>
              <a:gd name="T13" fmla="*/ 47 h 55"/>
              <a:gd name="T14" fmla="*/ 11 w 43"/>
              <a:gd name="T15" fmla="*/ 37 h 55"/>
              <a:gd name="T16" fmla="*/ 0 w 43"/>
              <a:gd name="T17" fmla="*/ 37 h 55"/>
              <a:gd name="T18" fmla="*/ 20 w 43"/>
              <a:gd name="T19" fmla="*/ 55 h 55"/>
              <a:gd name="T20" fmla="*/ 43 w 43"/>
              <a:gd name="T21" fmla="*/ 38 h 55"/>
              <a:gd name="T22" fmla="*/ 25 w 43"/>
              <a:gd name="T23" fmla="*/ 23 h 55"/>
              <a:gd name="T24" fmla="*/ 23 w 43"/>
              <a:gd name="T25" fmla="*/ 23 h 55"/>
              <a:gd name="T26" fmla="*/ 13 w 43"/>
              <a:gd name="T27" fmla="*/ 15 h 55"/>
              <a:gd name="T28" fmla="*/ 22 w 43"/>
              <a:gd name="T29" fmla="*/ 8 h 55"/>
              <a:gd name="T30" fmla="*/ 31 w 43"/>
              <a:gd name="T31" fmla="*/ 16 h 55"/>
              <a:gd name="T32" fmla="*/ 42 w 43"/>
              <a:gd name="T33" fmla="*/ 16 h 55"/>
            </a:gdLst>
            <a:rect l="0" t="0" r="r" b="b"/>
            <a:pathLst>
              <a:path w="43" h="55">
                <a:moveTo>
                  <a:pt x="42" y="16"/>
                </a:moveTo>
                <a:cubicBezTo>
                  <a:pt x="41" y="6"/>
                  <a:pt x="35" y="0"/>
                  <a:pt x="23" y="0"/>
                </a:cubicBezTo>
                <a:cubicBezTo>
                  <a:pt x="9" y="1"/>
                  <a:pt x="2" y="6"/>
                  <a:pt x="1" y="17"/>
                </a:cubicBezTo>
                <a:cubicBezTo>
                  <a:pt x="1" y="24"/>
                  <a:pt x="7" y="29"/>
                  <a:pt x="19" y="32"/>
                </a:cubicBezTo>
                <a:cubicBezTo>
                  <a:pt x="19" y="32"/>
                  <a:pt x="20" y="32"/>
                  <a:pt x="21" y="33"/>
                </a:cubicBezTo>
                <a:cubicBezTo>
                  <a:pt x="28" y="34"/>
                  <a:pt x="31" y="36"/>
                  <a:pt x="31" y="40"/>
                </a:cubicBezTo>
                <a:cubicBezTo>
                  <a:pt x="31" y="45"/>
                  <a:pt x="27" y="47"/>
                  <a:pt x="20" y="47"/>
                </a:cubicBezTo>
                <a:cubicBezTo>
                  <a:pt x="14" y="47"/>
                  <a:pt x="11" y="43"/>
                  <a:pt x="11" y="37"/>
                </a:cubicBezTo>
                <a:cubicBezTo>
                  <a:pt x="0" y="37"/>
                  <a:pt x="0" y="37"/>
                  <a:pt x="0" y="37"/>
                </a:cubicBezTo>
                <a:cubicBezTo>
                  <a:pt x="0" y="49"/>
                  <a:pt x="6" y="55"/>
                  <a:pt x="20" y="55"/>
                </a:cubicBezTo>
                <a:cubicBezTo>
                  <a:pt x="35" y="54"/>
                  <a:pt x="43" y="49"/>
                  <a:pt x="43" y="38"/>
                </a:cubicBezTo>
                <a:cubicBezTo>
                  <a:pt x="43" y="30"/>
                  <a:pt x="37" y="25"/>
                  <a:pt x="25" y="23"/>
                </a:cubicBezTo>
                <a:cubicBezTo>
                  <a:pt x="24" y="23"/>
                  <a:pt x="23" y="23"/>
                  <a:pt x="23" y="23"/>
                </a:cubicBezTo>
                <a:cubicBezTo>
                  <a:pt x="16" y="22"/>
                  <a:pt x="13" y="19"/>
                  <a:pt x="13" y="15"/>
                </a:cubicBezTo>
                <a:cubicBezTo>
                  <a:pt x="14" y="11"/>
                  <a:pt x="16" y="9"/>
                  <a:pt x="22" y="8"/>
                </a:cubicBezTo>
                <a:cubicBezTo>
                  <a:pt x="28" y="8"/>
                  <a:pt x="30" y="11"/>
                  <a:pt x="31" y="16"/>
                </a:cubicBezTo>
                <a:lnTo>
                  <a:pt x="42" y="16"/>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8" name="îṩḷiďè">
            <a:extLst xmlns:a="http://schemas.openxmlformats.org/drawingml/2006/main">
              <a:ext uri="{FF2B5EF4-FFF2-40B4-BE49-F238E27FC236}">
                <a16:creationId xmlns:a16="http://schemas.microsoft.com/office/drawing/2014/main" id="{74AE230F-AC3D-4A53-AE8A-7E18101501CD}"/>
              </a:ext>
            </a:extLst>
          </p:cNvPr>
          <p:cNvSpPr>
            <a:spLocks xmlns:a="http://schemas.openxmlformats.org/drawingml/2006/main" noGrp="1"/>
          </p:cNvSpPr>
          <p:nvPr/>
        </p:nvSpPr>
        <p:spPr>
          <a:xfrm xmlns:a="http://schemas.openxmlformats.org/drawingml/2006/main" rot="0" flipH="0" flipV="0">
            <a:off x="9961992" y="703893"/>
            <a:ext cx="30266" cy="36991"/>
          </a:xfrm>
          <a:custGeom xmlns:a="http://schemas.openxmlformats.org/drawingml/2006/main">
            <a:gdLst>
              <a:gd name="T0" fmla="*/ 0 w 90"/>
              <a:gd name="T1" fmla="*/ 19 h 110"/>
              <a:gd name="T2" fmla="*/ 34 w 90"/>
              <a:gd name="T3" fmla="*/ 19 h 110"/>
              <a:gd name="T4" fmla="*/ 34 w 90"/>
              <a:gd name="T5" fmla="*/ 110 h 110"/>
              <a:gd name="T6" fmla="*/ 56 w 90"/>
              <a:gd name="T7" fmla="*/ 110 h 110"/>
              <a:gd name="T8" fmla="*/ 56 w 90"/>
              <a:gd name="T9" fmla="*/ 19 h 110"/>
              <a:gd name="T10" fmla="*/ 90 w 90"/>
              <a:gd name="T11" fmla="*/ 19 h 110"/>
              <a:gd name="T12" fmla="*/ 90 w 90"/>
              <a:gd name="T13" fmla="*/ 0 h 110"/>
              <a:gd name="T14" fmla="*/ 0 w 90"/>
              <a:gd name="T15" fmla="*/ 0 h 110"/>
              <a:gd name="T16" fmla="*/ 0 w 90"/>
              <a:gd name="T17" fmla="*/ 19 h 110"/>
            </a:gdLst>
            <a:rect l="0" t="0" r="r" b="b"/>
            <a:pathLst>
              <a:path w="90" h="110">
                <a:moveTo>
                  <a:pt x="0" y="19"/>
                </a:moveTo>
                <a:lnTo>
                  <a:pt x="34" y="19"/>
                </a:lnTo>
                <a:lnTo>
                  <a:pt x="34" y="110"/>
                </a:lnTo>
                <a:lnTo>
                  <a:pt x="56" y="110"/>
                </a:lnTo>
                <a:lnTo>
                  <a:pt x="56" y="19"/>
                </a:lnTo>
                <a:lnTo>
                  <a:pt x="90" y="19"/>
                </a:lnTo>
                <a:lnTo>
                  <a:pt x="90" y="0"/>
                </a:lnTo>
                <a:lnTo>
                  <a:pt x="0" y="0"/>
                </a:lnTo>
                <a:lnTo>
                  <a:pt x="0" y="19"/>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29" name="í$1iḓê">
            <a:extLst xmlns:a="http://schemas.openxmlformats.org/drawingml/2006/main">
              <a:ext uri="{FF2B5EF4-FFF2-40B4-BE49-F238E27FC236}">
                <a16:creationId xmlns:a16="http://schemas.microsoft.com/office/drawing/2014/main" id="{AC26B1B2-172F-4767-81DD-D5E79A272EB9}"/>
              </a:ext>
            </a:extLst>
          </p:cNvPr>
          <p:cNvSpPr>
            <a:spLocks xmlns:a="http://schemas.openxmlformats.org/drawingml/2006/main" noGrp="1"/>
          </p:cNvSpPr>
          <p:nvPr/>
        </p:nvSpPr>
        <p:spPr>
          <a:xfrm xmlns:a="http://schemas.openxmlformats.org/drawingml/2006/main" rot="0" flipH="0" flipV="0">
            <a:off x="10001338" y="701203"/>
            <a:ext cx="31275" cy="35646"/>
          </a:xfrm>
          <a:custGeom xmlns:a="http://schemas.openxmlformats.org/drawingml/2006/main">
            <a:gdLst>
              <a:gd name="T0" fmla="*/ 45 w 45"/>
              <a:gd name="T1" fmla="*/ 17 h 51"/>
              <a:gd name="T2" fmla="*/ 22 w 45"/>
              <a:gd name="T3" fmla="*/ 0 h 51"/>
              <a:gd name="T4" fmla="*/ 0 w 45"/>
              <a:gd name="T5" fmla="*/ 26 h 51"/>
              <a:gd name="T6" fmla="*/ 22 w 45"/>
              <a:gd name="T7" fmla="*/ 51 h 51"/>
              <a:gd name="T8" fmla="*/ 45 w 45"/>
              <a:gd name="T9" fmla="*/ 35 h 51"/>
              <a:gd name="T10" fmla="*/ 33 w 45"/>
              <a:gd name="T11" fmla="*/ 35 h 51"/>
              <a:gd name="T12" fmla="*/ 22 w 45"/>
              <a:gd name="T13" fmla="*/ 44 h 51"/>
              <a:gd name="T14" fmla="*/ 12 w 45"/>
              <a:gd name="T15" fmla="*/ 26 h 51"/>
              <a:gd name="T16" fmla="*/ 22 w 45"/>
              <a:gd name="T17" fmla="*/ 8 h 51"/>
              <a:gd name="T18" fmla="*/ 33 w 45"/>
              <a:gd name="T19" fmla="*/ 17 h 51"/>
              <a:gd name="T20" fmla="*/ 45 w 45"/>
              <a:gd name="T21" fmla="*/ 17 h 51"/>
            </a:gdLst>
            <a:rect l="0" t="0" r="r" b="b"/>
            <a:pathLst>
              <a:path w="45" h="51">
                <a:moveTo>
                  <a:pt x="45" y="17"/>
                </a:moveTo>
                <a:cubicBezTo>
                  <a:pt x="44" y="6"/>
                  <a:pt x="37" y="0"/>
                  <a:pt x="22" y="0"/>
                </a:cubicBezTo>
                <a:cubicBezTo>
                  <a:pt x="8" y="1"/>
                  <a:pt x="1" y="9"/>
                  <a:pt x="0" y="26"/>
                </a:cubicBezTo>
                <a:cubicBezTo>
                  <a:pt x="1" y="43"/>
                  <a:pt x="8" y="51"/>
                  <a:pt x="22" y="51"/>
                </a:cubicBezTo>
                <a:cubicBezTo>
                  <a:pt x="37" y="51"/>
                  <a:pt x="44" y="46"/>
                  <a:pt x="45" y="35"/>
                </a:cubicBezTo>
                <a:cubicBezTo>
                  <a:pt x="33" y="35"/>
                  <a:pt x="33" y="35"/>
                  <a:pt x="33" y="35"/>
                </a:cubicBezTo>
                <a:cubicBezTo>
                  <a:pt x="33" y="41"/>
                  <a:pt x="29" y="44"/>
                  <a:pt x="22" y="44"/>
                </a:cubicBezTo>
                <a:cubicBezTo>
                  <a:pt x="16" y="44"/>
                  <a:pt x="13" y="38"/>
                  <a:pt x="12" y="26"/>
                </a:cubicBezTo>
                <a:cubicBezTo>
                  <a:pt x="13" y="14"/>
                  <a:pt x="16" y="8"/>
                  <a:pt x="22" y="8"/>
                </a:cubicBezTo>
                <a:cubicBezTo>
                  <a:pt x="29" y="8"/>
                  <a:pt x="32" y="11"/>
                  <a:pt x="33" y="17"/>
                </a:cubicBezTo>
                <a:lnTo>
                  <a:pt x="45" y="17"/>
                </a:lnTo>
                <a:close/>
              </a:path>
            </a:pathLst>
          </a:custGeom>
          <a:solidFill xmlns:a="http://schemas.openxmlformats.org/drawingml/2006/main">
            <a:srgbClr val="0068B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0" name="iSḷiḋé">
            <a:extLst xmlns:a="http://schemas.openxmlformats.org/drawingml/2006/main">
              <a:ext uri="{FF2B5EF4-FFF2-40B4-BE49-F238E27FC236}">
                <a16:creationId xmlns:a16="http://schemas.microsoft.com/office/drawing/2014/main" id="{CA21DADE-6C88-4DE0-921E-9D7880634D2E}"/>
              </a:ext>
            </a:extLst>
          </p:cNvPr>
          <p:cNvSpPr>
            <a:spLocks xmlns:a="http://schemas.openxmlformats.org/drawingml/2006/main" noGrp="1"/>
          </p:cNvSpPr>
          <p:nvPr/>
        </p:nvSpPr>
        <p:spPr>
          <a:xfrm xmlns:a="http://schemas.openxmlformats.org/drawingml/2006/main" rot="0" flipH="0" flipV="0">
            <a:off x="11116940" y="593783"/>
            <a:ext cx="153011" cy="163100"/>
          </a:xfrm>
          <a:custGeom xmlns:a="http://schemas.openxmlformats.org/drawingml/2006/main">
            <a:gdLst>
              <a:gd name="T0" fmla="*/ 80 w 219"/>
              <a:gd name="T1" fmla="*/ 17 h 233"/>
              <a:gd name="T2" fmla="*/ 75 w 219"/>
              <a:gd name="T3" fmla="*/ 81 h 233"/>
              <a:gd name="T4" fmla="*/ 60 w 219"/>
              <a:gd name="T5" fmla="*/ 127 h 233"/>
              <a:gd name="T6" fmla="*/ 28 w 219"/>
              <a:gd name="T7" fmla="*/ 118 h 233"/>
              <a:gd name="T8" fmla="*/ 0 w 219"/>
              <a:gd name="T9" fmla="*/ 146 h 233"/>
              <a:gd name="T10" fmla="*/ 23 w 219"/>
              <a:gd name="T11" fmla="*/ 150 h 233"/>
              <a:gd name="T12" fmla="*/ 63 w 219"/>
              <a:gd name="T13" fmla="*/ 159 h 233"/>
              <a:gd name="T14" fmla="*/ 32 w 219"/>
              <a:gd name="T15" fmla="*/ 201 h 233"/>
              <a:gd name="T16" fmla="*/ 108 w 219"/>
              <a:gd name="T17" fmla="*/ 194 h 233"/>
              <a:gd name="T18" fmla="*/ 131 w 219"/>
              <a:gd name="T19" fmla="*/ 124 h 233"/>
              <a:gd name="T20" fmla="*/ 218 w 219"/>
              <a:gd name="T21" fmla="*/ 96 h 233"/>
              <a:gd name="T22" fmla="*/ 184 w 219"/>
              <a:gd name="T23" fmla="*/ 77 h 233"/>
              <a:gd name="T24" fmla="*/ 159 w 219"/>
              <a:gd name="T25" fmla="*/ 91 h 233"/>
              <a:gd name="T26" fmla="*/ 131 w 219"/>
              <a:gd name="T27" fmla="*/ 103 h 233"/>
              <a:gd name="T28" fmla="*/ 134 w 219"/>
              <a:gd name="T29" fmla="*/ 36 h 233"/>
              <a:gd name="T30" fmla="*/ 110 w 219"/>
              <a:gd name="T31" fmla="*/ 1 h 233"/>
              <a:gd name="T32" fmla="*/ 80 w 219"/>
              <a:gd name="T33" fmla="*/ 17 h 233"/>
              <a:gd name="T34" fmla="*/ 123 w 219"/>
              <a:gd name="T35" fmla="*/ 185 h 233"/>
              <a:gd name="T36" fmla="*/ 209 w 219"/>
              <a:gd name="T37" fmla="*/ 208 h 233"/>
              <a:gd name="T38" fmla="*/ 196 w 219"/>
              <a:gd name="T39" fmla="*/ 232 h 233"/>
              <a:gd name="T40" fmla="*/ 159 w 219"/>
              <a:gd name="T41" fmla="*/ 223 h 233"/>
              <a:gd name="T42" fmla="*/ 123 w 219"/>
              <a:gd name="T43" fmla="*/ 185 h 233"/>
            </a:gdLst>
            <a:rect l="0" t="0" r="r" b="b"/>
            <a:pathLst>
              <a:path w="219" h="233">
                <a:moveTo>
                  <a:pt x="80" y="17"/>
                </a:moveTo>
                <a:cubicBezTo>
                  <a:pt x="81" y="40"/>
                  <a:pt x="76" y="61"/>
                  <a:pt x="75" y="81"/>
                </a:cubicBezTo>
                <a:cubicBezTo>
                  <a:pt x="74" y="100"/>
                  <a:pt x="69" y="115"/>
                  <a:pt x="60" y="127"/>
                </a:cubicBezTo>
                <a:cubicBezTo>
                  <a:pt x="48" y="126"/>
                  <a:pt x="38" y="125"/>
                  <a:pt x="28" y="118"/>
                </a:cubicBezTo>
                <a:cubicBezTo>
                  <a:pt x="18" y="114"/>
                  <a:pt x="3" y="131"/>
                  <a:pt x="0" y="146"/>
                </a:cubicBezTo>
                <a:cubicBezTo>
                  <a:pt x="1" y="149"/>
                  <a:pt x="13" y="142"/>
                  <a:pt x="23" y="150"/>
                </a:cubicBezTo>
                <a:cubicBezTo>
                  <a:pt x="35" y="160"/>
                  <a:pt x="51" y="162"/>
                  <a:pt x="63" y="159"/>
                </a:cubicBezTo>
                <a:cubicBezTo>
                  <a:pt x="58" y="176"/>
                  <a:pt x="46" y="189"/>
                  <a:pt x="32" y="201"/>
                </a:cubicBezTo>
                <a:cubicBezTo>
                  <a:pt x="15" y="225"/>
                  <a:pt x="28" y="231"/>
                  <a:pt x="108" y="194"/>
                </a:cubicBezTo>
                <a:cubicBezTo>
                  <a:pt x="121" y="171"/>
                  <a:pt x="127" y="149"/>
                  <a:pt x="131" y="124"/>
                </a:cubicBezTo>
                <a:cubicBezTo>
                  <a:pt x="164" y="116"/>
                  <a:pt x="210" y="103"/>
                  <a:pt x="218" y="96"/>
                </a:cubicBezTo>
                <a:cubicBezTo>
                  <a:pt x="214" y="83"/>
                  <a:pt x="196" y="84"/>
                  <a:pt x="184" y="77"/>
                </a:cubicBezTo>
                <a:cubicBezTo>
                  <a:pt x="174" y="80"/>
                  <a:pt x="167" y="85"/>
                  <a:pt x="159" y="91"/>
                </a:cubicBezTo>
                <a:cubicBezTo>
                  <a:pt x="150" y="98"/>
                  <a:pt x="140" y="106"/>
                  <a:pt x="131" y="103"/>
                </a:cubicBezTo>
                <a:cubicBezTo>
                  <a:pt x="130" y="77"/>
                  <a:pt x="142" y="58"/>
                  <a:pt x="134" y="36"/>
                </a:cubicBezTo>
                <a:cubicBezTo>
                  <a:pt x="129" y="24"/>
                  <a:pt x="121" y="12"/>
                  <a:pt x="110" y="1"/>
                </a:cubicBezTo>
                <a:cubicBezTo>
                  <a:pt x="96" y="0"/>
                  <a:pt x="100" y="15"/>
                  <a:pt x="80" y="17"/>
                </a:cubicBezTo>
                <a:close/>
                <a:moveTo>
                  <a:pt x="123" y="185"/>
                </a:moveTo>
                <a:cubicBezTo>
                  <a:pt x="157" y="182"/>
                  <a:pt x="189" y="182"/>
                  <a:pt x="209" y="208"/>
                </a:cubicBezTo>
                <a:cubicBezTo>
                  <a:pt x="219" y="225"/>
                  <a:pt x="205" y="227"/>
                  <a:pt x="196" y="232"/>
                </a:cubicBezTo>
                <a:cubicBezTo>
                  <a:pt x="181" y="232"/>
                  <a:pt x="164" y="233"/>
                  <a:pt x="159" y="223"/>
                </a:cubicBezTo>
                <a:cubicBezTo>
                  <a:pt x="152" y="207"/>
                  <a:pt x="132" y="202"/>
                  <a:pt x="123" y="18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1" name="ïṥḻiḑé">
            <a:extLst xmlns:a="http://schemas.openxmlformats.org/drawingml/2006/main">
              <a:ext uri="{FF2B5EF4-FFF2-40B4-BE49-F238E27FC236}">
                <a16:creationId xmlns:a16="http://schemas.microsoft.com/office/drawing/2014/main" id="{94C141F2-8A22-4CE3-A217-7A04BA6BE59D}"/>
              </a:ext>
            </a:extLst>
          </p:cNvPr>
          <p:cNvSpPr>
            <a:spLocks xmlns:a="http://schemas.openxmlformats.org/drawingml/2006/main" noGrp="1"/>
          </p:cNvSpPr>
          <p:nvPr/>
        </p:nvSpPr>
        <p:spPr>
          <a:xfrm xmlns:a="http://schemas.openxmlformats.org/drawingml/2006/main" rot="0" flipH="0" flipV="0">
            <a:off x="11341245" y="571924"/>
            <a:ext cx="179242" cy="217243"/>
          </a:xfrm>
          <a:custGeom xmlns:a="http://schemas.openxmlformats.org/drawingml/2006/main">
            <a:gdLst>
              <a:gd name="T0" fmla="*/ 49 w 257"/>
              <a:gd name="T1" fmla="*/ 24 h 310"/>
              <a:gd name="T2" fmla="*/ 61 w 257"/>
              <a:gd name="T3" fmla="*/ 78 h 310"/>
              <a:gd name="T4" fmla="*/ 85 w 257"/>
              <a:gd name="T5" fmla="*/ 72 h 310"/>
              <a:gd name="T6" fmla="*/ 88 w 257"/>
              <a:gd name="T7" fmla="*/ 55 h 310"/>
              <a:gd name="T8" fmla="*/ 89 w 257"/>
              <a:gd name="T9" fmla="*/ 37 h 310"/>
              <a:gd name="T10" fmla="*/ 49 w 257"/>
              <a:gd name="T11" fmla="*/ 24 h 310"/>
              <a:gd name="T12" fmla="*/ 147 w 257"/>
              <a:gd name="T13" fmla="*/ 48 h 310"/>
              <a:gd name="T14" fmla="*/ 118 w 257"/>
              <a:gd name="T15" fmla="*/ 26 h 310"/>
              <a:gd name="T16" fmla="*/ 122 w 257"/>
              <a:gd name="T17" fmla="*/ 62 h 310"/>
              <a:gd name="T18" fmla="*/ 147 w 257"/>
              <a:gd name="T19" fmla="*/ 48 h 310"/>
              <a:gd name="T20" fmla="*/ 208 w 257"/>
              <a:gd name="T21" fmla="*/ 9 h 310"/>
              <a:gd name="T22" fmla="*/ 164 w 257"/>
              <a:gd name="T23" fmla="*/ 76 h 310"/>
              <a:gd name="T24" fmla="*/ 227 w 257"/>
              <a:gd name="T25" fmla="*/ 63 h 310"/>
              <a:gd name="T26" fmla="*/ 250 w 257"/>
              <a:gd name="T27" fmla="*/ 38 h 310"/>
              <a:gd name="T28" fmla="*/ 208 w 257"/>
              <a:gd name="T29" fmla="*/ 9 h 310"/>
              <a:gd name="T30" fmla="*/ 1 w 257"/>
              <a:gd name="T31" fmla="*/ 163 h 310"/>
              <a:gd name="T32" fmla="*/ 14 w 257"/>
              <a:gd name="T33" fmla="*/ 116 h 310"/>
              <a:gd name="T34" fmla="*/ 179 w 257"/>
              <a:gd name="T35" fmla="*/ 101 h 310"/>
              <a:gd name="T36" fmla="*/ 191 w 257"/>
              <a:gd name="T37" fmla="*/ 129 h 310"/>
              <a:gd name="T38" fmla="*/ 162 w 257"/>
              <a:gd name="T39" fmla="*/ 149 h 310"/>
              <a:gd name="T40" fmla="*/ 135 w 257"/>
              <a:gd name="T41" fmla="*/ 215 h 310"/>
              <a:gd name="T42" fmla="*/ 169 w 257"/>
              <a:gd name="T43" fmla="*/ 222 h 310"/>
              <a:gd name="T44" fmla="*/ 199 w 257"/>
              <a:gd name="T45" fmla="*/ 221 h 310"/>
              <a:gd name="T46" fmla="*/ 199 w 257"/>
              <a:gd name="T47" fmla="*/ 247 h 310"/>
              <a:gd name="T48" fmla="*/ 149 w 257"/>
              <a:gd name="T49" fmla="*/ 246 h 310"/>
              <a:gd name="T50" fmla="*/ 148 w 257"/>
              <a:gd name="T51" fmla="*/ 259 h 310"/>
              <a:gd name="T52" fmla="*/ 111 w 257"/>
              <a:gd name="T53" fmla="*/ 300 h 310"/>
              <a:gd name="T54" fmla="*/ 41 w 257"/>
              <a:gd name="T55" fmla="*/ 263 h 310"/>
              <a:gd name="T56" fmla="*/ 32 w 257"/>
              <a:gd name="T57" fmla="*/ 213 h 310"/>
              <a:gd name="T58" fmla="*/ 104 w 257"/>
              <a:gd name="T59" fmla="*/ 219 h 310"/>
              <a:gd name="T60" fmla="*/ 139 w 257"/>
              <a:gd name="T61" fmla="*/ 167 h 310"/>
              <a:gd name="T62" fmla="*/ 98 w 257"/>
              <a:gd name="T63" fmla="*/ 183 h 310"/>
              <a:gd name="T64" fmla="*/ 67 w 257"/>
              <a:gd name="T65" fmla="*/ 196 h 310"/>
              <a:gd name="T66" fmla="*/ 145 w 257"/>
              <a:gd name="T67" fmla="*/ 136 h 310"/>
              <a:gd name="T68" fmla="*/ 55 w 257"/>
              <a:gd name="T69" fmla="*/ 149 h 310"/>
              <a:gd name="T70" fmla="*/ 39 w 257"/>
              <a:gd name="T71" fmla="*/ 154 h 310"/>
              <a:gd name="T72" fmla="*/ 1 w 257"/>
              <a:gd name="T73" fmla="*/ 163 h 310"/>
              <a:gd name="T74" fmla="*/ 60 w 257"/>
              <a:gd name="T75" fmla="*/ 249 h 310"/>
              <a:gd name="T76" fmla="*/ 71 w 257"/>
              <a:gd name="T77" fmla="*/ 272 h 310"/>
              <a:gd name="T78" fmla="*/ 104 w 257"/>
              <a:gd name="T79" fmla="*/ 272 h 310"/>
              <a:gd name="T80" fmla="*/ 114 w 257"/>
              <a:gd name="T81" fmla="*/ 253 h 310"/>
              <a:gd name="T82" fmla="*/ 60 w 257"/>
              <a:gd name="T83" fmla="*/ 249 h 310"/>
            </a:gdLst>
            <a:rect l="0" t="0" r="r" b="b"/>
            <a:pathLst>
              <a:path w="257" h="310">
                <a:moveTo>
                  <a:pt x="49" y="24"/>
                </a:moveTo>
                <a:cubicBezTo>
                  <a:pt x="36" y="41"/>
                  <a:pt x="44" y="58"/>
                  <a:pt x="61" y="78"/>
                </a:cubicBezTo>
                <a:cubicBezTo>
                  <a:pt x="74" y="80"/>
                  <a:pt x="82" y="79"/>
                  <a:pt x="85" y="72"/>
                </a:cubicBezTo>
                <a:cubicBezTo>
                  <a:pt x="88" y="68"/>
                  <a:pt x="87" y="61"/>
                  <a:pt x="88" y="55"/>
                </a:cubicBezTo>
                <a:cubicBezTo>
                  <a:pt x="88" y="49"/>
                  <a:pt x="90" y="43"/>
                  <a:pt x="89" y="37"/>
                </a:cubicBezTo>
                <a:cubicBezTo>
                  <a:pt x="84" y="20"/>
                  <a:pt x="47" y="4"/>
                  <a:pt x="49" y="24"/>
                </a:cubicBezTo>
                <a:close/>
                <a:moveTo>
                  <a:pt x="147" y="48"/>
                </a:moveTo>
                <a:cubicBezTo>
                  <a:pt x="141" y="36"/>
                  <a:pt x="139" y="22"/>
                  <a:pt x="118" y="26"/>
                </a:cubicBezTo>
                <a:cubicBezTo>
                  <a:pt x="103" y="43"/>
                  <a:pt x="115" y="56"/>
                  <a:pt x="122" y="62"/>
                </a:cubicBezTo>
                <a:cubicBezTo>
                  <a:pt x="125" y="70"/>
                  <a:pt x="130" y="64"/>
                  <a:pt x="147" y="48"/>
                </a:cubicBezTo>
                <a:close/>
                <a:moveTo>
                  <a:pt x="208" y="9"/>
                </a:moveTo>
                <a:cubicBezTo>
                  <a:pt x="193" y="40"/>
                  <a:pt x="178" y="52"/>
                  <a:pt x="164" y="76"/>
                </a:cubicBezTo>
                <a:cubicBezTo>
                  <a:pt x="186" y="60"/>
                  <a:pt x="207" y="62"/>
                  <a:pt x="227" y="63"/>
                </a:cubicBezTo>
                <a:cubicBezTo>
                  <a:pt x="250" y="50"/>
                  <a:pt x="257" y="42"/>
                  <a:pt x="250" y="38"/>
                </a:cubicBezTo>
                <a:cubicBezTo>
                  <a:pt x="240" y="17"/>
                  <a:pt x="229" y="0"/>
                  <a:pt x="208" y="9"/>
                </a:cubicBezTo>
                <a:close/>
                <a:moveTo>
                  <a:pt x="1" y="163"/>
                </a:moveTo>
                <a:cubicBezTo>
                  <a:pt x="3" y="149"/>
                  <a:pt x="12" y="130"/>
                  <a:pt x="14" y="116"/>
                </a:cubicBezTo>
                <a:cubicBezTo>
                  <a:pt x="62" y="91"/>
                  <a:pt x="104" y="91"/>
                  <a:pt x="179" y="101"/>
                </a:cubicBezTo>
                <a:cubicBezTo>
                  <a:pt x="186" y="106"/>
                  <a:pt x="193" y="121"/>
                  <a:pt x="191" y="129"/>
                </a:cubicBezTo>
                <a:cubicBezTo>
                  <a:pt x="180" y="139"/>
                  <a:pt x="173" y="139"/>
                  <a:pt x="162" y="149"/>
                </a:cubicBezTo>
                <a:cubicBezTo>
                  <a:pt x="166" y="170"/>
                  <a:pt x="149" y="192"/>
                  <a:pt x="135" y="215"/>
                </a:cubicBezTo>
                <a:cubicBezTo>
                  <a:pt x="136" y="226"/>
                  <a:pt x="151" y="225"/>
                  <a:pt x="169" y="222"/>
                </a:cubicBezTo>
                <a:cubicBezTo>
                  <a:pt x="179" y="221"/>
                  <a:pt x="191" y="216"/>
                  <a:pt x="199" y="221"/>
                </a:cubicBezTo>
                <a:cubicBezTo>
                  <a:pt x="220" y="236"/>
                  <a:pt x="204" y="246"/>
                  <a:pt x="199" y="247"/>
                </a:cubicBezTo>
                <a:cubicBezTo>
                  <a:pt x="177" y="249"/>
                  <a:pt x="153" y="250"/>
                  <a:pt x="149" y="246"/>
                </a:cubicBezTo>
                <a:cubicBezTo>
                  <a:pt x="146" y="252"/>
                  <a:pt x="150" y="252"/>
                  <a:pt x="148" y="259"/>
                </a:cubicBezTo>
                <a:cubicBezTo>
                  <a:pt x="141" y="287"/>
                  <a:pt x="127" y="298"/>
                  <a:pt x="111" y="300"/>
                </a:cubicBezTo>
                <a:cubicBezTo>
                  <a:pt x="70" y="310"/>
                  <a:pt x="40" y="303"/>
                  <a:pt x="41" y="263"/>
                </a:cubicBezTo>
                <a:cubicBezTo>
                  <a:pt x="18" y="240"/>
                  <a:pt x="9" y="221"/>
                  <a:pt x="32" y="213"/>
                </a:cubicBezTo>
                <a:cubicBezTo>
                  <a:pt x="42" y="226"/>
                  <a:pt x="69" y="225"/>
                  <a:pt x="104" y="219"/>
                </a:cubicBezTo>
                <a:cubicBezTo>
                  <a:pt x="116" y="201"/>
                  <a:pt x="127" y="184"/>
                  <a:pt x="139" y="167"/>
                </a:cubicBezTo>
                <a:cubicBezTo>
                  <a:pt x="128" y="166"/>
                  <a:pt x="105" y="163"/>
                  <a:pt x="98" y="183"/>
                </a:cubicBezTo>
                <a:cubicBezTo>
                  <a:pt x="91" y="205"/>
                  <a:pt x="75" y="199"/>
                  <a:pt x="67" y="196"/>
                </a:cubicBezTo>
                <a:cubicBezTo>
                  <a:pt x="51" y="158"/>
                  <a:pt x="125" y="157"/>
                  <a:pt x="145" y="136"/>
                </a:cubicBezTo>
                <a:cubicBezTo>
                  <a:pt x="131" y="121"/>
                  <a:pt x="100" y="131"/>
                  <a:pt x="55" y="149"/>
                </a:cubicBezTo>
                <a:cubicBezTo>
                  <a:pt x="53" y="149"/>
                  <a:pt x="40" y="151"/>
                  <a:pt x="39" y="154"/>
                </a:cubicBezTo>
                <a:cubicBezTo>
                  <a:pt x="36" y="177"/>
                  <a:pt x="0" y="189"/>
                  <a:pt x="1" y="163"/>
                </a:cubicBezTo>
                <a:close/>
                <a:moveTo>
                  <a:pt x="60" y="249"/>
                </a:moveTo>
                <a:cubicBezTo>
                  <a:pt x="55" y="256"/>
                  <a:pt x="58" y="262"/>
                  <a:pt x="71" y="272"/>
                </a:cubicBezTo>
                <a:cubicBezTo>
                  <a:pt x="75" y="275"/>
                  <a:pt x="88" y="273"/>
                  <a:pt x="104" y="272"/>
                </a:cubicBezTo>
                <a:cubicBezTo>
                  <a:pt x="108" y="264"/>
                  <a:pt x="111" y="261"/>
                  <a:pt x="114" y="253"/>
                </a:cubicBezTo>
                <a:cubicBezTo>
                  <a:pt x="96" y="251"/>
                  <a:pt x="78" y="250"/>
                  <a:pt x="60" y="249"/>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2" name="ïṡľîḑe">
            <a:extLst xmlns:a="http://schemas.openxmlformats.org/drawingml/2006/main">
              <a:ext uri="{FF2B5EF4-FFF2-40B4-BE49-F238E27FC236}">
                <a16:creationId xmlns:a16="http://schemas.microsoft.com/office/drawing/2014/main" id="{BCB653DF-DBBB-42DE-A7CD-7FDFF4B8C197}"/>
              </a:ext>
            </a:extLst>
          </p:cNvPr>
          <p:cNvSpPr>
            <a:spLocks xmlns:a="http://schemas.openxmlformats.org/drawingml/2006/main" noGrp="1"/>
          </p:cNvSpPr>
          <p:nvPr/>
        </p:nvSpPr>
        <p:spPr>
          <a:xfrm xmlns:a="http://schemas.openxmlformats.org/drawingml/2006/main" rot="0" flipH="0" flipV="0">
            <a:off x="10219382" y="583358"/>
            <a:ext cx="128462" cy="195384"/>
          </a:xfrm>
          <a:custGeom xmlns:a="http://schemas.openxmlformats.org/drawingml/2006/main">
            <a:gdLst>
              <a:gd name="T0" fmla="*/ 13 w 184"/>
              <a:gd name="T1" fmla="*/ 114 h 279"/>
              <a:gd name="T2" fmla="*/ 6 w 184"/>
              <a:gd name="T3" fmla="*/ 136 h 279"/>
              <a:gd name="T4" fmla="*/ 1 w 184"/>
              <a:gd name="T5" fmla="*/ 157 h 279"/>
              <a:gd name="T6" fmla="*/ 59 w 184"/>
              <a:gd name="T7" fmla="*/ 225 h 279"/>
              <a:gd name="T8" fmla="*/ 67 w 184"/>
              <a:gd name="T9" fmla="*/ 255 h 279"/>
              <a:gd name="T10" fmla="*/ 103 w 184"/>
              <a:gd name="T11" fmla="*/ 279 h 279"/>
              <a:gd name="T12" fmla="*/ 167 w 184"/>
              <a:gd name="T13" fmla="*/ 273 h 279"/>
              <a:gd name="T14" fmla="*/ 184 w 184"/>
              <a:gd name="T15" fmla="*/ 260 h 279"/>
              <a:gd name="T16" fmla="*/ 182 w 184"/>
              <a:gd name="T17" fmla="*/ 236 h 279"/>
              <a:gd name="T18" fmla="*/ 135 w 184"/>
              <a:gd name="T19" fmla="*/ 237 h 279"/>
              <a:gd name="T20" fmla="*/ 90 w 184"/>
              <a:gd name="T21" fmla="*/ 227 h 279"/>
              <a:gd name="T22" fmla="*/ 143 w 184"/>
              <a:gd name="T23" fmla="*/ 202 h 279"/>
              <a:gd name="T24" fmla="*/ 146 w 184"/>
              <a:gd name="T25" fmla="*/ 159 h 279"/>
              <a:gd name="T26" fmla="*/ 182 w 184"/>
              <a:gd name="T27" fmla="*/ 113 h 279"/>
              <a:gd name="T28" fmla="*/ 126 w 184"/>
              <a:gd name="T29" fmla="*/ 63 h 279"/>
              <a:gd name="T30" fmla="*/ 83 w 184"/>
              <a:gd name="T31" fmla="*/ 0 h 279"/>
              <a:gd name="T32" fmla="*/ 88 w 184"/>
              <a:gd name="T33" fmla="*/ 60 h 279"/>
              <a:gd name="T34" fmla="*/ 41 w 184"/>
              <a:gd name="T35" fmla="*/ 124 h 279"/>
              <a:gd name="T36" fmla="*/ 46 w 184"/>
              <a:gd name="T37" fmla="*/ 182 h 279"/>
              <a:gd name="T38" fmla="*/ 13 w 184"/>
              <a:gd name="T39" fmla="*/ 114 h 279"/>
              <a:gd name="T40" fmla="*/ 112 w 184"/>
              <a:gd name="T41" fmla="*/ 90 h 279"/>
              <a:gd name="T42" fmla="*/ 132 w 184"/>
              <a:gd name="T43" fmla="*/ 89 h 279"/>
              <a:gd name="T44" fmla="*/ 147 w 184"/>
              <a:gd name="T45" fmla="*/ 114 h 279"/>
              <a:gd name="T46" fmla="*/ 129 w 184"/>
              <a:gd name="T47" fmla="*/ 141 h 279"/>
              <a:gd name="T48" fmla="*/ 108 w 184"/>
              <a:gd name="T49" fmla="*/ 142 h 279"/>
              <a:gd name="T50" fmla="*/ 105 w 184"/>
              <a:gd name="T51" fmla="*/ 117 h 279"/>
              <a:gd name="T52" fmla="*/ 112 w 184"/>
              <a:gd name="T53" fmla="*/ 90 h 279"/>
              <a:gd name="T54" fmla="*/ 89 w 184"/>
              <a:gd name="T55" fmla="*/ 161 h 279"/>
              <a:gd name="T56" fmla="*/ 107 w 184"/>
              <a:gd name="T57" fmla="*/ 158 h 279"/>
              <a:gd name="T58" fmla="*/ 105 w 184"/>
              <a:gd name="T59" fmla="*/ 167 h 279"/>
              <a:gd name="T60" fmla="*/ 95 w 184"/>
              <a:gd name="T61" fmla="*/ 168 h 279"/>
              <a:gd name="T62" fmla="*/ 89 w 184"/>
              <a:gd name="T63" fmla="*/ 161 h 279"/>
              <a:gd name="T64" fmla="*/ 95 w 184"/>
              <a:gd name="T65" fmla="*/ 181 h 279"/>
              <a:gd name="T66" fmla="*/ 112 w 184"/>
              <a:gd name="T67" fmla="*/ 178 h 279"/>
              <a:gd name="T68" fmla="*/ 119 w 184"/>
              <a:gd name="T69" fmla="*/ 184 h 279"/>
              <a:gd name="T70" fmla="*/ 103 w 184"/>
              <a:gd name="T71" fmla="*/ 186 h 279"/>
              <a:gd name="T72" fmla="*/ 95 w 184"/>
              <a:gd name="T73" fmla="*/ 181 h 279"/>
            </a:gdLst>
            <a:rect l="0" t="0" r="r" b="b"/>
            <a:pathLst>
              <a:path w="184" h="279">
                <a:moveTo>
                  <a:pt x="13" y="114"/>
                </a:moveTo>
                <a:cubicBezTo>
                  <a:pt x="7" y="115"/>
                  <a:pt x="8" y="124"/>
                  <a:pt x="6" y="136"/>
                </a:cubicBezTo>
                <a:cubicBezTo>
                  <a:pt x="5" y="142"/>
                  <a:pt x="0" y="150"/>
                  <a:pt x="1" y="157"/>
                </a:cubicBezTo>
                <a:cubicBezTo>
                  <a:pt x="1" y="205"/>
                  <a:pt x="21" y="214"/>
                  <a:pt x="59" y="225"/>
                </a:cubicBezTo>
                <a:cubicBezTo>
                  <a:pt x="62" y="235"/>
                  <a:pt x="65" y="245"/>
                  <a:pt x="67" y="255"/>
                </a:cubicBezTo>
                <a:cubicBezTo>
                  <a:pt x="77" y="267"/>
                  <a:pt x="90" y="274"/>
                  <a:pt x="103" y="279"/>
                </a:cubicBezTo>
                <a:cubicBezTo>
                  <a:pt x="126" y="273"/>
                  <a:pt x="147" y="270"/>
                  <a:pt x="167" y="273"/>
                </a:cubicBezTo>
                <a:cubicBezTo>
                  <a:pt x="173" y="269"/>
                  <a:pt x="178" y="264"/>
                  <a:pt x="184" y="260"/>
                </a:cubicBezTo>
                <a:cubicBezTo>
                  <a:pt x="182" y="254"/>
                  <a:pt x="180" y="242"/>
                  <a:pt x="182" y="236"/>
                </a:cubicBezTo>
                <a:cubicBezTo>
                  <a:pt x="158" y="235"/>
                  <a:pt x="147" y="237"/>
                  <a:pt x="135" y="237"/>
                </a:cubicBezTo>
                <a:cubicBezTo>
                  <a:pt x="108" y="251"/>
                  <a:pt x="91" y="245"/>
                  <a:pt x="90" y="227"/>
                </a:cubicBezTo>
                <a:cubicBezTo>
                  <a:pt x="107" y="226"/>
                  <a:pt x="119" y="224"/>
                  <a:pt x="143" y="202"/>
                </a:cubicBezTo>
                <a:cubicBezTo>
                  <a:pt x="138" y="188"/>
                  <a:pt x="138" y="173"/>
                  <a:pt x="146" y="159"/>
                </a:cubicBezTo>
                <a:cubicBezTo>
                  <a:pt x="158" y="144"/>
                  <a:pt x="170" y="128"/>
                  <a:pt x="182" y="113"/>
                </a:cubicBezTo>
                <a:cubicBezTo>
                  <a:pt x="167" y="92"/>
                  <a:pt x="147" y="78"/>
                  <a:pt x="126" y="63"/>
                </a:cubicBezTo>
                <a:cubicBezTo>
                  <a:pt x="128" y="26"/>
                  <a:pt x="110" y="5"/>
                  <a:pt x="83" y="0"/>
                </a:cubicBezTo>
                <a:cubicBezTo>
                  <a:pt x="90" y="24"/>
                  <a:pt x="97" y="45"/>
                  <a:pt x="88" y="60"/>
                </a:cubicBezTo>
                <a:cubicBezTo>
                  <a:pt x="66" y="78"/>
                  <a:pt x="50" y="100"/>
                  <a:pt x="41" y="124"/>
                </a:cubicBezTo>
                <a:cubicBezTo>
                  <a:pt x="54" y="142"/>
                  <a:pt x="64" y="161"/>
                  <a:pt x="46" y="182"/>
                </a:cubicBezTo>
                <a:cubicBezTo>
                  <a:pt x="25" y="161"/>
                  <a:pt x="20" y="120"/>
                  <a:pt x="13" y="114"/>
                </a:cubicBezTo>
                <a:close/>
                <a:moveTo>
                  <a:pt x="112" y="90"/>
                </a:moveTo>
                <a:cubicBezTo>
                  <a:pt x="119" y="91"/>
                  <a:pt x="125" y="87"/>
                  <a:pt x="132" y="89"/>
                </a:cubicBezTo>
                <a:cubicBezTo>
                  <a:pt x="149" y="95"/>
                  <a:pt x="155" y="107"/>
                  <a:pt x="147" y="114"/>
                </a:cubicBezTo>
                <a:cubicBezTo>
                  <a:pt x="141" y="123"/>
                  <a:pt x="135" y="132"/>
                  <a:pt x="129" y="141"/>
                </a:cubicBezTo>
                <a:cubicBezTo>
                  <a:pt x="122" y="145"/>
                  <a:pt x="115" y="145"/>
                  <a:pt x="108" y="142"/>
                </a:cubicBezTo>
                <a:cubicBezTo>
                  <a:pt x="107" y="134"/>
                  <a:pt x="106" y="125"/>
                  <a:pt x="105" y="117"/>
                </a:cubicBezTo>
                <a:cubicBezTo>
                  <a:pt x="102" y="104"/>
                  <a:pt x="105" y="96"/>
                  <a:pt x="112" y="90"/>
                </a:cubicBezTo>
                <a:close/>
                <a:moveTo>
                  <a:pt x="89" y="161"/>
                </a:moveTo>
                <a:cubicBezTo>
                  <a:pt x="93" y="159"/>
                  <a:pt x="102" y="160"/>
                  <a:pt x="107" y="158"/>
                </a:cubicBezTo>
                <a:cubicBezTo>
                  <a:pt x="108" y="162"/>
                  <a:pt x="104" y="163"/>
                  <a:pt x="105" y="167"/>
                </a:cubicBezTo>
                <a:cubicBezTo>
                  <a:pt x="101" y="167"/>
                  <a:pt x="98" y="168"/>
                  <a:pt x="95" y="168"/>
                </a:cubicBezTo>
                <a:cubicBezTo>
                  <a:pt x="93" y="166"/>
                  <a:pt x="91" y="164"/>
                  <a:pt x="89" y="161"/>
                </a:cubicBezTo>
                <a:close/>
                <a:moveTo>
                  <a:pt x="95" y="181"/>
                </a:moveTo>
                <a:cubicBezTo>
                  <a:pt x="101" y="180"/>
                  <a:pt x="106" y="179"/>
                  <a:pt x="112" y="178"/>
                </a:cubicBezTo>
                <a:cubicBezTo>
                  <a:pt x="114" y="180"/>
                  <a:pt x="117" y="182"/>
                  <a:pt x="119" y="184"/>
                </a:cubicBezTo>
                <a:cubicBezTo>
                  <a:pt x="114" y="185"/>
                  <a:pt x="108" y="185"/>
                  <a:pt x="103" y="186"/>
                </a:cubicBezTo>
                <a:cubicBezTo>
                  <a:pt x="100" y="185"/>
                  <a:pt x="98" y="183"/>
                  <a:pt x="95" y="181"/>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3" name="ïṧḷïḑé">
            <a:extLst xmlns:a="http://schemas.openxmlformats.org/drawingml/2006/main">
              <a:ext uri="{FF2B5EF4-FFF2-40B4-BE49-F238E27FC236}">
                <a16:creationId xmlns:a16="http://schemas.microsoft.com/office/drawing/2014/main" id="{BA2BC783-0B6A-46E0-912C-80F52E3D9723}"/>
              </a:ext>
            </a:extLst>
          </p:cNvPr>
          <p:cNvSpPr>
            <a:spLocks xmlns:a="http://schemas.openxmlformats.org/drawingml/2006/main" noGrp="1"/>
          </p:cNvSpPr>
          <p:nvPr/>
        </p:nvSpPr>
        <p:spPr>
          <a:xfrm xmlns:a="http://schemas.openxmlformats.org/drawingml/2006/main" rot="0" flipH="0" flipV="0">
            <a:off x="10435280" y="600173"/>
            <a:ext cx="130480" cy="161755"/>
          </a:xfrm>
          <a:custGeom xmlns:a="http://schemas.openxmlformats.org/drawingml/2006/main">
            <a:gdLst>
              <a:gd name="T0" fmla="*/ 49 w 187"/>
              <a:gd name="T1" fmla="*/ 23 h 231"/>
              <a:gd name="T2" fmla="*/ 68 w 187"/>
              <a:gd name="T3" fmla="*/ 14 h 231"/>
              <a:gd name="T4" fmla="*/ 92 w 187"/>
              <a:gd name="T5" fmla="*/ 3 h 231"/>
              <a:gd name="T6" fmla="*/ 120 w 187"/>
              <a:gd name="T7" fmla="*/ 16 h 231"/>
              <a:gd name="T8" fmla="*/ 124 w 187"/>
              <a:gd name="T9" fmla="*/ 34 h 231"/>
              <a:gd name="T10" fmla="*/ 90 w 187"/>
              <a:gd name="T11" fmla="*/ 113 h 231"/>
              <a:gd name="T12" fmla="*/ 142 w 187"/>
              <a:gd name="T13" fmla="*/ 125 h 231"/>
              <a:gd name="T14" fmla="*/ 181 w 187"/>
              <a:gd name="T15" fmla="*/ 136 h 231"/>
              <a:gd name="T16" fmla="*/ 178 w 187"/>
              <a:gd name="T17" fmla="*/ 157 h 231"/>
              <a:gd name="T18" fmla="*/ 142 w 187"/>
              <a:gd name="T19" fmla="*/ 158 h 231"/>
              <a:gd name="T20" fmla="*/ 111 w 187"/>
              <a:gd name="T21" fmla="*/ 229 h 231"/>
              <a:gd name="T22" fmla="*/ 58 w 187"/>
              <a:gd name="T23" fmla="*/ 227 h 231"/>
              <a:gd name="T24" fmla="*/ 23 w 187"/>
              <a:gd name="T25" fmla="*/ 223 h 231"/>
              <a:gd name="T26" fmla="*/ 13 w 187"/>
              <a:gd name="T27" fmla="*/ 169 h 231"/>
              <a:gd name="T28" fmla="*/ 5 w 187"/>
              <a:gd name="T29" fmla="*/ 141 h 231"/>
              <a:gd name="T30" fmla="*/ 64 w 187"/>
              <a:gd name="T31" fmla="*/ 136 h 231"/>
              <a:gd name="T32" fmla="*/ 57 w 187"/>
              <a:gd name="T33" fmla="*/ 120 h 231"/>
              <a:gd name="T34" fmla="*/ 83 w 187"/>
              <a:gd name="T35" fmla="*/ 66 h 231"/>
              <a:gd name="T36" fmla="*/ 76 w 187"/>
              <a:gd name="T37" fmla="*/ 42 h 231"/>
              <a:gd name="T38" fmla="*/ 49 w 187"/>
              <a:gd name="T39" fmla="*/ 23 h 231"/>
              <a:gd name="T40" fmla="*/ 31 w 187"/>
              <a:gd name="T41" fmla="*/ 165 h 231"/>
              <a:gd name="T42" fmla="*/ 89 w 187"/>
              <a:gd name="T43" fmla="*/ 198 h 231"/>
              <a:gd name="T44" fmla="*/ 97 w 187"/>
              <a:gd name="T45" fmla="*/ 162 h 231"/>
              <a:gd name="T46" fmla="*/ 31 w 187"/>
              <a:gd name="T47" fmla="*/ 165 h 231"/>
            </a:gdLst>
            <a:rect l="0" t="0" r="r" b="b"/>
            <a:pathLst>
              <a:path w="187" h="231">
                <a:moveTo>
                  <a:pt x="49" y="23"/>
                </a:moveTo>
                <a:cubicBezTo>
                  <a:pt x="54" y="19"/>
                  <a:pt x="61" y="18"/>
                  <a:pt x="68" y="14"/>
                </a:cubicBezTo>
                <a:cubicBezTo>
                  <a:pt x="75" y="11"/>
                  <a:pt x="84" y="5"/>
                  <a:pt x="92" y="3"/>
                </a:cubicBezTo>
                <a:cubicBezTo>
                  <a:pt x="104" y="0"/>
                  <a:pt x="114" y="7"/>
                  <a:pt x="120" y="16"/>
                </a:cubicBezTo>
                <a:cubicBezTo>
                  <a:pt x="123" y="21"/>
                  <a:pt x="123" y="28"/>
                  <a:pt x="124" y="34"/>
                </a:cubicBezTo>
                <a:cubicBezTo>
                  <a:pt x="119" y="63"/>
                  <a:pt x="105" y="88"/>
                  <a:pt x="90" y="113"/>
                </a:cubicBezTo>
                <a:cubicBezTo>
                  <a:pt x="103" y="124"/>
                  <a:pt x="125" y="121"/>
                  <a:pt x="142" y="125"/>
                </a:cubicBezTo>
                <a:cubicBezTo>
                  <a:pt x="148" y="126"/>
                  <a:pt x="170" y="127"/>
                  <a:pt x="181" y="136"/>
                </a:cubicBezTo>
                <a:cubicBezTo>
                  <a:pt x="187" y="141"/>
                  <a:pt x="185" y="148"/>
                  <a:pt x="178" y="157"/>
                </a:cubicBezTo>
                <a:cubicBezTo>
                  <a:pt x="174" y="162"/>
                  <a:pt x="148" y="155"/>
                  <a:pt x="142" y="158"/>
                </a:cubicBezTo>
                <a:cubicBezTo>
                  <a:pt x="134" y="181"/>
                  <a:pt x="134" y="200"/>
                  <a:pt x="111" y="229"/>
                </a:cubicBezTo>
                <a:cubicBezTo>
                  <a:pt x="96" y="230"/>
                  <a:pt x="76" y="231"/>
                  <a:pt x="58" y="227"/>
                </a:cubicBezTo>
                <a:cubicBezTo>
                  <a:pt x="46" y="224"/>
                  <a:pt x="33" y="225"/>
                  <a:pt x="23" y="223"/>
                </a:cubicBezTo>
                <a:cubicBezTo>
                  <a:pt x="28" y="203"/>
                  <a:pt x="25" y="185"/>
                  <a:pt x="13" y="169"/>
                </a:cubicBezTo>
                <a:cubicBezTo>
                  <a:pt x="5" y="164"/>
                  <a:pt x="0" y="156"/>
                  <a:pt x="5" y="141"/>
                </a:cubicBezTo>
                <a:cubicBezTo>
                  <a:pt x="15" y="129"/>
                  <a:pt x="41" y="134"/>
                  <a:pt x="64" y="136"/>
                </a:cubicBezTo>
                <a:cubicBezTo>
                  <a:pt x="62" y="131"/>
                  <a:pt x="59" y="125"/>
                  <a:pt x="57" y="120"/>
                </a:cubicBezTo>
                <a:cubicBezTo>
                  <a:pt x="62" y="102"/>
                  <a:pt x="71" y="88"/>
                  <a:pt x="83" y="66"/>
                </a:cubicBezTo>
                <a:cubicBezTo>
                  <a:pt x="73" y="62"/>
                  <a:pt x="69" y="49"/>
                  <a:pt x="76" y="42"/>
                </a:cubicBezTo>
                <a:cubicBezTo>
                  <a:pt x="81" y="36"/>
                  <a:pt x="60" y="36"/>
                  <a:pt x="49" y="23"/>
                </a:cubicBezTo>
                <a:close/>
                <a:moveTo>
                  <a:pt x="31" y="165"/>
                </a:moveTo>
                <a:cubicBezTo>
                  <a:pt x="34" y="187"/>
                  <a:pt x="54" y="198"/>
                  <a:pt x="89" y="198"/>
                </a:cubicBezTo>
                <a:cubicBezTo>
                  <a:pt x="100" y="189"/>
                  <a:pt x="102" y="177"/>
                  <a:pt x="97" y="162"/>
                </a:cubicBezTo>
                <a:cubicBezTo>
                  <a:pt x="75" y="158"/>
                  <a:pt x="59" y="162"/>
                  <a:pt x="31" y="165"/>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4" name="íṧ1íḓê">
            <a:extLst xmlns:a="http://schemas.openxmlformats.org/drawingml/2006/main">
              <a:ext uri="{FF2B5EF4-FFF2-40B4-BE49-F238E27FC236}">
                <a16:creationId xmlns:a16="http://schemas.microsoft.com/office/drawing/2014/main" id="{686DF4BA-E100-46AD-AC23-D067EED6D087}"/>
              </a:ext>
            </a:extLst>
          </p:cNvPr>
          <p:cNvSpPr>
            <a:spLocks xmlns:a="http://schemas.openxmlformats.org/drawingml/2006/main" noGrp="1"/>
          </p:cNvSpPr>
          <p:nvPr/>
        </p:nvSpPr>
        <p:spPr>
          <a:xfrm xmlns:a="http://schemas.openxmlformats.org/drawingml/2006/main" rot="0" flipH="0" flipV="0">
            <a:off x="10628647" y="574278"/>
            <a:ext cx="190676" cy="232376"/>
          </a:xfrm>
          <a:custGeom xmlns:a="http://schemas.openxmlformats.org/drawingml/2006/main">
            <a:gdLst>
              <a:gd name="T0" fmla="*/ 207 w 273"/>
              <a:gd name="T1" fmla="*/ 11 h 332"/>
              <a:gd name="T2" fmla="*/ 199 w 273"/>
              <a:gd name="T3" fmla="*/ 76 h 332"/>
              <a:gd name="T4" fmla="*/ 158 w 273"/>
              <a:gd name="T5" fmla="*/ 75 h 332"/>
              <a:gd name="T6" fmla="*/ 154 w 273"/>
              <a:gd name="T7" fmla="*/ 101 h 332"/>
              <a:gd name="T8" fmla="*/ 149 w 273"/>
              <a:gd name="T9" fmla="*/ 140 h 332"/>
              <a:gd name="T10" fmla="*/ 165 w 273"/>
              <a:gd name="T11" fmla="*/ 145 h 332"/>
              <a:gd name="T12" fmla="*/ 137 w 273"/>
              <a:gd name="T13" fmla="*/ 186 h 332"/>
              <a:gd name="T14" fmla="*/ 152 w 273"/>
              <a:gd name="T15" fmla="*/ 199 h 332"/>
              <a:gd name="T16" fmla="*/ 190 w 273"/>
              <a:gd name="T17" fmla="*/ 197 h 332"/>
              <a:gd name="T18" fmla="*/ 205 w 273"/>
              <a:gd name="T19" fmla="*/ 332 h 332"/>
              <a:gd name="T20" fmla="*/ 248 w 273"/>
              <a:gd name="T21" fmla="*/ 161 h 332"/>
              <a:gd name="T22" fmla="*/ 241 w 273"/>
              <a:gd name="T23" fmla="*/ 111 h 332"/>
              <a:gd name="T24" fmla="*/ 207 w 273"/>
              <a:gd name="T25" fmla="*/ 11 h 332"/>
              <a:gd name="T26" fmla="*/ 110 w 273"/>
              <a:gd name="T27" fmla="*/ 15 h 332"/>
              <a:gd name="T28" fmla="*/ 112 w 273"/>
              <a:gd name="T29" fmla="*/ 47 h 332"/>
              <a:gd name="T30" fmla="*/ 87 w 273"/>
              <a:gd name="T31" fmla="*/ 97 h 332"/>
              <a:gd name="T32" fmla="*/ 90 w 273"/>
              <a:gd name="T33" fmla="*/ 121 h 332"/>
              <a:gd name="T34" fmla="*/ 86 w 273"/>
              <a:gd name="T35" fmla="*/ 152 h 332"/>
              <a:gd name="T36" fmla="*/ 126 w 273"/>
              <a:gd name="T37" fmla="*/ 117 h 332"/>
              <a:gd name="T38" fmla="*/ 139 w 273"/>
              <a:gd name="T39" fmla="*/ 106 h 332"/>
              <a:gd name="T40" fmla="*/ 139 w 273"/>
              <a:gd name="T41" fmla="*/ 122 h 332"/>
              <a:gd name="T42" fmla="*/ 90 w 273"/>
              <a:gd name="T43" fmla="*/ 193 h 332"/>
              <a:gd name="T44" fmla="*/ 88 w 273"/>
              <a:gd name="T45" fmla="*/ 274 h 332"/>
              <a:gd name="T46" fmla="*/ 58 w 273"/>
              <a:gd name="T47" fmla="*/ 246 h 332"/>
              <a:gd name="T48" fmla="*/ 77 w 273"/>
              <a:gd name="T49" fmla="*/ 247 h 332"/>
              <a:gd name="T50" fmla="*/ 77 w 273"/>
              <a:gd name="T51" fmla="*/ 213 h 332"/>
              <a:gd name="T52" fmla="*/ 25 w 273"/>
              <a:gd name="T53" fmla="*/ 239 h 332"/>
              <a:gd name="T54" fmla="*/ 10 w 273"/>
              <a:gd name="T55" fmla="*/ 217 h 332"/>
              <a:gd name="T56" fmla="*/ 44 w 273"/>
              <a:gd name="T57" fmla="*/ 150 h 332"/>
              <a:gd name="T58" fmla="*/ 9 w 273"/>
              <a:gd name="T59" fmla="*/ 164 h 332"/>
              <a:gd name="T60" fmla="*/ 10 w 273"/>
              <a:gd name="T61" fmla="*/ 142 h 332"/>
              <a:gd name="T62" fmla="*/ 66 w 273"/>
              <a:gd name="T63" fmla="*/ 102 h 332"/>
              <a:gd name="T64" fmla="*/ 110 w 273"/>
              <a:gd name="T65" fmla="*/ 15 h 332"/>
              <a:gd name="T66" fmla="*/ 63 w 273"/>
              <a:gd name="T67" fmla="*/ 173 h 332"/>
              <a:gd name="T68" fmla="*/ 53 w 273"/>
              <a:gd name="T69" fmla="*/ 180 h 332"/>
              <a:gd name="T70" fmla="*/ 63 w 273"/>
              <a:gd name="T71" fmla="*/ 187 h 332"/>
              <a:gd name="T72" fmla="*/ 72 w 273"/>
              <a:gd name="T73" fmla="*/ 180 h 332"/>
              <a:gd name="T74" fmla="*/ 63 w 273"/>
              <a:gd name="T75" fmla="*/ 173 h 332"/>
              <a:gd name="T76" fmla="*/ 170 w 273"/>
              <a:gd name="T77" fmla="*/ 119 h 332"/>
              <a:gd name="T78" fmla="*/ 187 w 273"/>
              <a:gd name="T79" fmla="*/ 106 h 332"/>
              <a:gd name="T80" fmla="*/ 198 w 273"/>
              <a:gd name="T81" fmla="*/ 125 h 332"/>
              <a:gd name="T82" fmla="*/ 170 w 273"/>
              <a:gd name="T83" fmla="*/ 119 h 332"/>
              <a:gd name="T84" fmla="*/ 170 w 273"/>
              <a:gd name="T85" fmla="*/ 170 h 332"/>
              <a:gd name="T86" fmla="*/ 186 w 273"/>
              <a:gd name="T87" fmla="*/ 150 h 332"/>
              <a:gd name="T88" fmla="*/ 195 w 273"/>
              <a:gd name="T89" fmla="*/ 163 h 332"/>
              <a:gd name="T90" fmla="*/ 170 w 273"/>
              <a:gd name="T91" fmla="*/ 170 h 332"/>
            </a:gdLst>
            <a:rect l="0" t="0" r="r" b="b"/>
            <a:pathLst>
              <a:path w="273" h="332">
                <a:moveTo>
                  <a:pt x="207" y="11"/>
                </a:moveTo>
                <a:cubicBezTo>
                  <a:pt x="207" y="31"/>
                  <a:pt x="202" y="56"/>
                  <a:pt x="199" y="76"/>
                </a:cubicBezTo>
                <a:cubicBezTo>
                  <a:pt x="185" y="78"/>
                  <a:pt x="173" y="73"/>
                  <a:pt x="158" y="75"/>
                </a:cubicBezTo>
                <a:cubicBezTo>
                  <a:pt x="153" y="85"/>
                  <a:pt x="154" y="91"/>
                  <a:pt x="154" y="101"/>
                </a:cubicBezTo>
                <a:cubicBezTo>
                  <a:pt x="153" y="114"/>
                  <a:pt x="141" y="129"/>
                  <a:pt x="149" y="140"/>
                </a:cubicBezTo>
                <a:cubicBezTo>
                  <a:pt x="153" y="143"/>
                  <a:pt x="161" y="143"/>
                  <a:pt x="165" y="145"/>
                </a:cubicBezTo>
                <a:cubicBezTo>
                  <a:pt x="146" y="163"/>
                  <a:pt x="134" y="168"/>
                  <a:pt x="137" y="186"/>
                </a:cubicBezTo>
                <a:cubicBezTo>
                  <a:pt x="135" y="197"/>
                  <a:pt x="142" y="202"/>
                  <a:pt x="152" y="199"/>
                </a:cubicBezTo>
                <a:cubicBezTo>
                  <a:pt x="165" y="200"/>
                  <a:pt x="177" y="196"/>
                  <a:pt x="190" y="197"/>
                </a:cubicBezTo>
                <a:cubicBezTo>
                  <a:pt x="174" y="251"/>
                  <a:pt x="199" y="289"/>
                  <a:pt x="205" y="332"/>
                </a:cubicBezTo>
                <a:cubicBezTo>
                  <a:pt x="221" y="271"/>
                  <a:pt x="231" y="221"/>
                  <a:pt x="248" y="161"/>
                </a:cubicBezTo>
                <a:cubicBezTo>
                  <a:pt x="273" y="150"/>
                  <a:pt x="270" y="121"/>
                  <a:pt x="241" y="111"/>
                </a:cubicBezTo>
                <a:cubicBezTo>
                  <a:pt x="239" y="51"/>
                  <a:pt x="231" y="0"/>
                  <a:pt x="207" y="11"/>
                </a:cubicBezTo>
                <a:close/>
                <a:moveTo>
                  <a:pt x="110" y="15"/>
                </a:moveTo>
                <a:cubicBezTo>
                  <a:pt x="138" y="4"/>
                  <a:pt x="128" y="24"/>
                  <a:pt x="112" y="47"/>
                </a:cubicBezTo>
                <a:cubicBezTo>
                  <a:pt x="99" y="61"/>
                  <a:pt x="88" y="77"/>
                  <a:pt x="87" y="97"/>
                </a:cubicBezTo>
                <a:cubicBezTo>
                  <a:pt x="87" y="105"/>
                  <a:pt x="90" y="113"/>
                  <a:pt x="90" y="121"/>
                </a:cubicBezTo>
                <a:cubicBezTo>
                  <a:pt x="90" y="131"/>
                  <a:pt x="86" y="141"/>
                  <a:pt x="86" y="152"/>
                </a:cubicBezTo>
                <a:cubicBezTo>
                  <a:pt x="87" y="169"/>
                  <a:pt x="122" y="134"/>
                  <a:pt x="126" y="117"/>
                </a:cubicBezTo>
                <a:cubicBezTo>
                  <a:pt x="128" y="111"/>
                  <a:pt x="134" y="110"/>
                  <a:pt x="139" y="106"/>
                </a:cubicBezTo>
                <a:cubicBezTo>
                  <a:pt x="136" y="113"/>
                  <a:pt x="143" y="115"/>
                  <a:pt x="139" y="122"/>
                </a:cubicBezTo>
                <a:cubicBezTo>
                  <a:pt x="127" y="144"/>
                  <a:pt x="103" y="173"/>
                  <a:pt x="90" y="193"/>
                </a:cubicBezTo>
                <a:cubicBezTo>
                  <a:pt x="91" y="224"/>
                  <a:pt x="96" y="252"/>
                  <a:pt x="88" y="274"/>
                </a:cubicBezTo>
                <a:cubicBezTo>
                  <a:pt x="73" y="279"/>
                  <a:pt x="52" y="263"/>
                  <a:pt x="58" y="246"/>
                </a:cubicBezTo>
                <a:cubicBezTo>
                  <a:pt x="64" y="249"/>
                  <a:pt x="69" y="256"/>
                  <a:pt x="77" y="247"/>
                </a:cubicBezTo>
                <a:cubicBezTo>
                  <a:pt x="77" y="236"/>
                  <a:pt x="77" y="224"/>
                  <a:pt x="77" y="213"/>
                </a:cubicBezTo>
                <a:cubicBezTo>
                  <a:pt x="60" y="222"/>
                  <a:pt x="43" y="230"/>
                  <a:pt x="25" y="239"/>
                </a:cubicBezTo>
                <a:cubicBezTo>
                  <a:pt x="17" y="242"/>
                  <a:pt x="6" y="240"/>
                  <a:pt x="10" y="217"/>
                </a:cubicBezTo>
                <a:cubicBezTo>
                  <a:pt x="27" y="195"/>
                  <a:pt x="42" y="174"/>
                  <a:pt x="44" y="150"/>
                </a:cubicBezTo>
                <a:cubicBezTo>
                  <a:pt x="32" y="154"/>
                  <a:pt x="21" y="159"/>
                  <a:pt x="9" y="164"/>
                </a:cubicBezTo>
                <a:cubicBezTo>
                  <a:pt x="0" y="168"/>
                  <a:pt x="3" y="153"/>
                  <a:pt x="10" y="142"/>
                </a:cubicBezTo>
                <a:cubicBezTo>
                  <a:pt x="23" y="120"/>
                  <a:pt x="64" y="106"/>
                  <a:pt x="66" y="102"/>
                </a:cubicBezTo>
                <a:cubicBezTo>
                  <a:pt x="75" y="62"/>
                  <a:pt x="87" y="30"/>
                  <a:pt x="110" y="15"/>
                </a:cubicBezTo>
                <a:close/>
                <a:moveTo>
                  <a:pt x="63" y="173"/>
                </a:moveTo>
                <a:cubicBezTo>
                  <a:pt x="58" y="173"/>
                  <a:pt x="53" y="176"/>
                  <a:pt x="53" y="180"/>
                </a:cubicBezTo>
                <a:cubicBezTo>
                  <a:pt x="53" y="183"/>
                  <a:pt x="58" y="187"/>
                  <a:pt x="63" y="187"/>
                </a:cubicBezTo>
                <a:cubicBezTo>
                  <a:pt x="68" y="187"/>
                  <a:pt x="72" y="183"/>
                  <a:pt x="72" y="180"/>
                </a:cubicBezTo>
                <a:cubicBezTo>
                  <a:pt x="72" y="176"/>
                  <a:pt x="68" y="173"/>
                  <a:pt x="63" y="173"/>
                </a:cubicBezTo>
                <a:close/>
                <a:moveTo>
                  <a:pt x="170" y="119"/>
                </a:moveTo>
                <a:cubicBezTo>
                  <a:pt x="168" y="108"/>
                  <a:pt x="174" y="105"/>
                  <a:pt x="187" y="106"/>
                </a:cubicBezTo>
                <a:cubicBezTo>
                  <a:pt x="197" y="112"/>
                  <a:pt x="200" y="116"/>
                  <a:pt x="198" y="125"/>
                </a:cubicBezTo>
                <a:cubicBezTo>
                  <a:pt x="186" y="127"/>
                  <a:pt x="176" y="125"/>
                  <a:pt x="170" y="119"/>
                </a:cubicBezTo>
                <a:close/>
                <a:moveTo>
                  <a:pt x="170" y="170"/>
                </a:moveTo>
                <a:cubicBezTo>
                  <a:pt x="168" y="159"/>
                  <a:pt x="173" y="150"/>
                  <a:pt x="186" y="150"/>
                </a:cubicBezTo>
                <a:cubicBezTo>
                  <a:pt x="186" y="151"/>
                  <a:pt x="195" y="149"/>
                  <a:pt x="195" y="163"/>
                </a:cubicBezTo>
                <a:cubicBezTo>
                  <a:pt x="182" y="165"/>
                  <a:pt x="176" y="176"/>
                  <a:pt x="170" y="170"/>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5" name="iSlïḓè">
            <a:extLst xmlns:a="http://schemas.openxmlformats.org/drawingml/2006/main">
              <a:ext uri="{FF2B5EF4-FFF2-40B4-BE49-F238E27FC236}">
                <a16:creationId xmlns:a16="http://schemas.microsoft.com/office/drawing/2014/main" id="{EB2B06D5-E044-4959-83C6-891C600B5A5C}"/>
              </a:ext>
            </a:extLst>
          </p:cNvPr>
          <p:cNvSpPr>
            <a:spLocks xmlns:a="http://schemas.openxmlformats.org/drawingml/2006/main" noGrp="1"/>
          </p:cNvSpPr>
          <p:nvPr/>
        </p:nvSpPr>
        <p:spPr>
          <a:xfrm xmlns:a="http://schemas.openxmlformats.org/drawingml/2006/main" rot="0" flipH="0" flipV="0">
            <a:off x="10857660" y="581341"/>
            <a:ext cx="223632" cy="178569"/>
          </a:xfrm>
          <a:custGeom xmlns:a="http://schemas.openxmlformats.org/drawingml/2006/main">
            <a:gdLst>
              <a:gd name="T0" fmla="*/ 79 w 320"/>
              <a:gd name="T1" fmla="*/ 32 h 255"/>
              <a:gd name="T2" fmla="*/ 61 w 320"/>
              <a:gd name="T3" fmla="*/ 83 h 255"/>
              <a:gd name="T4" fmla="*/ 27 w 320"/>
              <a:gd name="T5" fmla="*/ 92 h 255"/>
              <a:gd name="T6" fmla="*/ 54 w 320"/>
              <a:gd name="T7" fmla="*/ 120 h 255"/>
              <a:gd name="T8" fmla="*/ 45 w 320"/>
              <a:gd name="T9" fmla="*/ 175 h 255"/>
              <a:gd name="T10" fmla="*/ 38 w 320"/>
              <a:gd name="T11" fmla="*/ 183 h 255"/>
              <a:gd name="T12" fmla="*/ 0 w 320"/>
              <a:gd name="T13" fmla="*/ 200 h 255"/>
              <a:gd name="T14" fmla="*/ 28 w 320"/>
              <a:gd name="T15" fmla="*/ 235 h 255"/>
              <a:gd name="T16" fmla="*/ 48 w 320"/>
              <a:gd name="T17" fmla="*/ 214 h 255"/>
              <a:gd name="T18" fmla="*/ 61 w 320"/>
              <a:gd name="T19" fmla="*/ 234 h 255"/>
              <a:gd name="T20" fmla="*/ 81 w 320"/>
              <a:gd name="T21" fmla="*/ 217 h 255"/>
              <a:gd name="T22" fmla="*/ 74 w 320"/>
              <a:gd name="T23" fmla="*/ 175 h 255"/>
              <a:gd name="T24" fmla="*/ 122 w 320"/>
              <a:gd name="T25" fmla="*/ 105 h 255"/>
              <a:gd name="T26" fmla="*/ 155 w 320"/>
              <a:gd name="T27" fmla="*/ 122 h 255"/>
              <a:gd name="T28" fmla="*/ 136 w 320"/>
              <a:gd name="T29" fmla="*/ 141 h 255"/>
              <a:gd name="T30" fmla="*/ 114 w 320"/>
              <a:gd name="T31" fmla="*/ 144 h 255"/>
              <a:gd name="T32" fmla="*/ 113 w 320"/>
              <a:gd name="T33" fmla="*/ 173 h 255"/>
              <a:gd name="T34" fmla="*/ 167 w 320"/>
              <a:gd name="T35" fmla="*/ 203 h 255"/>
              <a:gd name="T36" fmla="*/ 120 w 320"/>
              <a:gd name="T37" fmla="*/ 207 h 255"/>
              <a:gd name="T38" fmla="*/ 104 w 320"/>
              <a:gd name="T39" fmla="*/ 173 h 255"/>
              <a:gd name="T40" fmla="*/ 93 w 320"/>
              <a:gd name="T41" fmla="*/ 229 h 255"/>
              <a:gd name="T42" fmla="*/ 192 w 320"/>
              <a:gd name="T43" fmla="*/ 220 h 255"/>
              <a:gd name="T44" fmla="*/ 218 w 320"/>
              <a:gd name="T45" fmla="*/ 249 h 255"/>
              <a:gd name="T46" fmla="*/ 320 w 320"/>
              <a:gd name="T47" fmla="*/ 238 h 255"/>
              <a:gd name="T48" fmla="*/ 312 w 320"/>
              <a:gd name="T49" fmla="*/ 231 h 255"/>
              <a:gd name="T50" fmla="*/ 255 w 320"/>
              <a:gd name="T51" fmla="*/ 216 h 255"/>
              <a:gd name="T52" fmla="*/ 214 w 320"/>
              <a:gd name="T53" fmla="*/ 192 h 255"/>
              <a:gd name="T54" fmla="*/ 223 w 320"/>
              <a:gd name="T55" fmla="*/ 107 h 255"/>
              <a:gd name="T56" fmla="*/ 189 w 320"/>
              <a:gd name="T57" fmla="*/ 119 h 255"/>
              <a:gd name="T58" fmla="*/ 215 w 320"/>
              <a:gd name="T59" fmla="*/ 94 h 255"/>
              <a:gd name="T60" fmla="*/ 241 w 320"/>
              <a:gd name="T61" fmla="*/ 72 h 255"/>
              <a:gd name="T62" fmla="*/ 240 w 320"/>
              <a:gd name="T63" fmla="*/ 34 h 255"/>
              <a:gd name="T64" fmla="*/ 194 w 320"/>
              <a:gd name="T65" fmla="*/ 65 h 255"/>
              <a:gd name="T66" fmla="*/ 174 w 320"/>
              <a:gd name="T67" fmla="*/ 0 h 255"/>
              <a:gd name="T68" fmla="*/ 163 w 320"/>
              <a:gd name="T69" fmla="*/ 72 h 255"/>
              <a:gd name="T70" fmla="*/ 115 w 320"/>
              <a:gd name="T71" fmla="*/ 96 h 255"/>
              <a:gd name="T72" fmla="*/ 81 w 320"/>
              <a:gd name="T73" fmla="*/ 133 h 255"/>
              <a:gd name="T74" fmla="*/ 91 w 320"/>
              <a:gd name="T75" fmla="*/ 94 h 255"/>
              <a:gd name="T76" fmla="*/ 79 w 320"/>
              <a:gd name="T77" fmla="*/ 32 h 255"/>
              <a:gd name="T78" fmla="*/ 169 w 320"/>
              <a:gd name="T79" fmla="*/ 162 h 255"/>
              <a:gd name="T80" fmla="*/ 200 w 320"/>
              <a:gd name="T81" fmla="*/ 138 h 255"/>
              <a:gd name="T82" fmla="*/ 189 w 320"/>
              <a:gd name="T83" fmla="*/ 181 h 255"/>
              <a:gd name="T84" fmla="*/ 169 w 320"/>
              <a:gd name="T85" fmla="*/ 162 h 255"/>
            </a:gdLst>
            <a:rect l="0" t="0" r="r" b="b"/>
            <a:pathLst>
              <a:path w="320" h="255">
                <a:moveTo>
                  <a:pt x="79" y="32"/>
                </a:moveTo>
                <a:cubicBezTo>
                  <a:pt x="72" y="48"/>
                  <a:pt x="66" y="65"/>
                  <a:pt x="61" y="83"/>
                </a:cubicBezTo>
                <a:cubicBezTo>
                  <a:pt x="62" y="100"/>
                  <a:pt x="46" y="97"/>
                  <a:pt x="27" y="92"/>
                </a:cubicBezTo>
                <a:cubicBezTo>
                  <a:pt x="27" y="105"/>
                  <a:pt x="36" y="113"/>
                  <a:pt x="54" y="120"/>
                </a:cubicBezTo>
                <a:cubicBezTo>
                  <a:pt x="52" y="141"/>
                  <a:pt x="50" y="163"/>
                  <a:pt x="45" y="175"/>
                </a:cubicBezTo>
                <a:cubicBezTo>
                  <a:pt x="43" y="179"/>
                  <a:pt x="40" y="182"/>
                  <a:pt x="38" y="183"/>
                </a:cubicBezTo>
                <a:cubicBezTo>
                  <a:pt x="23" y="194"/>
                  <a:pt x="14" y="197"/>
                  <a:pt x="0" y="200"/>
                </a:cubicBezTo>
                <a:cubicBezTo>
                  <a:pt x="12" y="227"/>
                  <a:pt x="8" y="235"/>
                  <a:pt x="28" y="235"/>
                </a:cubicBezTo>
                <a:cubicBezTo>
                  <a:pt x="32" y="228"/>
                  <a:pt x="44" y="222"/>
                  <a:pt x="48" y="214"/>
                </a:cubicBezTo>
                <a:cubicBezTo>
                  <a:pt x="50" y="223"/>
                  <a:pt x="59" y="226"/>
                  <a:pt x="61" y="234"/>
                </a:cubicBezTo>
                <a:cubicBezTo>
                  <a:pt x="70" y="231"/>
                  <a:pt x="78" y="231"/>
                  <a:pt x="81" y="217"/>
                </a:cubicBezTo>
                <a:cubicBezTo>
                  <a:pt x="78" y="203"/>
                  <a:pt x="76" y="189"/>
                  <a:pt x="74" y="175"/>
                </a:cubicBezTo>
                <a:cubicBezTo>
                  <a:pt x="92" y="162"/>
                  <a:pt x="109" y="137"/>
                  <a:pt x="122" y="105"/>
                </a:cubicBezTo>
                <a:cubicBezTo>
                  <a:pt x="130" y="111"/>
                  <a:pt x="140" y="120"/>
                  <a:pt x="155" y="122"/>
                </a:cubicBezTo>
                <a:cubicBezTo>
                  <a:pt x="148" y="128"/>
                  <a:pt x="143" y="136"/>
                  <a:pt x="136" y="141"/>
                </a:cubicBezTo>
                <a:cubicBezTo>
                  <a:pt x="127" y="143"/>
                  <a:pt x="123" y="143"/>
                  <a:pt x="114" y="144"/>
                </a:cubicBezTo>
                <a:cubicBezTo>
                  <a:pt x="116" y="154"/>
                  <a:pt x="111" y="163"/>
                  <a:pt x="113" y="173"/>
                </a:cubicBezTo>
                <a:cubicBezTo>
                  <a:pt x="131" y="183"/>
                  <a:pt x="149" y="193"/>
                  <a:pt x="167" y="203"/>
                </a:cubicBezTo>
                <a:cubicBezTo>
                  <a:pt x="150" y="209"/>
                  <a:pt x="131" y="214"/>
                  <a:pt x="120" y="207"/>
                </a:cubicBezTo>
                <a:cubicBezTo>
                  <a:pt x="110" y="202"/>
                  <a:pt x="107" y="188"/>
                  <a:pt x="104" y="173"/>
                </a:cubicBezTo>
                <a:cubicBezTo>
                  <a:pt x="94" y="182"/>
                  <a:pt x="91" y="212"/>
                  <a:pt x="93" y="229"/>
                </a:cubicBezTo>
                <a:cubicBezTo>
                  <a:pt x="126" y="236"/>
                  <a:pt x="160" y="233"/>
                  <a:pt x="192" y="220"/>
                </a:cubicBezTo>
                <a:cubicBezTo>
                  <a:pt x="206" y="224"/>
                  <a:pt x="204" y="246"/>
                  <a:pt x="218" y="249"/>
                </a:cubicBezTo>
                <a:cubicBezTo>
                  <a:pt x="244" y="255"/>
                  <a:pt x="294" y="232"/>
                  <a:pt x="320" y="238"/>
                </a:cubicBezTo>
                <a:cubicBezTo>
                  <a:pt x="316" y="235"/>
                  <a:pt x="317" y="232"/>
                  <a:pt x="312" y="231"/>
                </a:cubicBezTo>
                <a:cubicBezTo>
                  <a:pt x="295" y="227"/>
                  <a:pt x="273" y="224"/>
                  <a:pt x="255" y="216"/>
                </a:cubicBezTo>
                <a:cubicBezTo>
                  <a:pt x="235" y="207"/>
                  <a:pt x="226" y="200"/>
                  <a:pt x="214" y="192"/>
                </a:cubicBezTo>
                <a:cubicBezTo>
                  <a:pt x="232" y="163"/>
                  <a:pt x="241" y="118"/>
                  <a:pt x="223" y="107"/>
                </a:cubicBezTo>
                <a:cubicBezTo>
                  <a:pt x="216" y="103"/>
                  <a:pt x="204" y="115"/>
                  <a:pt x="189" y="119"/>
                </a:cubicBezTo>
                <a:cubicBezTo>
                  <a:pt x="190" y="108"/>
                  <a:pt x="194" y="94"/>
                  <a:pt x="215" y="94"/>
                </a:cubicBezTo>
                <a:cubicBezTo>
                  <a:pt x="226" y="93"/>
                  <a:pt x="232" y="79"/>
                  <a:pt x="241" y="72"/>
                </a:cubicBezTo>
                <a:cubicBezTo>
                  <a:pt x="243" y="59"/>
                  <a:pt x="244" y="44"/>
                  <a:pt x="240" y="34"/>
                </a:cubicBezTo>
                <a:cubicBezTo>
                  <a:pt x="221" y="51"/>
                  <a:pt x="210" y="62"/>
                  <a:pt x="194" y="65"/>
                </a:cubicBezTo>
                <a:cubicBezTo>
                  <a:pt x="200" y="38"/>
                  <a:pt x="194" y="16"/>
                  <a:pt x="174" y="0"/>
                </a:cubicBezTo>
                <a:cubicBezTo>
                  <a:pt x="164" y="30"/>
                  <a:pt x="159" y="56"/>
                  <a:pt x="163" y="72"/>
                </a:cubicBezTo>
                <a:cubicBezTo>
                  <a:pt x="147" y="95"/>
                  <a:pt x="131" y="83"/>
                  <a:pt x="115" y="96"/>
                </a:cubicBezTo>
                <a:cubicBezTo>
                  <a:pt x="106" y="104"/>
                  <a:pt x="97" y="117"/>
                  <a:pt x="81" y="133"/>
                </a:cubicBezTo>
                <a:cubicBezTo>
                  <a:pt x="68" y="123"/>
                  <a:pt x="71" y="113"/>
                  <a:pt x="91" y="94"/>
                </a:cubicBezTo>
                <a:cubicBezTo>
                  <a:pt x="109" y="75"/>
                  <a:pt x="103" y="30"/>
                  <a:pt x="79" y="32"/>
                </a:cubicBezTo>
                <a:close/>
                <a:moveTo>
                  <a:pt x="169" y="162"/>
                </a:moveTo>
                <a:cubicBezTo>
                  <a:pt x="176" y="154"/>
                  <a:pt x="187" y="146"/>
                  <a:pt x="200" y="138"/>
                </a:cubicBezTo>
                <a:cubicBezTo>
                  <a:pt x="206" y="153"/>
                  <a:pt x="193" y="161"/>
                  <a:pt x="189" y="181"/>
                </a:cubicBezTo>
                <a:cubicBezTo>
                  <a:pt x="172" y="175"/>
                  <a:pt x="164" y="171"/>
                  <a:pt x="169" y="162"/>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6" name="ïṩ1ïdé">
            <a:extLst xmlns:a="http://schemas.openxmlformats.org/drawingml/2006/main">
              <a:ext uri="{FF2B5EF4-FFF2-40B4-BE49-F238E27FC236}">
                <a16:creationId xmlns:a16="http://schemas.microsoft.com/office/drawing/2014/main" id="{E50CD631-F237-444C-8970-66AE986F2225}"/>
              </a:ext>
            </a:extLst>
          </p:cNvPr>
          <p:cNvSpPr>
            <a:spLocks xmlns:a="http://schemas.openxmlformats.org/drawingml/2006/main" noGrp="1"/>
          </p:cNvSpPr>
          <p:nvPr/>
        </p:nvSpPr>
        <p:spPr>
          <a:xfrm xmlns:a="http://schemas.openxmlformats.org/drawingml/2006/main" rot="0" flipH="0" flipV="0">
            <a:off x="10218710" y="846945"/>
            <a:ext cx="1036444" cy="80709"/>
          </a:xfrm>
          <a:custGeom xmlns:a="http://schemas.openxmlformats.org/drawingml/2006/main">
            <a:gdLst>
              <a:gd name="T0" fmla="*/ 7 w 1484"/>
              <a:gd name="T1" fmla="*/ 52 h 115"/>
              <a:gd name="T2" fmla="*/ 74 w 1484"/>
              <a:gd name="T3" fmla="*/ 26 h 115"/>
              <a:gd name="T4" fmla="*/ 58 w 1484"/>
              <a:gd name="T5" fmla="*/ 89 h 115"/>
              <a:gd name="T6" fmla="*/ 121 w 1484"/>
              <a:gd name="T7" fmla="*/ 89 h 115"/>
              <a:gd name="T8" fmla="*/ 174 w 1484"/>
              <a:gd name="T9" fmla="*/ 85 h 115"/>
              <a:gd name="T10" fmla="*/ 170 w 1484"/>
              <a:gd name="T11" fmla="*/ 78 h 115"/>
              <a:gd name="T12" fmla="*/ 200 w 1484"/>
              <a:gd name="T13" fmla="*/ 26 h 115"/>
              <a:gd name="T14" fmla="*/ 223 w 1484"/>
              <a:gd name="T15" fmla="*/ 78 h 115"/>
              <a:gd name="T16" fmla="*/ 228 w 1484"/>
              <a:gd name="T17" fmla="*/ 24 h 115"/>
              <a:gd name="T18" fmla="*/ 238 w 1484"/>
              <a:gd name="T19" fmla="*/ 55 h 115"/>
              <a:gd name="T20" fmla="*/ 254 w 1484"/>
              <a:gd name="T21" fmla="*/ 14 h 115"/>
              <a:gd name="T22" fmla="*/ 274 w 1484"/>
              <a:gd name="T23" fmla="*/ 34 h 115"/>
              <a:gd name="T24" fmla="*/ 281 w 1484"/>
              <a:gd name="T25" fmla="*/ 79 h 115"/>
              <a:gd name="T26" fmla="*/ 306 w 1484"/>
              <a:gd name="T27" fmla="*/ 62 h 115"/>
              <a:gd name="T28" fmla="*/ 362 w 1484"/>
              <a:gd name="T29" fmla="*/ 24 h 115"/>
              <a:gd name="T30" fmla="*/ 372 w 1484"/>
              <a:gd name="T31" fmla="*/ 57 h 115"/>
              <a:gd name="T32" fmla="*/ 394 w 1484"/>
              <a:gd name="T33" fmla="*/ 2 h 115"/>
              <a:gd name="T34" fmla="*/ 391 w 1484"/>
              <a:gd name="T35" fmla="*/ 89 h 115"/>
              <a:gd name="T36" fmla="*/ 464 w 1484"/>
              <a:gd name="T37" fmla="*/ 89 h 115"/>
              <a:gd name="T38" fmla="*/ 492 w 1484"/>
              <a:gd name="T39" fmla="*/ 58 h 115"/>
              <a:gd name="T40" fmla="*/ 518 w 1484"/>
              <a:gd name="T41" fmla="*/ 51 h 115"/>
              <a:gd name="T42" fmla="*/ 541 w 1484"/>
              <a:gd name="T43" fmla="*/ 28 h 115"/>
              <a:gd name="T44" fmla="*/ 558 w 1484"/>
              <a:gd name="T45" fmla="*/ 66 h 115"/>
              <a:gd name="T46" fmla="*/ 580 w 1484"/>
              <a:gd name="T47" fmla="*/ 3 h 115"/>
              <a:gd name="T48" fmla="*/ 601 w 1484"/>
              <a:gd name="T49" fmla="*/ 25 h 115"/>
              <a:gd name="T50" fmla="*/ 619 w 1484"/>
              <a:gd name="T51" fmla="*/ 57 h 115"/>
              <a:gd name="T52" fmla="*/ 636 w 1484"/>
              <a:gd name="T53" fmla="*/ 81 h 115"/>
              <a:gd name="T54" fmla="*/ 685 w 1484"/>
              <a:gd name="T55" fmla="*/ 26 h 115"/>
              <a:gd name="T56" fmla="*/ 669 w 1484"/>
              <a:gd name="T57" fmla="*/ 89 h 115"/>
              <a:gd name="T58" fmla="*/ 746 w 1484"/>
              <a:gd name="T59" fmla="*/ 66 h 115"/>
              <a:gd name="T60" fmla="*/ 742 w 1484"/>
              <a:gd name="T61" fmla="*/ 36 h 115"/>
              <a:gd name="T62" fmla="*/ 794 w 1484"/>
              <a:gd name="T63" fmla="*/ 80 h 115"/>
              <a:gd name="T64" fmla="*/ 793 w 1484"/>
              <a:gd name="T65" fmla="*/ 0 h 115"/>
              <a:gd name="T66" fmla="*/ 810 w 1484"/>
              <a:gd name="T67" fmla="*/ 52 h 115"/>
              <a:gd name="T68" fmla="*/ 827 w 1484"/>
              <a:gd name="T69" fmla="*/ 82 h 115"/>
              <a:gd name="T70" fmla="*/ 831 w 1484"/>
              <a:gd name="T71" fmla="*/ 76 h 115"/>
              <a:gd name="T72" fmla="*/ 868 w 1484"/>
              <a:gd name="T73" fmla="*/ 89 h 115"/>
              <a:gd name="T74" fmla="*/ 911 w 1484"/>
              <a:gd name="T75" fmla="*/ 60 h 115"/>
              <a:gd name="T76" fmla="*/ 922 w 1484"/>
              <a:gd name="T77" fmla="*/ 89 h 115"/>
              <a:gd name="T78" fmla="*/ 944 w 1484"/>
              <a:gd name="T79" fmla="*/ 40 h 115"/>
              <a:gd name="T80" fmla="*/ 961 w 1484"/>
              <a:gd name="T81" fmla="*/ 57 h 115"/>
              <a:gd name="T82" fmla="*/ 977 w 1484"/>
              <a:gd name="T83" fmla="*/ 81 h 115"/>
              <a:gd name="T84" fmla="*/ 1031 w 1484"/>
              <a:gd name="T85" fmla="*/ 57 h 115"/>
              <a:gd name="T86" fmla="*/ 1005 w 1484"/>
              <a:gd name="T87" fmla="*/ 51 h 115"/>
              <a:gd name="T88" fmla="*/ 1077 w 1484"/>
              <a:gd name="T89" fmla="*/ 36 h 115"/>
              <a:gd name="T90" fmla="*/ 1085 w 1484"/>
              <a:gd name="T91" fmla="*/ 62 h 115"/>
              <a:gd name="T92" fmla="*/ 1074 w 1484"/>
              <a:gd name="T93" fmla="*/ 79 h 115"/>
              <a:gd name="T94" fmla="*/ 1126 w 1484"/>
              <a:gd name="T95" fmla="*/ 50 h 115"/>
              <a:gd name="T96" fmla="*/ 1162 w 1484"/>
              <a:gd name="T97" fmla="*/ 81 h 115"/>
              <a:gd name="T98" fmla="*/ 1167 w 1484"/>
              <a:gd name="T99" fmla="*/ 89 h 115"/>
              <a:gd name="T100" fmla="*/ 1207 w 1484"/>
              <a:gd name="T101" fmla="*/ 11 h 115"/>
              <a:gd name="T102" fmla="*/ 1234 w 1484"/>
              <a:gd name="T103" fmla="*/ 82 h 115"/>
              <a:gd name="T104" fmla="*/ 1236 w 1484"/>
              <a:gd name="T105" fmla="*/ 51 h 115"/>
              <a:gd name="T106" fmla="*/ 1273 w 1484"/>
              <a:gd name="T107" fmla="*/ 39 h 115"/>
              <a:gd name="T108" fmla="*/ 1293 w 1484"/>
              <a:gd name="T109" fmla="*/ 78 h 115"/>
              <a:gd name="T110" fmla="*/ 1333 w 1484"/>
              <a:gd name="T111" fmla="*/ 49 h 115"/>
              <a:gd name="T112" fmla="*/ 1368 w 1484"/>
              <a:gd name="T113" fmla="*/ 24 h 115"/>
              <a:gd name="T114" fmla="*/ 1358 w 1484"/>
              <a:gd name="T115" fmla="*/ 54 h 115"/>
              <a:gd name="T116" fmla="*/ 1391 w 1484"/>
              <a:gd name="T117" fmla="*/ 57 h 115"/>
              <a:gd name="T118" fmla="*/ 1440 w 1484"/>
              <a:gd name="T119" fmla="*/ 1 h 115"/>
              <a:gd name="T120" fmla="*/ 1451 w 1484"/>
              <a:gd name="T121" fmla="*/ 57 h 115"/>
            </a:gdLst>
            <a:rect l="0" t="0" r="r" b="b"/>
            <a:pathLst>
              <a:path w="1484" h="115">
                <a:moveTo>
                  <a:pt x="32" y="1"/>
                </a:moveTo>
                <a:cubicBezTo>
                  <a:pt x="38" y="1"/>
                  <a:pt x="38" y="1"/>
                  <a:pt x="38" y="1"/>
                </a:cubicBezTo>
                <a:cubicBezTo>
                  <a:pt x="38" y="52"/>
                  <a:pt x="38" y="52"/>
                  <a:pt x="38" y="52"/>
                </a:cubicBezTo>
                <a:cubicBezTo>
                  <a:pt x="38" y="61"/>
                  <a:pt x="38" y="68"/>
                  <a:pt x="36" y="73"/>
                </a:cubicBezTo>
                <a:cubicBezTo>
                  <a:pt x="35" y="78"/>
                  <a:pt x="33" y="82"/>
                  <a:pt x="31" y="86"/>
                </a:cubicBezTo>
                <a:cubicBezTo>
                  <a:pt x="28" y="89"/>
                  <a:pt x="24" y="90"/>
                  <a:pt x="19" y="90"/>
                </a:cubicBezTo>
                <a:cubicBezTo>
                  <a:pt x="15" y="90"/>
                  <a:pt x="11" y="89"/>
                  <a:pt x="8" y="86"/>
                </a:cubicBezTo>
                <a:cubicBezTo>
                  <a:pt x="5" y="83"/>
                  <a:pt x="3" y="79"/>
                  <a:pt x="2" y="74"/>
                </a:cubicBezTo>
                <a:cubicBezTo>
                  <a:pt x="1" y="68"/>
                  <a:pt x="0" y="61"/>
                  <a:pt x="0" y="52"/>
                </a:cubicBezTo>
                <a:cubicBezTo>
                  <a:pt x="0" y="1"/>
                  <a:pt x="0" y="1"/>
                  <a:pt x="0" y="1"/>
                </a:cubicBezTo>
                <a:cubicBezTo>
                  <a:pt x="7" y="1"/>
                  <a:pt x="7" y="1"/>
                  <a:pt x="7" y="1"/>
                </a:cubicBezTo>
                <a:cubicBezTo>
                  <a:pt x="7" y="52"/>
                  <a:pt x="7" y="52"/>
                  <a:pt x="7" y="52"/>
                </a:cubicBezTo>
                <a:cubicBezTo>
                  <a:pt x="7" y="59"/>
                  <a:pt x="7" y="65"/>
                  <a:pt x="8" y="69"/>
                </a:cubicBezTo>
                <a:cubicBezTo>
                  <a:pt x="8" y="72"/>
                  <a:pt x="10" y="75"/>
                  <a:pt x="12" y="77"/>
                </a:cubicBezTo>
                <a:cubicBezTo>
                  <a:pt x="14" y="79"/>
                  <a:pt x="16" y="80"/>
                  <a:pt x="19" y="80"/>
                </a:cubicBezTo>
                <a:cubicBezTo>
                  <a:pt x="23" y="80"/>
                  <a:pt x="27" y="78"/>
                  <a:pt x="29" y="74"/>
                </a:cubicBezTo>
                <a:cubicBezTo>
                  <a:pt x="31" y="70"/>
                  <a:pt x="32" y="63"/>
                  <a:pt x="32" y="52"/>
                </a:cubicBezTo>
                <a:cubicBezTo>
                  <a:pt x="32" y="1"/>
                  <a:pt x="32" y="1"/>
                  <a:pt x="32" y="1"/>
                </a:cubicBezTo>
                <a:close/>
                <a:moveTo>
                  <a:pt x="52" y="89"/>
                </a:moveTo>
                <a:cubicBezTo>
                  <a:pt x="52" y="25"/>
                  <a:pt x="52" y="25"/>
                  <a:pt x="52" y="25"/>
                </a:cubicBezTo>
                <a:cubicBezTo>
                  <a:pt x="57" y="25"/>
                  <a:pt x="57" y="25"/>
                  <a:pt x="57" y="25"/>
                </a:cubicBezTo>
                <a:cubicBezTo>
                  <a:pt x="57" y="34"/>
                  <a:pt x="57" y="34"/>
                  <a:pt x="57" y="34"/>
                </a:cubicBezTo>
                <a:cubicBezTo>
                  <a:pt x="60" y="27"/>
                  <a:pt x="63" y="24"/>
                  <a:pt x="68" y="24"/>
                </a:cubicBezTo>
                <a:cubicBezTo>
                  <a:pt x="70" y="24"/>
                  <a:pt x="72" y="25"/>
                  <a:pt x="74" y="26"/>
                </a:cubicBezTo>
                <a:cubicBezTo>
                  <a:pt x="76" y="27"/>
                  <a:pt x="77" y="29"/>
                  <a:pt x="78" y="31"/>
                </a:cubicBezTo>
                <a:cubicBezTo>
                  <a:pt x="79" y="34"/>
                  <a:pt x="79" y="36"/>
                  <a:pt x="80" y="39"/>
                </a:cubicBezTo>
                <a:cubicBezTo>
                  <a:pt x="80" y="41"/>
                  <a:pt x="80" y="45"/>
                  <a:pt x="80" y="50"/>
                </a:cubicBezTo>
                <a:cubicBezTo>
                  <a:pt x="80" y="89"/>
                  <a:pt x="80" y="89"/>
                  <a:pt x="80" y="89"/>
                </a:cubicBezTo>
                <a:cubicBezTo>
                  <a:pt x="74" y="89"/>
                  <a:pt x="74" y="89"/>
                  <a:pt x="74" y="89"/>
                </a:cubicBezTo>
                <a:cubicBezTo>
                  <a:pt x="74" y="50"/>
                  <a:pt x="74" y="50"/>
                  <a:pt x="74" y="50"/>
                </a:cubicBezTo>
                <a:cubicBezTo>
                  <a:pt x="74" y="46"/>
                  <a:pt x="74" y="43"/>
                  <a:pt x="74" y="40"/>
                </a:cubicBezTo>
                <a:cubicBezTo>
                  <a:pt x="73" y="38"/>
                  <a:pt x="72" y="36"/>
                  <a:pt x="71" y="35"/>
                </a:cubicBezTo>
                <a:cubicBezTo>
                  <a:pt x="70" y="34"/>
                  <a:pt x="69" y="33"/>
                  <a:pt x="67" y="33"/>
                </a:cubicBezTo>
                <a:cubicBezTo>
                  <a:pt x="64" y="33"/>
                  <a:pt x="62" y="35"/>
                  <a:pt x="60" y="38"/>
                </a:cubicBezTo>
                <a:cubicBezTo>
                  <a:pt x="59" y="40"/>
                  <a:pt x="58" y="46"/>
                  <a:pt x="58" y="54"/>
                </a:cubicBezTo>
                <a:cubicBezTo>
                  <a:pt x="58" y="89"/>
                  <a:pt x="58" y="89"/>
                  <a:pt x="58" y="89"/>
                </a:cubicBezTo>
                <a:cubicBezTo>
                  <a:pt x="52" y="89"/>
                  <a:pt x="52" y="89"/>
                  <a:pt x="52" y="89"/>
                </a:cubicBezTo>
                <a:close/>
                <a:moveTo>
                  <a:pt x="93" y="14"/>
                </a:moveTo>
                <a:cubicBezTo>
                  <a:pt x="93" y="1"/>
                  <a:pt x="93" y="1"/>
                  <a:pt x="93" y="1"/>
                </a:cubicBezTo>
                <a:cubicBezTo>
                  <a:pt x="99" y="1"/>
                  <a:pt x="99" y="1"/>
                  <a:pt x="99" y="1"/>
                </a:cubicBezTo>
                <a:cubicBezTo>
                  <a:pt x="99" y="14"/>
                  <a:pt x="99" y="14"/>
                  <a:pt x="99" y="14"/>
                </a:cubicBezTo>
                <a:cubicBezTo>
                  <a:pt x="93" y="14"/>
                  <a:pt x="93" y="14"/>
                  <a:pt x="93" y="14"/>
                </a:cubicBezTo>
                <a:close/>
                <a:moveTo>
                  <a:pt x="93" y="89"/>
                </a:moveTo>
                <a:cubicBezTo>
                  <a:pt x="93" y="25"/>
                  <a:pt x="93" y="25"/>
                  <a:pt x="93" y="25"/>
                </a:cubicBezTo>
                <a:cubicBezTo>
                  <a:pt x="99" y="25"/>
                  <a:pt x="99" y="25"/>
                  <a:pt x="99" y="25"/>
                </a:cubicBezTo>
                <a:cubicBezTo>
                  <a:pt x="99" y="89"/>
                  <a:pt x="99" y="89"/>
                  <a:pt x="99" y="89"/>
                </a:cubicBezTo>
                <a:cubicBezTo>
                  <a:pt x="93" y="89"/>
                  <a:pt x="93" y="89"/>
                  <a:pt x="93" y="89"/>
                </a:cubicBezTo>
                <a:close/>
                <a:moveTo>
                  <a:pt x="121" y="89"/>
                </a:moveTo>
                <a:cubicBezTo>
                  <a:pt x="108" y="25"/>
                  <a:pt x="108" y="25"/>
                  <a:pt x="108" y="25"/>
                </a:cubicBezTo>
                <a:cubicBezTo>
                  <a:pt x="114" y="25"/>
                  <a:pt x="114" y="25"/>
                  <a:pt x="114" y="25"/>
                </a:cubicBezTo>
                <a:cubicBezTo>
                  <a:pt x="122" y="63"/>
                  <a:pt x="122" y="63"/>
                  <a:pt x="122" y="63"/>
                </a:cubicBezTo>
                <a:cubicBezTo>
                  <a:pt x="123" y="68"/>
                  <a:pt x="123" y="72"/>
                  <a:pt x="124" y="76"/>
                </a:cubicBezTo>
                <a:cubicBezTo>
                  <a:pt x="125" y="73"/>
                  <a:pt x="125" y="69"/>
                  <a:pt x="126" y="64"/>
                </a:cubicBezTo>
                <a:cubicBezTo>
                  <a:pt x="134" y="25"/>
                  <a:pt x="134" y="25"/>
                  <a:pt x="134" y="25"/>
                </a:cubicBezTo>
                <a:cubicBezTo>
                  <a:pt x="140" y="25"/>
                  <a:pt x="140" y="25"/>
                  <a:pt x="140" y="25"/>
                </a:cubicBezTo>
                <a:cubicBezTo>
                  <a:pt x="127" y="89"/>
                  <a:pt x="127" y="89"/>
                  <a:pt x="127" y="89"/>
                </a:cubicBezTo>
                <a:cubicBezTo>
                  <a:pt x="121" y="89"/>
                  <a:pt x="121" y="89"/>
                  <a:pt x="121" y="89"/>
                </a:cubicBezTo>
                <a:close/>
                <a:moveTo>
                  <a:pt x="173" y="68"/>
                </a:moveTo>
                <a:cubicBezTo>
                  <a:pt x="179" y="70"/>
                  <a:pt x="179" y="70"/>
                  <a:pt x="179" y="70"/>
                </a:cubicBezTo>
                <a:cubicBezTo>
                  <a:pt x="178" y="76"/>
                  <a:pt x="177" y="81"/>
                  <a:pt x="174" y="85"/>
                </a:cubicBezTo>
                <a:cubicBezTo>
                  <a:pt x="171" y="89"/>
                  <a:pt x="168" y="90"/>
                  <a:pt x="164" y="90"/>
                </a:cubicBezTo>
                <a:cubicBezTo>
                  <a:pt x="159" y="90"/>
                  <a:pt x="155" y="87"/>
                  <a:pt x="152" y="82"/>
                </a:cubicBezTo>
                <a:cubicBezTo>
                  <a:pt x="149" y="76"/>
                  <a:pt x="147" y="68"/>
                  <a:pt x="147" y="58"/>
                </a:cubicBezTo>
                <a:cubicBezTo>
                  <a:pt x="147" y="47"/>
                  <a:pt x="149" y="39"/>
                  <a:pt x="152" y="33"/>
                </a:cubicBezTo>
                <a:cubicBezTo>
                  <a:pt x="155" y="27"/>
                  <a:pt x="159" y="24"/>
                  <a:pt x="164" y="24"/>
                </a:cubicBezTo>
                <a:cubicBezTo>
                  <a:pt x="168" y="24"/>
                  <a:pt x="172" y="27"/>
                  <a:pt x="175" y="33"/>
                </a:cubicBezTo>
                <a:cubicBezTo>
                  <a:pt x="178" y="38"/>
                  <a:pt x="180" y="46"/>
                  <a:pt x="180" y="57"/>
                </a:cubicBezTo>
                <a:cubicBezTo>
                  <a:pt x="180" y="58"/>
                  <a:pt x="180" y="59"/>
                  <a:pt x="179" y="60"/>
                </a:cubicBezTo>
                <a:cubicBezTo>
                  <a:pt x="153" y="60"/>
                  <a:pt x="153" y="60"/>
                  <a:pt x="153" y="60"/>
                </a:cubicBezTo>
                <a:cubicBezTo>
                  <a:pt x="154" y="67"/>
                  <a:pt x="155" y="72"/>
                  <a:pt x="157" y="76"/>
                </a:cubicBezTo>
                <a:cubicBezTo>
                  <a:pt x="159" y="80"/>
                  <a:pt x="161" y="81"/>
                  <a:pt x="164" y="81"/>
                </a:cubicBezTo>
                <a:cubicBezTo>
                  <a:pt x="166" y="81"/>
                  <a:pt x="168" y="80"/>
                  <a:pt x="170" y="78"/>
                </a:cubicBezTo>
                <a:cubicBezTo>
                  <a:pt x="171" y="76"/>
                  <a:pt x="172" y="73"/>
                  <a:pt x="173" y="68"/>
                </a:cubicBezTo>
                <a:close/>
                <a:moveTo>
                  <a:pt x="154" y="51"/>
                </a:moveTo>
                <a:cubicBezTo>
                  <a:pt x="173" y="51"/>
                  <a:pt x="173" y="51"/>
                  <a:pt x="173" y="51"/>
                </a:cubicBezTo>
                <a:cubicBezTo>
                  <a:pt x="173" y="46"/>
                  <a:pt x="172" y="42"/>
                  <a:pt x="171" y="39"/>
                </a:cubicBezTo>
                <a:cubicBezTo>
                  <a:pt x="169" y="35"/>
                  <a:pt x="167" y="33"/>
                  <a:pt x="164" y="33"/>
                </a:cubicBezTo>
                <a:cubicBezTo>
                  <a:pt x="161" y="33"/>
                  <a:pt x="159" y="34"/>
                  <a:pt x="157" y="38"/>
                </a:cubicBezTo>
                <a:cubicBezTo>
                  <a:pt x="155" y="41"/>
                  <a:pt x="154" y="45"/>
                  <a:pt x="154" y="51"/>
                </a:cubicBezTo>
                <a:close/>
                <a:moveTo>
                  <a:pt x="190" y="89"/>
                </a:moveTo>
                <a:cubicBezTo>
                  <a:pt x="190" y="25"/>
                  <a:pt x="190" y="25"/>
                  <a:pt x="190" y="25"/>
                </a:cubicBezTo>
                <a:cubicBezTo>
                  <a:pt x="196" y="25"/>
                  <a:pt x="196" y="25"/>
                  <a:pt x="196" y="25"/>
                </a:cubicBezTo>
                <a:cubicBezTo>
                  <a:pt x="196" y="35"/>
                  <a:pt x="196" y="35"/>
                  <a:pt x="196" y="35"/>
                </a:cubicBezTo>
                <a:cubicBezTo>
                  <a:pt x="197" y="30"/>
                  <a:pt x="198" y="27"/>
                  <a:pt x="200" y="26"/>
                </a:cubicBezTo>
                <a:cubicBezTo>
                  <a:pt x="201" y="25"/>
                  <a:pt x="202" y="24"/>
                  <a:pt x="203" y="24"/>
                </a:cubicBezTo>
                <a:cubicBezTo>
                  <a:pt x="205" y="24"/>
                  <a:pt x="207" y="25"/>
                  <a:pt x="209" y="27"/>
                </a:cubicBezTo>
                <a:cubicBezTo>
                  <a:pt x="207" y="37"/>
                  <a:pt x="207" y="37"/>
                  <a:pt x="207" y="37"/>
                </a:cubicBezTo>
                <a:cubicBezTo>
                  <a:pt x="206" y="36"/>
                  <a:pt x="205" y="35"/>
                  <a:pt x="203" y="35"/>
                </a:cubicBezTo>
                <a:cubicBezTo>
                  <a:pt x="202" y="35"/>
                  <a:pt x="201" y="36"/>
                  <a:pt x="200" y="37"/>
                </a:cubicBezTo>
                <a:cubicBezTo>
                  <a:pt x="199" y="39"/>
                  <a:pt x="198" y="41"/>
                  <a:pt x="197" y="43"/>
                </a:cubicBezTo>
                <a:cubicBezTo>
                  <a:pt x="197" y="47"/>
                  <a:pt x="196" y="51"/>
                  <a:pt x="196" y="56"/>
                </a:cubicBezTo>
                <a:cubicBezTo>
                  <a:pt x="196" y="89"/>
                  <a:pt x="196" y="89"/>
                  <a:pt x="196" y="89"/>
                </a:cubicBezTo>
                <a:cubicBezTo>
                  <a:pt x="190" y="89"/>
                  <a:pt x="190" y="89"/>
                  <a:pt x="190" y="89"/>
                </a:cubicBezTo>
                <a:close/>
                <a:moveTo>
                  <a:pt x="214" y="70"/>
                </a:moveTo>
                <a:cubicBezTo>
                  <a:pt x="220" y="68"/>
                  <a:pt x="220" y="68"/>
                  <a:pt x="220" y="68"/>
                </a:cubicBezTo>
                <a:cubicBezTo>
                  <a:pt x="221" y="73"/>
                  <a:pt x="221" y="76"/>
                  <a:pt x="223" y="78"/>
                </a:cubicBezTo>
                <a:cubicBezTo>
                  <a:pt x="224" y="80"/>
                  <a:pt x="227" y="81"/>
                  <a:pt x="229" y="81"/>
                </a:cubicBezTo>
                <a:cubicBezTo>
                  <a:pt x="232" y="81"/>
                  <a:pt x="234" y="80"/>
                  <a:pt x="235" y="78"/>
                </a:cubicBezTo>
                <a:cubicBezTo>
                  <a:pt x="237" y="76"/>
                  <a:pt x="237" y="74"/>
                  <a:pt x="237" y="71"/>
                </a:cubicBezTo>
                <a:cubicBezTo>
                  <a:pt x="237" y="69"/>
                  <a:pt x="237" y="67"/>
                  <a:pt x="236" y="66"/>
                </a:cubicBezTo>
                <a:cubicBezTo>
                  <a:pt x="235" y="65"/>
                  <a:pt x="233" y="63"/>
                  <a:pt x="230" y="62"/>
                </a:cubicBezTo>
                <a:cubicBezTo>
                  <a:pt x="225" y="60"/>
                  <a:pt x="222" y="58"/>
                  <a:pt x="220" y="57"/>
                </a:cubicBezTo>
                <a:cubicBezTo>
                  <a:pt x="219" y="55"/>
                  <a:pt x="218" y="53"/>
                  <a:pt x="217" y="51"/>
                </a:cubicBezTo>
                <a:cubicBezTo>
                  <a:pt x="216" y="48"/>
                  <a:pt x="215" y="45"/>
                  <a:pt x="215" y="42"/>
                </a:cubicBezTo>
                <a:cubicBezTo>
                  <a:pt x="215" y="39"/>
                  <a:pt x="216" y="37"/>
                  <a:pt x="216" y="34"/>
                </a:cubicBezTo>
                <a:cubicBezTo>
                  <a:pt x="217" y="32"/>
                  <a:pt x="218" y="30"/>
                  <a:pt x="219" y="28"/>
                </a:cubicBezTo>
                <a:cubicBezTo>
                  <a:pt x="220" y="27"/>
                  <a:pt x="222" y="26"/>
                  <a:pt x="223" y="25"/>
                </a:cubicBezTo>
                <a:cubicBezTo>
                  <a:pt x="225" y="24"/>
                  <a:pt x="226" y="24"/>
                  <a:pt x="228" y="24"/>
                </a:cubicBezTo>
                <a:cubicBezTo>
                  <a:pt x="231" y="24"/>
                  <a:pt x="233" y="25"/>
                  <a:pt x="235" y="26"/>
                </a:cubicBezTo>
                <a:cubicBezTo>
                  <a:pt x="238" y="27"/>
                  <a:pt x="239" y="29"/>
                  <a:pt x="240" y="32"/>
                </a:cubicBezTo>
                <a:cubicBezTo>
                  <a:pt x="241" y="34"/>
                  <a:pt x="242" y="38"/>
                  <a:pt x="242" y="42"/>
                </a:cubicBezTo>
                <a:cubicBezTo>
                  <a:pt x="236" y="43"/>
                  <a:pt x="236" y="43"/>
                  <a:pt x="236" y="43"/>
                </a:cubicBezTo>
                <a:cubicBezTo>
                  <a:pt x="236" y="40"/>
                  <a:pt x="235" y="37"/>
                  <a:pt x="234" y="35"/>
                </a:cubicBezTo>
                <a:cubicBezTo>
                  <a:pt x="233" y="34"/>
                  <a:pt x="231" y="33"/>
                  <a:pt x="229" y="33"/>
                </a:cubicBezTo>
                <a:cubicBezTo>
                  <a:pt x="226" y="33"/>
                  <a:pt x="224" y="34"/>
                  <a:pt x="223" y="35"/>
                </a:cubicBezTo>
                <a:cubicBezTo>
                  <a:pt x="222" y="37"/>
                  <a:pt x="221" y="39"/>
                  <a:pt x="221" y="41"/>
                </a:cubicBezTo>
                <a:cubicBezTo>
                  <a:pt x="221" y="42"/>
                  <a:pt x="221" y="44"/>
                  <a:pt x="222" y="45"/>
                </a:cubicBezTo>
                <a:cubicBezTo>
                  <a:pt x="222" y="46"/>
                  <a:pt x="223" y="47"/>
                  <a:pt x="224" y="48"/>
                </a:cubicBezTo>
                <a:cubicBezTo>
                  <a:pt x="225" y="48"/>
                  <a:pt x="226" y="49"/>
                  <a:pt x="229" y="50"/>
                </a:cubicBezTo>
                <a:cubicBezTo>
                  <a:pt x="234" y="52"/>
                  <a:pt x="236" y="54"/>
                  <a:pt x="238" y="55"/>
                </a:cubicBezTo>
                <a:cubicBezTo>
                  <a:pt x="240" y="57"/>
                  <a:pt x="241" y="59"/>
                  <a:pt x="242" y="61"/>
                </a:cubicBezTo>
                <a:cubicBezTo>
                  <a:pt x="243" y="63"/>
                  <a:pt x="243" y="67"/>
                  <a:pt x="243" y="70"/>
                </a:cubicBezTo>
                <a:cubicBezTo>
                  <a:pt x="243" y="74"/>
                  <a:pt x="243" y="77"/>
                  <a:pt x="242" y="80"/>
                </a:cubicBezTo>
                <a:cubicBezTo>
                  <a:pt x="241" y="84"/>
                  <a:pt x="239" y="86"/>
                  <a:pt x="237" y="88"/>
                </a:cubicBezTo>
                <a:cubicBezTo>
                  <a:pt x="235" y="89"/>
                  <a:pt x="232" y="90"/>
                  <a:pt x="229" y="90"/>
                </a:cubicBezTo>
                <a:cubicBezTo>
                  <a:pt x="225" y="90"/>
                  <a:pt x="221" y="89"/>
                  <a:pt x="219" y="85"/>
                </a:cubicBezTo>
                <a:cubicBezTo>
                  <a:pt x="217" y="82"/>
                  <a:pt x="215" y="77"/>
                  <a:pt x="214" y="70"/>
                </a:cubicBezTo>
                <a:close/>
                <a:moveTo>
                  <a:pt x="254" y="14"/>
                </a:moveTo>
                <a:cubicBezTo>
                  <a:pt x="254" y="1"/>
                  <a:pt x="254" y="1"/>
                  <a:pt x="254" y="1"/>
                </a:cubicBezTo>
                <a:cubicBezTo>
                  <a:pt x="260" y="1"/>
                  <a:pt x="260" y="1"/>
                  <a:pt x="260" y="1"/>
                </a:cubicBezTo>
                <a:cubicBezTo>
                  <a:pt x="260" y="14"/>
                  <a:pt x="260" y="14"/>
                  <a:pt x="260" y="14"/>
                </a:cubicBezTo>
                <a:cubicBezTo>
                  <a:pt x="254" y="14"/>
                  <a:pt x="254" y="14"/>
                  <a:pt x="254" y="14"/>
                </a:cubicBezTo>
                <a:close/>
                <a:moveTo>
                  <a:pt x="254" y="89"/>
                </a:moveTo>
                <a:cubicBezTo>
                  <a:pt x="254" y="25"/>
                  <a:pt x="254" y="25"/>
                  <a:pt x="254" y="25"/>
                </a:cubicBezTo>
                <a:cubicBezTo>
                  <a:pt x="260" y="25"/>
                  <a:pt x="260" y="25"/>
                  <a:pt x="260" y="25"/>
                </a:cubicBezTo>
                <a:cubicBezTo>
                  <a:pt x="260" y="89"/>
                  <a:pt x="260" y="89"/>
                  <a:pt x="260" y="89"/>
                </a:cubicBezTo>
                <a:cubicBezTo>
                  <a:pt x="254" y="89"/>
                  <a:pt x="254" y="89"/>
                  <a:pt x="254" y="89"/>
                </a:cubicBezTo>
                <a:close/>
                <a:moveTo>
                  <a:pt x="286" y="79"/>
                </a:moveTo>
                <a:cubicBezTo>
                  <a:pt x="287" y="89"/>
                  <a:pt x="287" y="89"/>
                  <a:pt x="287" y="89"/>
                </a:cubicBezTo>
                <a:cubicBezTo>
                  <a:pt x="285" y="89"/>
                  <a:pt x="284" y="90"/>
                  <a:pt x="282" y="90"/>
                </a:cubicBezTo>
                <a:cubicBezTo>
                  <a:pt x="280" y="90"/>
                  <a:pt x="278" y="89"/>
                  <a:pt x="277" y="88"/>
                </a:cubicBezTo>
                <a:cubicBezTo>
                  <a:pt x="276" y="87"/>
                  <a:pt x="275" y="85"/>
                  <a:pt x="275" y="83"/>
                </a:cubicBezTo>
                <a:cubicBezTo>
                  <a:pt x="274" y="81"/>
                  <a:pt x="274" y="77"/>
                  <a:pt x="274" y="70"/>
                </a:cubicBezTo>
                <a:cubicBezTo>
                  <a:pt x="274" y="34"/>
                  <a:pt x="274" y="34"/>
                  <a:pt x="274" y="34"/>
                </a:cubicBezTo>
                <a:cubicBezTo>
                  <a:pt x="270" y="34"/>
                  <a:pt x="270" y="34"/>
                  <a:pt x="270" y="34"/>
                </a:cubicBezTo>
                <a:cubicBezTo>
                  <a:pt x="270" y="25"/>
                  <a:pt x="270" y="25"/>
                  <a:pt x="270" y="25"/>
                </a:cubicBezTo>
                <a:cubicBezTo>
                  <a:pt x="274" y="25"/>
                  <a:pt x="274" y="25"/>
                  <a:pt x="274" y="25"/>
                </a:cubicBezTo>
                <a:cubicBezTo>
                  <a:pt x="274" y="10"/>
                  <a:pt x="274" y="10"/>
                  <a:pt x="274" y="10"/>
                </a:cubicBezTo>
                <a:cubicBezTo>
                  <a:pt x="280" y="3"/>
                  <a:pt x="280" y="3"/>
                  <a:pt x="280" y="3"/>
                </a:cubicBezTo>
                <a:cubicBezTo>
                  <a:pt x="280" y="25"/>
                  <a:pt x="280" y="25"/>
                  <a:pt x="280" y="25"/>
                </a:cubicBezTo>
                <a:cubicBezTo>
                  <a:pt x="286" y="25"/>
                  <a:pt x="286" y="25"/>
                  <a:pt x="286" y="25"/>
                </a:cubicBezTo>
                <a:cubicBezTo>
                  <a:pt x="286" y="34"/>
                  <a:pt x="286" y="34"/>
                  <a:pt x="286" y="34"/>
                </a:cubicBezTo>
                <a:cubicBezTo>
                  <a:pt x="280" y="34"/>
                  <a:pt x="280" y="34"/>
                  <a:pt x="280" y="34"/>
                </a:cubicBezTo>
                <a:cubicBezTo>
                  <a:pt x="280" y="71"/>
                  <a:pt x="280" y="71"/>
                  <a:pt x="280" y="71"/>
                </a:cubicBezTo>
                <a:cubicBezTo>
                  <a:pt x="280" y="74"/>
                  <a:pt x="280" y="76"/>
                  <a:pt x="280" y="77"/>
                </a:cubicBezTo>
                <a:cubicBezTo>
                  <a:pt x="280" y="78"/>
                  <a:pt x="281" y="78"/>
                  <a:pt x="281" y="79"/>
                </a:cubicBezTo>
                <a:cubicBezTo>
                  <a:pt x="282" y="79"/>
                  <a:pt x="282" y="80"/>
                  <a:pt x="283" y="80"/>
                </a:cubicBezTo>
                <a:cubicBezTo>
                  <a:pt x="284" y="80"/>
                  <a:pt x="285" y="80"/>
                  <a:pt x="286" y="79"/>
                </a:cubicBezTo>
                <a:close/>
                <a:moveTo>
                  <a:pt x="295" y="113"/>
                </a:moveTo>
                <a:cubicBezTo>
                  <a:pt x="295" y="103"/>
                  <a:pt x="295" y="103"/>
                  <a:pt x="295" y="103"/>
                </a:cubicBezTo>
                <a:cubicBezTo>
                  <a:pt x="296" y="104"/>
                  <a:pt x="297" y="104"/>
                  <a:pt x="298" y="104"/>
                </a:cubicBezTo>
                <a:cubicBezTo>
                  <a:pt x="299" y="104"/>
                  <a:pt x="300" y="104"/>
                  <a:pt x="301" y="103"/>
                </a:cubicBezTo>
                <a:cubicBezTo>
                  <a:pt x="302" y="102"/>
                  <a:pt x="303" y="101"/>
                  <a:pt x="303" y="100"/>
                </a:cubicBezTo>
                <a:cubicBezTo>
                  <a:pt x="303" y="99"/>
                  <a:pt x="304" y="96"/>
                  <a:pt x="305" y="92"/>
                </a:cubicBezTo>
                <a:cubicBezTo>
                  <a:pt x="305" y="91"/>
                  <a:pt x="305" y="90"/>
                  <a:pt x="305" y="89"/>
                </a:cubicBezTo>
                <a:cubicBezTo>
                  <a:pt x="292" y="25"/>
                  <a:pt x="292" y="25"/>
                  <a:pt x="292" y="25"/>
                </a:cubicBezTo>
                <a:cubicBezTo>
                  <a:pt x="298" y="25"/>
                  <a:pt x="298" y="25"/>
                  <a:pt x="298" y="25"/>
                </a:cubicBezTo>
                <a:cubicBezTo>
                  <a:pt x="306" y="62"/>
                  <a:pt x="306" y="62"/>
                  <a:pt x="306" y="62"/>
                </a:cubicBezTo>
                <a:cubicBezTo>
                  <a:pt x="307" y="67"/>
                  <a:pt x="308" y="72"/>
                  <a:pt x="308" y="77"/>
                </a:cubicBezTo>
                <a:cubicBezTo>
                  <a:pt x="309" y="72"/>
                  <a:pt x="310" y="67"/>
                  <a:pt x="311" y="62"/>
                </a:cubicBezTo>
                <a:cubicBezTo>
                  <a:pt x="318" y="25"/>
                  <a:pt x="318" y="25"/>
                  <a:pt x="318" y="25"/>
                </a:cubicBezTo>
                <a:cubicBezTo>
                  <a:pt x="324" y="25"/>
                  <a:pt x="324" y="25"/>
                  <a:pt x="324" y="25"/>
                </a:cubicBezTo>
                <a:cubicBezTo>
                  <a:pt x="311" y="90"/>
                  <a:pt x="311" y="90"/>
                  <a:pt x="311" y="90"/>
                </a:cubicBezTo>
                <a:cubicBezTo>
                  <a:pt x="309" y="97"/>
                  <a:pt x="308" y="102"/>
                  <a:pt x="308" y="104"/>
                </a:cubicBezTo>
                <a:cubicBezTo>
                  <a:pt x="306" y="108"/>
                  <a:pt x="305" y="111"/>
                  <a:pt x="304" y="112"/>
                </a:cubicBezTo>
                <a:cubicBezTo>
                  <a:pt x="303" y="114"/>
                  <a:pt x="301" y="115"/>
                  <a:pt x="299" y="115"/>
                </a:cubicBezTo>
                <a:cubicBezTo>
                  <a:pt x="298" y="115"/>
                  <a:pt x="297" y="114"/>
                  <a:pt x="295" y="113"/>
                </a:cubicBezTo>
                <a:close/>
                <a:moveTo>
                  <a:pt x="346" y="57"/>
                </a:moveTo>
                <a:cubicBezTo>
                  <a:pt x="346" y="45"/>
                  <a:pt x="348" y="37"/>
                  <a:pt x="351" y="31"/>
                </a:cubicBezTo>
                <a:cubicBezTo>
                  <a:pt x="354" y="26"/>
                  <a:pt x="358" y="24"/>
                  <a:pt x="362" y="24"/>
                </a:cubicBezTo>
                <a:cubicBezTo>
                  <a:pt x="367" y="24"/>
                  <a:pt x="371" y="27"/>
                  <a:pt x="374" y="32"/>
                </a:cubicBezTo>
                <a:cubicBezTo>
                  <a:pt x="377" y="38"/>
                  <a:pt x="379" y="46"/>
                  <a:pt x="379" y="56"/>
                </a:cubicBezTo>
                <a:cubicBezTo>
                  <a:pt x="379" y="64"/>
                  <a:pt x="378" y="71"/>
                  <a:pt x="376" y="76"/>
                </a:cubicBezTo>
                <a:cubicBezTo>
                  <a:pt x="375" y="80"/>
                  <a:pt x="373" y="84"/>
                  <a:pt x="371" y="86"/>
                </a:cubicBezTo>
                <a:cubicBezTo>
                  <a:pt x="368" y="89"/>
                  <a:pt x="365" y="90"/>
                  <a:pt x="362" y="90"/>
                </a:cubicBezTo>
                <a:cubicBezTo>
                  <a:pt x="357" y="90"/>
                  <a:pt x="353" y="87"/>
                  <a:pt x="350" y="82"/>
                </a:cubicBezTo>
                <a:cubicBezTo>
                  <a:pt x="347" y="76"/>
                  <a:pt x="346" y="68"/>
                  <a:pt x="346" y="57"/>
                </a:cubicBezTo>
                <a:close/>
                <a:moveTo>
                  <a:pt x="352" y="57"/>
                </a:moveTo>
                <a:cubicBezTo>
                  <a:pt x="352" y="65"/>
                  <a:pt x="353" y="71"/>
                  <a:pt x="355" y="75"/>
                </a:cubicBezTo>
                <a:cubicBezTo>
                  <a:pt x="357" y="79"/>
                  <a:pt x="359" y="81"/>
                  <a:pt x="362" y="81"/>
                </a:cubicBezTo>
                <a:cubicBezTo>
                  <a:pt x="365" y="81"/>
                  <a:pt x="368" y="79"/>
                  <a:pt x="369" y="75"/>
                </a:cubicBezTo>
                <a:cubicBezTo>
                  <a:pt x="371" y="71"/>
                  <a:pt x="372" y="65"/>
                  <a:pt x="372" y="57"/>
                </a:cubicBezTo>
                <a:cubicBezTo>
                  <a:pt x="372" y="49"/>
                  <a:pt x="371" y="43"/>
                  <a:pt x="369" y="39"/>
                </a:cubicBezTo>
                <a:cubicBezTo>
                  <a:pt x="368" y="35"/>
                  <a:pt x="365" y="33"/>
                  <a:pt x="362" y="33"/>
                </a:cubicBezTo>
                <a:cubicBezTo>
                  <a:pt x="359" y="33"/>
                  <a:pt x="357" y="35"/>
                  <a:pt x="355" y="39"/>
                </a:cubicBezTo>
                <a:cubicBezTo>
                  <a:pt x="353" y="43"/>
                  <a:pt x="352" y="49"/>
                  <a:pt x="352" y="57"/>
                </a:cubicBezTo>
                <a:close/>
                <a:moveTo>
                  <a:pt x="391" y="89"/>
                </a:moveTo>
                <a:cubicBezTo>
                  <a:pt x="391" y="34"/>
                  <a:pt x="391" y="34"/>
                  <a:pt x="391" y="34"/>
                </a:cubicBezTo>
                <a:cubicBezTo>
                  <a:pt x="385" y="34"/>
                  <a:pt x="385" y="34"/>
                  <a:pt x="385" y="34"/>
                </a:cubicBezTo>
                <a:cubicBezTo>
                  <a:pt x="385" y="25"/>
                  <a:pt x="385" y="25"/>
                  <a:pt x="385" y="25"/>
                </a:cubicBezTo>
                <a:cubicBezTo>
                  <a:pt x="391" y="25"/>
                  <a:pt x="391" y="25"/>
                  <a:pt x="391" y="25"/>
                </a:cubicBezTo>
                <a:cubicBezTo>
                  <a:pt x="391" y="19"/>
                  <a:pt x="391" y="19"/>
                  <a:pt x="391" y="19"/>
                </a:cubicBezTo>
                <a:cubicBezTo>
                  <a:pt x="391" y="14"/>
                  <a:pt x="391" y="11"/>
                  <a:pt x="391" y="9"/>
                </a:cubicBezTo>
                <a:cubicBezTo>
                  <a:pt x="392" y="6"/>
                  <a:pt x="393" y="4"/>
                  <a:pt x="394" y="2"/>
                </a:cubicBezTo>
                <a:cubicBezTo>
                  <a:pt x="396" y="0"/>
                  <a:pt x="398" y="0"/>
                  <a:pt x="400" y="0"/>
                </a:cubicBezTo>
                <a:cubicBezTo>
                  <a:pt x="402" y="0"/>
                  <a:pt x="404" y="0"/>
                  <a:pt x="406" y="1"/>
                </a:cubicBezTo>
                <a:cubicBezTo>
                  <a:pt x="405" y="10"/>
                  <a:pt x="405" y="10"/>
                  <a:pt x="405" y="10"/>
                </a:cubicBezTo>
                <a:cubicBezTo>
                  <a:pt x="404" y="10"/>
                  <a:pt x="403" y="9"/>
                  <a:pt x="401" y="9"/>
                </a:cubicBezTo>
                <a:cubicBezTo>
                  <a:pt x="400" y="9"/>
                  <a:pt x="398" y="10"/>
                  <a:pt x="398" y="12"/>
                </a:cubicBezTo>
                <a:cubicBezTo>
                  <a:pt x="397" y="13"/>
                  <a:pt x="397" y="16"/>
                  <a:pt x="397" y="19"/>
                </a:cubicBezTo>
                <a:cubicBezTo>
                  <a:pt x="397" y="25"/>
                  <a:pt x="397" y="25"/>
                  <a:pt x="397" y="25"/>
                </a:cubicBezTo>
                <a:cubicBezTo>
                  <a:pt x="403" y="25"/>
                  <a:pt x="403" y="25"/>
                  <a:pt x="403" y="25"/>
                </a:cubicBezTo>
                <a:cubicBezTo>
                  <a:pt x="403" y="34"/>
                  <a:pt x="403" y="34"/>
                  <a:pt x="403" y="34"/>
                </a:cubicBezTo>
                <a:cubicBezTo>
                  <a:pt x="397" y="34"/>
                  <a:pt x="397" y="34"/>
                  <a:pt x="397" y="34"/>
                </a:cubicBezTo>
                <a:cubicBezTo>
                  <a:pt x="397" y="89"/>
                  <a:pt x="397" y="89"/>
                  <a:pt x="397" y="89"/>
                </a:cubicBezTo>
                <a:cubicBezTo>
                  <a:pt x="391" y="89"/>
                  <a:pt x="391" y="89"/>
                  <a:pt x="391" y="89"/>
                </a:cubicBezTo>
                <a:close/>
                <a:moveTo>
                  <a:pt x="428" y="89"/>
                </a:moveTo>
                <a:cubicBezTo>
                  <a:pt x="428" y="1"/>
                  <a:pt x="428" y="1"/>
                  <a:pt x="428" y="1"/>
                </a:cubicBezTo>
                <a:cubicBezTo>
                  <a:pt x="463" y="1"/>
                  <a:pt x="463" y="1"/>
                  <a:pt x="463" y="1"/>
                </a:cubicBezTo>
                <a:cubicBezTo>
                  <a:pt x="463" y="11"/>
                  <a:pt x="463" y="11"/>
                  <a:pt x="463" y="11"/>
                </a:cubicBezTo>
                <a:cubicBezTo>
                  <a:pt x="434" y="11"/>
                  <a:pt x="434" y="11"/>
                  <a:pt x="434" y="11"/>
                </a:cubicBezTo>
                <a:cubicBezTo>
                  <a:pt x="434" y="38"/>
                  <a:pt x="434" y="38"/>
                  <a:pt x="434" y="38"/>
                </a:cubicBezTo>
                <a:cubicBezTo>
                  <a:pt x="461" y="38"/>
                  <a:pt x="461" y="38"/>
                  <a:pt x="461" y="38"/>
                </a:cubicBezTo>
                <a:cubicBezTo>
                  <a:pt x="461" y="49"/>
                  <a:pt x="461" y="49"/>
                  <a:pt x="461" y="49"/>
                </a:cubicBezTo>
                <a:cubicBezTo>
                  <a:pt x="434" y="49"/>
                  <a:pt x="434" y="49"/>
                  <a:pt x="434" y="49"/>
                </a:cubicBezTo>
                <a:cubicBezTo>
                  <a:pt x="434" y="79"/>
                  <a:pt x="434" y="79"/>
                  <a:pt x="434" y="79"/>
                </a:cubicBezTo>
                <a:cubicBezTo>
                  <a:pt x="464" y="79"/>
                  <a:pt x="464" y="79"/>
                  <a:pt x="464" y="79"/>
                </a:cubicBezTo>
                <a:cubicBezTo>
                  <a:pt x="464" y="89"/>
                  <a:pt x="464" y="89"/>
                  <a:pt x="464" y="89"/>
                </a:cubicBezTo>
                <a:cubicBezTo>
                  <a:pt x="428" y="89"/>
                  <a:pt x="428" y="89"/>
                  <a:pt x="428" y="89"/>
                </a:cubicBezTo>
                <a:close/>
                <a:moveTo>
                  <a:pt x="475" y="89"/>
                </a:moveTo>
                <a:cubicBezTo>
                  <a:pt x="475" y="1"/>
                  <a:pt x="475" y="1"/>
                  <a:pt x="475" y="1"/>
                </a:cubicBezTo>
                <a:cubicBezTo>
                  <a:pt x="481" y="1"/>
                  <a:pt x="481" y="1"/>
                  <a:pt x="481" y="1"/>
                </a:cubicBezTo>
                <a:cubicBezTo>
                  <a:pt x="481" y="89"/>
                  <a:pt x="481" y="89"/>
                  <a:pt x="481" y="89"/>
                </a:cubicBezTo>
                <a:cubicBezTo>
                  <a:pt x="475" y="89"/>
                  <a:pt x="475" y="89"/>
                  <a:pt x="475" y="89"/>
                </a:cubicBezTo>
                <a:close/>
                <a:moveTo>
                  <a:pt x="518" y="68"/>
                </a:moveTo>
                <a:cubicBezTo>
                  <a:pt x="524" y="70"/>
                  <a:pt x="524" y="70"/>
                  <a:pt x="524" y="70"/>
                </a:cubicBezTo>
                <a:cubicBezTo>
                  <a:pt x="523" y="76"/>
                  <a:pt x="522" y="81"/>
                  <a:pt x="519" y="85"/>
                </a:cubicBezTo>
                <a:cubicBezTo>
                  <a:pt x="516" y="89"/>
                  <a:pt x="513" y="90"/>
                  <a:pt x="509" y="90"/>
                </a:cubicBezTo>
                <a:cubicBezTo>
                  <a:pt x="504" y="90"/>
                  <a:pt x="500" y="87"/>
                  <a:pt x="497" y="82"/>
                </a:cubicBezTo>
                <a:cubicBezTo>
                  <a:pt x="494" y="76"/>
                  <a:pt x="492" y="68"/>
                  <a:pt x="492" y="58"/>
                </a:cubicBezTo>
                <a:cubicBezTo>
                  <a:pt x="492" y="47"/>
                  <a:pt x="494" y="39"/>
                  <a:pt x="497" y="33"/>
                </a:cubicBezTo>
                <a:cubicBezTo>
                  <a:pt x="500" y="27"/>
                  <a:pt x="504" y="24"/>
                  <a:pt x="509" y="24"/>
                </a:cubicBezTo>
                <a:cubicBezTo>
                  <a:pt x="513" y="24"/>
                  <a:pt x="517" y="27"/>
                  <a:pt x="520" y="33"/>
                </a:cubicBezTo>
                <a:cubicBezTo>
                  <a:pt x="523" y="38"/>
                  <a:pt x="524" y="46"/>
                  <a:pt x="524" y="57"/>
                </a:cubicBezTo>
                <a:cubicBezTo>
                  <a:pt x="524" y="58"/>
                  <a:pt x="524" y="59"/>
                  <a:pt x="524" y="60"/>
                </a:cubicBezTo>
                <a:cubicBezTo>
                  <a:pt x="498" y="60"/>
                  <a:pt x="498" y="60"/>
                  <a:pt x="498" y="60"/>
                </a:cubicBezTo>
                <a:cubicBezTo>
                  <a:pt x="499" y="67"/>
                  <a:pt x="500" y="72"/>
                  <a:pt x="502" y="76"/>
                </a:cubicBezTo>
                <a:cubicBezTo>
                  <a:pt x="504" y="80"/>
                  <a:pt x="506" y="81"/>
                  <a:pt x="509" y="81"/>
                </a:cubicBezTo>
                <a:cubicBezTo>
                  <a:pt x="511" y="81"/>
                  <a:pt x="513" y="80"/>
                  <a:pt x="514" y="78"/>
                </a:cubicBezTo>
                <a:cubicBezTo>
                  <a:pt x="516" y="76"/>
                  <a:pt x="517" y="73"/>
                  <a:pt x="518" y="68"/>
                </a:cubicBezTo>
                <a:close/>
                <a:moveTo>
                  <a:pt x="499" y="51"/>
                </a:moveTo>
                <a:cubicBezTo>
                  <a:pt x="518" y="51"/>
                  <a:pt x="518" y="51"/>
                  <a:pt x="518" y="51"/>
                </a:cubicBezTo>
                <a:cubicBezTo>
                  <a:pt x="518" y="46"/>
                  <a:pt x="517" y="42"/>
                  <a:pt x="516" y="39"/>
                </a:cubicBezTo>
                <a:cubicBezTo>
                  <a:pt x="514" y="35"/>
                  <a:pt x="512" y="33"/>
                  <a:pt x="509" y="33"/>
                </a:cubicBezTo>
                <a:cubicBezTo>
                  <a:pt x="506" y="33"/>
                  <a:pt x="504" y="34"/>
                  <a:pt x="502" y="38"/>
                </a:cubicBezTo>
                <a:cubicBezTo>
                  <a:pt x="500" y="41"/>
                  <a:pt x="499" y="45"/>
                  <a:pt x="499" y="51"/>
                </a:cubicBezTo>
                <a:close/>
                <a:moveTo>
                  <a:pt x="558" y="66"/>
                </a:moveTo>
                <a:cubicBezTo>
                  <a:pt x="564" y="67"/>
                  <a:pt x="564" y="67"/>
                  <a:pt x="564" y="67"/>
                </a:cubicBezTo>
                <a:cubicBezTo>
                  <a:pt x="564" y="74"/>
                  <a:pt x="562" y="80"/>
                  <a:pt x="559" y="84"/>
                </a:cubicBezTo>
                <a:cubicBezTo>
                  <a:pt x="557" y="88"/>
                  <a:pt x="553" y="90"/>
                  <a:pt x="550" y="90"/>
                </a:cubicBezTo>
                <a:cubicBezTo>
                  <a:pt x="545" y="90"/>
                  <a:pt x="541" y="87"/>
                  <a:pt x="538" y="82"/>
                </a:cubicBezTo>
                <a:cubicBezTo>
                  <a:pt x="535" y="76"/>
                  <a:pt x="534" y="68"/>
                  <a:pt x="534" y="57"/>
                </a:cubicBezTo>
                <a:cubicBezTo>
                  <a:pt x="534" y="50"/>
                  <a:pt x="534" y="44"/>
                  <a:pt x="536" y="39"/>
                </a:cubicBezTo>
                <a:cubicBezTo>
                  <a:pt x="537" y="34"/>
                  <a:pt x="539" y="30"/>
                  <a:pt x="541" y="28"/>
                </a:cubicBezTo>
                <a:cubicBezTo>
                  <a:pt x="544" y="25"/>
                  <a:pt x="547" y="24"/>
                  <a:pt x="550" y="24"/>
                </a:cubicBezTo>
                <a:cubicBezTo>
                  <a:pt x="553" y="24"/>
                  <a:pt x="557" y="26"/>
                  <a:pt x="559" y="29"/>
                </a:cubicBezTo>
                <a:cubicBezTo>
                  <a:pt x="561" y="33"/>
                  <a:pt x="563" y="38"/>
                  <a:pt x="564" y="44"/>
                </a:cubicBezTo>
                <a:cubicBezTo>
                  <a:pt x="558" y="46"/>
                  <a:pt x="558" y="46"/>
                  <a:pt x="558" y="46"/>
                </a:cubicBezTo>
                <a:cubicBezTo>
                  <a:pt x="557" y="41"/>
                  <a:pt x="556" y="38"/>
                  <a:pt x="555" y="36"/>
                </a:cubicBezTo>
                <a:cubicBezTo>
                  <a:pt x="554" y="34"/>
                  <a:pt x="552" y="33"/>
                  <a:pt x="550" y="33"/>
                </a:cubicBezTo>
                <a:cubicBezTo>
                  <a:pt x="547" y="33"/>
                  <a:pt x="544" y="35"/>
                  <a:pt x="543" y="39"/>
                </a:cubicBezTo>
                <a:cubicBezTo>
                  <a:pt x="541" y="42"/>
                  <a:pt x="540" y="49"/>
                  <a:pt x="540" y="57"/>
                </a:cubicBezTo>
                <a:cubicBezTo>
                  <a:pt x="540" y="66"/>
                  <a:pt x="541" y="72"/>
                  <a:pt x="542" y="76"/>
                </a:cubicBezTo>
                <a:cubicBezTo>
                  <a:pt x="544" y="80"/>
                  <a:pt x="547" y="81"/>
                  <a:pt x="550" y="81"/>
                </a:cubicBezTo>
                <a:cubicBezTo>
                  <a:pt x="552" y="81"/>
                  <a:pt x="554" y="80"/>
                  <a:pt x="555" y="78"/>
                </a:cubicBezTo>
                <a:cubicBezTo>
                  <a:pt x="557" y="75"/>
                  <a:pt x="558" y="71"/>
                  <a:pt x="558" y="66"/>
                </a:cubicBezTo>
                <a:close/>
                <a:moveTo>
                  <a:pt x="586" y="79"/>
                </a:moveTo>
                <a:cubicBezTo>
                  <a:pt x="587" y="89"/>
                  <a:pt x="587" y="89"/>
                  <a:pt x="587" y="89"/>
                </a:cubicBezTo>
                <a:cubicBezTo>
                  <a:pt x="585" y="89"/>
                  <a:pt x="584" y="90"/>
                  <a:pt x="582" y="90"/>
                </a:cubicBezTo>
                <a:cubicBezTo>
                  <a:pt x="580" y="90"/>
                  <a:pt x="578" y="89"/>
                  <a:pt x="577" y="88"/>
                </a:cubicBezTo>
                <a:cubicBezTo>
                  <a:pt x="576" y="87"/>
                  <a:pt x="575" y="85"/>
                  <a:pt x="575" y="83"/>
                </a:cubicBezTo>
                <a:cubicBezTo>
                  <a:pt x="574" y="81"/>
                  <a:pt x="574" y="77"/>
                  <a:pt x="574" y="70"/>
                </a:cubicBezTo>
                <a:cubicBezTo>
                  <a:pt x="574" y="34"/>
                  <a:pt x="574" y="34"/>
                  <a:pt x="574" y="34"/>
                </a:cubicBezTo>
                <a:cubicBezTo>
                  <a:pt x="570" y="34"/>
                  <a:pt x="570" y="34"/>
                  <a:pt x="570" y="34"/>
                </a:cubicBezTo>
                <a:cubicBezTo>
                  <a:pt x="570" y="25"/>
                  <a:pt x="570" y="25"/>
                  <a:pt x="570" y="25"/>
                </a:cubicBezTo>
                <a:cubicBezTo>
                  <a:pt x="574" y="25"/>
                  <a:pt x="574" y="25"/>
                  <a:pt x="574" y="25"/>
                </a:cubicBezTo>
                <a:cubicBezTo>
                  <a:pt x="574" y="10"/>
                  <a:pt x="574" y="10"/>
                  <a:pt x="574" y="10"/>
                </a:cubicBezTo>
                <a:cubicBezTo>
                  <a:pt x="580" y="3"/>
                  <a:pt x="580" y="3"/>
                  <a:pt x="580" y="3"/>
                </a:cubicBezTo>
                <a:cubicBezTo>
                  <a:pt x="580" y="25"/>
                  <a:pt x="580" y="25"/>
                  <a:pt x="580" y="25"/>
                </a:cubicBezTo>
                <a:cubicBezTo>
                  <a:pt x="586" y="25"/>
                  <a:pt x="586" y="25"/>
                  <a:pt x="586" y="25"/>
                </a:cubicBezTo>
                <a:cubicBezTo>
                  <a:pt x="586" y="34"/>
                  <a:pt x="586" y="34"/>
                  <a:pt x="586" y="34"/>
                </a:cubicBezTo>
                <a:cubicBezTo>
                  <a:pt x="580" y="34"/>
                  <a:pt x="580" y="34"/>
                  <a:pt x="580" y="34"/>
                </a:cubicBezTo>
                <a:cubicBezTo>
                  <a:pt x="580" y="71"/>
                  <a:pt x="580" y="71"/>
                  <a:pt x="580" y="71"/>
                </a:cubicBezTo>
                <a:cubicBezTo>
                  <a:pt x="580" y="74"/>
                  <a:pt x="580" y="76"/>
                  <a:pt x="580" y="77"/>
                </a:cubicBezTo>
                <a:cubicBezTo>
                  <a:pt x="580" y="78"/>
                  <a:pt x="581" y="78"/>
                  <a:pt x="581" y="79"/>
                </a:cubicBezTo>
                <a:cubicBezTo>
                  <a:pt x="582" y="79"/>
                  <a:pt x="582" y="80"/>
                  <a:pt x="583" y="80"/>
                </a:cubicBezTo>
                <a:cubicBezTo>
                  <a:pt x="584" y="80"/>
                  <a:pt x="585" y="80"/>
                  <a:pt x="586" y="79"/>
                </a:cubicBezTo>
                <a:close/>
                <a:moveTo>
                  <a:pt x="595" y="89"/>
                </a:moveTo>
                <a:cubicBezTo>
                  <a:pt x="595" y="25"/>
                  <a:pt x="595" y="25"/>
                  <a:pt x="595" y="25"/>
                </a:cubicBezTo>
                <a:cubicBezTo>
                  <a:pt x="601" y="25"/>
                  <a:pt x="601" y="25"/>
                  <a:pt x="601" y="25"/>
                </a:cubicBezTo>
                <a:cubicBezTo>
                  <a:pt x="601" y="35"/>
                  <a:pt x="601" y="35"/>
                  <a:pt x="601" y="35"/>
                </a:cubicBezTo>
                <a:cubicBezTo>
                  <a:pt x="602" y="30"/>
                  <a:pt x="603" y="27"/>
                  <a:pt x="605" y="26"/>
                </a:cubicBezTo>
                <a:cubicBezTo>
                  <a:pt x="606" y="25"/>
                  <a:pt x="607" y="24"/>
                  <a:pt x="608" y="24"/>
                </a:cubicBezTo>
                <a:cubicBezTo>
                  <a:pt x="610" y="24"/>
                  <a:pt x="612" y="25"/>
                  <a:pt x="614" y="27"/>
                </a:cubicBezTo>
                <a:cubicBezTo>
                  <a:pt x="612" y="37"/>
                  <a:pt x="612" y="37"/>
                  <a:pt x="612" y="37"/>
                </a:cubicBezTo>
                <a:cubicBezTo>
                  <a:pt x="611" y="36"/>
                  <a:pt x="609" y="35"/>
                  <a:pt x="608" y="35"/>
                </a:cubicBezTo>
                <a:cubicBezTo>
                  <a:pt x="607" y="35"/>
                  <a:pt x="606" y="36"/>
                  <a:pt x="605" y="37"/>
                </a:cubicBezTo>
                <a:cubicBezTo>
                  <a:pt x="603" y="39"/>
                  <a:pt x="603" y="41"/>
                  <a:pt x="602" y="43"/>
                </a:cubicBezTo>
                <a:cubicBezTo>
                  <a:pt x="602" y="47"/>
                  <a:pt x="601" y="51"/>
                  <a:pt x="601" y="56"/>
                </a:cubicBezTo>
                <a:cubicBezTo>
                  <a:pt x="601" y="89"/>
                  <a:pt x="601" y="89"/>
                  <a:pt x="601" y="89"/>
                </a:cubicBezTo>
                <a:cubicBezTo>
                  <a:pt x="595" y="89"/>
                  <a:pt x="595" y="89"/>
                  <a:pt x="595" y="89"/>
                </a:cubicBezTo>
                <a:close/>
                <a:moveTo>
                  <a:pt x="619" y="57"/>
                </a:moveTo>
                <a:cubicBezTo>
                  <a:pt x="619" y="45"/>
                  <a:pt x="621" y="37"/>
                  <a:pt x="625" y="31"/>
                </a:cubicBezTo>
                <a:cubicBezTo>
                  <a:pt x="628" y="26"/>
                  <a:pt x="632" y="24"/>
                  <a:pt x="636" y="24"/>
                </a:cubicBezTo>
                <a:cubicBezTo>
                  <a:pt x="641" y="24"/>
                  <a:pt x="645" y="27"/>
                  <a:pt x="648" y="32"/>
                </a:cubicBezTo>
                <a:cubicBezTo>
                  <a:pt x="651" y="38"/>
                  <a:pt x="652" y="46"/>
                  <a:pt x="652" y="56"/>
                </a:cubicBezTo>
                <a:cubicBezTo>
                  <a:pt x="652" y="64"/>
                  <a:pt x="652" y="71"/>
                  <a:pt x="650" y="76"/>
                </a:cubicBezTo>
                <a:cubicBezTo>
                  <a:pt x="649" y="80"/>
                  <a:pt x="647" y="84"/>
                  <a:pt x="644" y="86"/>
                </a:cubicBezTo>
                <a:cubicBezTo>
                  <a:pt x="642" y="89"/>
                  <a:pt x="639" y="90"/>
                  <a:pt x="636" y="90"/>
                </a:cubicBezTo>
                <a:cubicBezTo>
                  <a:pt x="631" y="90"/>
                  <a:pt x="627" y="87"/>
                  <a:pt x="624" y="82"/>
                </a:cubicBezTo>
                <a:cubicBezTo>
                  <a:pt x="621" y="76"/>
                  <a:pt x="619" y="68"/>
                  <a:pt x="619" y="57"/>
                </a:cubicBezTo>
                <a:close/>
                <a:moveTo>
                  <a:pt x="626" y="57"/>
                </a:moveTo>
                <a:cubicBezTo>
                  <a:pt x="626" y="65"/>
                  <a:pt x="627" y="71"/>
                  <a:pt x="628" y="75"/>
                </a:cubicBezTo>
                <a:cubicBezTo>
                  <a:pt x="630" y="79"/>
                  <a:pt x="633" y="81"/>
                  <a:pt x="636" y="81"/>
                </a:cubicBezTo>
                <a:cubicBezTo>
                  <a:pt x="639" y="81"/>
                  <a:pt x="641" y="79"/>
                  <a:pt x="643" y="75"/>
                </a:cubicBezTo>
                <a:cubicBezTo>
                  <a:pt x="645" y="71"/>
                  <a:pt x="646" y="65"/>
                  <a:pt x="646" y="57"/>
                </a:cubicBezTo>
                <a:cubicBezTo>
                  <a:pt x="646" y="49"/>
                  <a:pt x="645" y="43"/>
                  <a:pt x="643" y="39"/>
                </a:cubicBezTo>
                <a:cubicBezTo>
                  <a:pt x="641" y="35"/>
                  <a:pt x="639" y="33"/>
                  <a:pt x="636" y="33"/>
                </a:cubicBezTo>
                <a:cubicBezTo>
                  <a:pt x="633" y="33"/>
                  <a:pt x="630" y="35"/>
                  <a:pt x="628" y="39"/>
                </a:cubicBezTo>
                <a:cubicBezTo>
                  <a:pt x="627" y="43"/>
                  <a:pt x="626" y="49"/>
                  <a:pt x="626" y="57"/>
                </a:cubicBezTo>
                <a:close/>
                <a:moveTo>
                  <a:pt x="663" y="89"/>
                </a:moveTo>
                <a:cubicBezTo>
                  <a:pt x="663" y="25"/>
                  <a:pt x="663" y="25"/>
                  <a:pt x="663" y="25"/>
                </a:cubicBezTo>
                <a:cubicBezTo>
                  <a:pt x="668" y="25"/>
                  <a:pt x="668" y="25"/>
                  <a:pt x="668" y="25"/>
                </a:cubicBezTo>
                <a:cubicBezTo>
                  <a:pt x="668" y="34"/>
                  <a:pt x="668" y="34"/>
                  <a:pt x="668" y="34"/>
                </a:cubicBezTo>
                <a:cubicBezTo>
                  <a:pt x="671" y="27"/>
                  <a:pt x="675" y="24"/>
                  <a:pt x="679" y="24"/>
                </a:cubicBezTo>
                <a:cubicBezTo>
                  <a:pt x="682" y="24"/>
                  <a:pt x="683" y="25"/>
                  <a:pt x="685" y="26"/>
                </a:cubicBezTo>
                <a:cubicBezTo>
                  <a:pt x="687" y="27"/>
                  <a:pt x="688" y="29"/>
                  <a:pt x="689" y="31"/>
                </a:cubicBezTo>
                <a:cubicBezTo>
                  <a:pt x="690" y="34"/>
                  <a:pt x="691" y="36"/>
                  <a:pt x="691" y="39"/>
                </a:cubicBezTo>
                <a:cubicBezTo>
                  <a:pt x="691" y="41"/>
                  <a:pt x="691" y="45"/>
                  <a:pt x="691" y="50"/>
                </a:cubicBezTo>
                <a:cubicBezTo>
                  <a:pt x="691" y="89"/>
                  <a:pt x="691" y="89"/>
                  <a:pt x="691" y="89"/>
                </a:cubicBezTo>
                <a:cubicBezTo>
                  <a:pt x="685" y="89"/>
                  <a:pt x="685" y="89"/>
                  <a:pt x="685" y="89"/>
                </a:cubicBezTo>
                <a:cubicBezTo>
                  <a:pt x="685" y="50"/>
                  <a:pt x="685" y="50"/>
                  <a:pt x="685" y="50"/>
                </a:cubicBezTo>
                <a:cubicBezTo>
                  <a:pt x="685" y="46"/>
                  <a:pt x="685" y="43"/>
                  <a:pt x="685" y="40"/>
                </a:cubicBezTo>
                <a:cubicBezTo>
                  <a:pt x="684" y="38"/>
                  <a:pt x="683" y="36"/>
                  <a:pt x="682" y="35"/>
                </a:cubicBezTo>
                <a:cubicBezTo>
                  <a:pt x="681" y="34"/>
                  <a:pt x="680" y="33"/>
                  <a:pt x="678" y="33"/>
                </a:cubicBezTo>
                <a:cubicBezTo>
                  <a:pt x="676" y="33"/>
                  <a:pt x="673" y="35"/>
                  <a:pt x="672" y="38"/>
                </a:cubicBezTo>
                <a:cubicBezTo>
                  <a:pt x="670" y="40"/>
                  <a:pt x="669" y="46"/>
                  <a:pt x="669" y="54"/>
                </a:cubicBezTo>
                <a:cubicBezTo>
                  <a:pt x="669" y="89"/>
                  <a:pt x="669" y="89"/>
                  <a:pt x="669" y="89"/>
                </a:cubicBezTo>
                <a:cubicBezTo>
                  <a:pt x="663" y="89"/>
                  <a:pt x="663" y="89"/>
                  <a:pt x="663" y="89"/>
                </a:cubicBezTo>
                <a:close/>
                <a:moveTo>
                  <a:pt x="704" y="14"/>
                </a:moveTo>
                <a:cubicBezTo>
                  <a:pt x="704" y="1"/>
                  <a:pt x="704" y="1"/>
                  <a:pt x="704" y="1"/>
                </a:cubicBezTo>
                <a:cubicBezTo>
                  <a:pt x="710" y="1"/>
                  <a:pt x="710" y="1"/>
                  <a:pt x="710" y="1"/>
                </a:cubicBezTo>
                <a:cubicBezTo>
                  <a:pt x="710" y="14"/>
                  <a:pt x="710" y="14"/>
                  <a:pt x="710" y="14"/>
                </a:cubicBezTo>
                <a:cubicBezTo>
                  <a:pt x="704" y="14"/>
                  <a:pt x="704" y="14"/>
                  <a:pt x="704" y="14"/>
                </a:cubicBezTo>
                <a:close/>
                <a:moveTo>
                  <a:pt x="704" y="89"/>
                </a:moveTo>
                <a:cubicBezTo>
                  <a:pt x="704" y="25"/>
                  <a:pt x="704" y="25"/>
                  <a:pt x="704" y="25"/>
                </a:cubicBezTo>
                <a:cubicBezTo>
                  <a:pt x="710" y="25"/>
                  <a:pt x="710" y="25"/>
                  <a:pt x="710" y="25"/>
                </a:cubicBezTo>
                <a:cubicBezTo>
                  <a:pt x="710" y="89"/>
                  <a:pt x="710" y="89"/>
                  <a:pt x="710" y="89"/>
                </a:cubicBezTo>
                <a:cubicBezTo>
                  <a:pt x="704" y="89"/>
                  <a:pt x="704" y="89"/>
                  <a:pt x="704" y="89"/>
                </a:cubicBezTo>
                <a:close/>
                <a:moveTo>
                  <a:pt x="746" y="66"/>
                </a:moveTo>
                <a:cubicBezTo>
                  <a:pt x="752" y="67"/>
                  <a:pt x="752" y="67"/>
                  <a:pt x="752" y="67"/>
                </a:cubicBezTo>
                <a:cubicBezTo>
                  <a:pt x="751" y="74"/>
                  <a:pt x="749" y="80"/>
                  <a:pt x="747" y="84"/>
                </a:cubicBezTo>
                <a:cubicBezTo>
                  <a:pt x="744" y="88"/>
                  <a:pt x="741" y="90"/>
                  <a:pt x="737" y="90"/>
                </a:cubicBezTo>
                <a:cubicBezTo>
                  <a:pt x="732" y="90"/>
                  <a:pt x="728" y="87"/>
                  <a:pt x="726" y="82"/>
                </a:cubicBezTo>
                <a:cubicBezTo>
                  <a:pt x="723" y="76"/>
                  <a:pt x="721" y="68"/>
                  <a:pt x="721" y="57"/>
                </a:cubicBezTo>
                <a:cubicBezTo>
                  <a:pt x="721" y="50"/>
                  <a:pt x="722" y="44"/>
                  <a:pt x="723" y="39"/>
                </a:cubicBezTo>
                <a:cubicBezTo>
                  <a:pt x="724" y="34"/>
                  <a:pt x="726" y="30"/>
                  <a:pt x="729" y="28"/>
                </a:cubicBezTo>
                <a:cubicBezTo>
                  <a:pt x="731" y="25"/>
                  <a:pt x="734" y="24"/>
                  <a:pt x="737" y="24"/>
                </a:cubicBezTo>
                <a:cubicBezTo>
                  <a:pt x="741" y="24"/>
                  <a:pt x="744" y="26"/>
                  <a:pt x="746" y="29"/>
                </a:cubicBezTo>
                <a:cubicBezTo>
                  <a:pt x="749" y="33"/>
                  <a:pt x="750" y="38"/>
                  <a:pt x="751" y="44"/>
                </a:cubicBezTo>
                <a:cubicBezTo>
                  <a:pt x="745" y="46"/>
                  <a:pt x="745" y="46"/>
                  <a:pt x="745" y="46"/>
                </a:cubicBezTo>
                <a:cubicBezTo>
                  <a:pt x="745" y="41"/>
                  <a:pt x="744" y="38"/>
                  <a:pt x="742" y="36"/>
                </a:cubicBezTo>
                <a:cubicBezTo>
                  <a:pt x="741" y="34"/>
                  <a:pt x="739" y="33"/>
                  <a:pt x="737" y="33"/>
                </a:cubicBezTo>
                <a:cubicBezTo>
                  <a:pt x="734" y="33"/>
                  <a:pt x="732" y="35"/>
                  <a:pt x="730" y="39"/>
                </a:cubicBezTo>
                <a:cubicBezTo>
                  <a:pt x="728" y="42"/>
                  <a:pt x="727" y="49"/>
                  <a:pt x="727" y="57"/>
                </a:cubicBezTo>
                <a:cubicBezTo>
                  <a:pt x="727" y="66"/>
                  <a:pt x="728" y="72"/>
                  <a:pt x="730" y="76"/>
                </a:cubicBezTo>
                <a:cubicBezTo>
                  <a:pt x="732" y="80"/>
                  <a:pt x="734" y="81"/>
                  <a:pt x="737" y="81"/>
                </a:cubicBezTo>
                <a:cubicBezTo>
                  <a:pt x="739" y="81"/>
                  <a:pt x="741" y="80"/>
                  <a:pt x="743" y="78"/>
                </a:cubicBezTo>
                <a:cubicBezTo>
                  <a:pt x="744" y="75"/>
                  <a:pt x="745" y="71"/>
                  <a:pt x="746" y="66"/>
                </a:cubicBezTo>
                <a:close/>
                <a:moveTo>
                  <a:pt x="774" y="61"/>
                </a:moveTo>
                <a:cubicBezTo>
                  <a:pt x="780" y="60"/>
                  <a:pt x="780" y="60"/>
                  <a:pt x="780" y="60"/>
                </a:cubicBezTo>
                <a:cubicBezTo>
                  <a:pt x="780" y="64"/>
                  <a:pt x="781" y="68"/>
                  <a:pt x="782" y="71"/>
                </a:cubicBezTo>
                <a:cubicBezTo>
                  <a:pt x="783" y="73"/>
                  <a:pt x="785" y="76"/>
                  <a:pt x="787" y="77"/>
                </a:cubicBezTo>
                <a:cubicBezTo>
                  <a:pt x="789" y="79"/>
                  <a:pt x="792" y="80"/>
                  <a:pt x="794" y="80"/>
                </a:cubicBezTo>
                <a:cubicBezTo>
                  <a:pt x="797" y="80"/>
                  <a:pt x="799" y="79"/>
                  <a:pt x="801" y="78"/>
                </a:cubicBezTo>
                <a:cubicBezTo>
                  <a:pt x="803" y="77"/>
                  <a:pt x="804" y="75"/>
                  <a:pt x="805" y="73"/>
                </a:cubicBezTo>
                <a:cubicBezTo>
                  <a:pt x="806" y="70"/>
                  <a:pt x="806" y="68"/>
                  <a:pt x="806" y="65"/>
                </a:cubicBezTo>
                <a:cubicBezTo>
                  <a:pt x="806" y="62"/>
                  <a:pt x="806" y="60"/>
                  <a:pt x="805" y="58"/>
                </a:cubicBezTo>
                <a:cubicBezTo>
                  <a:pt x="804" y="56"/>
                  <a:pt x="803" y="54"/>
                  <a:pt x="801" y="53"/>
                </a:cubicBezTo>
                <a:cubicBezTo>
                  <a:pt x="799" y="52"/>
                  <a:pt x="796" y="50"/>
                  <a:pt x="792" y="48"/>
                </a:cubicBezTo>
                <a:cubicBezTo>
                  <a:pt x="788" y="46"/>
                  <a:pt x="785" y="45"/>
                  <a:pt x="783" y="43"/>
                </a:cubicBezTo>
                <a:cubicBezTo>
                  <a:pt x="780" y="41"/>
                  <a:pt x="779" y="38"/>
                  <a:pt x="778" y="35"/>
                </a:cubicBezTo>
                <a:cubicBezTo>
                  <a:pt x="776" y="31"/>
                  <a:pt x="776" y="28"/>
                  <a:pt x="776" y="24"/>
                </a:cubicBezTo>
                <a:cubicBezTo>
                  <a:pt x="776" y="19"/>
                  <a:pt x="777" y="15"/>
                  <a:pt x="778" y="11"/>
                </a:cubicBezTo>
                <a:cubicBezTo>
                  <a:pt x="779" y="8"/>
                  <a:pt x="781" y="5"/>
                  <a:pt x="784" y="3"/>
                </a:cubicBezTo>
                <a:cubicBezTo>
                  <a:pt x="787" y="1"/>
                  <a:pt x="790" y="0"/>
                  <a:pt x="793" y="0"/>
                </a:cubicBezTo>
                <a:cubicBezTo>
                  <a:pt x="796" y="0"/>
                  <a:pt x="800" y="1"/>
                  <a:pt x="802" y="3"/>
                </a:cubicBezTo>
                <a:cubicBezTo>
                  <a:pt x="805" y="5"/>
                  <a:pt x="807" y="8"/>
                  <a:pt x="809" y="12"/>
                </a:cubicBezTo>
                <a:cubicBezTo>
                  <a:pt x="810" y="16"/>
                  <a:pt x="811" y="21"/>
                  <a:pt x="811" y="26"/>
                </a:cubicBezTo>
                <a:cubicBezTo>
                  <a:pt x="805" y="27"/>
                  <a:pt x="805" y="27"/>
                  <a:pt x="805" y="27"/>
                </a:cubicBezTo>
                <a:cubicBezTo>
                  <a:pt x="805" y="21"/>
                  <a:pt x="803" y="17"/>
                  <a:pt x="802" y="14"/>
                </a:cubicBezTo>
                <a:cubicBezTo>
                  <a:pt x="800" y="11"/>
                  <a:pt x="797" y="10"/>
                  <a:pt x="793" y="10"/>
                </a:cubicBezTo>
                <a:cubicBezTo>
                  <a:pt x="789" y="10"/>
                  <a:pt x="786" y="11"/>
                  <a:pt x="785" y="14"/>
                </a:cubicBezTo>
                <a:cubicBezTo>
                  <a:pt x="783" y="16"/>
                  <a:pt x="782" y="19"/>
                  <a:pt x="782" y="23"/>
                </a:cubicBezTo>
                <a:cubicBezTo>
                  <a:pt x="782" y="26"/>
                  <a:pt x="783" y="29"/>
                  <a:pt x="784" y="31"/>
                </a:cubicBezTo>
                <a:cubicBezTo>
                  <a:pt x="785" y="33"/>
                  <a:pt x="788" y="35"/>
                  <a:pt x="794" y="37"/>
                </a:cubicBezTo>
                <a:cubicBezTo>
                  <a:pt x="799" y="39"/>
                  <a:pt x="802" y="41"/>
                  <a:pt x="804" y="43"/>
                </a:cubicBezTo>
                <a:cubicBezTo>
                  <a:pt x="807" y="45"/>
                  <a:pt x="809" y="48"/>
                  <a:pt x="810" y="52"/>
                </a:cubicBezTo>
                <a:cubicBezTo>
                  <a:pt x="812" y="55"/>
                  <a:pt x="812" y="59"/>
                  <a:pt x="812" y="64"/>
                </a:cubicBezTo>
                <a:cubicBezTo>
                  <a:pt x="812" y="69"/>
                  <a:pt x="812" y="73"/>
                  <a:pt x="810" y="77"/>
                </a:cubicBezTo>
                <a:cubicBezTo>
                  <a:pt x="809" y="81"/>
                  <a:pt x="807" y="85"/>
                  <a:pt x="804" y="87"/>
                </a:cubicBezTo>
                <a:cubicBezTo>
                  <a:pt x="801" y="89"/>
                  <a:pt x="798" y="90"/>
                  <a:pt x="795" y="90"/>
                </a:cubicBezTo>
                <a:cubicBezTo>
                  <a:pt x="790" y="90"/>
                  <a:pt x="787" y="89"/>
                  <a:pt x="784" y="87"/>
                </a:cubicBezTo>
                <a:cubicBezTo>
                  <a:pt x="781" y="85"/>
                  <a:pt x="778" y="81"/>
                  <a:pt x="777" y="76"/>
                </a:cubicBezTo>
                <a:cubicBezTo>
                  <a:pt x="775" y="72"/>
                  <a:pt x="774" y="67"/>
                  <a:pt x="774" y="61"/>
                </a:cubicBezTo>
                <a:close/>
                <a:moveTo>
                  <a:pt x="847" y="66"/>
                </a:moveTo>
                <a:cubicBezTo>
                  <a:pt x="853" y="67"/>
                  <a:pt x="853" y="67"/>
                  <a:pt x="853" y="67"/>
                </a:cubicBezTo>
                <a:cubicBezTo>
                  <a:pt x="852" y="74"/>
                  <a:pt x="851" y="80"/>
                  <a:pt x="848" y="84"/>
                </a:cubicBezTo>
                <a:cubicBezTo>
                  <a:pt x="845" y="88"/>
                  <a:pt x="842" y="90"/>
                  <a:pt x="838" y="90"/>
                </a:cubicBezTo>
                <a:cubicBezTo>
                  <a:pt x="834" y="90"/>
                  <a:pt x="830" y="87"/>
                  <a:pt x="827" y="82"/>
                </a:cubicBezTo>
                <a:cubicBezTo>
                  <a:pt x="824" y="76"/>
                  <a:pt x="822" y="68"/>
                  <a:pt x="822" y="57"/>
                </a:cubicBezTo>
                <a:cubicBezTo>
                  <a:pt x="822" y="50"/>
                  <a:pt x="823" y="44"/>
                  <a:pt x="824" y="39"/>
                </a:cubicBezTo>
                <a:cubicBezTo>
                  <a:pt x="826" y="34"/>
                  <a:pt x="827" y="30"/>
                  <a:pt x="830" y="28"/>
                </a:cubicBezTo>
                <a:cubicBezTo>
                  <a:pt x="833" y="25"/>
                  <a:pt x="835" y="24"/>
                  <a:pt x="838" y="24"/>
                </a:cubicBezTo>
                <a:cubicBezTo>
                  <a:pt x="842" y="24"/>
                  <a:pt x="845" y="26"/>
                  <a:pt x="848" y="29"/>
                </a:cubicBezTo>
                <a:cubicBezTo>
                  <a:pt x="850" y="33"/>
                  <a:pt x="852" y="38"/>
                  <a:pt x="852" y="44"/>
                </a:cubicBezTo>
                <a:cubicBezTo>
                  <a:pt x="847" y="46"/>
                  <a:pt x="847" y="46"/>
                  <a:pt x="847" y="46"/>
                </a:cubicBezTo>
                <a:cubicBezTo>
                  <a:pt x="846" y="41"/>
                  <a:pt x="845" y="38"/>
                  <a:pt x="844" y="36"/>
                </a:cubicBezTo>
                <a:cubicBezTo>
                  <a:pt x="842" y="34"/>
                  <a:pt x="841" y="33"/>
                  <a:pt x="839" y="33"/>
                </a:cubicBezTo>
                <a:cubicBezTo>
                  <a:pt x="836" y="33"/>
                  <a:pt x="833" y="35"/>
                  <a:pt x="831" y="39"/>
                </a:cubicBezTo>
                <a:cubicBezTo>
                  <a:pt x="829" y="42"/>
                  <a:pt x="828" y="49"/>
                  <a:pt x="828" y="57"/>
                </a:cubicBezTo>
                <a:cubicBezTo>
                  <a:pt x="828" y="66"/>
                  <a:pt x="829" y="72"/>
                  <a:pt x="831" y="76"/>
                </a:cubicBezTo>
                <a:cubicBezTo>
                  <a:pt x="833" y="80"/>
                  <a:pt x="835" y="81"/>
                  <a:pt x="838" y="81"/>
                </a:cubicBezTo>
                <a:cubicBezTo>
                  <a:pt x="841" y="81"/>
                  <a:pt x="843" y="80"/>
                  <a:pt x="844" y="78"/>
                </a:cubicBezTo>
                <a:cubicBezTo>
                  <a:pt x="846" y="75"/>
                  <a:pt x="847" y="71"/>
                  <a:pt x="847" y="66"/>
                </a:cubicBezTo>
                <a:close/>
                <a:moveTo>
                  <a:pt x="862" y="14"/>
                </a:moveTo>
                <a:cubicBezTo>
                  <a:pt x="862" y="1"/>
                  <a:pt x="862" y="1"/>
                  <a:pt x="862" y="1"/>
                </a:cubicBezTo>
                <a:cubicBezTo>
                  <a:pt x="868" y="1"/>
                  <a:pt x="868" y="1"/>
                  <a:pt x="868" y="1"/>
                </a:cubicBezTo>
                <a:cubicBezTo>
                  <a:pt x="868" y="14"/>
                  <a:pt x="868" y="14"/>
                  <a:pt x="868" y="14"/>
                </a:cubicBezTo>
                <a:cubicBezTo>
                  <a:pt x="862" y="14"/>
                  <a:pt x="862" y="14"/>
                  <a:pt x="862" y="14"/>
                </a:cubicBezTo>
                <a:close/>
                <a:moveTo>
                  <a:pt x="862" y="89"/>
                </a:moveTo>
                <a:cubicBezTo>
                  <a:pt x="862" y="25"/>
                  <a:pt x="862" y="25"/>
                  <a:pt x="862" y="25"/>
                </a:cubicBezTo>
                <a:cubicBezTo>
                  <a:pt x="868" y="25"/>
                  <a:pt x="868" y="25"/>
                  <a:pt x="868" y="25"/>
                </a:cubicBezTo>
                <a:cubicBezTo>
                  <a:pt x="868" y="89"/>
                  <a:pt x="868" y="89"/>
                  <a:pt x="868" y="89"/>
                </a:cubicBezTo>
                <a:cubicBezTo>
                  <a:pt x="862" y="89"/>
                  <a:pt x="862" y="89"/>
                  <a:pt x="862" y="89"/>
                </a:cubicBezTo>
                <a:close/>
                <a:moveTo>
                  <a:pt x="904" y="68"/>
                </a:moveTo>
                <a:cubicBezTo>
                  <a:pt x="911" y="70"/>
                  <a:pt x="911" y="70"/>
                  <a:pt x="911" y="70"/>
                </a:cubicBezTo>
                <a:cubicBezTo>
                  <a:pt x="910" y="76"/>
                  <a:pt x="908" y="81"/>
                  <a:pt x="905" y="85"/>
                </a:cubicBezTo>
                <a:cubicBezTo>
                  <a:pt x="903" y="89"/>
                  <a:pt x="899" y="90"/>
                  <a:pt x="895" y="90"/>
                </a:cubicBezTo>
                <a:cubicBezTo>
                  <a:pt x="890" y="90"/>
                  <a:pt x="886" y="87"/>
                  <a:pt x="883" y="82"/>
                </a:cubicBezTo>
                <a:cubicBezTo>
                  <a:pt x="880" y="76"/>
                  <a:pt x="878" y="68"/>
                  <a:pt x="878" y="58"/>
                </a:cubicBezTo>
                <a:cubicBezTo>
                  <a:pt x="878" y="47"/>
                  <a:pt x="880" y="39"/>
                  <a:pt x="883" y="33"/>
                </a:cubicBezTo>
                <a:cubicBezTo>
                  <a:pt x="886" y="27"/>
                  <a:pt x="890" y="24"/>
                  <a:pt x="895" y="24"/>
                </a:cubicBezTo>
                <a:cubicBezTo>
                  <a:pt x="899" y="24"/>
                  <a:pt x="903" y="27"/>
                  <a:pt x="906" y="33"/>
                </a:cubicBezTo>
                <a:cubicBezTo>
                  <a:pt x="909" y="38"/>
                  <a:pt x="911" y="46"/>
                  <a:pt x="911" y="57"/>
                </a:cubicBezTo>
                <a:cubicBezTo>
                  <a:pt x="911" y="58"/>
                  <a:pt x="911" y="59"/>
                  <a:pt x="911" y="60"/>
                </a:cubicBezTo>
                <a:cubicBezTo>
                  <a:pt x="885" y="60"/>
                  <a:pt x="885" y="60"/>
                  <a:pt x="885" y="60"/>
                </a:cubicBezTo>
                <a:cubicBezTo>
                  <a:pt x="885" y="67"/>
                  <a:pt x="886" y="72"/>
                  <a:pt x="888" y="76"/>
                </a:cubicBezTo>
                <a:cubicBezTo>
                  <a:pt x="890" y="80"/>
                  <a:pt x="892" y="81"/>
                  <a:pt x="895" y="81"/>
                </a:cubicBezTo>
                <a:cubicBezTo>
                  <a:pt x="897" y="81"/>
                  <a:pt x="899" y="80"/>
                  <a:pt x="901" y="78"/>
                </a:cubicBezTo>
                <a:cubicBezTo>
                  <a:pt x="902" y="76"/>
                  <a:pt x="903" y="73"/>
                  <a:pt x="904" y="68"/>
                </a:cubicBezTo>
                <a:close/>
                <a:moveTo>
                  <a:pt x="885" y="51"/>
                </a:moveTo>
                <a:cubicBezTo>
                  <a:pt x="904" y="51"/>
                  <a:pt x="904" y="51"/>
                  <a:pt x="904" y="51"/>
                </a:cubicBezTo>
                <a:cubicBezTo>
                  <a:pt x="904" y="46"/>
                  <a:pt x="903" y="42"/>
                  <a:pt x="902" y="39"/>
                </a:cubicBezTo>
                <a:cubicBezTo>
                  <a:pt x="900" y="35"/>
                  <a:pt x="898" y="33"/>
                  <a:pt x="895" y="33"/>
                </a:cubicBezTo>
                <a:cubicBezTo>
                  <a:pt x="892" y="33"/>
                  <a:pt x="890" y="34"/>
                  <a:pt x="888" y="38"/>
                </a:cubicBezTo>
                <a:cubicBezTo>
                  <a:pt x="886" y="41"/>
                  <a:pt x="885" y="45"/>
                  <a:pt x="885" y="51"/>
                </a:cubicBezTo>
                <a:close/>
                <a:moveTo>
                  <a:pt x="922" y="89"/>
                </a:moveTo>
                <a:cubicBezTo>
                  <a:pt x="922" y="25"/>
                  <a:pt x="922" y="25"/>
                  <a:pt x="922" y="25"/>
                </a:cubicBezTo>
                <a:cubicBezTo>
                  <a:pt x="927" y="25"/>
                  <a:pt x="927" y="25"/>
                  <a:pt x="927" y="25"/>
                </a:cubicBezTo>
                <a:cubicBezTo>
                  <a:pt x="927" y="34"/>
                  <a:pt x="927" y="34"/>
                  <a:pt x="927" y="34"/>
                </a:cubicBezTo>
                <a:cubicBezTo>
                  <a:pt x="930" y="27"/>
                  <a:pt x="933" y="24"/>
                  <a:pt x="938" y="24"/>
                </a:cubicBezTo>
                <a:cubicBezTo>
                  <a:pt x="940" y="24"/>
                  <a:pt x="942" y="25"/>
                  <a:pt x="944" y="26"/>
                </a:cubicBezTo>
                <a:cubicBezTo>
                  <a:pt x="946" y="27"/>
                  <a:pt x="947" y="29"/>
                  <a:pt x="948" y="31"/>
                </a:cubicBezTo>
                <a:cubicBezTo>
                  <a:pt x="949" y="34"/>
                  <a:pt x="949" y="36"/>
                  <a:pt x="950" y="39"/>
                </a:cubicBezTo>
                <a:cubicBezTo>
                  <a:pt x="950" y="41"/>
                  <a:pt x="950" y="45"/>
                  <a:pt x="950" y="50"/>
                </a:cubicBezTo>
                <a:cubicBezTo>
                  <a:pt x="950" y="89"/>
                  <a:pt x="950" y="89"/>
                  <a:pt x="950" y="89"/>
                </a:cubicBezTo>
                <a:cubicBezTo>
                  <a:pt x="944" y="89"/>
                  <a:pt x="944" y="89"/>
                  <a:pt x="944" y="89"/>
                </a:cubicBezTo>
                <a:cubicBezTo>
                  <a:pt x="944" y="50"/>
                  <a:pt x="944" y="50"/>
                  <a:pt x="944" y="50"/>
                </a:cubicBezTo>
                <a:cubicBezTo>
                  <a:pt x="944" y="46"/>
                  <a:pt x="944" y="43"/>
                  <a:pt x="944" y="40"/>
                </a:cubicBezTo>
                <a:cubicBezTo>
                  <a:pt x="943" y="38"/>
                  <a:pt x="942" y="36"/>
                  <a:pt x="941" y="35"/>
                </a:cubicBezTo>
                <a:cubicBezTo>
                  <a:pt x="940" y="34"/>
                  <a:pt x="939" y="33"/>
                  <a:pt x="937" y="33"/>
                </a:cubicBezTo>
                <a:cubicBezTo>
                  <a:pt x="934" y="33"/>
                  <a:pt x="932" y="35"/>
                  <a:pt x="930" y="38"/>
                </a:cubicBezTo>
                <a:cubicBezTo>
                  <a:pt x="929" y="40"/>
                  <a:pt x="928" y="46"/>
                  <a:pt x="928" y="54"/>
                </a:cubicBezTo>
                <a:cubicBezTo>
                  <a:pt x="928" y="89"/>
                  <a:pt x="928" y="89"/>
                  <a:pt x="928" y="89"/>
                </a:cubicBezTo>
                <a:cubicBezTo>
                  <a:pt x="922" y="89"/>
                  <a:pt x="922" y="89"/>
                  <a:pt x="922" y="89"/>
                </a:cubicBezTo>
                <a:close/>
                <a:moveTo>
                  <a:pt x="986" y="66"/>
                </a:moveTo>
                <a:cubicBezTo>
                  <a:pt x="992" y="67"/>
                  <a:pt x="992" y="67"/>
                  <a:pt x="992" y="67"/>
                </a:cubicBezTo>
                <a:cubicBezTo>
                  <a:pt x="991" y="74"/>
                  <a:pt x="989" y="80"/>
                  <a:pt x="987" y="84"/>
                </a:cubicBezTo>
                <a:cubicBezTo>
                  <a:pt x="984" y="88"/>
                  <a:pt x="981" y="90"/>
                  <a:pt x="977" y="90"/>
                </a:cubicBezTo>
                <a:cubicBezTo>
                  <a:pt x="972" y="90"/>
                  <a:pt x="968" y="87"/>
                  <a:pt x="966" y="82"/>
                </a:cubicBezTo>
                <a:cubicBezTo>
                  <a:pt x="963" y="76"/>
                  <a:pt x="961" y="68"/>
                  <a:pt x="961" y="57"/>
                </a:cubicBezTo>
                <a:cubicBezTo>
                  <a:pt x="961" y="50"/>
                  <a:pt x="962" y="44"/>
                  <a:pt x="963" y="39"/>
                </a:cubicBezTo>
                <a:cubicBezTo>
                  <a:pt x="964" y="34"/>
                  <a:pt x="966" y="30"/>
                  <a:pt x="969" y="28"/>
                </a:cubicBezTo>
                <a:cubicBezTo>
                  <a:pt x="971" y="25"/>
                  <a:pt x="974" y="24"/>
                  <a:pt x="977" y="24"/>
                </a:cubicBezTo>
                <a:cubicBezTo>
                  <a:pt x="981" y="24"/>
                  <a:pt x="984" y="26"/>
                  <a:pt x="986" y="29"/>
                </a:cubicBezTo>
                <a:cubicBezTo>
                  <a:pt x="989" y="33"/>
                  <a:pt x="990" y="38"/>
                  <a:pt x="991" y="44"/>
                </a:cubicBezTo>
                <a:cubicBezTo>
                  <a:pt x="985" y="46"/>
                  <a:pt x="985" y="46"/>
                  <a:pt x="985" y="46"/>
                </a:cubicBezTo>
                <a:cubicBezTo>
                  <a:pt x="985" y="41"/>
                  <a:pt x="984" y="38"/>
                  <a:pt x="982" y="36"/>
                </a:cubicBezTo>
                <a:cubicBezTo>
                  <a:pt x="981" y="34"/>
                  <a:pt x="979" y="33"/>
                  <a:pt x="977" y="33"/>
                </a:cubicBezTo>
                <a:cubicBezTo>
                  <a:pt x="974" y="33"/>
                  <a:pt x="972" y="35"/>
                  <a:pt x="970" y="39"/>
                </a:cubicBezTo>
                <a:cubicBezTo>
                  <a:pt x="968" y="42"/>
                  <a:pt x="967" y="49"/>
                  <a:pt x="967" y="57"/>
                </a:cubicBezTo>
                <a:cubicBezTo>
                  <a:pt x="967" y="66"/>
                  <a:pt x="968" y="72"/>
                  <a:pt x="970" y="76"/>
                </a:cubicBezTo>
                <a:cubicBezTo>
                  <a:pt x="972" y="80"/>
                  <a:pt x="974" y="81"/>
                  <a:pt x="977" y="81"/>
                </a:cubicBezTo>
                <a:cubicBezTo>
                  <a:pt x="979" y="81"/>
                  <a:pt x="981" y="80"/>
                  <a:pt x="983" y="78"/>
                </a:cubicBezTo>
                <a:cubicBezTo>
                  <a:pt x="984" y="75"/>
                  <a:pt x="985" y="71"/>
                  <a:pt x="986" y="66"/>
                </a:cubicBezTo>
                <a:close/>
                <a:moveTo>
                  <a:pt x="1024" y="68"/>
                </a:moveTo>
                <a:cubicBezTo>
                  <a:pt x="1031" y="70"/>
                  <a:pt x="1031" y="70"/>
                  <a:pt x="1031" y="70"/>
                </a:cubicBezTo>
                <a:cubicBezTo>
                  <a:pt x="1030" y="76"/>
                  <a:pt x="1028" y="81"/>
                  <a:pt x="1025" y="85"/>
                </a:cubicBezTo>
                <a:cubicBezTo>
                  <a:pt x="1023" y="89"/>
                  <a:pt x="1019" y="90"/>
                  <a:pt x="1015" y="90"/>
                </a:cubicBezTo>
                <a:cubicBezTo>
                  <a:pt x="1010" y="90"/>
                  <a:pt x="1006" y="87"/>
                  <a:pt x="1003" y="82"/>
                </a:cubicBezTo>
                <a:cubicBezTo>
                  <a:pt x="1000" y="76"/>
                  <a:pt x="998" y="68"/>
                  <a:pt x="998" y="58"/>
                </a:cubicBezTo>
                <a:cubicBezTo>
                  <a:pt x="998" y="47"/>
                  <a:pt x="1000" y="39"/>
                  <a:pt x="1003" y="33"/>
                </a:cubicBezTo>
                <a:cubicBezTo>
                  <a:pt x="1006" y="27"/>
                  <a:pt x="1010" y="24"/>
                  <a:pt x="1015" y="24"/>
                </a:cubicBezTo>
                <a:cubicBezTo>
                  <a:pt x="1020" y="24"/>
                  <a:pt x="1023" y="27"/>
                  <a:pt x="1026" y="33"/>
                </a:cubicBezTo>
                <a:cubicBezTo>
                  <a:pt x="1029" y="38"/>
                  <a:pt x="1031" y="46"/>
                  <a:pt x="1031" y="57"/>
                </a:cubicBezTo>
                <a:cubicBezTo>
                  <a:pt x="1031" y="58"/>
                  <a:pt x="1031" y="59"/>
                  <a:pt x="1031" y="60"/>
                </a:cubicBezTo>
                <a:cubicBezTo>
                  <a:pt x="1005" y="60"/>
                  <a:pt x="1005" y="60"/>
                  <a:pt x="1005" y="60"/>
                </a:cubicBezTo>
                <a:cubicBezTo>
                  <a:pt x="1005" y="67"/>
                  <a:pt x="1006" y="72"/>
                  <a:pt x="1008" y="76"/>
                </a:cubicBezTo>
                <a:cubicBezTo>
                  <a:pt x="1010" y="80"/>
                  <a:pt x="1012" y="81"/>
                  <a:pt x="1015" y="81"/>
                </a:cubicBezTo>
                <a:cubicBezTo>
                  <a:pt x="1017" y="81"/>
                  <a:pt x="1019" y="80"/>
                  <a:pt x="1021" y="78"/>
                </a:cubicBezTo>
                <a:cubicBezTo>
                  <a:pt x="1022" y="76"/>
                  <a:pt x="1024" y="73"/>
                  <a:pt x="1024" y="68"/>
                </a:cubicBezTo>
                <a:close/>
                <a:moveTo>
                  <a:pt x="1005" y="51"/>
                </a:moveTo>
                <a:cubicBezTo>
                  <a:pt x="1024" y="51"/>
                  <a:pt x="1024" y="51"/>
                  <a:pt x="1024" y="51"/>
                </a:cubicBezTo>
                <a:cubicBezTo>
                  <a:pt x="1024" y="46"/>
                  <a:pt x="1023" y="42"/>
                  <a:pt x="1022" y="39"/>
                </a:cubicBezTo>
                <a:cubicBezTo>
                  <a:pt x="1020" y="35"/>
                  <a:pt x="1018" y="33"/>
                  <a:pt x="1015" y="33"/>
                </a:cubicBezTo>
                <a:cubicBezTo>
                  <a:pt x="1012" y="33"/>
                  <a:pt x="1010" y="34"/>
                  <a:pt x="1008" y="38"/>
                </a:cubicBezTo>
                <a:cubicBezTo>
                  <a:pt x="1006" y="41"/>
                  <a:pt x="1005" y="45"/>
                  <a:pt x="1005" y="51"/>
                </a:cubicBezTo>
                <a:close/>
                <a:moveTo>
                  <a:pt x="1080" y="81"/>
                </a:moveTo>
                <a:cubicBezTo>
                  <a:pt x="1077" y="84"/>
                  <a:pt x="1075" y="87"/>
                  <a:pt x="1073" y="88"/>
                </a:cubicBezTo>
                <a:cubicBezTo>
                  <a:pt x="1071" y="90"/>
                  <a:pt x="1069" y="90"/>
                  <a:pt x="1067" y="90"/>
                </a:cubicBezTo>
                <a:cubicBezTo>
                  <a:pt x="1063" y="90"/>
                  <a:pt x="1060" y="89"/>
                  <a:pt x="1058" y="85"/>
                </a:cubicBezTo>
                <a:cubicBezTo>
                  <a:pt x="1056" y="82"/>
                  <a:pt x="1055" y="77"/>
                  <a:pt x="1055" y="72"/>
                </a:cubicBezTo>
                <a:cubicBezTo>
                  <a:pt x="1055" y="69"/>
                  <a:pt x="1055" y="66"/>
                  <a:pt x="1056" y="64"/>
                </a:cubicBezTo>
                <a:cubicBezTo>
                  <a:pt x="1057" y="61"/>
                  <a:pt x="1058" y="59"/>
                  <a:pt x="1059" y="57"/>
                </a:cubicBezTo>
                <a:cubicBezTo>
                  <a:pt x="1060" y="56"/>
                  <a:pt x="1062" y="55"/>
                  <a:pt x="1063" y="54"/>
                </a:cubicBezTo>
                <a:cubicBezTo>
                  <a:pt x="1064" y="53"/>
                  <a:pt x="1066" y="53"/>
                  <a:pt x="1068" y="52"/>
                </a:cubicBezTo>
                <a:cubicBezTo>
                  <a:pt x="1073" y="51"/>
                  <a:pt x="1077" y="50"/>
                  <a:pt x="1079" y="49"/>
                </a:cubicBezTo>
                <a:cubicBezTo>
                  <a:pt x="1079" y="47"/>
                  <a:pt x="1079" y="46"/>
                  <a:pt x="1079" y="46"/>
                </a:cubicBezTo>
                <a:cubicBezTo>
                  <a:pt x="1079" y="41"/>
                  <a:pt x="1079" y="38"/>
                  <a:pt x="1077" y="36"/>
                </a:cubicBezTo>
                <a:cubicBezTo>
                  <a:pt x="1076" y="34"/>
                  <a:pt x="1074" y="33"/>
                  <a:pt x="1071" y="33"/>
                </a:cubicBezTo>
                <a:cubicBezTo>
                  <a:pt x="1068" y="33"/>
                  <a:pt x="1066" y="34"/>
                  <a:pt x="1064" y="35"/>
                </a:cubicBezTo>
                <a:cubicBezTo>
                  <a:pt x="1063" y="37"/>
                  <a:pt x="1062" y="40"/>
                  <a:pt x="1062" y="45"/>
                </a:cubicBezTo>
                <a:cubicBezTo>
                  <a:pt x="1056" y="43"/>
                  <a:pt x="1056" y="43"/>
                  <a:pt x="1056" y="43"/>
                </a:cubicBezTo>
                <a:cubicBezTo>
                  <a:pt x="1056" y="39"/>
                  <a:pt x="1057" y="35"/>
                  <a:pt x="1058" y="33"/>
                </a:cubicBezTo>
                <a:cubicBezTo>
                  <a:pt x="1060" y="30"/>
                  <a:pt x="1061" y="28"/>
                  <a:pt x="1064" y="26"/>
                </a:cubicBezTo>
                <a:cubicBezTo>
                  <a:pt x="1066" y="25"/>
                  <a:pt x="1069" y="24"/>
                  <a:pt x="1072" y="24"/>
                </a:cubicBezTo>
                <a:cubicBezTo>
                  <a:pt x="1075" y="24"/>
                  <a:pt x="1077" y="25"/>
                  <a:pt x="1079" y="26"/>
                </a:cubicBezTo>
                <a:cubicBezTo>
                  <a:pt x="1081" y="27"/>
                  <a:pt x="1082" y="29"/>
                  <a:pt x="1083" y="31"/>
                </a:cubicBezTo>
                <a:cubicBezTo>
                  <a:pt x="1084" y="33"/>
                  <a:pt x="1084" y="35"/>
                  <a:pt x="1085" y="38"/>
                </a:cubicBezTo>
                <a:cubicBezTo>
                  <a:pt x="1085" y="40"/>
                  <a:pt x="1085" y="43"/>
                  <a:pt x="1085" y="48"/>
                </a:cubicBezTo>
                <a:cubicBezTo>
                  <a:pt x="1085" y="62"/>
                  <a:pt x="1085" y="62"/>
                  <a:pt x="1085" y="62"/>
                </a:cubicBezTo>
                <a:cubicBezTo>
                  <a:pt x="1085" y="72"/>
                  <a:pt x="1085" y="79"/>
                  <a:pt x="1085" y="81"/>
                </a:cubicBezTo>
                <a:cubicBezTo>
                  <a:pt x="1086" y="84"/>
                  <a:pt x="1086" y="86"/>
                  <a:pt x="1087" y="89"/>
                </a:cubicBezTo>
                <a:cubicBezTo>
                  <a:pt x="1081" y="89"/>
                  <a:pt x="1081" y="89"/>
                  <a:pt x="1081" y="89"/>
                </a:cubicBezTo>
                <a:cubicBezTo>
                  <a:pt x="1080" y="87"/>
                  <a:pt x="1080" y="84"/>
                  <a:pt x="1080" y="81"/>
                </a:cubicBezTo>
                <a:close/>
                <a:moveTo>
                  <a:pt x="1079" y="57"/>
                </a:moveTo>
                <a:cubicBezTo>
                  <a:pt x="1077" y="59"/>
                  <a:pt x="1074" y="60"/>
                  <a:pt x="1069" y="61"/>
                </a:cubicBezTo>
                <a:cubicBezTo>
                  <a:pt x="1067" y="62"/>
                  <a:pt x="1065" y="62"/>
                  <a:pt x="1064" y="63"/>
                </a:cubicBezTo>
                <a:cubicBezTo>
                  <a:pt x="1063" y="64"/>
                  <a:pt x="1062" y="65"/>
                  <a:pt x="1062" y="67"/>
                </a:cubicBezTo>
                <a:cubicBezTo>
                  <a:pt x="1061" y="68"/>
                  <a:pt x="1061" y="70"/>
                  <a:pt x="1061" y="72"/>
                </a:cubicBezTo>
                <a:cubicBezTo>
                  <a:pt x="1061" y="75"/>
                  <a:pt x="1062" y="77"/>
                  <a:pt x="1063" y="79"/>
                </a:cubicBezTo>
                <a:cubicBezTo>
                  <a:pt x="1064" y="81"/>
                  <a:pt x="1066" y="82"/>
                  <a:pt x="1068" y="82"/>
                </a:cubicBezTo>
                <a:cubicBezTo>
                  <a:pt x="1070" y="82"/>
                  <a:pt x="1072" y="81"/>
                  <a:pt x="1074" y="79"/>
                </a:cubicBezTo>
                <a:cubicBezTo>
                  <a:pt x="1076" y="77"/>
                  <a:pt x="1077" y="75"/>
                  <a:pt x="1078" y="72"/>
                </a:cubicBezTo>
                <a:cubicBezTo>
                  <a:pt x="1079" y="69"/>
                  <a:pt x="1079" y="66"/>
                  <a:pt x="1079" y="61"/>
                </a:cubicBezTo>
                <a:cubicBezTo>
                  <a:pt x="1079" y="57"/>
                  <a:pt x="1079" y="57"/>
                  <a:pt x="1079" y="57"/>
                </a:cubicBezTo>
                <a:close/>
                <a:moveTo>
                  <a:pt x="1098" y="89"/>
                </a:moveTo>
                <a:cubicBezTo>
                  <a:pt x="1098" y="25"/>
                  <a:pt x="1098" y="25"/>
                  <a:pt x="1098" y="25"/>
                </a:cubicBezTo>
                <a:cubicBezTo>
                  <a:pt x="1103" y="25"/>
                  <a:pt x="1103" y="25"/>
                  <a:pt x="1103" y="25"/>
                </a:cubicBezTo>
                <a:cubicBezTo>
                  <a:pt x="1103" y="34"/>
                  <a:pt x="1103" y="34"/>
                  <a:pt x="1103" y="34"/>
                </a:cubicBezTo>
                <a:cubicBezTo>
                  <a:pt x="1106" y="27"/>
                  <a:pt x="1110" y="24"/>
                  <a:pt x="1114" y="24"/>
                </a:cubicBezTo>
                <a:cubicBezTo>
                  <a:pt x="1117" y="24"/>
                  <a:pt x="1119" y="25"/>
                  <a:pt x="1120" y="26"/>
                </a:cubicBezTo>
                <a:cubicBezTo>
                  <a:pt x="1122" y="27"/>
                  <a:pt x="1123" y="29"/>
                  <a:pt x="1124" y="31"/>
                </a:cubicBezTo>
                <a:cubicBezTo>
                  <a:pt x="1125" y="34"/>
                  <a:pt x="1126" y="36"/>
                  <a:pt x="1126" y="39"/>
                </a:cubicBezTo>
                <a:cubicBezTo>
                  <a:pt x="1126" y="41"/>
                  <a:pt x="1126" y="45"/>
                  <a:pt x="1126" y="50"/>
                </a:cubicBezTo>
                <a:cubicBezTo>
                  <a:pt x="1126" y="89"/>
                  <a:pt x="1126" y="89"/>
                  <a:pt x="1126" y="89"/>
                </a:cubicBezTo>
                <a:cubicBezTo>
                  <a:pt x="1121" y="89"/>
                  <a:pt x="1121" y="89"/>
                  <a:pt x="1121" y="89"/>
                </a:cubicBezTo>
                <a:cubicBezTo>
                  <a:pt x="1121" y="50"/>
                  <a:pt x="1121" y="50"/>
                  <a:pt x="1121" y="50"/>
                </a:cubicBezTo>
                <a:cubicBezTo>
                  <a:pt x="1121" y="46"/>
                  <a:pt x="1120" y="43"/>
                  <a:pt x="1120" y="40"/>
                </a:cubicBezTo>
                <a:cubicBezTo>
                  <a:pt x="1119" y="38"/>
                  <a:pt x="1119" y="36"/>
                  <a:pt x="1117" y="35"/>
                </a:cubicBezTo>
                <a:cubicBezTo>
                  <a:pt x="1116" y="34"/>
                  <a:pt x="1115" y="33"/>
                  <a:pt x="1113" y="33"/>
                </a:cubicBezTo>
                <a:cubicBezTo>
                  <a:pt x="1111" y="33"/>
                  <a:pt x="1109" y="35"/>
                  <a:pt x="1107" y="38"/>
                </a:cubicBezTo>
                <a:cubicBezTo>
                  <a:pt x="1105" y="40"/>
                  <a:pt x="1104" y="46"/>
                  <a:pt x="1104" y="54"/>
                </a:cubicBezTo>
                <a:cubicBezTo>
                  <a:pt x="1104" y="89"/>
                  <a:pt x="1104" y="89"/>
                  <a:pt x="1104" y="89"/>
                </a:cubicBezTo>
                <a:cubicBezTo>
                  <a:pt x="1098" y="89"/>
                  <a:pt x="1098" y="89"/>
                  <a:pt x="1098" y="89"/>
                </a:cubicBezTo>
                <a:close/>
                <a:moveTo>
                  <a:pt x="1162" y="89"/>
                </a:moveTo>
                <a:cubicBezTo>
                  <a:pt x="1162" y="81"/>
                  <a:pt x="1162" y="81"/>
                  <a:pt x="1162" y="81"/>
                </a:cubicBezTo>
                <a:cubicBezTo>
                  <a:pt x="1160" y="87"/>
                  <a:pt x="1157" y="90"/>
                  <a:pt x="1152" y="90"/>
                </a:cubicBezTo>
                <a:cubicBezTo>
                  <a:pt x="1149" y="90"/>
                  <a:pt x="1147" y="89"/>
                  <a:pt x="1145" y="86"/>
                </a:cubicBezTo>
                <a:cubicBezTo>
                  <a:pt x="1142" y="83"/>
                  <a:pt x="1140" y="79"/>
                  <a:pt x="1139" y="74"/>
                </a:cubicBezTo>
                <a:cubicBezTo>
                  <a:pt x="1138" y="69"/>
                  <a:pt x="1137" y="64"/>
                  <a:pt x="1137" y="57"/>
                </a:cubicBezTo>
                <a:cubicBezTo>
                  <a:pt x="1137" y="51"/>
                  <a:pt x="1138" y="45"/>
                  <a:pt x="1139" y="40"/>
                </a:cubicBezTo>
                <a:cubicBezTo>
                  <a:pt x="1140" y="35"/>
                  <a:pt x="1142" y="31"/>
                  <a:pt x="1144" y="28"/>
                </a:cubicBezTo>
                <a:cubicBezTo>
                  <a:pt x="1146" y="25"/>
                  <a:pt x="1149" y="24"/>
                  <a:pt x="1152" y="24"/>
                </a:cubicBezTo>
                <a:cubicBezTo>
                  <a:pt x="1154" y="24"/>
                  <a:pt x="1156" y="25"/>
                  <a:pt x="1158" y="26"/>
                </a:cubicBezTo>
                <a:cubicBezTo>
                  <a:pt x="1159" y="28"/>
                  <a:pt x="1161" y="30"/>
                  <a:pt x="1162" y="33"/>
                </a:cubicBezTo>
                <a:cubicBezTo>
                  <a:pt x="1162" y="1"/>
                  <a:pt x="1162" y="1"/>
                  <a:pt x="1162" y="1"/>
                </a:cubicBezTo>
                <a:cubicBezTo>
                  <a:pt x="1167" y="1"/>
                  <a:pt x="1167" y="1"/>
                  <a:pt x="1167" y="1"/>
                </a:cubicBezTo>
                <a:cubicBezTo>
                  <a:pt x="1167" y="89"/>
                  <a:pt x="1167" y="89"/>
                  <a:pt x="1167" y="89"/>
                </a:cubicBezTo>
                <a:cubicBezTo>
                  <a:pt x="1162" y="89"/>
                  <a:pt x="1162" y="89"/>
                  <a:pt x="1162" y="89"/>
                </a:cubicBezTo>
                <a:close/>
                <a:moveTo>
                  <a:pt x="1143" y="57"/>
                </a:moveTo>
                <a:cubicBezTo>
                  <a:pt x="1143" y="65"/>
                  <a:pt x="1144" y="71"/>
                  <a:pt x="1146" y="75"/>
                </a:cubicBezTo>
                <a:cubicBezTo>
                  <a:pt x="1148" y="79"/>
                  <a:pt x="1150" y="81"/>
                  <a:pt x="1153" y="81"/>
                </a:cubicBezTo>
                <a:cubicBezTo>
                  <a:pt x="1155" y="81"/>
                  <a:pt x="1158" y="80"/>
                  <a:pt x="1159" y="76"/>
                </a:cubicBezTo>
                <a:cubicBezTo>
                  <a:pt x="1161" y="72"/>
                  <a:pt x="1162" y="66"/>
                  <a:pt x="1162" y="58"/>
                </a:cubicBezTo>
                <a:cubicBezTo>
                  <a:pt x="1162" y="49"/>
                  <a:pt x="1161" y="43"/>
                  <a:pt x="1159" y="39"/>
                </a:cubicBezTo>
                <a:cubicBezTo>
                  <a:pt x="1157" y="35"/>
                  <a:pt x="1155" y="33"/>
                  <a:pt x="1152" y="33"/>
                </a:cubicBezTo>
                <a:cubicBezTo>
                  <a:pt x="1150" y="33"/>
                  <a:pt x="1148" y="35"/>
                  <a:pt x="1146" y="39"/>
                </a:cubicBezTo>
                <a:cubicBezTo>
                  <a:pt x="1144" y="43"/>
                  <a:pt x="1143" y="49"/>
                  <a:pt x="1143" y="57"/>
                </a:cubicBezTo>
                <a:close/>
                <a:moveTo>
                  <a:pt x="1207" y="89"/>
                </a:moveTo>
                <a:cubicBezTo>
                  <a:pt x="1207" y="11"/>
                  <a:pt x="1207" y="11"/>
                  <a:pt x="1207" y="11"/>
                </a:cubicBezTo>
                <a:cubicBezTo>
                  <a:pt x="1191" y="11"/>
                  <a:pt x="1191" y="11"/>
                  <a:pt x="1191" y="11"/>
                </a:cubicBezTo>
                <a:cubicBezTo>
                  <a:pt x="1191" y="1"/>
                  <a:pt x="1191" y="1"/>
                  <a:pt x="1191" y="1"/>
                </a:cubicBezTo>
                <a:cubicBezTo>
                  <a:pt x="1230" y="1"/>
                  <a:pt x="1230" y="1"/>
                  <a:pt x="1230" y="1"/>
                </a:cubicBezTo>
                <a:cubicBezTo>
                  <a:pt x="1230" y="11"/>
                  <a:pt x="1230" y="11"/>
                  <a:pt x="1230" y="11"/>
                </a:cubicBezTo>
                <a:cubicBezTo>
                  <a:pt x="1214" y="11"/>
                  <a:pt x="1214" y="11"/>
                  <a:pt x="1214" y="11"/>
                </a:cubicBezTo>
                <a:cubicBezTo>
                  <a:pt x="1214" y="89"/>
                  <a:pt x="1214" y="89"/>
                  <a:pt x="1214" y="89"/>
                </a:cubicBezTo>
                <a:cubicBezTo>
                  <a:pt x="1207" y="89"/>
                  <a:pt x="1207" y="89"/>
                  <a:pt x="1207" y="89"/>
                </a:cubicBezTo>
                <a:close/>
                <a:moveTo>
                  <a:pt x="1256" y="68"/>
                </a:moveTo>
                <a:cubicBezTo>
                  <a:pt x="1262" y="70"/>
                  <a:pt x="1262" y="70"/>
                  <a:pt x="1262" y="70"/>
                </a:cubicBezTo>
                <a:cubicBezTo>
                  <a:pt x="1261" y="76"/>
                  <a:pt x="1259" y="81"/>
                  <a:pt x="1257" y="85"/>
                </a:cubicBezTo>
                <a:cubicBezTo>
                  <a:pt x="1254" y="89"/>
                  <a:pt x="1251" y="90"/>
                  <a:pt x="1247" y="90"/>
                </a:cubicBezTo>
                <a:cubicBezTo>
                  <a:pt x="1241" y="90"/>
                  <a:pt x="1237" y="87"/>
                  <a:pt x="1234" y="82"/>
                </a:cubicBezTo>
                <a:cubicBezTo>
                  <a:pt x="1231" y="76"/>
                  <a:pt x="1230" y="68"/>
                  <a:pt x="1230" y="58"/>
                </a:cubicBezTo>
                <a:cubicBezTo>
                  <a:pt x="1230" y="47"/>
                  <a:pt x="1231" y="39"/>
                  <a:pt x="1234" y="33"/>
                </a:cubicBezTo>
                <a:cubicBezTo>
                  <a:pt x="1237" y="27"/>
                  <a:pt x="1241" y="24"/>
                  <a:pt x="1246" y="24"/>
                </a:cubicBezTo>
                <a:cubicBezTo>
                  <a:pt x="1251" y="24"/>
                  <a:pt x="1255" y="27"/>
                  <a:pt x="1258" y="33"/>
                </a:cubicBezTo>
                <a:cubicBezTo>
                  <a:pt x="1261" y="38"/>
                  <a:pt x="1262" y="46"/>
                  <a:pt x="1262" y="57"/>
                </a:cubicBezTo>
                <a:cubicBezTo>
                  <a:pt x="1262" y="58"/>
                  <a:pt x="1262" y="59"/>
                  <a:pt x="1262" y="60"/>
                </a:cubicBezTo>
                <a:cubicBezTo>
                  <a:pt x="1236" y="60"/>
                  <a:pt x="1236" y="60"/>
                  <a:pt x="1236" y="60"/>
                </a:cubicBezTo>
                <a:cubicBezTo>
                  <a:pt x="1236" y="67"/>
                  <a:pt x="1237" y="72"/>
                  <a:pt x="1239" y="76"/>
                </a:cubicBezTo>
                <a:cubicBezTo>
                  <a:pt x="1241" y="80"/>
                  <a:pt x="1244" y="81"/>
                  <a:pt x="1247" y="81"/>
                </a:cubicBezTo>
                <a:cubicBezTo>
                  <a:pt x="1249" y="81"/>
                  <a:pt x="1251" y="80"/>
                  <a:pt x="1252" y="78"/>
                </a:cubicBezTo>
                <a:cubicBezTo>
                  <a:pt x="1254" y="76"/>
                  <a:pt x="1255" y="73"/>
                  <a:pt x="1256" y="68"/>
                </a:cubicBezTo>
                <a:close/>
                <a:moveTo>
                  <a:pt x="1236" y="51"/>
                </a:moveTo>
                <a:cubicBezTo>
                  <a:pt x="1256" y="51"/>
                  <a:pt x="1256" y="51"/>
                  <a:pt x="1256" y="51"/>
                </a:cubicBezTo>
                <a:cubicBezTo>
                  <a:pt x="1256" y="46"/>
                  <a:pt x="1255" y="42"/>
                  <a:pt x="1254" y="39"/>
                </a:cubicBezTo>
                <a:cubicBezTo>
                  <a:pt x="1252" y="35"/>
                  <a:pt x="1249" y="33"/>
                  <a:pt x="1246" y="33"/>
                </a:cubicBezTo>
                <a:cubicBezTo>
                  <a:pt x="1244" y="33"/>
                  <a:pt x="1241" y="34"/>
                  <a:pt x="1239" y="38"/>
                </a:cubicBezTo>
                <a:cubicBezTo>
                  <a:pt x="1238" y="41"/>
                  <a:pt x="1237" y="45"/>
                  <a:pt x="1236" y="51"/>
                </a:cubicBezTo>
                <a:close/>
                <a:moveTo>
                  <a:pt x="1296" y="66"/>
                </a:moveTo>
                <a:cubicBezTo>
                  <a:pt x="1302" y="67"/>
                  <a:pt x="1302" y="67"/>
                  <a:pt x="1302" y="67"/>
                </a:cubicBezTo>
                <a:cubicBezTo>
                  <a:pt x="1301" y="74"/>
                  <a:pt x="1300" y="80"/>
                  <a:pt x="1297" y="84"/>
                </a:cubicBezTo>
                <a:cubicBezTo>
                  <a:pt x="1294" y="88"/>
                  <a:pt x="1291" y="90"/>
                  <a:pt x="1287" y="90"/>
                </a:cubicBezTo>
                <a:cubicBezTo>
                  <a:pt x="1282" y="90"/>
                  <a:pt x="1279" y="87"/>
                  <a:pt x="1276" y="82"/>
                </a:cubicBezTo>
                <a:cubicBezTo>
                  <a:pt x="1273" y="76"/>
                  <a:pt x="1271" y="68"/>
                  <a:pt x="1271" y="57"/>
                </a:cubicBezTo>
                <a:cubicBezTo>
                  <a:pt x="1271" y="50"/>
                  <a:pt x="1272" y="44"/>
                  <a:pt x="1273" y="39"/>
                </a:cubicBezTo>
                <a:cubicBezTo>
                  <a:pt x="1274" y="34"/>
                  <a:pt x="1276" y="30"/>
                  <a:pt x="1279" y="28"/>
                </a:cubicBezTo>
                <a:cubicBezTo>
                  <a:pt x="1281" y="25"/>
                  <a:pt x="1284" y="24"/>
                  <a:pt x="1287" y="24"/>
                </a:cubicBezTo>
                <a:cubicBezTo>
                  <a:pt x="1291" y="24"/>
                  <a:pt x="1294" y="26"/>
                  <a:pt x="1297" y="29"/>
                </a:cubicBezTo>
                <a:cubicBezTo>
                  <a:pt x="1299" y="33"/>
                  <a:pt x="1301" y="38"/>
                  <a:pt x="1301" y="44"/>
                </a:cubicBezTo>
                <a:cubicBezTo>
                  <a:pt x="1295" y="46"/>
                  <a:pt x="1295" y="46"/>
                  <a:pt x="1295" y="46"/>
                </a:cubicBezTo>
                <a:cubicBezTo>
                  <a:pt x="1295" y="41"/>
                  <a:pt x="1294" y="38"/>
                  <a:pt x="1293" y="36"/>
                </a:cubicBezTo>
                <a:cubicBezTo>
                  <a:pt x="1291" y="34"/>
                  <a:pt x="1289" y="33"/>
                  <a:pt x="1287" y="33"/>
                </a:cubicBezTo>
                <a:cubicBezTo>
                  <a:pt x="1284" y="33"/>
                  <a:pt x="1282" y="35"/>
                  <a:pt x="1280" y="39"/>
                </a:cubicBezTo>
                <a:cubicBezTo>
                  <a:pt x="1278" y="42"/>
                  <a:pt x="1277" y="49"/>
                  <a:pt x="1277" y="57"/>
                </a:cubicBezTo>
                <a:cubicBezTo>
                  <a:pt x="1277" y="66"/>
                  <a:pt x="1278" y="72"/>
                  <a:pt x="1280" y="76"/>
                </a:cubicBezTo>
                <a:cubicBezTo>
                  <a:pt x="1282" y="80"/>
                  <a:pt x="1284" y="81"/>
                  <a:pt x="1287" y="81"/>
                </a:cubicBezTo>
                <a:cubicBezTo>
                  <a:pt x="1289" y="81"/>
                  <a:pt x="1291" y="80"/>
                  <a:pt x="1293" y="78"/>
                </a:cubicBezTo>
                <a:cubicBezTo>
                  <a:pt x="1295" y="75"/>
                  <a:pt x="1296" y="71"/>
                  <a:pt x="1296" y="66"/>
                </a:cubicBezTo>
                <a:close/>
                <a:moveTo>
                  <a:pt x="1311" y="89"/>
                </a:moveTo>
                <a:cubicBezTo>
                  <a:pt x="1311" y="1"/>
                  <a:pt x="1311" y="1"/>
                  <a:pt x="1311" y="1"/>
                </a:cubicBezTo>
                <a:cubicBezTo>
                  <a:pt x="1317" y="1"/>
                  <a:pt x="1317" y="1"/>
                  <a:pt x="1317" y="1"/>
                </a:cubicBezTo>
                <a:cubicBezTo>
                  <a:pt x="1317" y="33"/>
                  <a:pt x="1317" y="33"/>
                  <a:pt x="1317" y="33"/>
                </a:cubicBezTo>
                <a:cubicBezTo>
                  <a:pt x="1319" y="27"/>
                  <a:pt x="1323" y="24"/>
                  <a:pt x="1327" y="24"/>
                </a:cubicBezTo>
                <a:cubicBezTo>
                  <a:pt x="1330" y="24"/>
                  <a:pt x="1332" y="25"/>
                  <a:pt x="1334" y="27"/>
                </a:cubicBezTo>
                <a:cubicBezTo>
                  <a:pt x="1336" y="28"/>
                  <a:pt x="1337" y="31"/>
                  <a:pt x="1338" y="34"/>
                </a:cubicBezTo>
                <a:cubicBezTo>
                  <a:pt x="1339" y="38"/>
                  <a:pt x="1339" y="42"/>
                  <a:pt x="1339" y="49"/>
                </a:cubicBezTo>
                <a:cubicBezTo>
                  <a:pt x="1339" y="89"/>
                  <a:pt x="1339" y="89"/>
                  <a:pt x="1339" y="89"/>
                </a:cubicBezTo>
                <a:cubicBezTo>
                  <a:pt x="1333" y="89"/>
                  <a:pt x="1333" y="89"/>
                  <a:pt x="1333" y="89"/>
                </a:cubicBezTo>
                <a:cubicBezTo>
                  <a:pt x="1333" y="49"/>
                  <a:pt x="1333" y="49"/>
                  <a:pt x="1333" y="49"/>
                </a:cubicBezTo>
                <a:cubicBezTo>
                  <a:pt x="1333" y="43"/>
                  <a:pt x="1333" y="39"/>
                  <a:pt x="1331" y="37"/>
                </a:cubicBezTo>
                <a:cubicBezTo>
                  <a:pt x="1330" y="34"/>
                  <a:pt x="1328" y="33"/>
                  <a:pt x="1326" y="33"/>
                </a:cubicBezTo>
                <a:cubicBezTo>
                  <a:pt x="1324" y="33"/>
                  <a:pt x="1322" y="34"/>
                  <a:pt x="1321" y="36"/>
                </a:cubicBezTo>
                <a:cubicBezTo>
                  <a:pt x="1319" y="37"/>
                  <a:pt x="1318" y="40"/>
                  <a:pt x="1318" y="42"/>
                </a:cubicBezTo>
                <a:cubicBezTo>
                  <a:pt x="1317" y="45"/>
                  <a:pt x="1317" y="49"/>
                  <a:pt x="1317" y="54"/>
                </a:cubicBezTo>
                <a:cubicBezTo>
                  <a:pt x="1317" y="89"/>
                  <a:pt x="1317" y="89"/>
                  <a:pt x="1317" y="89"/>
                </a:cubicBezTo>
                <a:cubicBezTo>
                  <a:pt x="1311" y="89"/>
                  <a:pt x="1311" y="89"/>
                  <a:pt x="1311" y="89"/>
                </a:cubicBezTo>
                <a:close/>
                <a:moveTo>
                  <a:pt x="1352" y="89"/>
                </a:moveTo>
                <a:cubicBezTo>
                  <a:pt x="1352" y="25"/>
                  <a:pt x="1352" y="25"/>
                  <a:pt x="1352" y="25"/>
                </a:cubicBezTo>
                <a:cubicBezTo>
                  <a:pt x="1357" y="25"/>
                  <a:pt x="1357" y="25"/>
                  <a:pt x="1357" y="25"/>
                </a:cubicBezTo>
                <a:cubicBezTo>
                  <a:pt x="1357" y="34"/>
                  <a:pt x="1357" y="34"/>
                  <a:pt x="1357" y="34"/>
                </a:cubicBezTo>
                <a:cubicBezTo>
                  <a:pt x="1360" y="27"/>
                  <a:pt x="1363" y="24"/>
                  <a:pt x="1368" y="24"/>
                </a:cubicBezTo>
                <a:cubicBezTo>
                  <a:pt x="1370" y="24"/>
                  <a:pt x="1372" y="25"/>
                  <a:pt x="1374" y="26"/>
                </a:cubicBezTo>
                <a:cubicBezTo>
                  <a:pt x="1376" y="27"/>
                  <a:pt x="1377" y="29"/>
                  <a:pt x="1378" y="31"/>
                </a:cubicBezTo>
                <a:cubicBezTo>
                  <a:pt x="1379" y="34"/>
                  <a:pt x="1380" y="36"/>
                  <a:pt x="1380" y="39"/>
                </a:cubicBezTo>
                <a:cubicBezTo>
                  <a:pt x="1380" y="41"/>
                  <a:pt x="1380" y="45"/>
                  <a:pt x="1380" y="50"/>
                </a:cubicBezTo>
                <a:cubicBezTo>
                  <a:pt x="1380" y="89"/>
                  <a:pt x="1380" y="89"/>
                  <a:pt x="1380" y="89"/>
                </a:cubicBezTo>
                <a:cubicBezTo>
                  <a:pt x="1374" y="89"/>
                  <a:pt x="1374" y="89"/>
                  <a:pt x="1374" y="89"/>
                </a:cubicBezTo>
                <a:cubicBezTo>
                  <a:pt x="1374" y="50"/>
                  <a:pt x="1374" y="50"/>
                  <a:pt x="1374" y="50"/>
                </a:cubicBezTo>
                <a:cubicBezTo>
                  <a:pt x="1374" y="46"/>
                  <a:pt x="1374" y="43"/>
                  <a:pt x="1374" y="40"/>
                </a:cubicBezTo>
                <a:cubicBezTo>
                  <a:pt x="1373" y="38"/>
                  <a:pt x="1372" y="36"/>
                  <a:pt x="1371" y="35"/>
                </a:cubicBezTo>
                <a:cubicBezTo>
                  <a:pt x="1370" y="34"/>
                  <a:pt x="1369" y="33"/>
                  <a:pt x="1367" y="33"/>
                </a:cubicBezTo>
                <a:cubicBezTo>
                  <a:pt x="1365" y="33"/>
                  <a:pt x="1362" y="35"/>
                  <a:pt x="1361" y="38"/>
                </a:cubicBezTo>
                <a:cubicBezTo>
                  <a:pt x="1359" y="40"/>
                  <a:pt x="1358" y="46"/>
                  <a:pt x="1358" y="54"/>
                </a:cubicBezTo>
                <a:cubicBezTo>
                  <a:pt x="1358" y="89"/>
                  <a:pt x="1358" y="89"/>
                  <a:pt x="1358" y="89"/>
                </a:cubicBezTo>
                <a:cubicBezTo>
                  <a:pt x="1352" y="89"/>
                  <a:pt x="1352" y="89"/>
                  <a:pt x="1352" y="89"/>
                </a:cubicBezTo>
                <a:close/>
                <a:moveTo>
                  <a:pt x="1391" y="57"/>
                </a:moveTo>
                <a:cubicBezTo>
                  <a:pt x="1391" y="45"/>
                  <a:pt x="1393" y="37"/>
                  <a:pt x="1396" y="31"/>
                </a:cubicBezTo>
                <a:cubicBezTo>
                  <a:pt x="1399" y="26"/>
                  <a:pt x="1403" y="24"/>
                  <a:pt x="1407" y="24"/>
                </a:cubicBezTo>
                <a:cubicBezTo>
                  <a:pt x="1412" y="24"/>
                  <a:pt x="1416" y="27"/>
                  <a:pt x="1419" y="32"/>
                </a:cubicBezTo>
                <a:cubicBezTo>
                  <a:pt x="1422" y="38"/>
                  <a:pt x="1424" y="46"/>
                  <a:pt x="1424" y="56"/>
                </a:cubicBezTo>
                <a:cubicBezTo>
                  <a:pt x="1424" y="64"/>
                  <a:pt x="1423" y="71"/>
                  <a:pt x="1422" y="76"/>
                </a:cubicBezTo>
                <a:cubicBezTo>
                  <a:pt x="1420" y="80"/>
                  <a:pt x="1418" y="84"/>
                  <a:pt x="1416" y="86"/>
                </a:cubicBezTo>
                <a:cubicBezTo>
                  <a:pt x="1413" y="89"/>
                  <a:pt x="1410" y="90"/>
                  <a:pt x="1407" y="90"/>
                </a:cubicBezTo>
                <a:cubicBezTo>
                  <a:pt x="1402" y="90"/>
                  <a:pt x="1398" y="87"/>
                  <a:pt x="1395" y="82"/>
                </a:cubicBezTo>
                <a:cubicBezTo>
                  <a:pt x="1392" y="76"/>
                  <a:pt x="1391" y="68"/>
                  <a:pt x="1391" y="57"/>
                </a:cubicBezTo>
                <a:close/>
                <a:moveTo>
                  <a:pt x="1397" y="57"/>
                </a:moveTo>
                <a:cubicBezTo>
                  <a:pt x="1397" y="65"/>
                  <a:pt x="1398" y="71"/>
                  <a:pt x="1400" y="75"/>
                </a:cubicBezTo>
                <a:cubicBezTo>
                  <a:pt x="1402" y="79"/>
                  <a:pt x="1404" y="81"/>
                  <a:pt x="1407" y="81"/>
                </a:cubicBezTo>
                <a:cubicBezTo>
                  <a:pt x="1410" y="81"/>
                  <a:pt x="1413" y="79"/>
                  <a:pt x="1415" y="75"/>
                </a:cubicBezTo>
                <a:cubicBezTo>
                  <a:pt x="1417" y="71"/>
                  <a:pt x="1418" y="65"/>
                  <a:pt x="1418" y="57"/>
                </a:cubicBezTo>
                <a:cubicBezTo>
                  <a:pt x="1418" y="49"/>
                  <a:pt x="1417" y="43"/>
                  <a:pt x="1415" y="39"/>
                </a:cubicBezTo>
                <a:cubicBezTo>
                  <a:pt x="1413" y="35"/>
                  <a:pt x="1410" y="33"/>
                  <a:pt x="1407" y="33"/>
                </a:cubicBezTo>
                <a:cubicBezTo>
                  <a:pt x="1404" y="33"/>
                  <a:pt x="1402" y="35"/>
                  <a:pt x="1400" y="39"/>
                </a:cubicBezTo>
                <a:cubicBezTo>
                  <a:pt x="1398" y="43"/>
                  <a:pt x="1397" y="49"/>
                  <a:pt x="1397" y="57"/>
                </a:cubicBezTo>
                <a:close/>
                <a:moveTo>
                  <a:pt x="1434" y="89"/>
                </a:moveTo>
                <a:cubicBezTo>
                  <a:pt x="1434" y="1"/>
                  <a:pt x="1434" y="1"/>
                  <a:pt x="1434" y="1"/>
                </a:cubicBezTo>
                <a:cubicBezTo>
                  <a:pt x="1440" y="1"/>
                  <a:pt x="1440" y="1"/>
                  <a:pt x="1440" y="1"/>
                </a:cubicBezTo>
                <a:cubicBezTo>
                  <a:pt x="1440" y="89"/>
                  <a:pt x="1440" y="89"/>
                  <a:pt x="1440" y="89"/>
                </a:cubicBezTo>
                <a:cubicBezTo>
                  <a:pt x="1434" y="89"/>
                  <a:pt x="1434" y="89"/>
                  <a:pt x="1434" y="89"/>
                </a:cubicBezTo>
                <a:close/>
                <a:moveTo>
                  <a:pt x="1451" y="57"/>
                </a:moveTo>
                <a:cubicBezTo>
                  <a:pt x="1451" y="45"/>
                  <a:pt x="1453" y="37"/>
                  <a:pt x="1456" y="31"/>
                </a:cubicBezTo>
                <a:cubicBezTo>
                  <a:pt x="1459" y="26"/>
                  <a:pt x="1463" y="24"/>
                  <a:pt x="1467" y="24"/>
                </a:cubicBezTo>
                <a:cubicBezTo>
                  <a:pt x="1472" y="24"/>
                  <a:pt x="1476" y="27"/>
                  <a:pt x="1479" y="32"/>
                </a:cubicBezTo>
                <a:cubicBezTo>
                  <a:pt x="1482" y="38"/>
                  <a:pt x="1484" y="46"/>
                  <a:pt x="1484" y="56"/>
                </a:cubicBezTo>
                <a:cubicBezTo>
                  <a:pt x="1484" y="64"/>
                  <a:pt x="1483" y="71"/>
                  <a:pt x="1482" y="76"/>
                </a:cubicBezTo>
                <a:cubicBezTo>
                  <a:pt x="1480" y="80"/>
                  <a:pt x="1478" y="84"/>
                  <a:pt x="1476" y="86"/>
                </a:cubicBezTo>
                <a:cubicBezTo>
                  <a:pt x="1473" y="89"/>
                  <a:pt x="1470" y="90"/>
                  <a:pt x="1467" y="90"/>
                </a:cubicBezTo>
                <a:cubicBezTo>
                  <a:pt x="1462" y="90"/>
                  <a:pt x="1459" y="87"/>
                  <a:pt x="1455" y="82"/>
                </a:cubicBezTo>
                <a:cubicBezTo>
                  <a:pt x="1452" y="76"/>
                  <a:pt x="1451" y="68"/>
                  <a:pt x="1451" y="57"/>
                </a:cubicBezTo>
                <a:close/>
                <a:moveTo>
                  <a:pt x="1457" y="57"/>
                </a:moveTo>
                <a:cubicBezTo>
                  <a:pt x="1457" y="65"/>
                  <a:pt x="1458" y="71"/>
                  <a:pt x="1460" y="75"/>
                </a:cubicBezTo>
                <a:cubicBezTo>
                  <a:pt x="1462" y="79"/>
                  <a:pt x="1464" y="81"/>
                  <a:pt x="1467" y="81"/>
                </a:cubicBezTo>
                <a:cubicBezTo>
                  <a:pt x="1470" y="81"/>
                  <a:pt x="1473" y="79"/>
                  <a:pt x="1475" y="75"/>
                </a:cubicBezTo>
                <a:cubicBezTo>
                  <a:pt x="1477" y="71"/>
                  <a:pt x="1478" y="65"/>
                  <a:pt x="1478" y="57"/>
                </a:cubicBezTo>
                <a:cubicBezTo>
                  <a:pt x="1478" y="49"/>
                  <a:pt x="1477" y="43"/>
                  <a:pt x="1475" y="39"/>
                </a:cubicBezTo>
                <a:cubicBezTo>
                  <a:pt x="1473" y="35"/>
                  <a:pt x="1470" y="33"/>
                  <a:pt x="1467" y="33"/>
                </a:cubicBezTo>
                <a:cubicBezTo>
                  <a:pt x="1464" y="33"/>
                  <a:pt x="1462" y="35"/>
                  <a:pt x="1460" y="39"/>
                </a:cubicBezTo>
                <a:cubicBezTo>
                  <a:pt x="1458" y="43"/>
                  <a:pt x="1457" y="49"/>
                  <a:pt x="1457" y="57"/>
                </a:cubicBez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37" name="iṥḷíḍé">
            <a:extLst xmlns:a="http://schemas.openxmlformats.org/drawingml/2006/main">
              <a:ext uri="{FF2B5EF4-FFF2-40B4-BE49-F238E27FC236}">
                <a16:creationId xmlns:a16="http://schemas.microsoft.com/office/drawing/2014/main" id="{96FBC146-AB38-454E-88F0-C42C58B6692B}"/>
              </a:ext>
            </a:extLst>
          </p:cNvPr>
          <p:cNvSpPr>
            <a:spLocks xmlns:a="http://schemas.openxmlformats.org/drawingml/2006/main" noGrp="1"/>
          </p:cNvSpPr>
          <p:nvPr/>
        </p:nvSpPr>
        <p:spPr>
          <a:xfrm xmlns:a="http://schemas.openxmlformats.org/drawingml/2006/main" rot="0" flipH="0" flipV="0">
            <a:off x="11260871" y="846945"/>
            <a:ext cx="250535" cy="80709"/>
          </a:xfrm>
          <a:custGeom xmlns:a="http://schemas.openxmlformats.org/drawingml/2006/main">
            <a:gdLst>
              <a:gd name="T0" fmla="*/ 15 w 359"/>
              <a:gd name="T1" fmla="*/ 106 h 115"/>
              <a:gd name="T2" fmla="*/ 15 w 359"/>
              <a:gd name="T3" fmla="*/ 89 h 115"/>
              <a:gd name="T4" fmla="*/ 7 w 359"/>
              <a:gd name="T5" fmla="*/ 28 h 115"/>
              <a:gd name="T6" fmla="*/ 31 w 359"/>
              <a:gd name="T7" fmla="*/ 25 h 115"/>
              <a:gd name="T8" fmla="*/ 15 w 359"/>
              <a:gd name="T9" fmla="*/ 115 h 115"/>
              <a:gd name="T10" fmla="*/ 9 w 359"/>
              <a:gd name="T11" fmla="*/ 74 h 115"/>
              <a:gd name="T12" fmla="*/ 23 w 359"/>
              <a:gd name="T13" fmla="*/ 39 h 115"/>
              <a:gd name="T14" fmla="*/ 43 w 359"/>
              <a:gd name="T15" fmla="*/ 113 h 115"/>
              <a:gd name="T16" fmla="*/ 51 w 359"/>
              <a:gd name="T17" fmla="*/ 100 h 115"/>
              <a:gd name="T18" fmla="*/ 47 w 359"/>
              <a:gd name="T19" fmla="*/ 25 h 115"/>
              <a:gd name="T20" fmla="*/ 66 w 359"/>
              <a:gd name="T21" fmla="*/ 25 h 115"/>
              <a:gd name="T22" fmla="*/ 52 w 359"/>
              <a:gd name="T23" fmla="*/ 112 h 115"/>
              <a:gd name="T24" fmla="*/ 99 w 359"/>
              <a:gd name="T25" fmla="*/ 31 h 115"/>
              <a:gd name="T26" fmla="*/ 125 w 359"/>
              <a:gd name="T27" fmla="*/ 76 h 115"/>
              <a:gd name="T28" fmla="*/ 94 w 359"/>
              <a:gd name="T29" fmla="*/ 57 h 115"/>
              <a:gd name="T30" fmla="*/ 118 w 359"/>
              <a:gd name="T31" fmla="*/ 75 h 115"/>
              <a:gd name="T32" fmla="*/ 103 w 359"/>
              <a:gd name="T33" fmla="*/ 39 h 115"/>
              <a:gd name="T34" fmla="*/ 134 w 359"/>
              <a:gd name="T35" fmla="*/ 34 h 115"/>
              <a:gd name="T36" fmla="*/ 140 w 359"/>
              <a:gd name="T37" fmla="*/ 9 h 115"/>
              <a:gd name="T38" fmla="*/ 153 w 359"/>
              <a:gd name="T39" fmla="*/ 10 h 115"/>
              <a:gd name="T40" fmla="*/ 145 w 359"/>
              <a:gd name="T41" fmla="*/ 25 h 115"/>
              <a:gd name="T42" fmla="*/ 145 w 359"/>
              <a:gd name="T43" fmla="*/ 89 h 115"/>
              <a:gd name="T44" fmla="*/ 209 w 359"/>
              <a:gd name="T45" fmla="*/ 83 h 115"/>
              <a:gd name="T46" fmla="*/ 174 w 359"/>
              <a:gd name="T47" fmla="*/ 44 h 115"/>
              <a:gd name="T48" fmla="*/ 209 w 359"/>
              <a:gd name="T49" fmla="*/ 6 h 115"/>
              <a:gd name="T50" fmla="*/ 197 w 359"/>
              <a:gd name="T51" fmla="*/ 10 h 115"/>
              <a:gd name="T52" fmla="*/ 182 w 359"/>
              <a:gd name="T53" fmla="*/ 64 h 115"/>
              <a:gd name="T54" fmla="*/ 210 w 359"/>
              <a:gd name="T55" fmla="*/ 58 h 115"/>
              <a:gd name="T56" fmla="*/ 233 w 359"/>
              <a:gd name="T57" fmla="*/ 33 h 115"/>
              <a:gd name="T58" fmla="*/ 256 w 359"/>
              <a:gd name="T59" fmla="*/ 49 h 115"/>
              <a:gd name="T60" fmla="*/ 248 w 359"/>
              <a:gd name="T61" fmla="*/ 37 h 115"/>
              <a:gd name="T62" fmla="*/ 233 w 359"/>
              <a:gd name="T63" fmla="*/ 54 h 115"/>
              <a:gd name="T64" fmla="*/ 269 w 359"/>
              <a:gd name="T65" fmla="*/ 1 h 115"/>
              <a:gd name="T66" fmla="*/ 269 w 359"/>
              <a:gd name="T67" fmla="*/ 89 h 115"/>
              <a:gd name="T68" fmla="*/ 269 w 359"/>
              <a:gd name="T69" fmla="*/ 89 h 115"/>
              <a:gd name="T70" fmla="*/ 293 w 359"/>
              <a:gd name="T71" fmla="*/ 34 h 115"/>
              <a:gd name="T72" fmla="*/ 316 w 359"/>
              <a:gd name="T73" fmla="*/ 39 h 115"/>
              <a:gd name="T74" fmla="*/ 310 w 359"/>
              <a:gd name="T75" fmla="*/ 50 h 115"/>
              <a:gd name="T76" fmla="*/ 296 w 359"/>
              <a:gd name="T77" fmla="*/ 38 h 115"/>
              <a:gd name="T78" fmla="*/ 352 w 359"/>
              <a:gd name="T79" fmla="*/ 81 h 115"/>
              <a:gd name="T80" fmla="*/ 327 w 359"/>
              <a:gd name="T81" fmla="*/ 72 h 115"/>
              <a:gd name="T82" fmla="*/ 340 w 359"/>
              <a:gd name="T83" fmla="*/ 52 h 115"/>
              <a:gd name="T84" fmla="*/ 343 w 359"/>
              <a:gd name="T85" fmla="*/ 33 h 115"/>
              <a:gd name="T86" fmla="*/ 330 w 359"/>
              <a:gd name="T87" fmla="*/ 33 h 115"/>
              <a:gd name="T88" fmla="*/ 355 w 359"/>
              <a:gd name="T89" fmla="*/ 31 h 115"/>
              <a:gd name="T90" fmla="*/ 357 w 359"/>
              <a:gd name="T91" fmla="*/ 81 h 115"/>
              <a:gd name="T92" fmla="*/ 351 w 359"/>
              <a:gd name="T93" fmla="*/ 57 h 115"/>
              <a:gd name="T94" fmla="*/ 333 w 359"/>
              <a:gd name="T95" fmla="*/ 72 h 115"/>
              <a:gd name="T96" fmla="*/ 350 w 359"/>
              <a:gd name="T97" fmla="*/ 72 h 115"/>
            </a:gdLst>
            <a:rect l="0" t="0" r="r" b="b"/>
            <a:pathLst>
              <a:path w="359" h="115">
                <a:moveTo>
                  <a:pt x="1" y="94"/>
                </a:moveTo>
                <a:cubicBezTo>
                  <a:pt x="7" y="96"/>
                  <a:pt x="7" y="96"/>
                  <a:pt x="7" y="96"/>
                </a:cubicBezTo>
                <a:cubicBezTo>
                  <a:pt x="7" y="99"/>
                  <a:pt x="8" y="101"/>
                  <a:pt x="9" y="103"/>
                </a:cubicBezTo>
                <a:cubicBezTo>
                  <a:pt x="11" y="105"/>
                  <a:pt x="13" y="106"/>
                  <a:pt x="15" y="106"/>
                </a:cubicBezTo>
                <a:cubicBezTo>
                  <a:pt x="18" y="106"/>
                  <a:pt x="20" y="105"/>
                  <a:pt x="22" y="103"/>
                </a:cubicBezTo>
                <a:cubicBezTo>
                  <a:pt x="23" y="101"/>
                  <a:pt x="24" y="98"/>
                  <a:pt x="25" y="94"/>
                </a:cubicBezTo>
                <a:cubicBezTo>
                  <a:pt x="25" y="92"/>
                  <a:pt x="25" y="88"/>
                  <a:pt x="25" y="81"/>
                </a:cubicBezTo>
                <a:cubicBezTo>
                  <a:pt x="22" y="86"/>
                  <a:pt x="19" y="89"/>
                  <a:pt x="15" y="89"/>
                </a:cubicBezTo>
                <a:cubicBezTo>
                  <a:pt x="10" y="89"/>
                  <a:pt x="7" y="86"/>
                  <a:pt x="4" y="79"/>
                </a:cubicBezTo>
                <a:cubicBezTo>
                  <a:pt x="1" y="73"/>
                  <a:pt x="0" y="66"/>
                  <a:pt x="0" y="57"/>
                </a:cubicBezTo>
                <a:cubicBezTo>
                  <a:pt x="0" y="51"/>
                  <a:pt x="1" y="45"/>
                  <a:pt x="2" y="40"/>
                </a:cubicBezTo>
                <a:cubicBezTo>
                  <a:pt x="3" y="35"/>
                  <a:pt x="5" y="31"/>
                  <a:pt x="7" y="28"/>
                </a:cubicBezTo>
                <a:cubicBezTo>
                  <a:pt x="10" y="25"/>
                  <a:pt x="12" y="24"/>
                  <a:pt x="15" y="24"/>
                </a:cubicBezTo>
                <a:cubicBezTo>
                  <a:pt x="19" y="24"/>
                  <a:pt x="23" y="27"/>
                  <a:pt x="26" y="33"/>
                </a:cubicBezTo>
                <a:cubicBezTo>
                  <a:pt x="26" y="25"/>
                  <a:pt x="26" y="25"/>
                  <a:pt x="26" y="25"/>
                </a:cubicBezTo>
                <a:cubicBezTo>
                  <a:pt x="31" y="25"/>
                  <a:pt x="31" y="25"/>
                  <a:pt x="31" y="25"/>
                </a:cubicBezTo>
                <a:cubicBezTo>
                  <a:pt x="31" y="80"/>
                  <a:pt x="31" y="80"/>
                  <a:pt x="31" y="80"/>
                </a:cubicBezTo>
                <a:cubicBezTo>
                  <a:pt x="31" y="90"/>
                  <a:pt x="30" y="97"/>
                  <a:pt x="29" y="101"/>
                </a:cubicBezTo>
                <a:cubicBezTo>
                  <a:pt x="28" y="105"/>
                  <a:pt x="26" y="109"/>
                  <a:pt x="24" y="111"/>
                </a:cubicBezTo>
                <a:cubicBezTo>
                  <a:pt x="22" y="114"/>
                  <a:pt x="19" y="115"/>
                  <a:pt x="15" y="115"/>
                </a:cubicBezTo>
                <a:cubicBezTo>
                  <a:pt x="11" y="115"/>
                  <a:pt x="8" y="113"/>
                  <a:pt x="5" y="110"/>
                </a:cubicBezTo>
                <a:cubicBezTo>
                  <a:pt x="3" y="106"/>
                  <a:pt x="1" y="101"/>
                  <a:pt x="1" y="94"/>
                </a:cubicBezTo>
                <a:close/>
                <a:moveTo>
                  <a:pt x="6" y="56"/>
                </a:moveTo>
                <a:cubicBezTo>
                  <a:pt x="6" y="64"/>
                  <a:pt x="7" y="70"/>
                  <a:pt x="9" y="74"/>
                </a:cubicBezTo>
                <a:cubicBezTo>
                  <a:pt x="11" y="78"/>
                  <a:pt x="13" y="80"/>
                  <a:pt x="16" y="80"/>
                </a:cubicBezTo>
                <a:cubicBezTo>
                  <a:pt x="19" y="80"/>
                  <a:pt x="21" y="78"/>
                  <a:pt x="23" y="74"/>
                </a:cubicBezTo>
                <a:cubicBezTo>
                  <a:pt x="25" y="70"/>
                  <a:pt x="25" y="64"/>
                  <a:pt x="25" y="56"/>
                </a:cubicBezTo>
                <a:cubicBezTo>
                  <a:pt x="25" y="49"/>
                  <a:pt x="25" y="43"/>
                  <a:pt x="23" y="39"/>
                </a:cubicBezTo>
                <a:cubicBezTo>
                  <a:pt x="21" y="35"/>
                  <a:pt x="18" y="33"/>
                  <a:pt x="16" y="33"/>
                </a:cubicBezTo>
                <a:cubicBezTo>
                  <a:pt x="13" y="33"/>
                  <a:pt x="11" y="35"/>
                  <a:pt x="9" y="39"/>
                </a:cubicBezTo>
                <a:cubicBezTo>
                  <a:pt x="7" y="43"/>
                  <a:pt x="6" y="48"/>
                  <a:pt x="6" y="56"/>
                </a:cubicBezTo>
                <a:close/>
                <a:moveTo>
                  <a:pt x="43" y="113"/>
                </a:moveTo>
                <a:cubicBezTo>
                  <a:pt x="43" y="103"/>
                  <a:pt x="43" y="103"/>
                  <a:pt x="43" y="103"/>
                </a:cubicBezTo>
                <a:cubicBezTo>
                  <a:pt x="44" y="104"/>
                  <a:pt x="45" y="104"/>
                  <a:pt x="46" y="104"/>
                </a:cubicBezTo>
                <a:cubicBezTo>
                  <a:pt x="47" y="104"/>
                  <a:pt x="49" y="104"/>
                  <a:pt x="49" y="103"/>
                </a:cubicBezTo>
                <a:cubicBezTo>
                  <a:pt x="50" y="102"/>
                  <a:pt x="51" y="101"/>
                  <a:pt x="51" y="100"/>
                </a:cubicBezTo>
                <a:cubicBezTo>
                  <a:pt x="52" y="99"/>
                  <a:pt x="52" y="96"/>
                  <a:pt x="53" y="92"/>
                </a:cubicBezTo>
                <a:cubicBezTo>
                  <a:pt x="53" y="91"/>
                  <a:pt x="53" y="90"/>
                  <a:pt x="54" y="89"/>
                </a:cubicBezTo>
                <a:cubicBezTo>
                  <a:pt x="40" y="25"/>
                  <a:pt x="40" y="25"/>
                  <a:pt x="40" y="25"/>
                </a:cubicBezTo>
                <a:cubicBezTo>
                  <a:pt x="47" y="25"/>
                  <a:pt x="47" y="25"/>
                  <a:pt x="47" y="25"/>
                </a:cubicBezTo>
                <a:cubicBezTo>
                  <a:pt x="54" y="62"/>
                  <a:pt x="54" y="62"/>
                  <a:pt x="54" y="62"/>
                </a:cubicBezTo>
                <a:cubicBezTo>
                  <a:pt x="55" y="67"/>
                  <a:pt x="56" y="72"/>
                  <a:pt x="57" y="77"/>
                </a:cubicBezTo>
                <a:cubicBezTo>
                  <a:pt x="57" y="72"/>
                  <a:pt x="58" y="67"/>
                  <a:pt x="59" y="62"/>
                </a:cubicBezTo>
                <a:cubicBezTo>
                  <a:pt x="66" y="25"/>
                  <a:pt x="66" y="25"/>
                  <a:pt x="66" y="25"/>
                </a:cubicBezTo>
                <a:cubicBezTo>
                  <a:pt x="72" y="25"/>
                  <a:pt x="72" y="25"/>
                  <a:pt x="72" y="25"/>
                </a:cubicBezTo>
                <a:cubicBezTo>
                  <a:pt x="59" y="90"/>
                  <a:pt x="59" y="90"/>
                  <a:pt x="59" y="90"/>
                </a:cubicBezTo>
                <a:cubicBezTo>
                  <a:pt x="58" y="97"/>
                  <a:pt x="57" y="102"/>
                  <a:pt x="56" y="104"/>
                </a:cubicBezTo>
                <a:cubicBezTo>
                  <a:pt x="55" y="108"/>
                  <a:pt x="54" y="111"/>
                  <a:pt x="52" y="112"/>
                </a:cubicBezTo>
                <a:cubicBezTo>
                  <a:pt x="51" y="114"/>
                  <a:pt x="49" y="115"/>
                  <a:pt x="47" y="115"/>
                </a:cubicBezTo>
                <a:cubicBezTo>
                  <a:pt x="46" y="115"/>
                  <a:pt x="45" y="114"/>
                  <a:pt x="43" y="113"/>
                </a:cubicBezTo>
                <a:close/>
                <a:moveTo>
                  <a:pt x="94" y="57"/>
                </a:moveTo>
                <a:cubicBezTo>
                  <a:pt x="94" y="45"/>
                  <a:pt x="96" y="37"/>
                  <a:pt x="99" y="31"/>
                </a:cubicBezTo>
                <a:cubicBezTo>
                  <a:pt x="102" y="26"/>
                  <a:pt x="106" y="24"/>
                  <a:pt x="110" y="24"/>
                </a:cubicBezTo>
                <a:cubicBezTo>
                  <a:pt x="115" y="24"/>
                  <a:pt x="119" y="27"/>
                  <a:pt x="122" y="32"/>
                </a:cubicBezTo>
                <a:cubicBezTo>
                  <a:pt x="125" y="38"/>
                  <a:pt x="127" y="46"/>
                  <a:pt x="127" y="56"/>
                </a:cubicBezTo>
                <a:cubicBezTo>
                  <a:pt x="127" y="64"/>
                  <a:pt x="126" y="71"/>
                  <a:pt x="125" y="76"/>
                </a:cubicBezTo>
                <a:cubicBezTo>
                  <a:pt x="123" y="80"/>
                  <a:pt x="121" y="84"/>
                  <a:pt x="119" y="86"/>
                </a:cubicBezTo>
                <a:cubicBezTo>
                  <a:pt x="116" y="89"/>
                  <a:pt x="113" y="90"/>
                  <a:pt x="110" y="90"/>
                </a:cubicBezTo>
                <a:cubicBezTo>
                  <a:pt x="106" y="90"/>
                  <a:pt x="102" y="87"/>
                  <a:pt x="99" y="82"/>
                </a:cubicBezTo>
                <a:cubicBezTo>
                  <a:pt x="95" y="76"/>
                  <a:pt x="94" y="68"/>
                  <a:pt x="94" y="57"/>
                </a:cubicBezTo>
                <a:close/>
                <a:moveTo>
                  <a:pt x="100" y="57"/>
                </a:moveTo>
                <a:cubicBezTo>
                  <a:pt x="100" y="65"/>
                  <a:pt x="101" y="71"/>
                  <a:pt x="103" y="75"/>
                </a:cubicBezTo>
                <a:cubicBezTo>
                  <a:pt x="105" y="79"/>
                  <a:pt x="107" y="81"/>
                  <a:pt x="110" y="81"/>
                </a:cubicBezTo>
                <a:cubicBezTo>
                  <a:pt x="113" y="81"/>
                  <a:pt x="116" y="79"/>
                  <a:pt x="118" y="75"/>
                </a:cubicBezTo>
                <a:cubicBezTo>
                  <a:pt x="120" y="71"/>
                  <a:pt x="121" y="65"/>
                  <a:pt x="121" y="57"/>
                </a:cubicBezTo>
                <a:cubicBezTo>
                  <a:pt x="121" y="49"/>
                  <a:pt x="120" y="43"/>
                  <a:pt x="118" y="39"/>
                </a:cubicBezTo>
                <a:cubicBezTo>
                  <a:pt x="116" y="35"/>
                  <a:pt x="113" y="33"/>
                  <a:pt x="110" y="33"/>
                </a:cubicBezTo>
                <a:cubicBezTo>
                  <a:pt x="107" y="33"/>
                  <a:pt x="105" y="35"/>
                  <a:pt x="103" y="39"/>
                </a:cubicBezTo>
                <a:cubicBezTo>
                  <a:pt x="101" y="43"/>
                  <a:pt x="100" y="49"/>
                  <a:pt x="100" y="57"/>
                </a:cubicBezTo>
                <a:close/>
                <a:moveTo>
                  <a:pt x="139" y="89"/>
                </a:moveTo>
                <a:cubicBezTo>
                  <a:pt x="139" y="34"/>
                  <a:pt x="139" y="34"/>
                  <a:pt x="139" y="34"/>
                </a:cubicBezTo>
                <a:cubicBezTo>
                  <a:pt x="134" y="34"/>
                  <a:pt x="134" y="34"/>
                  <a:pt x="134" y="34"/>
                </a:cubicBezTo>
                <a:cubicBezTo>
                  <a:pt x="134" y="25"/>
                  <a:pt x="134" y="25"/>
                  <a:pt x="134" y="25"/>
                </a:cubicBezTo>
                <a:cubicBezTo>
                  <a:pt x="139" y="25"/>
                  <a:pt x="139" y="25"/>
                  <a:pt x="139" y="25"/>
                </a:cubicBezTo>
                <a:cubicBezTo>
                  <a:pt x="139" y="19"/>
                  <a:pt x="139" y="19"/>
                  <a:pt x="139" y="19"/>
                </a:cubicBezTo>
                <a:cubicBezTo>
                  <a:pt x="139" y="14"/>
                  <a:pt x="139" y="11"/>
                  <a:pt x="140" y="9"/>
                </a:cubicBezTo>
                <a:cubicBezTo>
                  <a:pt x="140" y="6"/>
                  <a:pt x="141" y="4"/>
                  <a:pt x="143" y="2"/>
                </a:cubicBezTo>
                <a:cubicBezTo>
                  <a:pt x="144" y="0"/>
                  <a:pt x="146" y="0"/>
                  <a:pt x="149" y="0"/>
                </a:cubicBezTo>
                <a:cubicBezTo>
                  <a:pt x="150" y="0"/>
                  <a:pt x="152" y="0"/>
                  <a:pt x="154" y="1"/>
                </a:cubicBezTo>
                <a:cubicBezTo>
                  <a:pt x="153" y="10"/>
                  <a:pt x="153" y="10"/>
                  <a:pt x="153" y="10"/>
                </a:cubicBezTo>
                <a:cubicBezTo>
                  <a:pt x="152" y="10"/>
                  <a:pt x="151" y="9"/>
                  <a:pt x="150" y="9"/>
                </a:cubicBezTo>
                <a:cubicBezTo>
                  <a:pt x="148" y="9"/>
                  <a:pt x="147" y="10"/>
                  <a:pt x="146" y="12"/>
                </a:cubicBezTo>
                <a:cubicBezTo>
                  <a:pt x="145" y="13"/>
                  <a:pt x="145" y="16"/>
                  <a:pt x="145" y="19"/>
                </a:cubicBezTo>
                <a:cubicBezTo>
                  <a:pt x="145" y="25"/>
                  <a:pt x="145" y="25"/>
                  <a:pt x="145" y="25"/>
                </a:cubicBezTo>
                <a:cubicBezTo>
                  <a:pt x="152" y="25"/>
                  <a:pt x="152" y="25"/>
                  <a:pt x="152" y="25"/>
                </a:cubicBezTo>
                <a:cubicBezTo>
                  <a:pt x="152" y="34"/>
                  <a:pt x="152" y="34"/>
                  <a:pt x="152" y="34"/>
                </a:cubicBezTo>
                <a:cubicBezTo>
                  <a:pt x="145" y="34"/>
                  <a:pt x="145" y="34"/>
                  <a:pt x="145" y="34"/>
                </a:cubicBezTo>
                <a:cubicBezTo>
                  <a:pt x="145" y="89"/>
                  <a:pt x="145" y="89"/>
                  <a:pt x="145" y="89"/>
                </a:cubicBezTo>
                <a:cubicBezTo>
                  <a:pt x="139" y="89"/>
                  <a:pt x="139" y="89"/>
                  <a:pt x="139" y="89"/>
                </a:cubicBezTo>
                <a:close/>
                <a:moveTo>
                  <a:pt x="210" y="58"/>
                </a:moveTo>
                <a:cubicBezTo>
                  <a:pt x="217" y="61"/>
                  <a:pt x="217" y="61"/>
                  <a:pt x="217" y="61"/>
                </a:cubicBezTo>
                <a:cubicBezTo>
                  <a:pt x="215" y="71"/>
                  <a:pt x="213" y="78"/>
                  <a:pt x="209" y="83"/>
                </a:cubicBezTo>
                <a:cubicBezTo>
                  <a:pt x="206" y="88"/>
                  <a:pt x="202" y="90"/>
                  <a:pt x="197" y="90"/>
                </a:cubicBezTo>
                <a:cubicBezTo>
                  <a:pt x="191" y="90"/>
                  <a:pt x="187" y="88"/>
                  <a:pt x="184" y="85"/>
                </a:cubicBezTo>
                <a:cubicBezTo>
                  <a:pt x="181" y="81"/>
                  <a:pt x="178" y="75"/>
                  <a:pt x="176" y="68"/>
                </a:cubicBezTo>
                <a:cubicBezTo>
                  <a:pt x="175" y="61"/>
                  <a:pt x="174" y="53"/>
                  <a:pt x="174" y="44"/>
                </a:cubicBezTo>
                <a:cubicBezTo>
                  <a:pt x="174" y="35"/>
                  <a:pt x="175" y="27"/>
                  <a:pt x="177" y="20"/>
                </a:cubicBezTo>
                <a:cubicBezTo>
                  <a:pt x="179" y="14"/>
                  <a:pt x="181" y="8"/>
                  <a:pt x="185" y="5"/>
                </a:cubicBezTo>
                <a:cubicBezTo>
                  <a:pt x="189" y="1"/>
                  <a:pt x="192" y="0"/>
                  <a:pt x="197" y="0"/>
                </a:cubicBezTo>
                <a:cubicBezTo>
                  <a:pt x="202" y="0"/>
                  <a:pt x="206" y="2"/>
                  <a:pt x="209" y="6"/>
                </a:cubicBezTo>
                <a:cubicBezTo>
                  <a:pt x="212" y="11"/>
                  <a:pt x="214" y="17"/>
                  <a:pt x="216" y="25"/>
                </a:cubicBezTo>
                <a:cubicBezTo>
                  <a:pt x="209" y="28"/>
                  <a:pt x="209" y="28"/>
                  <a:pt x="209" y="28"/>
                </a:cubicBezTo>
                <a:cubicBezTo>
                  <a:pt x="208" y="21"/>
                  <a:pt x="207" y="17"/>
                  <a:pt x="205" y="14"/>
                </a:cubicBezTo>
                <a:cubicBezTo>
                  <a:pt x="202" y="11"/>
                  <a:pt x="200" y="10"/>
                  <a:pt x="197" y="10"/>
                </a:cubicBezTo>
                <a:cubicBezTo>
                  <a:pt x="193" y="10"/>
                  <a:pt x="190" y="11"/>
                  <a:pt x="187" y="14"/>
                </a:cubicBezTo>
                <a:cubicBezTo>
                  <a:pt x="185" y="18"/>
                  <a:pt x="183" y="22"/>
                  <a:pt x="182" y="27"/>
                </a:cubicBezTo>
                <a:cubicBezTo>
                  <a:pt x="181" y="33"/>
                  <a:pt x="180" y="38"/>
                  <a:pt x="180" y="44"/>
                </a:cubicBezTo>
                <a:cubicBezTo>
                  <a:pt x="180" y="52"/>
                  <a:pt x="181" y="58"/>
                  <a:pt x="182" y="64"/>
                </a:cubicBezTo>
                <a:cubicBezTo>
                  <a:pt x="183" y="69"/>
                  <a:pt x="185" y="74"/>
                  <a:pt x="188" y="76"/>
                </a:cubicBezTo>
                <a:cubicBezTo>
                  <a:pt x="190" y="79"/>
                  <a:pt x="193" y="80"/>
                  <a:pt x="196" y="80"/>
                </a:cubicBezTo>
                <a:cubicBezTo>
                  <a:pt x="200" y="80"/>
                  <a:pt x="203" y="79"/>
                  <a:pt x="205" y="75"/>
                </a:cubicBezTo>
                <a:cubicBezTo>
                  <a:pt x="208" y="71"/>
                  <a:pt x="209" y="65"/>
                  <a:pt x="210" y="58"/>
                </a:cubicBezTo>
                <a:close/>
                <a:moveTo>
                  <a:pt x="227" y="89"/>
                </a:moveTo>
                <a:cubicBezTo>
                  <a:pt x="227" y="1"/>
                  <a:pt x="227" y="1"/>
                  <a:pt x="227" y="1"/>
                </a:cubicBezTo>
                <a:cubicBezTo>
                  <a:pt x="233" y="1"/>
                  <a:pt x="233" y="1"/>
                  <a:pt x="233" y="1"/>
                </a:cubicBezTo>
                <a:cubicBezTo>
                  <a:pt x="233" y="33"/>
                  <a:pt x="233" y="33"/>
                  <a:pt x="233" y="33"/>
                </a:cubicBezTo>
                <a:cubicBezTo>
                  <a:pt x="236" y="27"/>
                  <a:pt x="240" y="24"/>
                  <a:pt x="244" y="24"/>
                </a:cubicBezTo>
                <a:cubicBezTo>
                  <a:pt x="246" y="24"/>
                  <a:pt x="249" y="25"/>
                  <a:pt x="251" y="27"/>
                </a:cubicBezTo>
                <a:cubicBezTo>
                  <a:pt x="253" y="28"/>
                  <a:pt x="254" y="31"/>
                  <a:pt x="255" y="34"/>
                </a:cubicBezTo>
                <a:cubicBezTo>
                  <a:pt x="256" y="38"/>
                  <a:pt x="256" y="42"/>
                  <a:pt x="256" y="49"/>
                </a:cubicBezTo>
                <a:cubicBezTo>
                  <a:pt x="256" y="89"/>
                  <a:pt x="256" y="89"/>
                  <a:pt x="256" y="89"/>
                </a:cubicBezTo>
                <a:cubicBezTo>
                  <a:pt x="250" y="89"/>
                  <a:pt x="250" y="89"/>
                  <a:pt x="250" y="89"/>
                </a:cubicBezTo>
                <a:cubicBezTo>
                  <a:pt x="250" y="49"/>
                  <a:pt x="250" y="49"/>
                  <a:pt x="250" y="49"/>
                </a:cubicBezTo>
                <a:cubicBezTo>
                  <a:pt x="250" y="43"/>
                  <a:pt x="249" y="39"/>
                  <a:pt x="248" y="37"/>
                </a:cubicBezTo>
                <a:cubicBezTo>
                  <a:pt x="247" y="34"/>
                  <a:pt x="245" y="33"/>
                  <a:pt x="243" y="33"/>
                </a:cubicBezTo>
                <a:cubicBezTo>
                  <a:pt x="241" y="33"/>
                  <a:pt x="239" y="34"/>
                  <a:pt x="238" y="36"/>
                </a:cubicBezTo>
                <a:cubicBezTo>
                  <a:pt x="236" y="37"/>
                  <a:pt x="235" y="40"/>
                  <a:pt x="234" y="42"/>
                </a:cubicBezTo>
                <a:cubicBezTo>
                  <a:pt x="234" y="45"/>
                  <a:pt x="233" y="49"/>
                  <a:pt x="233" y="54"/>
                </a:cubicBezTo>
                <a:cubicBezTo>
                  <a:pt x="233" y="89"/>
                  <a:pt x="233" y="89"/>
                  <a:pt x="233" y="89"/>
                </a:cubicBezTo>
                <a:cubicBezTo>
                  <a:pt x="227" y="89"/>
                  <a:pt x="227" y="89"/>
                  <a:pt x="227" y="89"/>
                </a:cubicBezTo>
                <a:close/>
                <a:moveTo>
                  <a:pt x="269" y="14"/>
                </a:moveTo>
                <a:cubicBezTo>
                  <a:pt x="269" y="1"/>
                  <a:pt x="269" y="1"/>
                  <a:pt x="269" y="1"/>
                </a:cubicBezTo>
                <a:cubicBezTo>
                  <a:pt x="275" y="1"/>
                  <a:pt x="275" y="1"/>
                  <a:pt x="275" y="1"/>
                </a:cubicBezTo>
                <a:cubicBezTo>
                  <a:pt x="275" y="14"/>
                  <a:pt x="275" y="14"/>
                  <a:pt x="275" y="14"/>
                </a:cubicBezTo>
                <a:cubicBezTo>
                  <a:pt x="269" y="14"/>
                  <a:pt x="269" y="14"/>
                  <a:pt x="269" y="14"/>
                </a:cubicBezTo>
                <a:close/>
                <a:moveTo>
                  <a:pt x="269" y="89"/>
                </a:moveTo>
                <a:cubicBezTo>
                  <a:pt x="269" y="25"/>
                  <a:pt x="269" y="25"/>
                  <a:pt x="269" y="25"/>
                </a:cubicBezTo>
                <a:cubicBezTo>
                  <a:pt x="275" y="25"/>
                  <a:pt x="275" y="25"/>
                  <a:pt x="275" y="25"/>
                </a:cubicBezTo>
                <a:cubicBezTo>
                  <a:pt x="275" y="89"/>
                  <a:pt x="275" y="89"/>
                  <a:pt x="275" y="89"/>
                </a:cubicBezTo>
                <a:cubicBezTo>
                  <a:pt x="269" y="89"/>
                  <a:pt x="269" y="89"/>
                  <a:pt x="269" y="89"/>
                </a:cubicBezTo>
                <a:close/>
                <a:moveTo>
                  <a:pt x="287" y="89"/>
                </a:moveTo>
                <a:cubicBezTo>
                  <a:pt x="287" y="25"/>
                  <a:pt x="287" y="25"/>
                  <a:pt x="287" y="25"/>
                </a:cubicBezTo>
                <a:cubicBezTo>
                  <a:pt x="293" y="25"/>
                  <a:pt x="293" y="25"/>
                  <a:pt x="293" y="25"/>
                </a:cubicBezTo>
                <a:cubicBezTo>
                  <a:pt x="293" y="34"/>
                  <a:pt x="293" y="34"/>
                  <a:pt x="293" y="34"/>
                </a:cubicBezTo>
                <a:cubicBezTo>
                  <a:pt x="295" y="27"/>
                  <a:pt x="299" y="24"/>
                  <a:pt x="304" y="24"/>
                </a:cubicBezTo>
                <a:cubicBezTo>
                  <a:pt x="306" y="24"/>
                  <a:pt x="308" y="25"/>
                  <a:pt x="310" y="26"/>
                </a:cubicBezTo>
                <a:cubicBezTo>
                  <a:pt x="312" y="27"/>
                  <a:pt x="313" y="29"/>
                  <a:pt x="314" y="31"/>
                </a:cubicBezTo>
                <a:cubicBezTo>
                  <a:pt x="315" y="34"/>
                  <a:pt x="315" y="36"/>
                  <a:pt x="316" y="39"/>
                </a:cubicBezTo>
                <a:cubicBezTo>
                  <a:pt x="316" y="41"/>
                  <a:pt x="316" y="45"/>
                  <a:pt x="316" y="50"/>
                </a:cubicBezTo>
                <a:cubicBezTo>
                  <a:pt x="316" y="89"/>
                  <a:pt x="316" y="89"/>
                  <a:pt x="316" y="89"/>
                </a:cubicBezTo>
                <a:cubicBezTo>
                  <a:pt x="310" y="89"/>
                  <a:pt x="310" y="89"/>
                  <a:pt x="310" y="89"/>
                </a:cubicBezTo>
                <a:cubicBezTo>
                  <a:pt x="310" y="50"/>
                  <a:pt x="310" y="50"/>
                  <a:pt x="310" y="50"/>
                </a:cubicBezTo>
                <a:cubicBezTo>
                  <a:pt x="310" y="46"/>
                  <a:pt x="310" y="43"/>
                  <a:pt x="309" y="40"/>
                </a:cubicBezTo>
                <a:cubicBezTo>
                  <a:pt x="309" y="38"/>
                  <a:pt x="308" y="36"/>
                  <a:pt x="307" y="35"/>
                </a:cubicBezTo>
                <a:cubicBezTo>
                  <a:pt x="306" y="34"/>
                  <a:pt x="304" y="33"/>
                  <a:pt x="303" y="33"/>
                </a:cubicBezTo>
                <a:cubicBezTo>
                  <a:pt x="300" y="33"/>
                  <a:pt x="298" y="35"/>
                  <a:pt x="296" y="38"/>
                </a:cubicBezTo>
                <a:cubicBezTo>
                  <a:pt x="294" y="40"/>
                  <a:pt x="293" y="46"/>
                  <a:pt x="293" y="54"/>
                </a:cubicBezTo>
                <a:cubicBezTo>
                  <a:pt x="293" y="89"/>
                  <a:pt x="293" y="89"/>
                  <a:pt x="293" y="89"/>
                </a:cubicBezTo>
                <a:cubicBezTo>
                  <a:pt x="287" y="89"/>
                  <a:pt x="287" y="89"/>
                  <a:pt x="287" y="89"/>
                </a:cubicBezTo>
                <a:close/>
                <a:moveTo>
                  <a:pt x="352" y="81"/>
                </a:moveTo>
                <a:cubicBezTo>
                  <a:pt x="349" y="84"/>
                  <a:pt x="347" y="87"/>
                  <a:pt x="345" y="88"/>
                </a:cubicBezTo>
                <a:cubicBezTo>
                  <a:pt x="343" y="90"/>
                  <a:pt x="341" y="90"/>
                  <a:pt x="339" y="90"/>
                </a:cubicBezTo>
                <a:cubicBezTo>
                  <a:pt x="335" y="90"/>
                  <a:pt x="332" y="89"/>
                  <a:pt x="330" y="85"/>
                </a:cubicBezTo>
                <a:cubicBezTo>
                  <a:pt x="328" y="82"/>
                  <a:pt x="327" y="77"/>
                  <a:pt x="327" y="72"/>
                </a:cubicBezTo>
                <a:cubicBezTo>
                  <a:pt x="327" y="69"/>
                  <a:pt x="327" y="66"/>
                  <a:pt x="328" y="64"/>
                </a:cubicBezTo>
                <a:cubicBezTo>
                  <a:pt x="329" y="61"/>
                  <a:pt x="330" y="59"/>
                  <a:pt x="331" y="57"/>
                </a:cubicBezTo>
                <a:cubicBezTo>
                  <a:pt x="332" y="56"/>
                  <a:pt x="334" y="55"/>
                  <a:pt x="335" y="54"/>
                </a:cubicBezTo>
                <a:cubicBezTo>
                  <a:pt x="336" y="53"/>
                  <a:pt x="338" y="53"/>
                  <a:pt x="340" y="52"/>
                </a:cubicBezTo>
                <a:cubicBezTo>
                  <a:pt x="345" y="51"/>
                  <a:pt x="349" y="50"/>
                  <a:pt x="351" y="49"/>
                </a:cubicBezTo>
                <a:cubicBezTo>
                  <a:pt x="351" y="47"/>
                  <a:pt x="351" y="46"/>
                  <a:pt x="351" y="46"/>
                </a:cubicBezTo>
                <a:cubicBezTo>
                  <a:pt x="351" y="41"/>
                  <a:pt x="351" y="38"/>
                  <a:pt x="349" y="36"/>
                </a:cubicBezTo>
                <a:cubicBezTo>
                  <a:pt x="348" y="34"/>
                  <a:pt x="346" y="33"/>
                  <a:pt x="343" y="33"/>
                </a:cubicBezTo>
                <a:cubicBezTo>
                  <a:pt x="340" y="33"/>
                  <a:pt x="338" y="34"/>
                  <a:pt x="336" y="35"/>
                </a:cubicBezTo>
                <a:cubicBezTo>
                  <a:pt x="335" y="37"/>
                  <a:pt x="334" y="40"/>
                  <a:pt x="334" y="45"/>
                </a:cubicBezTo>
                <a:cubicBezTo>
                  <a:pt x="328" y="43"/>
                  <a:pt x="328" y="43"/>
                  <a:pt x="328" y="43"/>
                </a:cubicBezTo>
                <a:cubicBezTo>
                  <a:pt x="328" y="39"/>
                  <a:pt x="329" y="35"/>
                  <a:pt x="330" y="33"/>
                </a:cubicBezTo>
                <a:cubicBezTo>
                  <a:pt x="332" y="30"/>
                  <a:pt x="333" y="28"/>
                  <a:pt x="336" y="26"/>
                </a:cubicBezTo>
                <a:cubicBezTo>
                  <a:pt x="338" y="25"/>
                  <a:pt x="341" y="24"/>
                  <a:pt x="344" y="24"/>
                </a:cubicBezTo>
                <a:cubicBezTo>
                  <a:pt x="347" y="24"/>
                  <a:pt x="349" y="25"/>
                  <a:pt x="351" y="26"/>
                </a:cubicBezTo>
                <a:cubicBezTo>
                  <a:pt x="353" y="27"/>
                  <a:pt x="354" y="29"/>
                  <a:pt x="355" y="31"/>
                </a:cubicBezTo>
                <a:cubicBezTo>
                  <a:pt x="356" y="33"/>
                  <a:pt x="356" y="35"/>
                  <a:pt x="357" y="38"/>
                </a:cubicBezTo>
                <a:cubicBezTo>
                  <a:pt x="357" y="40"/>
                  <a:pt x="357" y="43"/>
                  <a:pt x="357" y="48"/>
                </a:cubicBezTo>
                <a:cubicBezTo>
                  <a:pt x="357" y="62"/>
                  <a:pt x="357" y="62"/>
                  <a:pt x="357" y="62"/>
                </a:cubicBezTo>
                <a:cubicBezTo>
                  <a:pt x="357" y="72"/>
                  <a:pt x="357" y="79"/>
                  <a:pt x="357" y="81"/>
                </a:cubicBezTo>
                <a:cubicBezTo>
                  <a:pt x="358" y="84"/>
                  <a:pt x="358" y="86"/>
                  <a:pt x="359" y="89"/>
                </a:cubicBezTo>
                <a:cubicBezTo>
                  <a:pt x="353" y="89"/>
                  <a:pt x="353" y="89"/>
                  <a:pt x="353" y="89"/>
                </a:cubicBezTo>
                <a:cubicBezTo>
                  <a:pt x="352" y="87"/>
                  <a:pt x="352" y="84"/>
                  <a:pt x="352" y="81"/>
                </a:cubicBezTo>
                <a:close/>
                <a:moveTo>
                  <a:pt x="351" y="57"/>
                </a:moveTo>
                <a:cubicBezTo>
                  <a:pt x="349" y="59"/>
                  <a:pt x="346" y="60"/>
                  <a:pt x="341" y="61"/>
                </a:cubicBezTo>
                <a:cubicBezTo>
                  <a:pt x="339" y="62"/>
                  <a:pt x="337" y="62"/>
                  <a:pt x="336" y="63"/>
                </a:cubicBezTo>
                <a:cubicBezTo>
                  <a:pt x="335" y="64"/>
                  <a:pt x="334" y="65"/>
                  <a:pt x="334" y="67"/>
                </a:cubicBezTo>
                <a:cubicBezTo>
                  <a:pt x="333" y="68"/>
                  <a:pt x="333" y="70"/>
                  <a:pt x="333" y="72"/>
                </a:cubicBezTo>
                <a:cubicBezTo>
                  <a:pt x="333" y="75"/>
                  <a:pt x="334" y="77"/>
                  <a:pt x="335" y="79"/>
                </a:cubicBezTo>
                <a:cubicBezTo>
                  <a:pt x="336" y="81"/>
                  <a:pt x="338" y="82"/>
                  <a:pt x="340" y="82"/>
                </a:cubicBezTo>
                <a:cubicBezTo>
                  <a:pt x="342" y="82"/>
                  <a:pt x="344" y="81"/>
                  <a:pt x="346" y="79"/>
                </a:cubicBezTo>
                <a:cubicBezTo>
                  <a:pt x="348" y="77"/>
                  <a:pt x="349" y="75"/>
                  <a:pt x="350" y="72"/>
                </a:cubicBezTo>
                <a:cubicBezTo>
                  <a:pt x="351" y="69"/>
                  <a:pt x="351" y="66"/>
                  <a:pt x="351" y="61"/>
                </a:cubicBezTo>
                <a:lnTo>
                  <a:pt x="351" y="57"/>
                </a:lnTo>
                <a:close/>
              </a:path>
            </a:pathLst>
          </a:custGeom>
          <a:solidFill xmlns:a="http://schemas.openxmlformats.org/drawingml/2006/main">
            <a:srgbClr val="00173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endParaRPr/>
          </a:p>
        </p:txBody>
      </p:sp>
      <p:sp>
        <p:nvSpPr>
          <p:cNvPr id="64" name="text-核心结论与呼吁">
            <a:extLst xmlns:a="http://schemas.openxmlformats.org/drawingml/2006/main">
              <a:ext uri="{FF2B5EF4-FFF2-40B4-BE49-F238E27FC236}">
                <a16:creationId xmlns:a16="http://schemas.microsoft.com/office/drawing/2014/main" id="{79A876EF-27CA-4DFB-9E75-60BEEABB891F}"/>
              </a:ext>
            </a:extLst>
          </p:cNvPr>
          <p:cNvSpPr>
            <a:spLocks xmlns:a="http://schemas.openxmlformats.org/drawingml/2006/main" noGrp="1"/>
          </p:cNvSpPr>
          <p:nvPr/>
        </p:nvSpPr>
        <p:spPr>
          <a:xfrm xmlns:a="http://schemas.openxmlformats.org/drawingml/2006/main">
            <a:off x="762000" y="523875"/>
            <a:ext cx="881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4283F"/>
                </a:solidFill>
                <a:latin typeface="Microsoft YaHei"/>
                <a:ea typeface="Microsoft YaHei"/>
                <a:cs typeface="Microsoft YaHei"/>
              </a:defRPr>
            </a:pPr>
            <a:r>
              <a:rPr sz="2625" b="1">
                <a:solidFill>
                  <a:srgbClr val="14283F"/>
                </a:solidFill>
                <a:latin typeface="Microsoft YaHei"/>
                <a:ea typeface="Microsoft YaHei"/>
                <a:cs typeface="Microsoft YaHei"/>
              </a:rPr>
              <a:t>核心结论与呼吁</a:t>
            </a:r>
          </a:p>
        </p:txBody>
      </p:sp>
      <p:sp>
        <p:nvSpPr>
          <p:cNvPr id="2" name="text-不要让短视的商业行为，将后代锁死">
            <a:extLst xmlns:a="http://schemas.openxmlformats.org/drawingml/2006/main">
              <a:ext uri="{FF2B5EF4-FFF2-40B4-BE49-F238E27FC236}">
                <a16:creationId xmlns:a16="http://schemas.microsoft.com/office/drawing/2014/main" id="{91AF7CEF-8863-45F3-95AC-2FE2D5AF2AAA}"/>
              </a:ext>
            </a:extLst>
          </p:cNvPr>
          <p:cNvSpPr>
            <a:spLocks xmlns:a="http://schemas.openxmlformats.org/drawingml/2006/main" noGrp="1"/>
          </p:cNvSpPr>
          <p:nvPr/>
        </p:nvSpPr>
        <p:spPr>
          <a:xfrm xmlns:a="http://schemas.openxmlformats.org/drawingml/2006/main">
            <a:off x="762000" y="557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73C79"/>
                </a:solidFill>
                <a:latin typeface="Microsoft YaHei"/>
                <a:ea typeface="Microsoft YaHei"/>
                <a:cs typeface="Microsoft YaHei"/>
              </a:defRPr>
            </a:pPr>
            <a:r>
              <a:rPr sz="1800" b="1">
                <a:solidFill>
                  <a:srgbClr val="073C79"/>
                </a:solidFill>
                <a:latin typeface="Microsoft YaHei"/>
                <a:ea typeface="Microsoft YaHei"/>
                <a:cs typeface="Microsoft YaHei"/>
              </a:rPr>
              <a:t>不要让短视的商业行为，将后代锁死在地球上。</a:t>
            </a:r>
          </a:p>
        </p:txBody>
      </p:sp>
      <p:sp>
        <p:nvSpPr>
          <p:cNvPr id="3" name="text-总结与工程伦理闭环  /  总结">
            <a:extLst xmlns:a="http://schemas.openxmlformats.org/drawingml/2006/main">
              <a:ext uri="{FF2B5EF4-FFF2-40B4-BE49-F238E27FC236}">
                <a16:creationId xmlns:a16="http://schemas.microsoft.com/office/drawing/2014/main" id="{F8995DA1-98E8-48B5-BD76-BDAAAA7F6167}"/>
              </a:ext>
            </a:extLst>
          </p:cNvPr>
          <p:cNvSpPr>
            <a:spLocks xmlns:a="http://schemas.openxmlformats.org/drawingml/2006/main" noGrp="1"/>
          </p:cNvSpPr>
          <p:nvPr/>
        </p:nvSpPr>
        <p:spPr>
          <a:xfrm xmlns:a="http://schemas.openxmlformats.org/drawingml/2006/main">
            <a:off x="762000" y="6362700"/>
            <a:ext cx="942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17186"/>
                </a:solidFill>
                <a:latin typeface="Microsoft YaHei"/>
                <a:ea typeface="Microsoft YaHei"/>
                <a:cs typeface="Microsoft YaHei"/>
              </a:defRPr>
            </a:pPr>
            <a:r>
              <a:rPr sz="1125" b="0">
                <a:solidFill>
                  <a:srgbClr val="617186"/>
                </a:solidFill>
                <a:latin typeface="Microsoft YaHei"/>
                <a:ea typeface="Microsoft YaHei"/>
                <a:cs typeface="Microsoft YaHei"/>
              </a:rPr>
              <a:t>总结与工程伦理闭环  /  总结发言人</a:t>
            </a:r>
          </a:p>
        </p:txBody>
      </p:sp>
      <p:sp>
        <p:nvSpPr>
          <p:cNvPr id="4" name="text-27">
            <a:extLst xmlns:a="http://schemas.openxmlformats.org/drawingml/2006/main">
              <a:ext uri="{FF2B5EF4-FFF2-40B4-BE49-F238E27FC236}">
                <a16:creationId xmlns:a16="http://schemas.microsoft.com/office/drawing/2014/main" id="{40680CC1-3A9E-4F01-BCAB-C5EFCEE847FC}"/>
              </a:ext>
            </a:extLst>
          </p:cNvPr>
          <p:cNvSpPr>
            <a:spLocks xmlns:a="http://schemas.openxmlformats.org/drawingml/2006/main" noGrp="1"/>
          </p:cNvSpPr>
          <p:nvPr/>
        </p:nvSpPr>
        <p:spPr>
          <a:xfrm xmlns:a="http://schemas.openxmlformats.org/drawingml/2006/main">
            <a:off x="11144250" y="63627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17186"/>
                </a:solidFill>
                <a:latin typeface="Microsoft YaHei"/>
                <a:ea typeface="Microsoft YaHei"/>
                <a:cs typeface="Microsoft YaHei"/>
              </a:defRPr>
            </a:pPr>
            <a:r>
              <a:rPr sz="1275" b="0">
                <a:solidFill>
                  <a:srgbClr val="617186"/>
                </a:solidFill>
                <a:latin typeface="Microsoft YaHei"/>
                <a:ea typeface="Microsoft YaHei"/>
                <a:cs typeface="Microsoft YaHei"/>
              </a:rPr>
              <a:t>27</a:t>
            </a:r>
          </a:p>
        </p:txBody>
      </p:sp>
      <p:sp>
        <p:nvSpPr>
          <p:cNvPr id="5" name="text-高轨道占用意味着更大的公共责任">
            <a:extLst xmlns:a="http://schemas.openxmlformats.org/drawingml/2006/main">
              <a:ext uri="{FF2B5EF4-FFF2-40B4-BE49-F238E27FC236}">
                <a16:creationId xmlns:a16="http://schemas.microsoft.com/office/drawing/2014/main" id="{CE6FC107-A8B7-45A7-A170-9F5CCD933FB2}"/>
              </a:ext>
            </a:extLst>
          </p:cNvPr>
          <p:cNvSpPr>
            <a:spLocks xmlns:a="http://schemas.openxmlformats.org/drawingml/2006/main" noGrp="1"/>
          </p:cNvSpPr>
          <p:nvPr/>
        </p:nvSpPr>
        <p:spPr>
          <a:xfrm xmlns:a="http://schemas.openxmlformats.org/drawingml/2006/main">
            <a:off x="762000" y="16097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073C79"/>
                </a:solidFill>
                <a:latin typeface="Microsoft YaHei"/>
                <a:ea typeface="Microsoft YaHei"/>
                <a:cs typeface="Microsoft YaHei"/>
              </a:defRPr>
            </a:pPr>
            <a:r>
              <a:rPr sz="3525" b="1">
                <a:solidFill>
                  <a:srgbClr val="073C79"/>
                </a:solidFill>
                <a:latin typeface="Microsoft YaHei"/>
                <a:ea typeface="Microsoft YaHei"/>
                <a:cs typeface="Microsoft YaHei"/>
              </a:rPr>
              <a:t>高轨道占用意味着更大的公共责任</a:t>
            </a:r>
          </a:p>
        </p:txBody>
      </p:sp>
      <p:sp>
        <p:nvSpPr>
          <p:cNvPr id="6" name="text-企业">
            <a:extLst xmlns:a="http://schemas.openxmlformats.org/drawingml/2006/main">
              <a:ext uri="{FF2B5EF4-FFF2-40B4-BE49-F238E27FC236}">
                <a16:creationId xmlns:a16="http://schemas.microsoft.com/office/drawing/2014/main" id="{4DDB1BB7-F05A-43A4-8BC5-DA865667C7B1}"/>
              </a:ext>
            </a:extLst>
          </p:cNvPr>
          <p:cNvSpPr>
            <a:spLocks xmlns:a="http://schemas.openxmlformats.org/drawingml/2006/main" noGrp="1"/>
          </p:cNvSpPr>
          <p:nvPr/>
        </p:nvSpPr>
        <p:spPr>
          <a:xfrm xmlns:a="http://schemas.openxmlformats.org/drawingml/2006/main">
            <a:off x="762000" y="2943225"/>
            <a:ext cx="31051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5C5BFA"/>
                </a:solidFill>
                <a:latin typeface="Microsoft YaHei"/>
                <a:ea typeface="Microsoft YaHei"/>
                <a:cs typeface="Microsoft YaHei"/>
              </a:defRPr>
            </a:pPr>
            <a:r>
              <a:rPr sz="2100" b="1">
                <a:solidFill>
                  <a:srgbClr val="5C5BFA"/>
                </a:solidFill>
                <a:latin typeface="Microsoft YaHei"/>
                <a:ea typeface="Microsoft YaHei"/>
                <a:cs typeface="Microsoft YaHei"/>
              </a:rPr>
              <a:t>企业</a:t>
            </a:r>
          </a:p>
        </p:txBody>
      </p:sp>
      <p:sp>
        <p:nvSpPr>
          <p:cNvPr id="7" name="text-将避碰、处置与透明度纳入真实成本">
            <a:extLst xmlns:a="http://schemas.openxmlformats.org/drawingml/2006/main">
              <a:ext uri="{FF2B5EF4-FFF2-40B4-BE49-F238E27FC236}">
                <a16:creationId xmlns:a16="http://schemas.microsoft.com/office/drawing/2014/main" id="{2EF030E8-6805-45FF-8BC5-07F74D89690B}"/>
              </a:ext>
            </a:extLst>
          </p:cNvPr>
          <p:cNvSpPr>
            <a:spLocks xmlns:a="http://schemas.openxmlformats.org/drawingml/2006/main" noGrp="1"/>
          </p:cNvSpPr>
          <p:nvPr/>
        </p:nvSpPr>
        <p:spPr>
          <a:xfrm xmlns:a="http://schemas.openxmlformats.org/drawingml/2006/main">
            <a:off x="4095750" y="2943225"/>
            <a:ext cx="7334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将避碰、处置与透明度纳入真实成本</a:t>
            </a:r>
          </a:p>
        </p:txBody>
      </p:sp>
      <p:sp>
        <p:nvSpPr>
          <p:cNvPr id="8" name="text-客户与发射服务商">
            <a:extLst xmlns:a="http://schemas.openxmlformats.org/drawingml/2006/main">
              <a:ext uri="{FF2B5EF4-FFF2-40B4-BE49-F238E27FC236}">
                <a16:creationId xmlns:a16="http://schemas.microsoft.com/office/drawing/2014/main" id="{E52D4161-8E92-4C81-BBC4-81C8B01F6E9C}"/>
              </a:ext>
            </a:extLst>
          </p:cNvPr>
          <p:cNvSpPr>
            <a:spLocks xmlns:a="http://schemas.openxmlformats.org/drawingml/2006/main" noGrp="1"/>
          </p:cNvSpPr>
          <p:nvPr/>
        </p:nvSpPr>
        <p:spPr>
          <a:xfrm xmlns:a="http://schemas.openxmlformats.org/drawingml/2006/main">
            <a:off x="762000" y="3686175"/>
            <a:ext cx="31051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5C5BFA"/>
                </a:solidFill>
                <a:latin typeface="Microsoft YaHei"/>
                <a:ea typeface="Microsoft YaHei"/>
                <a:cs typeface="Microsoft YaHei"/>
              </a:defRPr>
            </a:pPr>
            <a:r>
              <a:rPr sz="2100" b="1">
                <a:solidFill>
                  <a:srgbClr val="5C5BFA"/>
                </a:solidFill>
                <a:latin typeface="Microsoft YaHei"/>
                <a:ea typeface="Microsoft YaHei"/>
                <a:cs typeface="Microsoft YaHei"/>
              </a:rPr>
              <a:t>客户与发射服务商</a:t>
            </a:r>
          </a:p>
        </p:txBody>
      </p:sp>
      <p:sp>
        <p:nvSpPr>
          <p:cNvPr id="9" name="text-以采购、部署和恢复要求推动履责">
            <a:extLst xmlns:a="http://schemas.openxmlformats.org/drawingml/2006/main">
              <a:ext uri="{FF2B5EF4-FFF2-40B4-BE49-F238E27FC236}">
                <a16:creationId xmlns:a16="http://schemas.microsoft.com/office/drawing/2014/main" id="{F2721177-3A5F-49C8-9C92-1431619F92A6}"/>
              </a:ext>
            </a:extLst>
          </p:cNvPr>
          <p:cNvSpPr>
            <a:spLocks xmlns:a="http://schemas.openxmlformats.org/drawingml/2006/main" noGrp="1"/>
          </p:cNvSpPr>
          <p:nvPr/>
        </p:nvSpPr>
        <p:spPr>
          <a:xfrm xmlns:a="http://schemas.openxmlformats.org/drawingml/2006/main">
            <a:off x="4095750" y="3686175"/>
            <a:ext cx="7334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以采购、部署和恢复要求推动履责</a:t>
            </a:r>
          </a:p>
        </p:txBody>
      </p:sp>
      <p:sp>
        <p:nvSpPr>
          <p:cNvPr id="10" name="text-监管者与公众">
            <a:extLst xmlns:a="http://schemas.openxmlformats.org/drawingml/2006/main">
              <a:ext uri="{FF2B5EF4-FFF2-40B4-BE49-F238E27FC236}">
                <a16:creationId xmlns:a16="http://schemas.microsoft.com/office/drawing/2014/main" id="{12988EB7-09D5-4F7B-9315-F5FD76483508}"/>
              </a:ext>
            </a:extLst>
          </p:cNvPr>
          <p:cNvSpPr>
            <a:spLocks xmlns:a="http://schemas.openxmlformats.org/drawingml/2006/main" noGrp="1"/>
          </p:cNvSpPr>
          <p:nvPr/>
        </p:nvSpPr>
        <p:spPr>
          <a:xfrm xmlns:a="http://schemas.openxmlformats.org/drawingml/2006/main">
            <a:off x="762000" y="4429125"/>
            <a:ext cx="31051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5C5BFA"/>
                </a:solidFill>
                <a:latin typeface="Microsoft YaHei"/>
                <a:ea typeface="Microsoft YaHei"/>
                <a:cs typeface="Microsoft YaHei"/>
              </a:defRPr>
            </a:pPr>
            <a:r>
              <a:rPr sz="2100" b="1">
                <a:solidFill>
                  <a:srgbClr val="5C5BFA"/>
                </a:solidFill>
                <a:latin typeface="Microsoft YaHei"/>
                <a:ea typeface="Microsoft YaHei"/>
                <a:cs typeface="Microsoft YaHei"/>
              </a:rPr>
              <a:t>监管者与公众</a:t>
            </a:r>
          </a:p>
        </p:txBody>
      </p:sp>
      <p:sp>
        <p:nvSpPr>
          <p:cNvPr id="11" name="text-共同决定风险边界与长期使用规则">
            <a:extLst xmlns:a="http://schemas.openxmlformats.org/drawingml/2006/main">
              <a:ext uri="{FF2B5EF4-FFF2-40B4-BE49-F238E27FC236}">
                <a16:creationId xmlns:a16="http://schemas.microsoft.com/office/drawing/2014/main" id="{F1EC4765-0EB4-47BA-972B-6B6C3CA5E5EE}"/>
              </a:ext>
            </a:extLst>
          </p:cNvPr>
          <p:cNvSpPr>
            <a:spLocks xmlns:a="http://schemas.openxmlformats.org/drawingml/2006/main" noGrp="1"/>
          </p:cNvSpPr>
          <p:nvPr/>
        </p:nvSpPr>
        <p:spPr>
          <a:xfrm xmlns:a="http://schemas.openxmlformats.org/drawingml/2006/main">
            <a:off x="4095750" y="4429125"/>
            <a:ext cx="7334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3F"/>
                </a:solidFill>
                <a:latin typeface="Microsoft YaHei"/>
                <a:ea typeface="Microsoft YaHei"/>
                <a:cs typeface="Microsoft YaHei"/>
              </a:defRPr>
            </a:pPr>
            <a:r>
              <a:rPr sz="2100" b="0">
                <a:solidFill>
                  <a:srgbClr val="14283F"/>
                </a:solidFill>
                <a:latin typeface="Microsoft YaHei"/>
                <a:ea typeface="Microsoft YaHei"/>
                <a:cs typeface="Microsoft YaHei"/>
              </a:rPr>
              <a:t>共同决定风险边界与长期使用规则</a:t>
            </a:r>
          </a:p>
        </p:txBody>
      </p:sp>
    </p:spTree>
    <p:extLst>
      <p:ext uri="{BB962C8B-B14F-4D97-AF65-F5344CB8AC3E}">
        <p14:creationId xmlns:p14="http://schemas.microsoft.com/office/powerpoint/2010/main" val="3868327217"/>
      </p:ext>
    </p:extLst>
  </p:cSld>
</p:sld>
</file>

<file path=ppt/theme/theme1.xml><?xml version="1.0" encoding="utf-8"?>
<a:theme xmlns:a="http://schemas.openxmlformats.org/drawingml/2006/main" name="主题5">
  <a:themeElements>
    <a:clrScheme name="四月主题色">
      <a:dk1>
        <a:srgbClr val="000000"/>
      </a:dk1>
      <a:lt1>
        <a:srgbClr val="FFFFFF"/>
      </a:lt1>
      <a:dk2>
        <a:srgbClr val="778495"/>
      </a:dk2>
      <a:lt2>
        <a:srgbClr val="F0F0F0"/>
      </a:lt2>
      <a:accent1>
        <a:srgbClr val="003478"/>
      </a:accent1>
      <a:accent2>
        <a:srgbClr val="F08300"/>
      </a:accent2>
      <a:accent3>
        <a:srgbClr val="5063F8"/>
      </a:accent3>
      <a:accent4>
        <a:srgbClr val="AFBBCF"/>
      </a:accent4>
      <a:accent5>
        <a:srgbClr val="343D74"/>
      </a:accent5>
      <a:accent6>
        <a:srgbClr val="778495"/>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四月主题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2026-09-29T02:43:23.6680000Z</dcterms:created>
  <dcterms:modified xsi:type="dcterms:W3CDTF">2026-09-29T02:43:23.6680000Z</dcterms:modified>
</coreProperties>
</file>